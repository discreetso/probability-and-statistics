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56" r:id="rId2"/>
    <p:sldId id="286" r:id="rId3"/>
    <p:sldId id="287" r:id="rId4"/>
    <p:sldId id="288" r:id="rId5"/>
    <p:sldId id="289" r:id="rId6"/>
    <p:sldId id="290" r:id="rId7"/>
    <p:sldId id="291" r:id="rId8"/>
    <p:sldId id="292" r:id="rId9"/>
    <p:sldId id="293" r:id="rId10"/>
    <p:sldId id="294" r:id="rId11"/>
    <p:sldId id="295" r:id="rId12"/>
    <p:sldId id="296"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 id="310" r:id="rId27"/>
    <p:sldId id="311" r:id="rId28"/>
    <p:sldId id="312" r:id="rId29"/>
    <p:sldId id="313" r:id="rId30"/>
    <p:sldId id="314" r:id="rId31"/>
    <p:sldId id="315" r:id="rId32"/>
    <p:sldId id="316"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jLOmqfjBRYjHjL0yn0qA3zyNo6m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6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6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6" name="Google Shape;61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0" name="Google Shape;630;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1" name="Google Shape;631;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1" name="Google Shape;641;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6" name="Google Shape;65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6" name="Google Shape;666;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3" name="Google Shape;69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0" name="Google Shape;720;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6"/>
        <p:cNvGrpSpPr/>
        <p:nvPr/>
      </p:nvGrpSpPr>
      <p:grpSpPr>
        <a:xfrm>
          <a:off x="0" y="0"/>
          <a:ext cx="0" cy="0"/>
          <a:chOff x="0" y="0"/>
          <a:chExt cx="0" cy="0"/>
        </a:xfrm>
      </p:grpSpPr>
      <p:sp>
        <p:nvSpPr>
          <p:cNvPr id="737" name="Google Shape;737;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8" name="Google Shape;738;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7" name="Google Shape;75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0" name="Google Shape;770;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4" name="Google Shape;784;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5" name="Google Shape;785;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6" name="Google Shape;796;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9" name="Google Shape;85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7" name="Google Shape;887;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0" name="Google Shape;910;p4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5" name="Google Shape;925;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9" name="Google Shape;939;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0" name="Google Shape;940;p5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4" name="Google Shape;954;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7" name="Google Shape;96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2" name="Google Shape;982;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4" name="Google Shape;100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5" name="Google Shape;1005;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1" name="Google Shape;1021;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2" name="Google Shape;1022;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8" name="Google Shape;103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1" name="Google Shape;1051;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5" name="Google Shape;1065;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6" name="Google Shape;1066;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0" name="Google Shape;1080;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1" name="Google Shape;1081;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6" name="Google Shape;1096;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7" name="Google Shape;1097;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6" name="Google Shape;1116;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7" name="Google Shape;1117;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2000"/>
              <a:buNone/>
              <a:defRPr sz="2000">
                <a:latin typeface="Avenir"/>
                <a:ea typeface="Avenir"/>
                <a:cs typeface="Avenir"/>
                <a:sym typeface="Avenir"/>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6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Avenir"/>
                <a:ea typeface="Avenir"/>
                <a:cs typeface="Avenir"/>
                <a:sym typeface="Avenir"/>
              </a:defRPr>
            </a:lvl1pPr>
            <a:lvl2pPr marL="0" lvl="1" indent="0" algn="r">
              <a:spcBef>
                <a:spcPts val="0"/>
              </a:spcBef>
              <a:buNone/>
              <a:defRPr sz="900" b="0" i="0" u="none" strike="noStrike" cap="none">
                <a:solidFill>
                  <a:schemeClr val="lt1"/>
                </a:solidFill>
                <a:latin typeface="Avenir"/>
                <a:ea typeface="Avenir"/>
                <a:cs typeface="Avenir"/>
                <a:sym typeface="Avenir"/>
              </a:defRPr>
            </a:lvl2pPr>
            <a:lvl3pPr marL="0" lvl="2" indent="0" algn="r">
              <a:spcBef>
                <a:spcPts val="0"/>
              </a:spcBef>
              <a:buNone/>
              <a:defRPr sz="900" b="0" i="0" u="none" strike="noStrike" cap="none">
                <a:solidFill>
                  <a:schemeClr val="lt1"/>
                </a:solidFill>
                <a:latin typeface="Avenir"/>
                <a:ea typeface="Avenir"/>
                <a:cs typeface="Avenir"/>
                <a:sym typeface="Avenir"/>
              </a:defRPr>
            </a:lvl3pPr>
            <a:lvl4pPr marL="0" lvl="3" indent="0" algn="r">
              <a:spcBef>
                <a:spcPts val="0"/>
              </a:spcBef>
              <a:buNone/>
              <a:defRPr sz="900" b="0" i="0" u="none" strike="noStrike" cap="none">
                <a:solidFill>
                  <a:schemeClr val="lt1"/>
                </a:solidFill>
                <a:latin typeface="Avenir"/>
                <a:ea typeface="Avenir"/>
                <a:cs typeface="Avenir"/>
                <a:sym typeface="Avenir"/>
              </a:defRPr>
            </a:lvl4pPr>
            <a:lvl5pPr marL="0" lvl="4" indent="0" algn="r">
              <a:spcBef>
                <a:spcPts val="0"/>
              </a:spcBef>
              <a:buNone/>
              <a:defRPr sz="900" b="0" i="0" u="none" strike="noStrike" cap="none">
                <a:solidFill>
                  <a:schemeClr val="lt1"/>
                </a:solidFill>
                <a:latin typeface="Avenir"/>
                <a:ea typeface="Avenir"/>
                <a:cs typeface="Avenir"/>
                <a:sym typeface="Avenir"/>
              </a:defRPr>
            </a:lvl5pPr>
            <a:lvl6pPr marL="0" lvl="5" indent="0" algn="r">
              <a:spcBef>
                <a:spcPts val="0"/>
              </a:spcBef>
              <a:buNone/>
              <a:defRPr sz="900" b="0" i="0" u="none" strike="noStrike" cap="none">
                <a:solidFill>
                  <a:schemeClr val="lt1"/>
                </a:solidFill>
                <a:latin typeface="Avenir"/>
                <a:ea typeface="Avenir"/>
                <a:cs typeface="Avenir"/>
                <a:sym typeface="Avenir"/>
              </a:defRPr>
            </a:lvl6pPr>
            <a:lvl7pPr marL="0" lvl="6" indent="0" algn="r">
              <a:spcBef>
                <a:spcPts val="0"/>
              </a:spcBef>
              <a:buNone/>
              <a:defRPr sz="900" b="0" i="0" u="none" strike="noStrike" cap="none">
                <a:solidFill>
                  <a:schemeClr val="lt1"/>
                </a:solidFill>
                <a:latin typeface="Avenir"/>
                <a:ea typeface="Avenir"/>
                <a:cs typeface="Avenir"/>
                <a:sym typeface="Avenir"/>
              </a:defRPr>
            </a:lvl7pPr>
            <a:lvl8pPr marL="0" lvl="7" indent="0" algn="r">
              <a:spcBef>
                <a:spcPts val="0"/>
              </a:spcBef>
              <a:buNone/>
              <a:defRPr sz="900" b="0" i="0" u="none" strike="noStrike" cap="none">
                <a:solidFill>
                  <a:schemeClr val="lt1"/>
                </a:solidFill>
                <a:latin typeface="Avenir"/>
                <a:ea typeface="Avenir"/>
                <a:cs typeface="Avenir"/>
                <a:sym typeface="Avenir"/>
              </a:defRPr>
            </a:lvl8pPr>
            <a:lvl9pPr marL="0" lvl="8" indent="0" algn="r">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4"/>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4"/>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4"/>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4"/>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4"/>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sz="2400">
                <a:solidFill>
                  <a:schemeClr val="lt1"/>
                </a:solidFill>
              </a:defRPr>
            </a:lvl1pPr>
            <a:lvl2pPr marL="914400" lvl="1" indent="-228600" algn="l">
              <a:lnSpc>
                <a:spcPct val="110000"/>
              </a:lnSpc>
              <a:spcBef>
                <a:spcPts val="500"/>
              </a:spcBef>
              <a:spcAft>
                <a:spcPts val="0"/>
              </a:spcAft>
              <a:buSzPts val="2000"/>
              <a:buNone/>
              <a:defRPr sz="2000">
                <a:solidFill>
                  <a:srgbClr val="888888"/>
                </a:solidFill>
              </a:defRPr>
            </a:lvl2pPr>
            <a:lvl3pPr marL="1371600" lvl="2" indent="-228600" algn="l">
              <a:lnSpc>
                <a:spcPct val="110000"/>
              </a:lnSpc>
              <a:spcBef>
                <a:spcPts val="500"/>
              </a:spcBef>
              <a:spcAft>
                <a:spcPts val="0"/>
              </a:spcAft>
              <a:buSzPts val="1800"/>
              <a:buNone/>
              <a:defRPr sz="1800">
                <a:solidFill>
                  <a:srgbClr val="888888"/>
                </a:solidFill>
              </a:defRPr>
            </a:lvl3pPr>
            <a:lvl4pPr marL="1828800" lvl="3" indent="-228600" algn="l">
              <a:lnSpc>
                <a:spcPct val="110000"/>
              </a:lnSpc>
              <a:spcBef>
                <a:spcPts val="500"/>
              </a:spcBef>
              <a:spcAft>
                <a:spcPts val="0"/>
              </a:spcAft>
              <a:buSzPts val="1600"/>
              <a:buNone/>
              <a:defRPr sz="1600">
                <a:solidFill>
                  <a:srgbClr val="888888"/>
                </a:solidFill>
              </a:defRPr>
            </a:lvl4pPr>
            <a:lvl5pPr marL="2286000" lvl="4" indent="-228600" algn="l">
              <a:lnSpc>
                <a:spcPct val="11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5"/>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5"/>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5"/>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6"/>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6"/>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6"/>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6"/>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7"/>
          <p:cNvSpPr txBox="1">
            <a:spLocks noGrp="1"/>
          </p:cNvSpPr>
          <p:nvPr>
            <p:ph type="body" idx="1"/>
          </p:nvPr>
        </p:nvSpPr>
        <p:spPr>
          <a:xfrm>
            <a:off x="839788" y="17526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7"/>
          <p:cNvSpPr txBox="1">
            <a:spLocks noGrp="1"/>
          </p:cNvSpPr>
          <p:nvPr>
            <p:ph type="body" idx="2"/>
          </p:nvPr>
        </p:nvSpPr>
        <p:spPr>
          <a:xfrm>
            <a:off x="839788" y="2666999"/>
            <a:ext cx="5157787"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7"/>
          <p:cNvSpPr txBox="1">
            <a:spLocks noGrp="1"/>
          </p:cNvSpPr>
          <p:nvPr>
            <p:ph type="body" idx="3"/>
          </p:nvPr>
        </p:nvSpPr>
        <p:spPr>
          <a:xfrm>
            <a:off x="6172200" y="17526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7"/>
          <p:cNvSpPr txBox="1">
            <a:spLocks noGrp="1"/>
          </p:cNvSpPr>
          <p:nvPr>
            <p:ph type="body" idx="4"/>
          </p:nvPr>
        </p:nvSpPr>
        <p:spPr>
          <a:xfrm>
            <a:off x="6172200" y="2666999"/>
            <a:ext cx="5183188"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7"/>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7"/>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7"/>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8"/>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8"/>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8"/>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8"/>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9"/>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9"/>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9"/>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1000"/>
              </a:spcBef>
              <a:spcAft>
                <a:spcPts val="0"/>
              </a:spcAft>
              <a:buSzPts val="3200"/>
              <a:buChar char="•"/>
              <a:defRPr sz="3200"/>
            </a:lvl1pPr>
            <a:lvl2pPr marL="914400" lvl="1" indent="-406400" algn="l">
              <a:lnSpc>
                <a:spcPct val="110000"/>
              </a:lnSpc>
              <a:spcBef>
                <a:spcPts val="500"/>
              </a:spcBef>
              <a:spcAft>
                <a:spcPts val="0"/>
              </a:spcAft>
              <a:buSzPts val="2800"/>
              <a:buChar char="•"/>
              <a:defRPr sz="2800"/>
            </a:lvl2pPr>
            <a:lvl3pPr marL="1371600" lvl="2" indent="-381000" algn="l">
              <a:lnSpc>
                <a:spcPct val="110000"/>
              </a:lnSpc>
              <a:spcBef>
                <a:spcPts val="500"/>
              </a:spcBef>
              <a:spcAft>
                <a:spcPts val="0"/>
              </a:spcAft>
              <a:buSzPts val="2400"/>
              <a:buChar char="•"/>
              <a:defRPr sz="2400"/>
            </a:lvl3pPr>
            <a:lvl4pPr marL="1828800" lvl="3" indent="-355600" algn="l">
              <a:lnSpc>
                <a:spcPct val="110000"/>
              </a:lnSpc>
              <a:spcBef>
                <a:spcPts val="500"/>
              </a:spcBef>
              <a:spcAft>
                <a:spcPts val="0"/>
              </a:spcAft>
              <a:buSzPts val="2000"/>
              <a:buChar char="•"/>
              <a:defRPr sz="2000"/>
            </a:lvl4pPr>
            <a:lvl5pPr marL="2286000" lvl="4" indent="-355600" algn="l">
              <a:lnSpc>
                <a:spcPct val="11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70"/>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0"/>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0"/>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1"/>
          <p:cNvSpPr>
            <a:spLocks noGrp="1"/>
          </p:cNvSpPr>
          <p:nvPr>
            <p:ph type="pic" idx="2"/>
          </p:nvPr>
        </p:nvSpPr>
        <p:spPr>
          <a:xfrm>
            <a:off x="5183188" y="987425"/>
            <a:ext cx="6172200" cy="4873625"/>
          </a:xfrm>
          <a:prstGeom prst="rect">
            <a:avLst/>
          </a:prstGeom>
          <a:noFill/>
          <a:ln>
            <a:noFill/>
          </a:ln>
        </p:spPr>
      </p:sp>
      <p:sp>
        <p:nvSpPr>
          <p:cNvPr id="70" name="Google Shape;70;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71"/>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1"/>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1"/>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2"/>
          <p:cNvSpPr txBox="1">
            <a:spLocks noGrp="1"/>
          </p:cNvSpPr>
          <p:nvPr>
            <p:ph type="body" idx="1"/>
          </p:nvPr>
        </p:nvSpPr>
        <p:spPr>
          <a:xfrm rot="5400000">
            <a:off x="3998119" y="-1210468"/>
            <a:ext cx="4195763"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7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1" name="Google Shape;11;p62"/>
          <p:cNvPicPr preferRelativeResize="0"/>
          <p:nvPr/>
        </p:nvPicPr>
        <p:blipFill rotWithShape="1">
          <a:blip r:embed="rId13">
            <a:alphaModFix amt="35000"/>
          </a:blip>
          <a:srcRect/>
          <a:stretch/>
        </p:blipFill>
        <p:spPr>
          <a:xfrm>
            <a:off x="0" y="1"/>
            <a:ext cx="12192000" cy="1392401"/>
          </a:xfrm>
          <a:prstGeom prst="rect">
            <a:avLst/>
          </a:prstGeom>
          <a:noFill/>
          <a:ln>
            <a:noFill/>
          </a:ln>
        </p:spPr>
      </p:pic>
      <p:sp>
        <p:nvSpPr>
          <p:cNvPr id="12" name="Google Shape;12;p6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4400"/>
              <a:buFont typeface="Avenir"/>
              <a:buNone/>
              <a:defRPr sz="4400" b="1" i="0" u="none" strike="noStrike" cap="non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6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accent1"/>
              </a:buClr>
              <a:buSzPts val="2800"/>
              <a:buFont typeface="Arial"/>
              <a:buChar char="•"/>
              <a:defRPr sz="2800" b="0" i="0" u="none" strike="noStrike" cap="none">
                <a:solidFill>
                  <a:schemeClr val="lt1"/>
                </a:solidFill>
                <a:latin typeface="Avenir"/>
                <a:ea typeface="Avenir"/>
                <a:cs typeface="Avenir"/>
                <a:sym typeface="Avenir"/>
              </a:defRPr>
            </a:lvl1pPr>
            <a:lvl2pPr marL="914400" marR="0" lvl="1" indent="-381000" algn="l" rtl="0">
              <a:lnSpc>
                <a:spcPct val="110000"/>
              </a:lnSpc>
              <a:spcBef>
                <a:spcPts val="500"/>
              </a:spcBef>
              <a:spcAft>
                <a:spcPts val="0"/>
              </a:spcAft>
              <a:buClr>
                <a:schemeClr val="accent1"/>
              </a:buClr>
              <a:buSzPts val="2400"/>
              <a:buFont typeface="Arial"/>
              <a:buChar char="•"/>
              <a:defRPr sz="2400" b="0" i="0" u="none" strike="noStrike" cap="none">
                <a:solidFill>
                  <a:schemeClr val="lt1"/>
                </a:solidFill>
                <a:latin typeface="Avenir"/>
                <a:ea typeface="Avenir"/>
                <a:cs typeface="Avenir"/>
                <a:sym typeface="Avenir"/>
              </a:defRPr>
            </a:lvl2pPr>
            <a:lvl3pPr marL="1371600" marR="0" lvl="2" indent="-355600" algn="l" rtl="0">
              <a:lnSpc>
                <a:spcPct val="110000"/>
              </a:lnSpc>
              <a:spcBef>
                <a:spcPts val="500"/>
              </a:spcBef>
              <a:spcAft>
                <a:spcPts val="0"/>
              </a:spcAft>
              <a:buClr>
                <a:schemeClr val="accent1"/>
              </a:buClr>
              <a:buSzPts val="20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14" name="Google Shape;14;p6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5" name="Google Shape;15;p6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6" name="Google Shape;16;p6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venir"/>
                <a:ea typeface="Avenir"/>
                <a:cs typeface="Avenir"/>
                <a:sym typeface="Avenir"/>
              </a:defRPr>
            </a:lvl1pPr>
            <a:lvl2pPr marL="0" marR="0" lvl="1" indent="0" algn="r" rtl="0">
              <a:spcBef>
                <a:spcPts val="0"/>
              </a:spcBef>
              <a:buNone/>
              <a:defRPr sz="900" b="0" i="0" u="none" strike="noStrike" cap="none">
                <a:solidFill>
                  <a:schemeClr val="lt1"/>
                </a:solidFill>
                <a:latin typeface="Avenir"/>
                <a:ea typeface="Avenir"/>
                <a:cs typeface="Avenir"/>
                <a:sym typeface="Avenir"/>
              </a:defRPr>
            </a:lvl2pPr>
            <a:lvl3pPr marL="0" marR="0" lvl="2" indent="0" algn="r" rtl="0">
              <a:spcBef>
                <a:spcPts val="0"/>
              </a:spcBef>
              <a:buNone/>
              <a:defRPr sz="900" b="0" i="0" u="none" strike="noStrike" cap="none">
                <a:solidFill>
                  <a:schemeClr val="lt1"/>
                </a:solidFill>
                <a:latin typeface="Avenir"/>
                <a:ea typeface="Avenir"/>
                <a:cs typeface="Avenir"/>
                <a:sym typeface="Avenir"/>
              </a:defRPr>
            </a:lvl3pPr>
            <a:lvl4pPr marL="0" marR="0" lvl="3" indent="0" algn="r" rtl="0">
              <a:spcBef>
                <a:spcPts val="0"/>
              </a:spcBef>
              <a:buNone/>
              <a:defRPr sz="900" b="0" i="0" u="none" strike="noStrike" cap="none">
                <a:solidFill>
                  <a:schemeClr val="lt1"/>
                </a:solidFill>
                <a:latin typeface="Avenir"/>
                <a:ea typeface="Avenir"/>
                <a:cs typeface="Avenir"/>
                <a:sym typeface="Avenir"/>
              </a:defRPr>
            </a:lvl4pPr>
            <a:lvl5pPr marL="0" marR="0" lvl="4" indent="0" algn="r" rtl="0">
              <a:spcBef>
                <a:spcPts val="0"/>
              </a:spcBef>
              <a:buNone/>
              <a:defRPr sz="900" b="0" i="0" u="none" strike="noStrike" cap="none">
                <a:solidFill>
                  <a:schemeClr val="lt1"/>
                </a:solidFill>
                <a:latin typeface="Avenir"/>
                <a:ea typeface="Avenir"/>
                <a:cs typeface="Avenir"/>
                <a:sym typeface="Avenir"/>
              </a:defRPr>
            </a:lvl5pPr>
            <a:lvl6pPr marL="0" marR="0" lvl="5" indent="0" algn="r" rtl="0">
              <a:spcBef>
                <a:spcPts val="0"/>
              </a:spcBef>
              <a:buNone/>
              <a:defRPr sz="900" b="0" i="0" u="none" strike="noStrike" cap="none">
                <a:solidFill>
                  <a:schemeClr val="lt1"/>
                </a:solidFill>
                <a:latin typeface="Avenir"/>
                <a:ea typeface="Avenir"/>
                <a:cs typeface="Avenir"/>
                <a:sym typeface="Avenir"/>
              </a:defRPr>
            </a:lvl6pPr>
            <a:lvl7pPr marL="0" marR="0" lvl="6" indent="0" algn="r" rtl="0">
              <a:spcBef>
                <a:spcPts val="0"/>
              </a:spcBef>
              <a:buNone/>
              <a:defRPr sz="900" b="0" i="0" u="none" strike="noStrike" cap="none">
                <a:solidFill>
                  <a:schemeClr val="lt1"/>
                </a:solidFill>
                <a:latin typeface="Avenir"/>
                <a:ea typeface="Avenir"/>
                <a:cs typeface="Avenir"/>
                <a:sym typeface="Avenir"/>
              </a:defRPr>
            </a:lvl7pPr>
            <a:lvl8pPr marL="0" marR="0" lvl="7" indent="0" algn="r" rtl="0">
              <a:spcBef>
                <a:spcPts val="0"/>
              </a:spcBef>
              <a:buNone/>
              <a:defRPr sz="900" b="0" i="0" u="none" strike="noStrike" cap="none">
                <a:solidFill>
                  <a:schemeClr val="lt1"/>
                </a:solidFill>
                <a:latin typeface="Avenir"/>
                <a:ea typeface="Avenir"/>
                <a:cs typeface="Avenir"/>
                <a:sym typeface="Avenir"/>
              </a:defRPr>
            </a:lvl8pPr>
            <a:lvl9pPr marL="0" marR="0" lvl="8" indent="0" algn="r" rtl="0">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1" name="Google Shape;91;p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92" name="Google Shape;92;p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3" name="Google Shape;93;p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4" name="Google Shape;94;p1"/>
          <p:cNvPicPr preferRelativeResize="0"/>
          <p:nvPr/>
        </p:nvPicPr>
        <p:blipFill rotWithShape="1">
          <a:blip r:embed="rId4">
            <a:alphaModFix/>
          </a:blip>
          <a:srcRect l="9052" r="15486" b="-2"/>
          <a:stretch/>
        </p:blipFill>
        <p:spPr>
          <a:xfrm>
            <a:off x="5996628" y="-1308"/>
            <a:ext cx="6195372" cy="4618233"/>
          </a:xfrm>
          <a:prstGeom prst="rect">
            <a:avLst/>
          </a:prstGeom>
          <a:noFill/>
          <a:ln>
            <a:noFill/>
          </a:ln>
        </p:spPr>
      </p:pic>
      <p:sp>
        <p:nvSpPr>
          <p:cNvPr id="95" name="Google Shape;95;p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6" name="Google Shape;96;p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97" name="Google Shape;97;p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98" name="Google Shape;98;p1"/>
          <p:cNvSpPr txBox="1">
            <a:spLocks noGrp="1"/>
          </p:cNvSpPr>
          <p:nvPr>
            <p:ph type="subTitle" idx="1"/>
          </p:nvPr>
        </p:nvSpPr>
        <p:spPr>
          <a:xfrm>
            <a:off x="0" y="-12211"/>
            <a:ext cx="5313452" cy="3935986"/>
          </a:xfrm>
          <a:prstGeom prst="rect">
            <a:avLst/>
          </a:prstGeom>
          <a:noFill/>
          <a:ln>
            <a:noFill/>
          </a:ln>
        </p:spPr>
        <p:txBody>
          <a:bodyPr spcFirstLastPara="1" wrap="square" lIns="91425" tIns="45700" rIns="91425" bIns="45700" anchor="b" anchorCtr="0">
            <a:normAutofit/>
          </a:bodyPr>
          <a:lstStyle/>
          <a:p>
            <a:pPr marL="0" lvl="0" indent="0" algn="just" rtl="0">
              <a:lnSpc>
                <a:spcPct val="110000"/>
              </a:lnSpc>
              <a:spcBef>
                <a:spcPts val="0"/>
              </a:spcBef>
              <a:spcAft>
                <a:spcPts val="0"/>
              </a:spcAft>
              <a:buSzPts val="2800"/>
              <a:buNone/>
            </a:pPr>
            <a:r>
              <a:rPr lang="en-US" sz="2800">
                <a:solidFill>
                  <a:schemeClr val="dk2"/>
                </a:solidFill>
                <a:latin typeface="Arial"/>
                <a:ea typeface="Arial"/>
                <a:cs typeface="Arial"/>
                <a:sym typeface="Arial"/>
              </a:rPr>
              <a:t>Dr. Muhammad Anwaar Saeed</a:t>
            </a:r>
            <a:endParaRPr/>
          </a:p>
          <a:p>
            <a:pPr marL="0" lvl="0" indent="0" algn="just" rtl="0">
              <a:lnSpc>
                <a:spcPct val="110000"/>
              </a:lnSpc>
              <a:spcBef>
                <a:spcPts val="1000"/>
              </a:spcBef>
              <a:spcAft>
                <a:spcPts val="0"/>
              </a:spcAft>
              <a:buSzPts val="2800"/>
              <a:buNone/>
            </a:pPr>
            <a:r>
              <a:rPr lang="en-US" sz="2800">
                <a:solidFill>
                  <a:schemeClr val="dk2"/>
                </a:solidFill>
                <a:latin typeface="Arial"/>
                <a:ea typeface="Arial"/>
                <a:cs typeface="Arial"/>
                <a:sym typeface="Arial"/>
              </a:rPr>
              <a:t>Dr. Said Nabi</a:t>
            </a:r>
            <a:endParaRPr/>
          </a:p>
          <a:p>
            <a:pPr marL="0" lvl="0" indent="0" algn="just" rtl="0">
              <a:lnSpc>
                <a:spcPct val="110000"/>
              </a:lnSpc>
              <a:spcBef>
                <a:spcPts val="1000"/>
              </a:spcBef>
              <a:spcAft>
                <a:spcPts val="0"/>
              </a:spcAft>
              <a:buSzPts val="2800"/>
              <a:buNone/>
            </a:pPr>
            <a:r>
              <a:rPr lang="en-US" sz="2800">
                <a:solidFill>
                  <a:schemeClr val="dk2"/>
                </a:solidFill>
                <a:latin typeface="Arial"/>
                <a:ea typeface="Arial"/>
                <a:cs typeface="Arial"/>
                <a:sym typeface="Arial"/>
              </a:rPr>
              <a:t>Ms. Hina Ishaq</a:t>
            </a:r>
            <a:endParaRPr/>
          </a:p>
          <a:p>
            <a:pPr marL="0" lvl="0" indent="114300" algn="l" rtl="0">
              <a:lnSpc>
                <a:spcPct val="110000"/>
              </a:lnSpc>
              <a:spcBef>
                <a:spcPts val="1000"/>
              </a:spcBef>
              <a:spcAft>
                <a:spcPts val="0"/>
              </a:spcAft>
              <a:buSzPts val="1800"/>
              <a:buFont typeface="Arial"/>
              <a:buNone/>
            </a:pPr>
            <a:endParaRPr sz="1800">
              <a:solidFill>
                <a:schemeClr val="dk2"/>
              </a:solidFill>
            </a:endParaRPr>
          </a:p>
        </p:txBody>
      </p:sp>
      <p:pic>
        <p:nvPicPr>
          <p:cNvPr id="99" name="Google Shape;99;p1" descr="Logo&#10;&#10;Description automatically generated"/>
          <p:cNvPicPr preferRelativeResize="0"/>
          <p:nvPr/>
        </p:nvPicPr>
        <p:blipFill rotWithShape="1">
          <a:blip r:embed="rId6">
            <a:alphaModFix/>
          </a:blip>
          <a:srcRect/>
          <a:stretch/>
        </p:blipFill>
        <p:spPr>
          <a:xfrm>
            <a:off x="0" y="-5"/>
            <a:ext cx="1773304" cy="112560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04"/>
        <p:cNvGrpSpPr/>
        <p:nvPr/>
      </p:nvGrpSpPr>
      <p:grpSpPr>
        <a:xfrm>
          <a:off x="0" y="0"/>
          <a:ext cx="0" cy="0"/>
          <a:chOff x="0" y="0"/>
          <a:chExt cx="0" cy="0"/>
        </a:xfrm>
      </p:grpSpPr>
      <p:sp>
        <p:nvSpPr>
          <p:cNvPr id="605" name="Google Shape;605;p3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606" name="Google Shape;606;p3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607" name="Google Shape;607;p3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08" name="Google Shape;608;p3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609" name="Google Shape;609;p31"/>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610" name="Google Shape;610;p3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11" name="Google Shape;611;p3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12" name="Google Shape;612;p3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613" name="Google Shape;613;p31"/>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Introduction to Distributed Computing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17"/>
        <p:cNvGrpSpPr/>
        <p:nvPr/>
      </p:nvGrpSpPr>
      <p:grpSpPr>
        <a:xfrm>
          <a:off x="0" y="0"/>
          <a:ext cx="0" cy="0"/>
          <a:chOff x="0" y="0"/>
          <a:chExt cx="0" cy="0"/>
        </a:xfrm>
      </p:grpSpPr>
      <p:sp>
        <p:nvSpPr>
          <p:cNvPr id="618" name="Google Shape;618;p3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19" name="Google Shape;619;p32"/>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20" name="Google Shape;620;p32"/>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21" name="Google Shape;621;p32"/>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22" name="Google Shape;622;p32"/>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623" name="Google Shape;623;p3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624" name="Google Shape;624;p32"/>
          <p:cNvGrpSpPr/>
          <p:nvPr/>
        </p:nvGrpSpPr>
        <p:grpSpPr>
          <a:xfrm>
            <a:off x="5256089" y="2722919"/>
            <a:ext cx="6292064" cy="883309"/>
            <a:chOff x="0" y="0"/>
            <a:chExt cx="6292064" cy="883309"/>
          </a:xfrm>
        </p:grpSpPr>
        <p:sp>
          <p:nvSpPr>
            <p:cNvPr id="625" name="Google Shape;625;p32"/>
            <p:cNvSpPr/>
            <p:nvPr/>
          </p:nvSpPr>
          <p:spPr>
            <a:xfrm>
              <a:off x="0" y="0"/>
              <a:ext cx="6292064"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2"/>
            <p:cNvSpPr txBox="1"/>
            <p:nvPr/>
          </p:nvSpPr>
          <p:spPr>
            <a:xfrm>
              <a:off x="1346743" y="0"/>
              <a:ext cx="4945320"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Detailed explanation of distributed computing.</a:t>
              </a:r>
              <a:endParaRPr sz="2400">
                <a:solidFill>
                  <a:schemeClr val="lt1"/>
                </a:solidFill>
                <a:latin typeface="Arial"/>
                <a:ea typeface="Arial"/>
                <a:cs typeface="Arial"/>
                <a:sym typeface="Arial"/>
              </a:endParaRPr>
            </a:p>
          </p:txBody>
        </p:sp>
        <p:sp>
          <p:nvSpPr>
            <p:cNvPr id="627" name="Google Shape;627;p32"/>
            <p:cNvSpPr/>
            <p:nvPr/>
          </p:nvSpPr>
          <p:spPr>
            <a:xfrm>
              <a:off x="249263" y="88330"/>
              <a:ext cx="936548" cy="706647"/>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2"/>
        <p:cNvGrpSpPr/>
        <p:nvPr/>
      </p:nvGrpSpPr>
      <p:grpSpPr>
        <a:xfrm>
          <a:off x="0" y="0"/>
          <a:ext cx="0" cy="0"/>
          <a:chOff x="0" y="0"/>
          <a:chExt cx="0" cy="0"/>
        </a:xfrm>
      </p:grpSpPr>
      <p:sp>
        <p:nvSpPr>
          <p:cNvPr id="633" name="Google Shape;633;p3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34" name="Google Shape;634;p33"/>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35" name="Google Shape;635;p33"/>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36" name="Google Shape;636;p33"/>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37" name="Google Shape;637;p33"/>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Introduction to Distributed Computing</a:t>
            </a:r>
            <a:endParaRPr/>
          </a:p>
        </p:txBody>
      </p:sp>
      <p:sp>
        <p:nvSpPr>
          <p:cNvPr id="638" name="Google Shape;638;p33"/>
          <p:cNvSpPr txBox="1">
            <a:spLocks noGrp="1"/>
          </p:cNvSpPr>
          <p:nvPr>
            <p:ph type="body" idx="1"/>
          </p:nvPr>
        </p:nvSpPr>
        <p:spPr>
          <a:xfrm>
            <a:off x="1198182" y="2225674"/>
            <a:ext cx="8796337" cy="3935413"/>
          </a:xfrm>
          <a:prstGeom prst="rect">
            <a:avLst/>
          </a:prstGeom>
          <a:noFill/>
          <a:ln>
            <a:noFill/>
          </a:ln>
        </p:spPr>
        <p:txBody>
          <a:bodyPr spcFirstLastPara="1" wrap="square" lIns="91425" tIns="45700" rIns="91425" bIns="45700" anchor="ctr" anchorCtr="0">
            <a:noAutofit/>
          </a:bodyPr>
          <a:lstStyle/>
          <a:p>
            <a:pPr marL="0" lvl="0" indent="0" algn="ctr" rtl="0">
              <a:lnSpc>
                <a:spcPct val="110000"/>
              </a:lnSpc>
              <a:spcBef>
                <a:spcPts val="0"/>
              </a:spcBef>
              <a:spcAft>
                <a:spcPts val="0"/>
              </a:spcAft>
              <a:buSzPts val="2800"/>
              <a:buNone/>
            </a:pPr>
            <a:r>
              <a:rPr lang="en-US" sz="2800">
                <a:solidFill>
                  <a:schemeClr val="dk1"/>
                </a:solidFill>
                <a:latin typeface="Arial"/>
                <a:ea typeface="Arial"/>
                <a:cs typeface="Arial"/>
                <a:sym typeface="Arial"/>
              </a:rPr>
              <a:t>“</a:t>
            </a:r>
            <a:r>
              <a:rPr lang="en-US">
                <a:solidFill>
                  <a:schemeClr val="dk1"/>
                </a:solidFill>
                <a:latin typeface="Arial"/>
                <a:ea typeface="Arial"/>
                <a:cs typeface="Arial"/>
                <a:sym typeface="Arial"/>
              </a:rPr>
              <a:t>A distributed system is a collection of </a:t>
            </a:r>
            <a:r>
              <a:rPr lang="en-US">
                <a:solidFill>
                  <a:srgbClr val="C00000"/>
                </a:solidFill>
                <a:latin typeface="Arial"/>
                <a:ea typeface="Arial"/>
                <a:cs typeface="Arial"/>
                <a:sym typeface="Arial"/>
              </a:rPr>
              <a:t>independent computers </a:t>
            </a:r>
            <a:r>
              <a:rPr lang="en-US">
                <a:solidFill>
                  <a:schemeClr val="dk1"/>
                </a:solidFill>
                <a:latin typeface="Arial"/>
                <a:ea typeface="Arial"/>
                <a:cs typeface="Arial"/>
                <a:sym typeface="Arial"/>
              </a:rPr>
              <a:t>that appears to its users as a </a:t>
            </a:r>
            <a:r>
              <a:rPr lang="en-US" u="sng">
                <a:solidFill>
                  <a:srgbClr val="0A25F0"/>
                </a:solidFill>
                <a:latin typeface="Arial"/>
                <a:ea typeface="Arial"/>
                <a:cs typeface="Arial"/>
                <a:sym typeface="Arial"/>
              </a:rPr>
              <a:t>single coherent system</a:t>
            </a:r>
            <a:r>
              <a:rPr lang="en-US">
                <a:solidFill>
                  <a:schemeClr val="dk1"/>
                </a:solidFill>
                <a:latin typeface="Arial"/>
                <a:ea typeface="Arial"/>
                <a:cs typeface="Arial"/>
                <a:sym typeface="Arial"/>
              </a:rPr>
              <a:t>.</a:t>
            </a:r>
            <a:r>
              <a:rPr lang="en-US" sz="2800">
                <a:solidFill>
                  <a:schemeClr val="dk1"/>
                </a:solidFill>
                <a:latin typeface="Arial"/>
                <a:ea typeface="Arial"/>
                <a:cs typeface="Arial"/>
                <a:sym typeface="Arial"/>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3"/>
        <p:cNvGrpSpPr/>
        <p:nvPr/>
      </p:nvGrpSpPr>
      <p:grpSpPr>
        <a:xfrm>
          <a:off x="0" y="0"/>
          <a:ext cx="0" cy="0"/>
          <a:chOff x="0" y="0"/>
          <a:chExt cx="0" cy="0"/>
        </a:xfrm>
      </p:grpSpPr>
      <p:sp>
        <p:nvSpPr>
          <p:cNvPr id="644" name="Google Shape;644;p3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45" name="Google Shape;645;p34"/>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646" name="Google Shape;646;p34"/>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647" name="Google Shape;647;p34"/>
          <p:cNvSpPr txBox="1">
            <a:spLocks noGrp="1"/>
          </p:cNvSpPr>
          <p:nvPr>
            <p:ph type="title"/>
          </p:nvPr>
        </p:nvSpPr>
        <p:spPr>
          <a:xfrm>
            <a:off x="838201" y="422205"/>
            <a:ext cx="10864064" cy="1414936"/>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dk2"/>
              </a:buClr>
              <a:buSzPct val="100000"/>
              <a:buFont typeface="Avenir"/>
              <a:buNone/>
            </a:pPr>
            <a:r>
              <a:rPr lang="en-US">
                <a:solidFill>
                  <a:schemeClr val="dk2"/>
                </a:solidFill>
              </a:rPr>
              <a:t>Introduction to Distributed Computing Cont.…</a:t>
            </a:r>
            <a:endParaRPr>
              <a:solidFill>
                <a:schemeClr val="dk2"/>
              </a:solidFill>
            </a:endParaRPr>
          </a:p>
        </p:txBody>
      </p:sp>
      <p:pic>
        <p:nvPicPr>
          <p:cNvPr id="648" name="Google Shape;648;p34"/>
          <p:cNvPicPr preferRelativeResize="0"/>
          <p:nvPr/>
        </p:nvPicPr>
        <p:blipFill rotWithShape="1">
          <a:blip r:embed="rId4">
            <a:alphaModFix/>
          </a:blip>
          <a:srcRect r="46047"/>
          <a:stretch/>
        </p:blipFill>
        <p:spPr>
          <a:xfrm rot="10800000">
            <a:off x="0" y="2719662"/>
            <a:ext cx="1371600" cy="2548349"/>
          </a:xfrm>
          <a:prstGeom prst="rect">
            <a:avLst/>
          </a:prstGeom>
          <a:noFill/>
          <a:ln>
            <a:noFill/>
          </a:ln>
        </p:spPr>
      </p:pic>
      <p:grpSp>
        <p:nvGrpSpPr>
          <p:cNvPr id="649" name="Google Shape;649;p34"/>
          <p:cNvGrpSpPr/>
          <p:nvPr/>
        </p:nvGrpSpPr>
        <p:grpSpPr>
          <a:xfrm>
            <a:off x="1833396" y="1818526"/>
            <a:ext cx="9335288" cy="4294561"/>
            <a:chOff x="4595" y="0"/>
            <a:chExt cx="9335288" cy="4294561"/>
          </a:xfrm>
        </p:grpSpPr>
        <p:sp>
          <p:nvSpPr>
            <p:cNvPr id="650" name="Google Shape;650;p34"/>
            <p:cNvSpPr/>
            <p:nvPr/>
          </p:nvSpPr>
          <p:spPr>
            <a:xfrm rot="-5400000">
              <a:off x="544765" y="-540169"/>
              <a:ext cx="4294561" cy="5374900"/>
            </a:xfrm>
            <a:prstGeom prst="flowChartManualOperation">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4"/>
            <p:cNvSpPr txBox="1"/>
            <p:nvPr/>
          </p:nvSpPr>
          <p:spPr>
            <a:xfrm>
              <a:off x="4596" y="858912"/>
              <a:ext cx="5374900" cy="2576737"/>
            </a:xfrm>
            <a:prstGeom prst="rect">
              <a:avLst/>
            </a:prstGeom>
            <a:noFill/>
            <a:ln>
              <a:noFill/>
            </a:ln>
          </p:spPr>
          <p:txBody>
            <a:bodyPr spcFirstLastPara="1" wrap="square" lIns="127000" tIns="0" rIns="127000" bIns="0" anchor="t" anchorCtr="0">
              <a:noAutofit/>
            </a:bodyPr>
            <a:lstStyle/>
            <a:p>
              <a:pPr marL="0" marR="0" lvl="0" indent="0" algn="just" rtl="0">
                <a:lnSpc>
                  <a:spcPct val="90000"/>
                </a:lnSpc>
                <a:spcBef>
                  <a:spcPts val="0"/>
                </a:spcBef>
                <a:spcAft>
                  <a:spcPts val="0"/>
                </a:spcAft>
                <a:buClr>
                  <a:schemeClr val="lt1"/>
                </a:buClr>
                <a:buSzPts val="2000"/>
                <a:buFont typeface="Avenir"/>
                <a:buNone/>
              </a:pPr>
              <a:r>
                <a:rPr lang="en-US" sz="2000">
                  <a:solidFill>
                    <a:schemeClr val="lt1"/>
                  </a:solidFill>
                  <a:latin typeface="Avenir"/>
                  <a:ea typeface="Avenir"/>
                  <a:cs typeface="Avenir"/>
                  <a:sym typeface="Avenir"/>
                </a:rPr>
                <a:t>In distributed computing</a:t>
              </a:r>
              <a:endParaRPr sz="2000">
                <a:solidFill>
                  <a:schemeClr val="lt1"/>
                </a:solidFill>
                <a:latin typeface="Avenir"/>
                <a:ea typeface="Avenir"/>
                <a:cs typeface="Avenir"/>
                <a:sym typeface="Avenir"/>
              </a:endParaRPr>
            </a:p>
            <a:p>
              <a:pPr marL="228600" marR="0" lvl="1" indent="-228600" algn="just" rtl="0">
                <a:lnSpc>
                  <a:spcPct val="90000"/>
                </a:lnSpc>
                <a:spcBef>
                  <a:spcPts val="700"/>
                </a:spcBef>
                <a:spcAft>
                  <a:spcPts val="0"/>
                </a:spcAft>
                <a:buClr>
                  <a:schemeClr val="lt1"/>
                </a:buClr>
                <a:buSzPts val="2000"/>
                <a:buFont typeface="Avenir"/>
                <a:buChar char="•"/>
              </a:pPr>
              <a:r>
                <a:rPr lang="en-US" sz="2000" b="0" i="0" u="none" strike="noStrike" cap="none">
                  <a:solidFill>
                    <a:schemeClr val="lt1"/>
                  </a:solidFill>
                  <a:latin typeface="Avenir"/>
                  <a:ea typeface="Avenir"/>
                  <a:cs typeface="Avenir"/>
                  <a:sym typeface="Avenir"/>
                </a:rPr>
                <a:t> We have multiple autonomous computers which seems to the user as single system.</a:t>
              </a:r>
              <a:endParaRPr sz="2000" b="0" i="0" u="none" strike="noStrike" cap="none">
                <a:solidFill>
                  <a:schemeClr val="lt1"/>
                </a:solidFill>
                <a:latin typeface="Avenir"/>
                <a:ea typeface="Avenir"/>
                <a:cs typeface="Avenir"/>
                <a:sym typeface="Avenir"/>
              </a:endParaRPr>
            </a:p>
            <a:p>
              <a:pPr marL="228600" marR="0" lvl="1" indent="-228600" algn="just" rtl="0">
                <a:lnSpc>
                  <a:spcPct val="90000"/>
                </a:lnSpc>
                <a:spcBef>
                  <a:spcPts val="300"/>
                </a:spcBef>
                <a:spcAft>
                  <a:spcPts val="0"/>
                </a:spcAft>
                <a:buClr>
                  <a:schemeClr val="lt1"/>
                </a:buClr>
                <a:buSzPts val="2000"/>
                <a:buFont typeface="Avenir"/>
                <a:buChar char="•"/>
              </a:pPr>
              <a:r>
                <a:rPr lang="en-US" sz="2000" b="0" i="0" u="none" strike="noStrike" cap="none">
                  <a:solidFill>
                    <a:schemeClr val="lt1"/>
                  </a:solidFill>
                  <a:latin typeface="Avenir"/>
                  <a:ea typeface="Avenir"/>
                  <a:cs typeface="Avenir"/>
                  <a:sym typeface="Avenir"/>
                </a:rPr>
                <a:t>There is no shared memory and computers communicate with each other through message passing. </a:t>
              </a:r>
              <a:endParaRPr sz="2000" b="0" i="0" u="none" strike="noStrike" cap="none">
                <a:solidFill>
                  <a:schemeClr val="lt1"/>
                </a:solidFill>
                <a:latin typeface="Avenir"/>
                <a:ea typeface="Avenir"/>
                <a:cs typeface="Avenir"/>
                <a:sym typeface="Avenir"/>
              </a:endParaRPr>
            </a:p>
            <a:p>
              <a:pPr marL="228600" marR="0" lvl="1" indent="-228600" algn="l" rtl="0">
                <a:lnSpc>
                  <a:spcPct val="90000"/>
                </a:lnSpc>
                <a:spcBef>
                  <a:spcPts val="300"/>
                </a:spcBef>
                <a:spcAft>
                  <a:spcPts val="0"/>
                </a:spcAft>
                <a:buClr>
                  <a:schemeClr val="lt1"/>
                </a:buClr>
                <a:buSzPts val="2000"/>
                <a:buFont typeface="Avenir"/>
                <a:buChar char="•"/>
              </a:pPr>
              <a:r>
                <a:rPr lang="en-US" sz="2000" b="0" i="0" u="none" strike="noStrike" cap="none">
                  <a:solidFill>
                    <a:schemeClr val="lt1"/>
                  </a:solidFill>
                  <a:latin typeface="Avenir"/>
                  <a:ea typeface="Avenir"/>
                  <a:cs typeface="Avenir"/>
                  <a:sym typeface="Avenir"/>
                </a:rPr>
                <a:t>A single task is divided among different computers.</a:t>
              </a:r>
              <a:endParaRPr/>
            </a:p>
            <a:p>
              <a:pPr marL="228600" marR="0" lvl="1" indent="-114300" algn="just" rtl="0">
                <a:lnSpc>
                  <a:spcPct val="90000"/>
                </a:lnSpc>
                <a:spcBef>
                  <a:spcPts val="300"/>
                </a:spcBef>
                <a:spcAft>
                  <a:spcPts val="0"/>
                </a:spcAft>
                <a:buClr>
                  <a:schemeClr val="dk1"/>
                </a:buClr>
                <a:buSzPts val="1800"/>
                <a:buFont typeface="Avenir"/>
                <a:buNone/>
              </a:pPr>
              <a:endParaRPr sz="1800" b="0" i="0" u="none" strike="noStrike" cap="none">
                <a:solidFill>
                  <a:schemeClr val="lt1"/>
                </a:solidFill>
                <a:latin typeface="Avenir"/>
                <a:ea typeface="Avenir"/>
                <a:cs typeface="Avenir"/>
                <a:sym typeface="Avenir"/>
              </a:endParaRPr>
            </a:p>
          </p:txBody>
        </p:sp>
        <p:sp>
          <p:nvSpPr>
            <p:cNvPr id="652" name="Google Shape;652;p34"/>
            <p:cNvSpPr/>
            <p:nvPr/>
          </p:nvSpPr>
          <p:spPr>
            <a:xfrm rot="-5400000">
              <a:off x="5979046" y="368645"/>
              <a:ext cx="3164404" cy="3557270"/>
            </a:xfrm>
            <a:prstGeom prst="flowChartManualOperation">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4"/>
            <p:cNvSpPr txBox="1"/>
            <p:nvPr/>
          </p:nvSpPr>
          <p:spPr>
            <a:xfrm>
              <a:off x="5782613" y="1197959"/>
              <a:ext cx="3557270" cy="1898642"/>
            </a:xfrm>
            <a:prstGeom prst="rect">
              <a:avLst/>
            </a:prstGeom>
            <a:noFill/>
            <a:ln>
              <a:noFill/>
            </a:ln>
          </p:spPr>
          <p:txBody>
            <a:bodyPr spcFirstLastPara="1" wrap="square" lIns="127000" tIns="0" rIns="127000" bIns="0" anchor="t" anchorCtr="0">
              <a:noAutofit/>
            </a:bodyPr>
            <a:lstStyle/>
            <a:p>
              <a:pPr marL="0" marR="0" lvl="0" indent="0" algn="l" rtl="0">
                <a:lnSpc>
                  <a:spcPct val="90000"/>
                </a:lnSpc>
                <a:spcBef>
                  <a:spcPts val="0"/>
                </a:spcBef>
                <a:spcAft>
                  <a:spcPts val="0"/>
                </a:spcAft>
                <a:buClr>
                  <a:schemeClr val="lt1"/>
                </a:buClr>
                <a:buSzPts val="2000"/>
                <a:buFont typeface="Avenir"/>
                <a:buNone/>
              </a:pPr>
              <a:r>
                <a:rPr lang="en-US" sz="2000">
                  <a:solidFill>
                    <a:schemeClr val="lt1"/>
                  </a:solidFill>
                  <a:latin typeface="Avenir"/>
                  <a:ea typeface="Avenir"/>
                  <a:cs typeface="Avenir"/>
                  <a:sym typeface="Avenir"/>
                </a:rPr>
                <a:t>Uses or coordinates physically separate computing resources:</a:t>
              </a:r>
              <a:endParaRPr sz="2000">
                <a:solidFill>
                  <a:schemeClr val="lt1"/>
                </a:solidFill>
                <a:latin typeface="Avenir"/>
                <a:ea typeface="Avenir"/>
                <a:cs typeface="Avenir"/>
                <a:sym typeface="Avenir"/>
              </a:endParaRPr>
            </a:p>
            <a:p>
              <a:pPr marL="228600" marR="0" lvl="1" indent="-228600" algn="l" rtl="0">
                <a:lnSpc>
                  <a:spcPct val="90000"/>
                </a:lnSpc>
                <a:spcBef>
                  <a:spcPts val="700"/>
                </a:spcBef>
                <a:spcAft>
                  <a:spcPts val="0"/>
                </a:spcAft>
                <a:buClr>
                  <a:schemeClr val="lt1"/>
                </a:buClr>
                <a:buSzPts val="2000"/>
                <a:buFont typeface="Avenir"/>
                <a:buChar char="•"/>
              </a:pPr>
              <a:r>
                <a:rPr lang="en-US" sz="2000" b="0" i="0" u="none" strike="noStrike" cap="none">
                  <a:solidFill>
                    <a:schemeClr val="lt1"/>
                  </a:solidFill>
                  <a:latin typeface="Avenir"/>
                  <a:ea typeface="Avenir"/>
                  <a:cs typeface="Avenir"/>
                  <a:sym typeface="Avenir"/>
                </a:rPr>
                <a:t>Grid computing </a:t>
              </a:r>
              <a:endParaRPr sz="2000" b="0" i="0" u="none" strike="noStrike" cap="none">
                <a:solidFill>
                  <a:schemeClr val="lt1"/>
                </a:solidFill>
                <a:latin typeface="Avenir"/>
                <a:ea typeface="Avenir"/>
                <a:cs typeface="Avenir"/>
                <a:sym typeface="Avenir"/>
              </a:endParaRPr>
            </a:p>
            <a:p>
              <a:pPr marL="228600" marR="0" lvl="1" indent="-228600" algn="l" rtl="0">
                <a:lnSpc>
                  <a:spcPct val="90000"/>
                </a:lnSpc>
                <a:spcBef>
                  <a:spcPts val="300"/>
                </a:spcBef>
                <a:spcAft>
                  <a:spcPts val="0"/>
                </a:spcAft>
                <a:buClr>
                  <a:schemeClr val="lt1"/>
                </a:buClr>
                <a:buSzPts val="2000"/>
                <a:buFont typeface="Avenir"/>
                <a:buChar char="•"/>
              </a:pPr>
              <a:r>
                <a:rPr lang="en-US" sz="2000" b="0" i="0" u="none" strike="noStrike" cap="none">
                  <a:solidFill>
                    <a:schemeClr val="lt1"/>
                  </a:solidFill>
                  <a:latin typeface="Avenir"/>
                  <a:ea typeface="Avenir"/>
                  <a:cs typeface="Avenir"/>
                  <a:sym typeface="Avenir"/>
                </a:rPr>
                <a:t>Cloud Computing </a:t>
              </a:r>
              <a:endParaRPr sz="2000" b="0" i="0" u="none" strike="noStrike" cap="none">
                <a:solidFill>
                  <a:schemeClr val="lt1"/>
                </a:solidFill>
                <a:latin typeface="Avenir"/>
                <a:ea typeface="Avenir"/>
                <a:cs typeface="Avenir"/>
                <a:sym typeface="Aveni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7"/>
        <p:cNvGrpSpPr/>
        <p:nvPr/>
      </p:nvGrpSpPr>
      <p:grpSpPr>
        <a:xfrm>
          <a:off x="0" y="0"/>
          <a:ext cx="0" cy="0"/>
          <a:chOff x="0" y="0"/>
          <a:chExt cx="0" cy="0"/>
        </a:xfrm>
      </p:grpSpPr>
      <p:sp>
        <p:nvSpPr>
          <p:cNvPr id="658" name="Google Shape;658;p3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59" name="Google Shape;659;p35"/>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660" name="Google Shape;660;p35"/>
          <p:cNvPicPr preferRelativeResize="0"/>
          <p:nvPr/>
        </p:nvPicPr>
        <p:blipFill rotWithShape="1">
          <a:blip r:embed="rId3">
            <a:alphaModFix/>
          </a:blip>
          <a:srcRect l="53001" t="54841"/>
          <a:stretch/>
        </p:blipFill>
        <p:spPr>
          <a:xfrm>
            <a:off x="0" y="0"/>
            <a:ext cx="872377" cy="838200"/>
          </a:xfrm>
          <a:prstGeom prst="rect">
            <a:avLst/>
          </a:prstGeom>
          <a:noFill/>
          <a:ln>
            <a:noFill/>
          </a:ln>
        </p:spPr>
      </p:pic>
      <p:sp>
        <p:nvSpPr>
          <p:cNvPr id="661" name="Google Shape;661;p35"/>
          <p:cNvSpPr txBox="1">
            <a:spLocks noGrp="1"/>
          </p:cNvSpPr>
          <p:nvPr>
            <p:ph type="title"/>
          </p:nvPr>
        </p:nvSpPr>
        <p:spPr>
          <a:xfrm>
            <a:off x="838200" y="559813"/>
            <a:ext cx="9754456" cy="157378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400"/>
              <a:buFont typeface="Avenir"/>
              <a:buNone/>
            </a:pPr>
            <a:r>
              <a:rPr lang="en-US" sz="3400">
                <a:solidFill>
                  <a:schemeClr val="dk2"/>
                </a:solidFill>
              </a:rPr>
              <a:t>Introduction to Distributed Computing Cont.…</a:t>
            </a:r>
            <a:endParaRPr sz="3400">
              <a:solidFill>
                <a:schemeClr val="dk2"/>
              </a:solidFill>
            </a:endParaRPr>
          </a:p>
        </p:txBody>
      </p:sp>
      <p:pic>
        <p:nvPicPr>
          <p:cNvPr id="662" name="Google Shape;662;p35" descr="Icon&#10;&#10;Description automatically generated"/>
          <p:cNvPicPr preferRelativeResize="0"/>
          <p:nvPr/>
        </p:nvPicPr>
        <p:blipFill rotWithShape="1">
          <a:blip r:embed="rId4">
            <a:alphaModFix/>
          </a:blip>
          <a:srcRect/>
          <a:stretch/>
        </p:blipFill>
        <p:spPr>
          <a:xfrm>
            <a:off x="3762849" y="2385716"/>
            <a:ext cx="4666302" cy="3919694"/>
          </a:xfrm>
          <a:prstGeom prst="ellipse">
            <a:avLst/>
          </a:prstGeom>
          <a:noFill/>
          <a:ln w="190500" cap="rnd" cmpd="sng">
            <a:solidFill>
              <a:srgbClr val="C8C6BD"/>
            </a:solidFill>
            <a:prstDash val="solid"/>
            <a:round/>
            <a:headEnd type="none" w="sm" len="sm"/>
            <a:tailEnd type="none" w="sm" len="sm"/>
          </a:ln>
          <a:effectLst>
            <a:outerShdw blurRad="127000" algn="bl" rotWithShape="0">
              <a:srgbClr val="000000"/>
            </a:outerShdw>
          </a:effectLst>
        </p:spPr>
      </p:pic>
      <p:pic>
        <p:nvPicPr>
          <p:cNvPr id="663" name="Google Shape;663;p35"/>
          <p:cNvPicPr preferRelativeResize="0"/>
          <p:nvPr/>
        </p:nvPicPr>
        <p:blipFill rotWithShape="1">
          <a:blip r:embed="rId5">
            <a:alphaModFix/>
          </a:blip>
          <a:srcRect r="73964"/>
          <a:stretch/>
        </p:blipFill>
        <p:spPr>
          <a:xfrm>
            <a:off x="11527047" y="3144779"/>
            <a:ext cx="661905" cy="25483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67"/>
        <p:cNvGrpSpPr/>
        <p:nvPr/>
      </p:nvGrpSpPr>
      <p:grpSpPr>
        <a:xfrm>
          <a:off x="0" y="0"/>
          <a:ext cx="0" cy="0"/>
          <a:chOff x="0" y="0"/>
          <a:chExt cx="0" cy="0"/>
        </a:xfrm>
      </p:grpSpPr>
      <p:sp>
        <p:nvSpPr>
          <p:cNvPr id="668" name="Google Shape;668;p36"/>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669" name="Google Shape;669;p36"/>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670" name="Google Shape;670;p36"/>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71" name="Google Shape;671;p36"/>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672" name="Google Shape;672;p36"/>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673" name="Google Shape;673;p36"/>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74" name="Google Shape;674;p36"/>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75" name="Google Shape;675;p36"/>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676" name="Google Shape;676;p36"/>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Why Use Distributed Computing?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0"/>
        <p:cNvGrpSpPr/>
        <p:nvPr/>
      </p:nvGrpSpPr>
      <p:grpSpPr>
        <a:xfrm>
          <a:off x="0" y="0"/>
          <a:ext cx="0" cy="0"/>
          <a:chOff x="0" y="0"/>
          <a:chExt cx="0" cy="0"/>
        </a:xfrm>
      </p:grpSpPr>
      <p:sp>
        <p:nvSpPr>
          <p:cNvPr id="681" name="Google Shape;681;p3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82" name="Google Shape;682;p37"/>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83" name="Google Shape;683;p37"/>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84" name="Google Shape;684;p37"/>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85" name="Google Shape;685;p37"/>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686" name="Google Shape;686;p37"/>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687" name="Google Shape;687;p37"/>
          <p:cNvGrpSpPr/>
          <p:nvPr/>
        </p:nvGrpSpPr>
        <p:grpSpPr>
          <a:xfrm>
            <a:off x="5256089" y="2722919"/>
            <a:ext cx="6292064" cy="883309"/>
            <a:chOff x="0" y="0"/>
            <a:chExt cx="6292064" cy="883309"/>
          </a:xfrm>
        </p:grpSpPr>
        <p:sp>
          <p:nvSpPr>
            <p:cNvPr id="688" name="Google Shape;688;p37"/>
            <p:cNvSpPr/>
            <p:nvPr/>
          </p:nvSpPr>
          <p:spPr>
            <a:xfrm>
              <a:off x="0" y="0"/>
              <a:ext cx="6292064"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7"/>
            <p:cNvSpPr txBox="1"/>
            <p:nvPr/>
          </p:nvSpPr>
          <p:spPr>
            <a:xfrm>
              <a:off x="1346743" y="0"/>
              <a:ext cx="4945320"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Identifying the aspects that makes distributed computing more useful. </a:t>
              </a:r>
              <a:endParaRPr sz="2400">
                <a:solidFill>
                  <a:schemeClr val="lt1"/>
                </a:solidFill>
                <a:latin typeface="Arial"/>
                <a:ea typeface="Arial"/>
                <a:cs typeface="Arial"/>
                <a:sym typeface="Arial"/>
              </a:endParaRPr>
            </a:p>
          </p:txBody>
        </p:sp>
        <p:sp>
          <p:nvSpPr>
            <p:cNvPr id="690" name="Google Shape;690;p37"/>
            <p:cNvSpPr/>
            <p:nvPr/>
          </p:nvSpPr>
          <p:spPr>
            <a:xfrm>
              <a:off x="249263" y="88330"/>
              <a:ext cx="936548" cy="706647"/>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4"/>
        <p:cNvGrpSpPr/>
        <p:nvPr/>
      </p:nvGrpSpPr>
      <p:grpSpPr>
        <a:xfrm>
          <a:off x="0" y="0"/>
          <a:ext cx="0" cy="0"/>
          <a:chOff x="0" y="0"/>
          <a:chExt cx="0" cy="0"/>
        </a:xfrm>
      </p:grpSpPr>
      <p:sp>
        <p:nvSpPr>
          <p:cNvPr id="695" name="Google Shape;695;p38"/>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96" name="Google Shape;696;p38"/>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697" name="Google Shape;697;p38"/>
          <p:cNvSpPr/>
          <p:nvPr/>
        </p:nvSpPr>
        <p:spPr>
          <a:xfrm>
            <a:off x="0" y="0"/>
            <a:ext cx="5998281"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98" name="Google Shape;698;p38"/>
          <p:cNvSpPr/>
          <p:nvPr/>
        </p:nvSpPr>
        <p:spPr>
          <a:xfrm>
            <a:off x="0" y="0"/>
            <a:ext cx="5998281"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699" name="Google Shape;699;p38"/>
          <p:cNvSpPr txBox="1">
            <a:spLocks noGrp="1"/>
          </p:cNvSpPr>
          <p:nvPr>
            <p:ph type="title"/>
          </p:nvPr>
        </p:nvSpPr>
        <p:spPr>
          <a:xfrm>
            <a:off x="838201" y="559813"/>
            <a:ext cx="4876800"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Why Use Distributed Computing</a:t>
            </a:r>
            <a:endParaRPr/>
          </a:p>
        </p:txBody>
      </p:sp>
      <p:grpSp>
        <p:nvGrpSpPr>
          <p:cNvPr id="700" name="Google Shape;700;p38"/>
          <p:cNvGrpSpPr/>
          <p:nvPr/>
        </p:nvGrpSpPr>
        <p:grpSpPr>
          <a:xfrm>
            <a:off x="6185050" y="423583"/>
            <a:ext cx="5625356" cy="5625356"/>
            <a:chOff x="592" y="80150"/>
            <a:chExt cx="5625356" cy="5625356"/>
          </a:xfrm>
        </p:grpSpPr>
        <p:sp>
          <p:nvSpPr>
            <p:cNvPr id="701" name="Google Shape;701;p38"/>
            <p:cNvSpPr/>
            <p:nvPr/>
          </p:nvSpPr>
          <p:spPr>
            <a:xfrm>
              <a:off x="2079732" y="80150"/>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8"/>
            <p:cNvSpPr txBox="1"/>
            <p:nvPr/>
          </p:nvSpPr>
          <p:spPr>
            <a:xfrm>
              <a:off x="2446501" y="80150"/>
              <a:ext cx="733538" cy="12103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Heterogeneity</a:t>
              </a:r>
              <a:endParaRPr sz="700">
                <a:solidFill>
                  <a:schemeClr val="lt1"/>
                </a:solidFill>
                <a:latin typeface="Avenir"/>
                <a:ea typeface="Avenir"/>
                <a:cs typeface="Avenir"/>
                <a:sym typeface="Avenir"/>
              </a:endParaRPr>
            </a:p>
          </p:txBody>
        </p:sp>
        <p:sp>
          <p:nvSpPr>
            <p:cNvPr id="703" name="Google Shape;703;p38"/>
            <p:cNvSpPr/>
            <p:nvPr/>
          </p:nvSpPr>
          <p:spPr>
            <a:xfrm rot="2700000">
              <a:off x="3549906" y="689116"/>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8"/>
            <p:cNvSpPr txBox="1"/>
            <p:nvPr/>
          </p:nvSpPr>
          <p:spPr>
            <a:xfrm rot="2700000">
              <a:off x="4007446" y="726714"/>
              <a:ext cx="733538" cy="12103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Distribution Transparency</a:t>
              </a:r>
              <a:endParaRPr sz="700">
                <a:solidFill>
                  <a:schemeClr val="lt1"/>
                </a:solidFill>
                <a:latin typeface="Avenir"/>
                <a:ea typeface="Avenir"/>
                <a:cs typeface="Avenir"/>
                <a:sym typeface="Avenir"/>
              </a:endParaRPr>
            </a:p>
          </p:txBody>
        </p:sp>
        <p:sp>
          <p:nvSpPr>
            <p:cNvPr id="705" name="Google Shape;705;p38"/>
            <p:cNvSpPr/>
            <p:nvPr/>
          </p:nvSpPr>
          <p:spPr>
            <a:xfrm rot="5400000">
              <a:off x="4158872" y="2159290"/>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8"/>
            <p:cNvSpPr txBox="1"/>
            <p:nvPr/>
          </p:nvSpPr>
          <p:spPr>
            <a:xfrm>
              <a:off x="4415610" y="2526059"/>
              <a:ext cx="1210338" cy="7335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Openness</a:t>
              </a:r>
              <a:endParaRPr sz="700">
                <a:solidFill>
                  <a:schemeClr val="lt1"/>
                </a:solidFill>
                <a:latin typeface="Avenir"/>
                <a:ea typeface="Avenir"/>
                <a:cs typeface="Avenir"/>
                <a:sym typeface="Avenir"/>
              </a:endParaRPr>
            </a:p>
          </p:txBody>
        </p:sp>
        <p:sp>
          <p:nvSpPr>
            <p:cNvPr id="707" name="Google Shape;707;p38"/>
            <p:cNvSpPr/>
            <p:nvPr/>
          </p:nvSpPr>
          <p:spPr>
            <a:xfrm rot="8100000">
              <a:off x="3549906" y="3629464"/>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8"/>
            <p:cNvSpPr txBox="1"/>
            <p:nvPr/>
          </p:nvSpPr>
          <p:spPr>
            <a:xfrm rot="-2700000">
              <a:off x="4007446" y="3848604"/>
              <a:ext cx="733538" cy="12103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Concurrency</a:t>
              </a:r>
              <a:endParaRPr sz="700">
                <a:solidFill>
                  <a:schemeClr val="lt1"/>
                </a:solidFill>
                <a:latin typeface="Avenir"/>
                <a:ea typeface="Avenir"/>
                <a:cs typeface="Avenir"/>
                <a:sym typeface="Avenir"/>
              </a:endParaRPr>
            </a:p>
          </p:txBody>
        </p:sp>
        <p:sp>
          <p:nvSpPr>
            <p:cNvPr id="709" name="Google Shape;709;p38"/>
            <p:cNvSpPr/>
            <p:nvPr/>
          </p:nvSpPr>
          <p:spPr>
            <a:xfrm rot="10800000">
              <a:off x="2079732" y="4238430"/>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8"/>
            <p:cNvSpPr txBox="1"/>
            <p:nvPr/>
          </p:nvSpPr>
          <p:spPr>
            <a:xfrm>
              <a:off x="2446501" y="4495168"/>
              <a:ext cx="733538" cy="12103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i="0">
                  <a:solidFill>
                    <a:schemeClr val="lt1"/>
                  </a:solidFill>
                  <a:latin typeface="Arial"/>
                  <a:ea typeface="Arial"/>
                  <a:cs typeface="Arial"/>
                  <a:sym typeface="Arial"/>
                </a:rPr>
                <a:t>Resiliency</a:t>
              </a:r>
              <a:endParaRPr sz="700">
                <a:solidFill>
                  <a:schemeClr val="lt1"/>
                </a:solidFill>
                <a:latin typeface="Avenir"/>
                <a:ea typeface="Avenir"/>
                <a:cs typeface="Avenir"/>
                <a:sym typeface="Avenir"/>
              </a:endParaRPr>
            </a:p>
          </p:txBody>
        </p:sp>
        <p:sp>
          <p:nvSpPr>
            <p:cNvPr id="711" name="Google Shape;711;p38"/>
            <p:cNvSpPr/>
            <p:nvPr/>
          </p:nvSpPr>
          <p:spPr>
            <a:xfrm rot="-8100000">
              <a:off x="609558" y="3629464"/>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8"/>
            <p:cNvSpPr txBox="1"/>
            <p:nvPr/>
          </p:nvSpPr>
          <p:spPr>
            <a:xfrm rot="2700000">
              <a:off x="885556" y="3848604"/>
              <a:ext cx="733538" cy="12103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Fault tolerance, error recovery</a:t>
              </a:r>
              <a:endParaRPr sz="700">
                <a:solidFill>
                  <a:schemeClr val="lt1"/>
                </a:solidFill>
                <a:latin typeface="Avenir"/>
                <a:ea typeface="Avenir"/>
                <a:cs typeface="Avenir"/>
                <a:sym typeface="Avenir"/>
              </a:endParaRPr>
            </a:p>
          </p:txBody>
        </p:sp>
        <p:sp>
          <p:nvSpPr>
            <p:cNvPr id="713" name="Google Shape;713;p38"/>
            <p:cNvSpPr/>
            <p:nvPr/>
          </p:nvSpPr>
          <p:spPr>
            <a:xfrm rot="-5400000">
              <a:off x="592" y="2159290"/>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8"/>
            <p:cNvSpPr txBox="1"/>
            <p:nvPr/>
          </p:nvSpPr>
          <p:spPr>
            <a:xfrm>
              <a:off x="592" y="2526059"/>
              <a:ext cx="1210338" cy="7335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Scalability</a:t>
              </a:r>
              <a:endParaRPr sz="700">
                <a:solidFill>
                  <a:schemeClr val="lt1"/>
                </a:solidFill>
                <a:latin typeface="Avenir"/>
                <a:ea typeface="Avenir"/>
                <a:cs typeface="Avenir"/>
                <a:sym typeface="Avenir"/>
              </a:endParaRPr>
            </a:p>
          </p:txBody>
        </p:sp>
        <p:sp>
          <p:nvSpPr>
            <p:cNvPr id="715" name="Google Shape;715;p38"/>
            <p:cNvSpPr/>
            <p:nvPr/>
          </p:nvSpPr>
          <p:spPr>
            <a:xfrm rot="-2700000">
              <a:off x="609558" y="689116"/>
              <a:ext cx="1467076" cy="1467076"/>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8"/>
            <p:cNvSpPr txBox="1"/>
            <p:nvPr/>
          </p:nvSpPr>
          <p:spPr>
            <a:xfrm rot="-2700000">
              <a:off x="885556" y="726714"/>
              <a:ext cx="733538" cy="1210338"/>
            </a:xfrm>
            <a:prstGeom prst="rect">
              <a:avLst/>
            </a:prstGeom>
            <a:noFill/>
            <a:ln>
              <a:noFill/>
            </a:ln>
          </p:spPr>
          <p:txBody>
            <a:bodyPr spcFirstLastPara="1" wrap="square" lIns="49775" tIns="49775" rIns="49775" bIns="49775" anchor="ctr" anchorCtr="0">
              <a:noAutofit/>
            </a:bodyPr>
            <a:lstStyle/>
            <a:p>
              <a:pPr marL="0" marR="0" lvl="0" indent="0" algn="ctr" rtl="0">
                <a:lnSpc>
                  <a:spcPct val="90000"/>
                </a:lnSpc>
                <a:spcBef>
                  <a:spcPts val="0"/>
                </a:spcBef>
                <a:spcAft>
                  <a:spcPts val="0"/>
                </a:spcAft>
                <a:buClr>
                  <a:schemeClr val="lt1"/>
                </a:buClr>
                <a:buSzPts val="700"/>
                <a:buFont typeface="Arial"/>
                <a:buNone/>
              </a:pPr>
              <a:r>
                <a:rPr lang="en-US" sz="700" b="1">
                  <a:solidFill>
                    <a:schemeClr val="lt1"/>
                  </a:solidFill>
                  <a:latin typeface="Arial"/>
                  <a:ea typeface="Arial"/>
                  <a:cs typeface="Arial"/>
                  <a:sym typeface="Arial"/>
                </a:rPr>
                <a:t>Resources accessibility</a:t>
              </a:r>
              <a:endParaRPr sz="700">
                <a:solidFill>
                  <a:schemeClr val="lt1"/>
                </a:solidFill>
                <a:latin typeface="Avenir"/>
                <a:ea typeface="Avenir"/>
                <a:cs typeface="Avenir"/>
                <a:sym typeface="Aveni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21"/>
        <p:cNvGrpSpPr/>
        <p:nvPr/>
      </p:nvGrpSpPr>
      <p:grpSpPr>
        <a:xfrm>
          <a:off x="0" y="0"/>
          <a:ext cx="0" cy="0"/>
          <a:chOff x="0" y="0"/>
          <a:chExt cx="0" cy="0"/>
        </a:xfrm>
      </p:grpSpPr>
      <p:sp>
        <p:nvSpPr>
          <p:cNvPr id="722" name="Google Shape;722;p3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23" name="Google Shape;723;p39"/>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24" name="Google Shape;724;p39"/>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25" name="Google Shape;725;p39"/>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26" name="Google Shape;726;p39"/>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Why use Distributed Computing</a:t>
            </a:r>
            <a:endParaRPr/>
          </a:p>
        </p:txBody>
      </p:sp>
      <p:grpSp>
        <p:nvGrpSpPr>
          <p:cNvPr id="727" name="Google Shape;727;p39"/>
          <p:cNvGrpSpPr/>
          <p:nvPr/>
        </p:nvGrpSpPr>
        <p:grpSpPr>
          <a:xfrm>
            <a:off x="2409103" y="2364474"/>
            <a:ext cx="6349855" cy="3798786"/>
            <a:chOff x="1223240" y="2274"/>
            <a:chExt cx="6349855" cy="3798786"/>
          </a:xfrm>
        </p:grpSpPr>
        <p:sp>
          <p:nvSpPr>
            <p:cNvPr id="728" name="Google Shape;728;p39"/>
            <p:cNvSpPr/>
            <p:nvPr/>
          </p:nvSpPr>
          <p:spPr>
            <a:xfrm>
              <a:off x="1223240" y="2274"/>
              <a:ext cx="3023740" cy="181424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9"/>
            <p:cNvSpPr txBox="1"/>
            <p:nvPr/>
          </p:nvSpPr>
          <p:spPr>
            <a:xfrm>
              <a:off x="1311802" y="90836"/>
              <a:ext cx="2846616" cy="1637120"/>
            </a:xfrm>
            <a:prstGeom prst="rect">
              <a:avLst/>
            </a:prstGeom>
            <a:noFill/>
            <a:ln>
              <a:noFill/>
            </a:ln>
          </p:spPr>
          <p:txBody>
            <a:bodyPr spcFirstLastPara="1" wrap="square" lIns="64750" tIns="64750" rIns="64750" bIns="64750" anchor="ctr" anchorCtr="0">
              <a:noAutofit/>
            </a:bodyPr>
            <a:lstStyle/>
            <a:p>
              <a:pPr marL="0" marR="0" lvl="0" indent="0" algn="ctr" rtl="0">
                <a:lnSpc>
                  <a:spcPct val="90000"/>
                </a:lnSpc>
                <a:spcBef>
                  <a:spcPts val="0"/>
                </a:spcBef>
                <a:spcAft>
                  <a:spcPts val="0"/>
                </a:spcAft>
                <a:buClr>
                  <a:schemeClr val="lt1"/>
                </a:buClr>
                <a:buSzPts val="1700"/>
                <a:buFont typeface="Arial"/>
                <a:buNone/>
              </a:pPr>
              <a:r>
                <a:rPr lang="en-US" sz="1700" b="1">
                  <a:solidFill>
                    <a:schemeClr val="lt1"/>
                  </a:solidFill>
                  <a:latin typeface="Arial"/>
                  <a:ea typeface="Arial"/>
                  <a:cs typeface="Arial"/>
                  <a:sym typeface="Arial"/>
                </a:rPr>
                <a:t>Heterogeneity</a:t>
              </a:r>
              <a:endParaRPr/>
            </a:p>
            <a:p>
              <a:pPr marL="0" marR="0" lvl="0" indent="0" algn="just" rtl="0">
                <a:lnSpc>
                  <a:spcPct val="90000"/>
                </a:lnSpc>
                <a:spcBef>
                  <a:spcPts val="595"/>
                </a:spcBef>
                <a:spcAft>
                  <a:spcPts val="0"/>
                </a:spcAft>
                <a:buClr>
                  <a:schemeClr val="lt1"/>
                </a:buClr>
                <a:buSzPts val="1600"/>
                <a:buFont typeface="Arial"/>
                <a:buNone/>
              </a:pPr>
              <a:r>
                <a:rPr lang="en-US" sz="1600">
                  <a:solidFill>
                    <a:schemeClr val="lt1"/>
                  </a:solidFill>
                  <a:latin typeface="Arial"/>
                  <a:ea typeface="Arial"/>
                  <a:cs typeface="Arial"/>
                  <a:sym typeface="Arial"/>
                </a:rPr>
                <a:t>The Internet enables users to access services and run applications over a heterogeneous collection of computers and networks.</a:t>
              </a:r>
              <a:endParaRPr sz="1600">
                <a:solidFill>
                  <a:schemeClr val="lt1"/>
                </a:solidFill>
                <a:latin typeface="Arial"/>
                <a:ea typeface="Arial"/>
                <a:cs typeface="Arial"/>
                <a:sym typeface="Arial"/>
              </a:endParaRPr>
            </a:p>
          </p:txBody>
        </p:sp>
        <p:sp>
          <p:nvSpPr>
            <p:cNvPr id="730" name="Google Shape;730;p39"/>
            <p:cNvSpPr/>
            <p:nvPr/>
          </p:nvSpPr>
          <p:spPr>
            <a:xfrm>
              <a:off x="4549355" y="2274"/>
              <a:ext cx="3023740" cy="181424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9"/>
            <p:cNvSpPr txBox="1"/>
            <p:nvPr/>
          </p:nvSpPr>
          <p:spPr>
            <a:xfrm>
              <a:off x="4637917" y="90836"/>
              <a:ext cx="2846616" cy="163712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Distribution Transparency</a:t>
              </a:r>
              <a:endParaRPr/>
            </a:p>
            <a:p>
              <a:pPr marL="0" marR="0" lvl="0" indent="0" algn="just" rtl="0">
                <a:lnSpc>
                  <a:spcPct val="90000"/>
                </a:lnSpc>
                <a:spcBef>
                  <a:spcPts val="560"/>
                </a:spcBef>
                <a:spcAft>
                  <a:spcPts val="0"/>
                </a:spcAft>
                <a:buClr>
                  <a:schemeClr val="lt1"/>
                </a:buClr>
                <a:buSzPts val="1600"/>
                <a:buFont typeface="Arial"/>
                <a:buNone/>
              </a:pPr>
              <a:r>
                <a:rPr lang="en-US" sz="1600">
                  <a:solidFill>
                    <a:schemeClr val="lt1"/>
                  </a:solidFill>
                  <a:latin typeface="Arial"/>
                  <a:ea typeface="Arial"/>
                  <a:cs typeface="Arial"/>
                  <a:sym typeface="Arial"/>
                </a:rPr>
                <a:t>A distributed system that is able to present itself to users and applications as if it were only a single computer system is said to be transparent.</a:t>
              </a:r>
              <a:endParaRPr sz="1600">
                <a:solidFill>
                  <a:schemeClr val="lt1"/>
                </a:solidFill>
                <a:latin typeface="Arial"/>
                <a:ea typeface="Arial"/>
                <a:cs typeface="Arial"/>
                <a:sym typeface="Arial"/>
              </a:endParaRPr>
            </a:p>
          </p:txBody>
        </p:sp>
        <p:sp>
          <p:nvSpPr>
            <p:cNvPr id="732" name="Google Shape;732;p39"/>
            <p:cNvSpPr/>
            <p:nvPr/>
          </p:nvSpPr>
          <p:spPr>
            <a:xfrm>
              <a:off x="1223240" y="1986816"/>
              <a:ext cx="3023740" cy="181424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9"/>
            <p:cNvSpPr txBox="1"/>
            <p:nvPr/>
          </p:nvSpPr>
          <p:spPr>
            <a:xfrm>
              <a:off x="1311802" y="2075378"/>
              <a:ext cx="2846616" cy="163712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Openness</a:t>
              </a:r>
              <a:endParaRPr/>
            </a:p>
            <a:p>
              <a:pPr marL="0" marR="0" lvl="0" indent="0" algn="just" rtl="0">
                <a:lnSpc>
                  <a:spcPct val="90000"/>
                </a:lnSpc>
                <a:spcBef>
                  <a:spcPts val="560"/>
                </a:spcBef>
                <a:spcAft>
                  <a:spcPts val="0"/>
                </a:spcAft>
                <a:buClr>
                  <a:schemeClr val="lt1"/>
                </a:buClr>
                <a:buSzPts val="1600"/>
                <a:buFont typeface="Arial"/>
                <a:buNone/>
              </a:pPr>
              <a:r>
                <a:rPr lang="en-US" sz="1600">
                  <a:solidFill>
                    <a:schemeClr val="lt1"/>
                  </a:solidFill>
                  <a:latin typeface="Arial"/>
                  <a:ea typeface="Arial"/>
                  <a:cs typeface="Arial"/>
                  <a:sym typeface="Arial"/>
                </a:rPr>
                <a:t>An open distributed system is a system that offers services according to standard rules that describe the syntax and semantics of those services.</a:t>
              </a:r>
              <a:endParaRPr sz="1600">
                <a:solidFill>
                  <a:schemeClr val="lt1"/>
                </a:solidFill>
                <a:latin typeface="Arial"/>
                <a:ea typeface="Arial"/>
                <a:cs typeface="Arial"/>
                <a:sym typeface="Arial"/>
              </a:endParaRPr>
            </a:p>
          </p:txBody>
        </p:sp>
        <p:sp>
          <p:nvSpPr>
            <p:cNvPr id="734" name="Google Shape;734;p39"/>
            <p:cNvSpPr/>
            <p:nvPr/>
          </p:nvSpPr>
          <p:spPr>
            <a:xfrm>
              <a:off x="4549355" y="1986816"/>
              <a:ext cx="3023740" cy="181424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9"/>
            <p:cNvSpPr txBox="1"/>
            <p:nvPr/>
          </p:nvSpPr>
          <p:spPr>
            <a:xfrm>
              <a:off x="4637917" y="2075378"/>
              <a:ext cx="2846616" cy="1637120"/>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i="0">
                  <a:solidFill>
                    <a:schemeClr val="lt1"/>
                  </a:solidFill>
                  <a:latin typeface="Arial"/>
                  <a:ea typeface="Arial"/>
                  <a:cs typeface="Arial"/>
                  <a:sym typeface="Arial"/>
                </a:rPr>
                <a:t>Resiliency </a:t>
              </a:r>
              <a:endParaRPr/>
            </a:p>
            <a:p>
              <a:pPr marL="0" marR="0" lvl="0" indent="0" algn="just" rtl="0">
                <a:lnSpc>
                  <a:spcPct val="90000"/>
                </a:lnSpc>
                <a:spcBef>
                  <a:spcPts val="560"/>
                </a:spcBef>
                <a:spcAft>
                  <a:spcPts val="0"/>
                </a:spcAft>
                <a:buClr>
                  <a:schemeClr val="lt1"/>
                </a:buClr>
                <a:buSzPts val="1600"/>
                <a:buFont typeface="Arial"/>
                <a:buNone/>
              </a:pPr>
              <a:r>
                <a:rPr lang="en-US" sz="1600" b="0" i="0">
                  <a:solidFill>
                    <a:schemeClr val="lt1"/>
                  </a:solidFill>
                  <a:latin typeface="Arial"/>
                  <a:ea typeface="Arial"/>
                  <a:cs typeface="Arial"/>
                  <a:sym typeface="Arial"/>
                </a:rPr>
                <a:t>With multiple computers, redundancies are implemented to ensure that a single failure doesn't equate to systems-wide failure</a:t>
              </a:r>
              <a:r>
                <a:rPr lang="en-US" sz="1600">
                  <a:solidFill>
                    <a:schemeClr val="lt1"/>
                  </a:solidFill>
                  <a:latin typeface="Arial"/>
                  <a:ea typeface="Arial"/>
                  <a:cs typeface="Arial"/>
                  <a:sym typeface="Arial"/>
                </a:rPr>
                <a:t>.</a:t>
              </a:r>
              <a:endParaRPr sz="1600">
                <a:solidFill>
                  <a:schemeClr val="lt1"/>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0"/>
        <p:cNvGrpSpPr/>
        <p:nvPr/>
      </p:nvGrpSpPr>
      <p:grpSpPr>
        <a:xfrm>
          <a:off x="0" y="0"/>
          <a:ext cx="0" cy="0"/>
          <a:chOff x="0" y="0"/>
          <a:chExt cx="0" cy="0"/>
        </a:xfrm>
      </p:grpSpPr>
      <p:sp>
        <p:nvSpPr>
          <p:cNvPr id="741" name="Google Shape;741;p4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42" name="Google Shape;742;p40"/>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743" name="Google Shape;743;p40"/>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744" name="Google Shape;744;p40"/>
          <p:cNvSpPr txBox="1">
            <a:spLocks noGrp="1"/>
          </p:cNvSpPr>
          <p:nvPr>
            <p:ph type="title"/>
          </p:nvPr>
        </p:nvSpPr>
        <p:spPr>
          <a:xfrm>
            <a:off x="838201" y="559813"/>
            <a:ext cx="10348146" cy="1675009"/>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4400"/>
              <a:buFont typeface="Avenir"/>
              <a:buNone/>
            </a:pPr>
            <a:r>
              <a:rPr lang="en-US">
                <a:solidFill>
                  <a:schemeClr val="dk2"/>
                </a:solidFill>
              </a:rPr>
              <a:t>Why use Distributed Computing Cont.…</a:t>
            </a:r>
            <a:endParaRPr>
              <a:solidFill>
                <a:schemeClr val="dk2"/>
              </a:solidFill>
            </a:endParaRPr>
          </a:p>
        </p:txBody>
      </p:sp>
      <p:pic>
        <p:nvPicPr>
          <p:cNvPr id="745" name="Google Shape;745;p40"/>
          <p:cNvPicPr preferRelativeResize="0"/>
          <p:nvPr/>
        </p:nvPicPr>
        <p:blipFill rotWithShape="1">
          <a:blip r:embed="rId4">
            <a:alphaModFix/>
          </a:blip>
          <a:srcRect r="46047"/>
          <a:stretch/>
        </p:blipFill>
        <p:spPr>
          <a:xfrm rot="10800000">
            <a:off x="0" y="2719662"/>
            <a:ext cx="1371600" cy="2548349"/>
          </a:xfrm>
          <a:prstGeom prst="rect">
            <a:avLst/>
          </a:prstGeom>
          <a:noFill/>
          <a:ln>
            <a:noFill/>
          </a:ln>
        </p:spPr>
      </p:pic>
      <p:grpSp>
        <p:nvGrpSpPr>
          <p:cNvPr id="746" name="Google Shape;746;p40"/>
          <p:cNvGrpSpPr/>
          <p:nvPr/>
        </p:nvGrpSpPr>
        <p:grpSpPr>
          <a:xfrm>
            <a:off x="3049037" y="1924050"/>
            <a:ext cx="6761128" cy="4072947"/>
            <a:chOff x="1363112" y="0"/>
            <a:chExt cx="6761128" cy="4072947"/>
          </a:xfrm>
        </p:grpSpPr>
        <p:sp>
          <p:nvSpPr>
            <p:cNvPr id="747" name="Google Shape;747;p40"/>
            <p:cNvSpPr/>
            <p:nvPr/>
          </p:nvSpPr>
          <p:spPr>
            <a:xfrm>
              <a:off x="1363112" y="1788"/>
              <a:ext cx="3219585" cy="1931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0"/>
            <p:cNvSpPr txBox="1"/>
            <p:nvPr/>
          </p:nvSpPr>
          <p:spPr>
            <a:xfrm>
              <a:off x="1457410" y="96086"/>
              <a:ext cx="3030989" cy="1743155"/>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dk1"/>
                </a:buClr>
                <a:buSzPts val="1400"/>
                <a:buFont typeface="Avenir"/>
                <a:buNone/>
              </a:pPr>
              <a:endParaRPr sz="1400" b="1">
                <a:solidFill>
                  <a:schemeClr val="lt1"/>
                </a:solidFill>
                <a:latin typeface="Arial"/>
                <a:ea typeface="Arial"/>
                <a:cs typeface="Arial"/>
                <a:sym typeface="Arial"/>
              </a:endParaRPr>
            </a:p>
            <a:p>
              <a:pPr marL="0" marR="0" lvl="0" indent="0" algn="ctr" rtl="0">
                <a:lnSpc>
                  <a:spcPct val="90000"/>
                </a:lnSpc>
                <a:spcBef>
                  <a:spcPts val="490"/>
                </a:spcBef>
                <a:spcAft>
                  <a:spcPts val="0"/>
                </a:spcAft>
                <a:buClr>
                  <a:schemeClr val="lt1"/>
                </a:buClr>
                <a:buSzPts val="1400"/>
                <a:buFont typeface="Arial"/>
                <a:buNone/>
              </a:pPr>
              <a:r>
                <a:rPr lang="en-US" sz="1400" b="1">
                  <a:solidFill>
                    <a:schemeClr val="lt1"/>
                  </a:solidFill>
                  <a:latin typeface="Arial"/>
                  <a:ea typeface="Arial"/>
                  <a:cs typeface="Arial"/>
                  <a:sym typeface="Arial"/>
                </a:rPr>
                <a:t>Scalability</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Scalability of a distributed system can be measured along at least three different dimensions: a system can be scalable with respect to its size, a geographically scalable system, a system can be administratively scalable.</a:t>
              </a:r>
              <a:endParaRPr/>
            </a:p>
            <a:p>
              <a:pPr marL="0" marR="0" lvl="0" indent="0" algn="ctr" rtl="0">
                <a:lnSpc>
                  <a:spcPct val="90000"/>
                </a:lnSpc>
                <a:spcBef>
                  <a:spcPts val="490"/>
                </a:spcBef>
                <a:spcAft>
                  <a:spcPts val="0"/>
                </a:spcAft>
                <a:buClr>
                  <a:schemeClr val="dk1"/>
                </a:buClr>
                <a:buSzPts val="1100"/>
                <a:buFont typeface="Avenir"/>
                <a:buNone/>
              </a:pPr>
              <a:endParaRPr sz="1100">
                <a:solidFill>
                  <a:schemeClr val="lt1"/>
                </a:solidFill>
                <a:latin typeface="Avenir"/>
                <a:ea typeface="Avenir"/>
                <a:cs typeface="Avenir"/>
                <a:sym typeface="Avenir"/>
              </a:endParaRPr>
            </a:p>
          </p:txBody>
        </p:sp>
        <p:sp>
          <p:nvSpPr>
            <p:cNvPr id="749" name="Google Shape;749;p40"/>
            <p:cNvSpPr/>
            <p:nvPr/>
          </p:nvSpPr>
          <p:spPr>
            <a:xfrm>
              <a:off x="4904655" y="0"/>
              <a:ext cx="3219585" cy="1931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40"/>
            <p:cNvSpPr txBox="1"/>
            <p:nvPr/>
          </p:nvSpPr>
          <p:spPr>
            <a:xfrm>
              <a:off x="4998953" y="94298"/>
              <a:ext cx="3030989" cy="1743155"/>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Resources accessibility</a:t>
              </a:r>
              <a:endParaRPr/>
            </a:p>
            <a:p>
              <a:pPr marL="0" marR="0" lvl="0" indent="0" algn="just" rtl="0">
                <a:lnSpc>
                  <a:spcPct val="90000"/>
                </a:lnSpc>
                <a:spcBef>
                  <a:spcPts val="560"/>
                </a:spcBef>
                <a:spcAft>
                  <a:spcPts val="0"/>
                </a:spcAft>
                <a:buClr>
                  <a:schemeClr val="lt1"/>
                </a:buClr>
                <a:buSzPts val="1600"/>
                <a:buFont typeface="Arial"/>
                <a:buNone/>
              </a:pPr>
              <a:r>
                <a:rPr lang="en-US" sz="1600">
                  <a:solidFill>
                    <a:schemeClr val="lt1"/>
                  </a:solidFill>
                  <a:latin typeface="Arial"/>
                  <a:ea typeface="Arial"/>
                  <a:cs typeface="Arial"/>
                  <a:sym typeface="Arial"/>
                </a:rPr>
                <a:t>The main goal of a distributed system is to make it easy for the users to access remote resources, and to share them in a controlled and efficient way. </a:t>
              </a:r>
              <a:endParaRPr sz="1600">
                <a:solidFill>
                  <a:schemeClr val="lt1"/>
                </a:solidFill>
                <a:latin typeface="Arial"/>
                <a:ea typeface="Arial"/>
                <a:cs typeface="Arial"/>
                <a:sym typeface="Arial"/>
              </a:endParaRPr>
            </a:p>
          </p:txBody>
        </p:sp>
        <p:sp>
          <p:nvSpPr>
            <p:cNvPr id="751" name="Google Shape;751;p40"/>
            <p:cNvSpPr/>
            <p:nvPr/>
          </p:nvSpPr>
          <p:spPr>
            <a:xfrm>
              <a:off x="1363112" y="2114866"/>
              <a:ext cx="3219585" cy="1931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0"/>
            <p:cNvSpPr txBox="1"/>
            <p:nvPr/>
          </p:nvSpPr>
          <p:spPr>
            <a:xfrm>
              <a:off x="1457410" y="2209164"/>
              <a:ext cx="3030989" cy="1743155"/>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Concurrency</a:t>
              </a:r>
              <a:endParaRPr/>
            </a:p>
            <a:p>
              <a:pPr marL="0" marR="0" lvl="0" indent="0" algn="just" rtl="0">
                <a:lnSpc>
                  <a:spcPct val="90000"/>
                </a:lnSpc>
                <a:spcBef>
                  <a:spcPts val="525"/>
                </a:spcBef>
                <a:spcAft>
                  <a:spcPts val="0"/>
                </a:spcAft>
                <a:buClr>
                  <a:schemeClr val="lt1"/>
                </a:buClr>
                <a:buSzPts val="1500"/>
                <a:buFont typeface="Arial"/>
                <a:buNone/>
              </a:pPr>
              <a:r>
                <a:rPr lang="en-US" sz="1500">
                  <a:solidFill>
                    <a:schemeClr val="lt1"/>
                  </a:solidFill>
                  <a:latin typeface="Arial"/>
                  <a:ea typeface="Arial"/>
                  <a:cs typeface="Arial"/>
                  <a:sym typeface="Arial"/>
                </a:rPr>
                <a:t>Concurrency between programs sharing data is generally kept under control through synchronization mechanisms for mutual exclusion and transaction.</a:t>
              </a:r>
              <a:endParaRPr sz="1500">
                <a:solidFill>
                  <a:schemeClr val="lt1"/>
                </a:solidFill>
                <a:latin typeface="Arial"/>
                <a:ea typeface="Arial"/>
                <a:cs typeface="Arial"/>
                <a:sym typeface="Arial"/>
              </a:endParaRPr>
            </a:p>
          </p:txBody>
        </p:sp>
        <p:sp>
          <p:nvSpPr>
            <p:cNvPr id="753" name="Google Shape;753;p40"/>
            <p:cNvSpPr/>
            <p:nvPr/>
          </p:nvSpPr>
          <p:spPr>
            <a:xfrm>
              <a:off x="4885595" y="2141196"/>
              <a:ext cx="3219585" cy="1931751"/>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0"/>
            <p:cNvSpPr txBox="1"/>
            <p:nvPr/>
          </p:nvSpPr>
          <p:spPr>
            <a:xfrm>
              <a:off x="4979893" y="2235494"/>
              <a:ext cx="3030989" cy="1743155"/>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Fault tolerance, Error recovery</a:t>
              </a:r>
              <a:endParaRPr/>
            </a:p>
            <a:p>
              <a:pPr marL="0" marR="0" lvl="0" indent="0" algn="just" rtl="0">
                <a:lnSpc>
                  <a:spcPct val="90000"/>
                </a:lnSpc>
                <a:spcBef>
                  <a:spcPts val="525"/>
                </a:spcBef>
                <a:spcAft>
                  <a:spcPts val="0"/>
                </a:spcAft>
                <a:buClr>
                  <a:schemeClr val="lt1"/>
                </a:buClr>
                <a:buSzPts val="1500"/>
                <a:buFont typeface="Arial"/>
                <a:buNone/>
              </a:pPr>
              <a:r>
                <a:rPr lang="en-US" sz="1500">
                  <a:solidFill>
                    <a:schemeClr val="lt1"/>
                  </a:solidFill>
                  <a:latin typeface="Arial"/>
                  <a:ea typeface="Arial"/>
                  <a:cs typeface="Arial"/>
                  <a:sym typeface="Arial"/>
                </a:rPr>
                <a:t>Fault tolerance is an important aspect in distributed systems design. A system is fault tolerant if it can continue to operate in the presence of failures.</a:t>
              </a:r>
              <a:endParaRPr/>
            </a:p>
            <a:p>
              <a:pPr marL="0" marR="0" lvl="0" indent="0" algn="ctr" rtl="0">
                <a:lnSpc>
                  <a:spcPct val="90000"/>
                </a:lnSpc>
                <a:spcBef>
                  <a:spcPts val="525"/>
                </a:spcBef>
                <a:spcAft>
                  <a:spcPts val="0"/>
                </a:spcAft>
                <a:buClr>
                  <a:schemeClr val="dk1"/>
                </a:buClr>
                <a:buSzPts val="1500"/>
                <a:buFont typeface="Avenir"/>
                <a:buNone/>
              </a:pPr>
              <a:endParaRPr sz="1500">
                <a:solidFill>
                  <a:schemeClr val="lt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58"/>
        <p:cNvGrpSpPr/>
        <p:nvPr/>
      </p:nvGrpSpPr>
      <p:grpSpPr>
        <a:xfrm>
          <a:off x="0" y="0"/>
          <a:ext cx="0" cy="0"/>
          <a:chOff x="0" y="0"/>
          <a:chExt cx="0" cy="0"/>
        </a:xfrm>
      </p:grpSpPr>
      <p:sp>
        <p:nvSpPr>
          <p:cNvPr id="759" name="Google Shape;759;p4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760" name="Google Shape;760;p4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761" name="Google Shape;761;p4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62" name="Google Shape;762;p4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763" name="Google Shape;763;p41"/>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764" name="Google Shape;764;p4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65" name="Google Shape;765;p4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66" name="Google Shape;766;p4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767" name="Google Shape;767;p41"/>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Difference between Parallel and Distributed Computing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1"/>
        <p:cNvGrpSpPr/>
        <p:nvPr/>
      </p:nvGrpSpPr>
      <p:grpSpPr>
        <a:xfrm>
          <a:off x="0" y="0"/>
          <a:ext cx="0" cy="0"/>
          <a:chOff x="0" y="0"/>
          <a:chExt cx="0" cy="0"/>
        </a:xfrm>
      </p:grpSpPr>
      <p:sp>
        <p:nvSpPr>
          <p:cNvPr id="772" name="Google Shape;772;p4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73" name="Google Shape;773;p42"/>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74" name="Google Shape;774;p42"/>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75" name="Google Shape;775;p42"/>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76" name="Google Shape;776;p42"/>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777" name="Google Shape;777;p4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778" name="Google Shape;778;p42"/>
          <p:cNvGrpSpPr/>
          <p:nvPr/>
        </p:nvGrpSpPr>
        <p:grpSpPr>
          <a:xfrm>
            <a:off x="5256089" y="2722919"/>
            <a:ext cx="6312612" cy="1067201"/>
            <a:chOff x="0" y="0"/>
            <a:chExt cx="6312612" cy="1067201"/>
          </a:xfrm>
        </p:grpSpPr>
        <p:sp>
          <p:nvSpPr>
            <p:cNvPr id="779" name="Google Shape;779;p42"/>
            <p:cNvSpPr/>
            <p:nvPr/>
          </p:nvSpPr>
          <p:spPr>
            <a:xfrm>
              <a:off x="0" y="0"/>
              <a:ext cx="6312612" cy="1067201"/>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42"/>
            <p:cNvSpPr txBox="1"/>
            <p:nvPr/>
          </p:nvSpPr>
          <p:spPr>
            <a:xfrm>
              <a:off x="1369242" y="0"/>
              <a:ext cx="4943369" cy="1067201"/>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Identifying the key differences between parallel and distributed computing. </a:t>
              </a:r>
              <a:endParaRPr sz="2400">
                <a:solidFill>
                  <a:schemeClr val="lt1"/>
                </a:solidFill>
                <a:latin typeface="Arial"/>
                <a:ea typeface="Arial"/>
                <a:cs typeface="Arial"/>
                <a:sym typeface="Arial"/>
              </a:endParaRPr>
            </a:p>
          </p:txBody>
        </p:sp>
        <p:sp>
          <p:nvSpPr>
            <p:cNvPr id="781" name="Google Shape;781;p42"/>
            <p:cNvSpPr/>
            <p:nvPr/>
          </p:nvSpPr>
          <p:spPr>
            <a:xfrm>
              <a:off x="268177" y="106720"/>
              <a:ext cx="939607" cy="853761"/>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86"/>
        <p:cNvGrpSpPr/>
        <p:nvPr/>
      </p:nvGrpSpPr>
      <p:grpSpPr>
        <a:xfrm>
          <a:off x="0" y="0"/>
          <a:ext cx="0" cy="0"/>
          <a:chOff x="0" y="0"/>
          <a:chExt cx="0" cy="0"/>
        </a:xfrm>
      </p:grpSpPr>
      <p:sp>
        <p:nvSpPr>
          <p:cNvPr id="787" name="Google Shape;787;p4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88" name="Google Shape;788;p43"/>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89" name="Google Shape;789;p43"/>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90" name="Google Shape;790;p43"/>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791" name="Google Shape;791;p43"/>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Difference between Parallel and Distributed Computing</a:t>
            </a:r>
            <a:endParaRPr/>
          </a:p>
        </p:txBody>
      </p:sp>
      <p:sp>
        <p:nvSpPr>
          <p:cNvPr id="792" name="Google Shape;792;p43"/>
          <p:cNvSpPr txBox="1">
            <a:spLocks noGrp="1"/>
          </p:cNvSpPr>
          <p:nvPr>
            <p:ph type="body" idx="1"/>
          </p:nvPr>
        </p:nvSpPr>
        <p:spPr>
          <a:xfrm>
            <a:off x="1185863" y="2606674"/>
            <a:ext cx="9577387" cy="3690939"/>
          </a:xfrm>
          <a:prstGeom prst="rect">
            <a:avLst/>
          </a:prstGeom>
          <a:noFill/>
          <a:ln>
            <a:noFill/>
          </a:ln>
        </p:spPr>
        <p:txBody>
          <a:bodyPr spcFirstLastPara="1" wrap="square" lIns="91425" tIns="45700" rIns="91425" bIns="45700" anchor="t" anchorCtr="0">
            <a:noAutofit/>
          </a:bodyPr>
          <a:lstStyle/>
          <a:p>
            <a:pPr marL="0" lvl="0" indent="0" algn="ctr" rtl="0">
              <a:lnSpc>
                <a:spcPct val="110000"/>
              </a:lnSpc>
              <a:spcBef>
                <a:spcPts val="0"/>
              </a:spcBef>
              <a:spcAft>
                <a:spcPts val="0"/>
              </a:spcAft>
              <a:buSzPts val="2800"/>
              <a:buNone/>
            </a:pPr>
            <a:r>
              <a:rPr lang="en-US" b="0" i="0">
                <a:solidFill>
                  <a:srgbClr val="202124"/>
                </a:solidFill>
                <a:latin typeface="arial"/>
                <a:ea typeface="arial"/>
                <a:cs typeface="arial"/>
                <a:sym typeface="arial"/>
              </a:rPr>
              <a:t>Distributed computing is often used in tandem with parallel computing. Parallel computing on a single computer uses multiple processors to process tasks in parallel, whereas distributed parallel computing uses multiple computing devices to process those tasks.</a:t>
            </a:r>
            <a:endParaRPr sz="2800">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7"/>
        <p:cNvGrpSpPr/>
        <p:nvPr/>
      </p:nvGrpSpPr>
      <p:grpSpPr>
        <a:xfrm>
          <a:off x="0" y="0"/>
          <a:ext cx="0" cy="0"/>
          <a:chOff x="0" y="0"/>
          <a:chExt cx="0" cy="0"/>
        </a:xfrm>
      </p:grpSpPr>
      <p:sp>
        <p:nvSpPr>
          <p:cNvPr id="798" name="Google Shape;798;p44"/>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799" name="Google Shape;799;p44"/>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800" name="Google Shape;800;p44"/>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801" name="Google Shape;801;p44"/>
          <p:cNvSpPr txBox="1">
            <a:spLocks noGrp="1"/>
          </p:cNvSpPr>
          <p:nvPr>
            <p:ph type="title"/>
          </p:nvPr>
        </p:nvSpPr>
        <p:spPr>
          <a:xfrm>
            <a:off x="838201" y="559813"/>
            <a:ext cx="10348146" cy="128347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100"/>
              <a:buFont typeface="Avenir"/>
              <a:buNone/>
            </a:pPr>
            <a:r>
              <a:rPr lang="en-US" sz="4100">
                <a:solidFill>
                  <a:schemeClr val="dk2"/>
                </a:solidFill>
              </a:rPr>
              <a:t>Difference between Parallel and Distributed Computing Cont…</a:t>
            </a:r>
            <a:endParaRPr sz="4100">
              <a:solidFill>
                <a:schemeClr val="dk2"/>
              </a:solidFill>
            </a:endParaRPr>
          </a:p>
        </p:txBody>
      </p:sp>
      <p:pic>
        <p:nvPicPr>
          <p:cNvPr id="802" name="Google Shape;802;p44"/>
          <p:cNvPicPr preferRelativeResize="0"/>
          <p:nvPr/>
        </p:nvPicPr>
        <p:blipFill rotWithShape="1">
          <a:blip r:embed="rId4">
            <a:alphaModFix/>
          </a:blip>
          <a:srcRect r="67342"/>
          <a:stretch/>
        </p:blipFill>
        <p:spPr>
          <a:xfrm rot="10800000">
            <a:off x="-1" y="2719661"/>
            <a:ext cx="830249" cy="2548349"/>
          </a:xfrm>
          <a:prstGeom prst="rect">
            <a:avLst/>
          </a:prstGeom>
          <a:noFill/>
          <a:ln>
            <a:noFill/>
          </a:ln>
        </p:spPr>
      </p:pic>
      <p:sp>
        <p:nvSpPr>
          <p:cNvPr id="803" name="Google Shape;803;p44"/>
          <p:cNvSpPr/>
          <p:nvPr/>
        </p:nvSpPr>
        <p:spPr>
          <a:xfrm>
            <a:off x="1162050" y="2044700"/>
            <a:ext cx="10191750" cy="3897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04" name="Google Shape;804;p44"/>
          <p:cNvSpPr/>
          <p:nvPr/>
        </p:nvSpPr>
        <p:spPr>
          <a:xfrm>
            <a:off x="1169988" y="2071688"/>
            <a:ext cx="666750" cy="441325"/>
          </a:xfrm>
          <a:prstGeom prst="rect">
            <a:avLst/>
          </a:prstGeom>
          <a:solidFill>
            <a:srgbClr val="45B0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05" name="Google Shape;805;p44"/>
          <p:cNvSpPr/>
          <p:nvPr/>
        </p:nvSpPr>
        <p:spPr>
          <a:xfrm>
            <a:off x="1836738" y="2071688"/>
            <a:ext cx="4375150" cy="441325"/>
          </a:xfrm>
          <a:prstGeom prst="rect">
            <a:avLst/>
          </a:prstGeom>
          <a:solidFill>
            <a:srgbClr val="45B0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06" name="Google Shape;806;p44"/>
          <p:cNvSpPr/>
          <p:nvPr/>
        </p:nvSpPr>
        <p:spPr>
          <a:xfrm>
            <a:off x="6213475" y="2071688"/>
            <a:ext cx="5114925" cy="442913"/>
          </a:xfrm>
          <a:prstGeom prst="rect">
            <a:avLst/>
          </a:prstGeom>
          <a:solidFill>
            <a:srgbClr val="45B0A7"/>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07" name="Google Shape;807;p44"/>
          <p:cNvSpPr/>
          <p:nvPr/>
        </p:nvSpPr>
        <p:spPr>
          <a:xfrm>
            <a:off x="1169988" y="2513013"/>
            <a:ext cx="666750" cy="744538"/>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08" name="Google Shape;808;p44"/>
          <p:cNvSpPr/>
          <p:nvPr/>
        </p:nvSpPr>
        <p:spPr>
          <a:xfrm>
            <a:off x="1836738" y="2513013"/>
            <a:ext cx="4375150" cy="744538"/>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09" name="Google Shape;809;p44"/>
          <p:cNvSpPr/>
          <p:nvPr/>
        </p:nvSpPr>
        <p:spPr>
          <a:xfrm>
            <a:off x="6213475" y="2514600"/>
            <a:ext cx="5114925"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0" name="Google Shape;810;p44"/>
          <p:cNvSpPr/>
          <p:nvPr/>
        </p:nvSpPr>
        <p:spPr>
          <a:xfrm>
            <a:off x="1169988" y="3257550"/>
            <a:ext cx="666750" cy="441325"/>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1" name="Google Shape;811;p44"/>
          <p:cNvSpPr/>
          <p:nvPr/>
        </p:nvSpPr>
        <p:spPr>
          <a:xfrm>
            <a:off x="1836738" y="3257550"/>
            <a:ext cx="4375150" cy="441325"/>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2" name="Google Shape;812;p44"/>
          <p:cNvSpPr/>
          <p:nvPr/>
        </p:nvSpPr>
        <p:spPr>
          <a:xfrm>
            <a:off x="6213475" y="3257550"/>
            <a:ext cx="5114925" cy="441325"/>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3" name="Google Shape;813;p44"/>
          <p:cNvSpPr/>
          <p:nvPr/>
        </p:nvSpPr>
        <p:spPr>
          <a:xfrm>
            <a:off x="1169988" y="3698875"/>
            <a:ext cx="666750"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4" name="Google Shape;814;p44"/>
          <p:cNvSpPr/>
          <p:nvPr/>
        </p:nvSpPr>
        <p:spPr>
          <a:xfrm>
            <a:off x="1836738" y="3698875"/>
            <a:ext cx="4375150"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5" name="Google Shape;815;p44"/>
          <p:cNvSpPr/>
          <p:nvPr/>
        </p:nvSpPr>
        <p:spPr>
          <a:xfrm>
            <a:off x="6213475" y="3698875"/>
            <a:ext cx="5114925"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6" name="Google Shape;816;p44"/>
          <p:cNvSpPr/>
          <p:nvPr/>
        </p:nvSpPr>
        <p:spPr>
          <a:xfrm>
            <a:off x="1169988" y="4441825"/>
            <a:ext cx="666750" cy="744538"/>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7" name="Google Shape;817;p44"/>
          <p:cNvSpPr/>
          <p:nvPr/>
        </p:nvSpPr>
        <p:spPr>
          <a:xfrm>
            <a:off x="1836738" y="4441825"/>
            <a:ext cx="4375150" cy="744538"/>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8" name="Google Shape;818;p44"/>
          <p:cNvSpPr/>
          <p:nvPr/>
        </p:nvSpPr>
        <p:spPr>
          <a:xfrm>
            <a:off x="6213475" y="4441825"/>
            <a:ext cx="5114925" cy="744538"/>
          </a:xfrm>
          <a:prstGeom prst="rect">
            <a:avLst/>
          </a:prstGeom>
          <a:solidFill>
            <a:srgbClr val="E9F2F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19" name="Google Shape;819;p44"/>
          <p:cNvSpPr/>
          <p:nvPr/>
        </p:nvSpPr>
        <p:spPr>
          <a:xfrm>
            <a:off x="1169988" y="5186363"/>
            <a:ext cx="666750"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20" name="Google Shape;820;p44"/>
          <p:cNvSpPr/>
          <p:nvPr/>
        </p:nvSpPr>
        <p:spPr>
          <a:xfrm>
            <a:off x="1836738" y="5186363"/>
            <a:ext cx="4375150"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sp>
        <p:nvSpPr>
          <p:cNvPr id="821" name="Google Shape;821;p44"/>
          <p:cNvSpPr/>
          <p:nvPr/>
        </p:nvSpPr>
        <p:spPr>
          <a:xfrm>
            <a:off x="6213475" y="5186363"/>
            <a:ext cx="5114925" cy="742950"/>
          </a:xfrm>
          <a:prstGeom prst="rect">
            <a:avLst/>
          </a:prstGeom>
          <a:solidFill>
            <a:srgbClr val="CFE4E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venir"/>
              <a:ea typeface="Avenir"/>
              <a:cs typeface="Avenir"/>
              <a:sym typeface="Avenir"/>
            </a:endParaRPr>
          </a:p>
        </p:txBody>
      </p:sp>
      <p:cxnSp>
        <p:nvCxnSpPr>
          <p:cNvPr id="822" name="Google Shape;822;p44"/>
          <p:cNvCxnSpPr/>
          <p:nvPr/>
        </p:nvCxnSpPr>
        <p:spPr>
          <a:xfrm>
            <a:off x="1836738" y="2065338"/>
            <a:ext cx="0" cy="3870325"/>
          </a:xfrm>
          <a:prstGeom prst="straightConnector1">
            <a:avLst/>
          </a:prstGeom>
          <a:noFill/>
          <a:ln w="12700" cap="flat" cmpd="sng">
            <a:solidFill>
              <a:srgbClr val="FFFFFF"/>
            </a:solidFill>
            <a:prstDash val="solid"/>
            <a:round/>
            <a:headEnd type="none" w="med" len="med"/>
            <a:tailEnd type="none" w="med" len="med"/>
          </a:ln>
        </p:spPr>
      </p:cxnSp>
      <p:cxnSp>
        <p:nvCxnSpPr>
          <p:cNvPr id="823" name="Google Shape;823;p44"/>
          <p:cNvCxnSpPr/>
          <p:nvPr/>
        </p:nvCxnSpPr>
        <p:spPr>
          <a:xfrm>
            <a:off x="6211888" y="2065338"/>
            <a:ext cx="0" cy="3870325"/>
          </a:xfrm>
          <a:prstGeom prst="straightConnector1">
            <a:avLst/>
          </a:prstGeom>
          <a:noFill/>
          <a:ln w="12700" cap="flat" cmpd="sng">
            <a:solidFill>
              <a:srgbClr val="FFFFFF"/>
            </a:solidFill>
            <a:prstDash val="solid"/>
            <a:round/>
            <a:headEnd type="none" w="med" len="med"/>
            <a:tailEnd type="none" w="med" len="med"/>
          </a:ln>
        </p:spPr>
      </p:cxnSp>
      <p:cxnSp>
        <p:nvCxnSpPr>
          <p:cNvPr id="824" name="Google Shape;824;p44"/>
          <p:cNvCxnSpPr/>
          <p:nvPr/>
        </p:nvCxnSpPr>
        <p:spPr>
          <a:xfrm>
            <a:off x="1163638" y="2514600"/>
            <a:ext cx="10171113" cy="0"/>
          </a:xfrm>
          <a:prstGeom prst="straightConnector1">
            <a:avLst/>
          </a:prstGeom>
          <a:noFill/>
          <a:ln w="38100" cap="flat" cmpd="sng">
            <a:solidFill>
              <a:srgbClr val="FFFFFF"/>
            </a:solidFill>
            <a:prstDash val="solid"/>
            <a:round/>
            <a:headEnd type="none" w="med" len="med"/>
            <a:tailEnd type="none" w="med" len="med"/>
          </a:ln>
        </p:spPr>
      </p:cxnSp>
      <p:cxnSp>
        <p:nvCxnSpPr>
          <p:cNvPr id="825" name="Google Shape;825;p44"/>
          <p:cNvCxnSpPr/>
          <p:nvPr/>
        </p:nvCxnSpPr>
        <p:spPr>
          <a:xfrm>
            <a:off x="1163638" y="3257550"/>
            <a:ext cx="10171113" cy="0"/>
          </a:xfrm>
          <a:prstGeom prst="straightConnector1">
            <a:avLst/>
          </a:prstGeom>
          <a:noFill/>
          <a:ln w="12700" cap="flat" cmpd="sng">
            <a:solidFill>
              <a:srgbClr val="FFFFFF"/>
            </a:solidFill>
            <a:prstDash val="solid"/>
            <a:round/>
            <a:headEnd type="none" w="med" len="med"/>
            <a:tailEnd type="none" w="med" len="med"/>
          </a:ln>
        </p:spPr>
      </p:cxnSp>
      <p:cxnSp>
        <p:nvCxnSpPr>
          <p:cNvPr id="826" name="Google Shape;826;p44"/>
          <p:cNvCxnSpPr/>
          <p:nvPr/>
        </p:nvCxnSpPr>
        <p:spPr>
          <a:xfrm>
            <a:off x="1163638" y="3698875"/>
            <a:ext cx="10171113" cy="0"/>
          </a:xfrm>
          <a:prstGeom prst="straightConnector1">
            <a:avLst/>
          </a:prstGeom>
          <a:noFill/>
          <a:ln w="12700" cap="flat" cmpd="sng">
            <a:solidFill>
              <a:srgbClr val="FFFFFF"/>
            </a:solidFill>
            <a:prstDash val="solid"/>
            <a:round/>
            <a:headEnd type="none" w="med" len="med"/>
            <a:tailEnd type="none" w="med" len="med"/>
          </a:ln>
        </p:spPr>
      </p:cxnSp>
      <p:cxnSp>
        <p:nvCxnSpPr>
          <p:cNvPr id="827" name="Google Shape;827;p44"/>
          <p:cNvCxnSpPr/>
          <p:nvPr/>
        </p:nvCxnSpPr>
        <p:spPr>
          <a:xfrm>
            <a:off x="1163638" y="4441825"/>
            <a:ext cx="10171113" cy="0"/>
          </a:xfrm>
          <a:prstGeom prst="straightConnector1">
            <a:avLst/>
          </a:prstGeom>
          <a:noFill/>
          <a:ln w="12700" cap="flat" cmpd="sng">
            <a:solidFill>
              <a:srgbClr val="FFFFFF"/>
            </a:solidFill>
            <a:prstDash val="solid"/>
            <a:round/>
            <a:headEnd type="none" w="med" len="med"/>
            <a:tailEnd type="none" w="med" len="med"/>
          </a:ln>
        </p:spPr>
      </p:cxnSp>
      <p:cxnSp>
        <p:nvCxnSpPr>
          <p:cNvPr id="828" name="Google Shape;828;p44"/>
          <p:cNvCxnSpPr/>
          <p:nvPr/>
        </p:nvCxnSpPr>
        <p:spPr>
          <a:xfrm>
            <a:off x="1163638" y="5186363"/>
            <a:ext cx="10171113" cy="0"/>
          </a:xfrm>
          <a:prstGeom prst="straightConnector1">
            <a:avLst/>
          </a:prstGeom>
          <a:noFill/>
          <a:ln w="12700" cap="flat" cmpd="sng">
            <a:solidFill>
              <a:srgbClr val="FFFFFF"/>
            </a:solidFill>
            <a:prstDash val="solid"/>
            <a:round/>
            <a:headEnd type="none" w="med" len="med"/>
            <a:tailEnd type="none" w="med" len="med"/>
          </a:ln>
        </p:spPr>
      </p:cxnSp>
      <p:cxnSp>
        <p:nvCxnSpPr>
          <p:cNvPr id="829" name="Google Shape;829;p44"/>
          <p:cNvCxnSpPr/>
          <p:nvPr/>
        </p:nvCxnSpPr>
        <p:spPr>
          <a:xfrm>
            <a:off x="1169988" y="2065338"/>
            <a:ext cx="0" cy="3870325"/>
          </a:xfrm>
          <a:prstGeom prst="straightConnector1">
            <a:avLst/>
          </a:prstGeom>
          <a:noFill/>
          <a:ln w="12700" cap="flat" cmpd="sng">
            <a:solidFill>
              <a:srgbClr val="FFFFFF"/>
            </a:solidFill>
            <a:prstDash val="solid"/>
            <a:round/>
            <a:headEnd type="none" w="med" len="med"/>
            <a:tailEnd type="none" w="med" len="med"/>
          </a:ln>
        </p:spPr>
      </p:cxnSp>
      <p:cxnSp>
        <p:nvCxnSpPr>
          <p:cNvPr id="830" name="Google Shape;830;p44"/>
          <p:cNvCxnSpPr/>
          <p:nvPr/>
        </p:nvCxnSpPr>
        <p:spPr>
          <a:xfrm>
            <a:off x="11328400" y="2065338"/>
            <a:ext cx="0" cy="3870325"/>
          </a:xfrm>
          <a:prstGeom prst="straightConnector1">
            <a:avLst/>
          </a:prstGeom>
          <a:noFill/>
          <a:ln w="12700" cap="flat" cmpd="sng">
            <a:solidFill>
              <a:srgbClr val="FFFFFF"/>
            </a:solidFill>
            <a:prstDash val="solid"/>
            <a:round/>
            <a:headEnd type="none" w="med" len="med"/>
            <a:tailEnd type="none" w="med" len="med"/>
          </a:ln>
        </p:spPr>
      </p:cxnSp>
      <p:cxnSp>
        <p:nvCxnSpPr>
          <p:cNvPr id="831" name="Google Shape;831;p44"/>
          <p:cNvCxnSpPr/>
          <p:nvPr/>
        </p:nvCxnSpPr>
        <p:spPr>
          <a:xfrm>
            <a:off x="1163638" y="2071688"/>
            <a:ext cx="10171113" cy="0"/>
          </a:xfrm>
          <a:prstGeom prst="straightConnector1">
            <a:avLst/>
          </a:prstGeom>
          <a:noFill/>
          <a:ln w="12700" cap="flat" cmpd="sng">
            <a:solidFill>
              <a:srgbClr val="FFFFFF"/>
            </a:solidFill>
            <a:prstDash val="solid"/>
            <a:round/>
            <a:headEnd type="none" w="med" len="med"/>
            <a:tailEnd type="none" w="med" len="med"/>
          </a:ln>
        </p:spPr>
      </p:cxnSp>
      <p:cxnSp>
        <p:nvCxnSpPr>
          <p:cNvPr id="832" name="Google Shape;832;p44"/>
          <p:cNvCxnSpPr/>
          <p:nvPr/>
        </p:nvCxnSpPr>
        <p:spPr>
          <a:xfrm>
            <a:off x="1163638" y="5929313"/>
            <a:ext cx="10171113" cy="0"/>
          </a:xfrm>
          <a:prstGeom prst="straightConnector1">
            <a:avLst/>
          </a:prstGeom>
          <a:noFill/>
          <a:ln w="12700" cap="flat" cmpd="sng">
            <a:solidFill>
              <a:srgbClr val="FFFFFF"/>
            </a:solidFill>
            <a:prstDash val="solid"/>
            <a:round/>
            <a:headEnd type="none" w="med" len="med"/>
            <a:tailEnd type="none" w="med" len="med"/>
          </a:ln>
        </p:spPr>
      </p:cxnSp>
      <p:sp>
        <p:nvSpPr>
          <p:cNvPr id="833" name="Google Shape;833;p44"/>
          <p:cNvSpPr/>
          <p:nvPr/>
        </p:nvSpPr>
        <p:spPr>
          <a:xfrm>
            <a:off x="1270000" y="2120900"/>
            <a:ext cx="474663"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2000"/>
              <a:buFont typeface="Avenir"/>
              <a:buNone/>
            </a:pPr>
            <a:r>
              <a:rPr lang="en-US" sz="2000" b="1" i="0" u="none" strike="noStrike" cap="none">
                <a:solidFill>
                  <a:srgbClr val="FFFFFF"/>
                </a:solidFill>
                <a:latin typeface="Avenir"/>
                <a:ea typeface="Avenir"/>
                <a:cs typeface="Avenir"/>
                <a:sym typeface="Avenir"/>
              </a:rPr>
              <a:t>Sr.</a:t>
            </a:r>
            <a:endParaRPr sz="1800" b="0" i="0" u="none" strike="noStrike" cap="none">
              <a:solidFill>
                <a:schemeClr val="dk1"/>
              </a:solidFill>
              <a:latin typeface="Arial"/>
              <a:ea typeface="Arial"/>
              <a:cs typeface="Arial"/>
              <a:sym typeface="Arial"/>
            </a:endParaRPr>
          </a:p>
        </p:txBody>
      </p:sp>
      <p:sp>
        <p:nvSpPr>
          <p:cNvPr id="834" name="Google Shape;834;p44"/>
          <p:cNvSpPr/>
          <p:nvPr/>
        </p:nvSpPr>
        <p:spPr>
          <a:xfrm>
            <a:off x="1936750" y="2120900"/>
            <a:ext cx="2527300"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2000"/>
              <a:buFont typeface="Avenir"/>
              <a:buNone/>
            </a:pPr>
            <a:r>
              <a:rPr lang="en-US" sz="2000" b="1" i="0" u="none" strike="noStrike" cap="none">
                <a:solidFill>
                  <a:srgbClr val="FFFFFF"/>
                </a:solidFill>
                <a:latin typeface="Avenir"/>
                <a:ea typeface="Avenir"/>
                <a:cs typeface="Avenir"/>
                <a:sym typeface="Avenir"/>
              </a:rPr>
              <a:t>Parallel Computing</a:t>
            </a:r>
            <a:endParaRPr sz="1800" b="0" i="0" u="none" strike="noStrike" cap="none">
              <a:solidFill>
                <a:schemeClr val="dk1"/>
              </a:solidFill>
              <a:latin typeface="Arial"/>
              <a:ea typeface="Arial"/>
              <a:cs typeface="Arial"/>
              <a:sym typeface="Arial"/>
            </a:endParaRPr>
          </a:p>
        </p:txBody>
      </p:sp>
      <p:sp>
        <p:nvSpPr>
          <p:cNvPr id="835" name="Google Shape;835;p44"/>
          <p:cNvSpPr/>
          <p:nvPr/>
        </p:nvSpPr>
        <p:spPr>
          <a:xfrm>
            <a:off x="6313488" y="2120900"/>
            <a:ext cx="2994025" cy="3714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FFFFFF"/>
              </a:buClr>
              <a:buSzPts val="2000"/>
              <a:buFont typeface="Avenir"/>
              <a:buNone/>
            </a:pPr>
            <a:r>
              <a:rPr lang="en-US" sz="2000" b="1" i="0" u="none" strike="noStrike" cap="none">
                <a:solidFill>
                  <a:srgbClr val="FFFFFF"/>
                </a:solidFill>
                <a:latin typeface="Avenir"/>
                <a:ea typeface="Avenir"/>
                <a:cs typeface="Avenir"/>
                <a:sym typeface="Avenir"/>
              </a:rPr>
              <a:t>Distributed Computing</a:t>
            </a:r>
            <a:endParaRPr sz="1800" b="0" i="0" u="none" strike="noStrike" cap="none">
              <a:solidFill>
                <a:schemeClr val="dk1"/>
              </a:solidFill>
              <a:latin typeface="Arial"/>
              <a:ea typeface="Arial"/>
              <a:cs typeface="Arial"/>
              <a:sym typeface="Arial"/>
            </a:endParaRPr>
          </a:p>
        </p:txBody>
      </p:sp>
      <p:sp>
        <p:nvSpPr>
          <p:cNvPr id="836" name="Google Shape;836;p44"/>
          <p:cNvSpPr/>
          <p:nvPr/>
        </p:nvSpPr>
        <p:spPr>
          <a:xfrm>
            <a:off x="1270000" y="2574925"/>
            <a:ext cx="301625" cy="314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1.</a:t>
            </a:r>
            <a:endParaRPr sz="1800" b="0" i="0" u="none" strike="noStrike" cap="none">
              <a:solidFill>
                <a:schemeClr val="dk1"/>
              </a:solidFill>
              <a:latin typeface="Arial"/>
              <a:ea typeface="Arial"/>
              <a:cs typeface="Arial"/>
              <a:sym typeface="Arial"/>
            </a:endParaRPr>
          </a:p>
        </p:txBody>
      </p:sp>
      <p:sp>
        <p:nvSpPr>
          <p:cNvPr id="837" name="Google Shape;837;p44"/>
          <p:cNvSpPr/>
          <p:nvPr/>
        </p:nvSpPr>
        <p:spPr>
          <a:xfrm>
            <a:off x="1936750" y="2584450"/>
            <a:ext cx="3348038"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Many operations are performed </a:t>
            </a:r>
            <a:endParaRPr sz="1800" b="0" i="0" u="none" strike="noStrike" cap="none">
              <a:solidFill>
                <a:schemeClr val="dk1"/>
              </a:solidFill>
              <a:latin typeface="Arial"/>
              <a:ea typeface="Arial"/>
              <a:cs typeface="Arial"/>
              <a:sym typeface="Arial"/>
            </a:endParaRPr>
          </a:p>
        </p:txBody>
      </p:sp>
      <p:sp>
        <p:nvSpPr>
          <p:cNvPr id="838" name="Google Shape;838;p44"/>
          <p:cNvSpPr/>
          <p:nvPr/>
        </p:nvSpPr>
        <p:spPr>
          <a:xfrm>
            <a:off x="1936750" y="2859088"/>
            <a:ext cx="1671638"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simultaneously </a:t>
            </a:r>
            <a:endParaRPr sz="1800" b="0" i="0" u="none" strike="noStrike" cap="none">
              <a:solidFill>
                <a:schemeClr val="dk1"/>
              </a:solidFill>
              <a:latin typeface="Arial"/>
              <a:ea typeface="Arial"/>
              <a:cs typeface="Arial"/>
              <a:sym typeface="Arial"/>
            </a:endParaRPr>
          </a:p>
        </p:txBody>
      </p:sp>
      <p:sp>
        <p:nvSpPr>
          <p:cNvPr id="839" name="Google Shape;839;p44"/>
          <p:cNvSpPr/>
          <p:nvPr/>
        </p:nvSpPr>
        <p:spPr>
          <a:xfrm>
            <a:off x="6313488" y="2584450"/>
            <a:ext cx="4567238"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System components are located at different </a:t>
            </a:r>
            <a:endParaRPr sz="1800" b="0" i="0" u="none" strike="noStrike" cap="none">
              <a:solidFill>
                <a:schemeClr val="dk1"/>
              </a:solidFill>
              <a:latin typeface="Arial"/>
              <a:ea typeface="Arial"/>
              <a:cs typeface="Arial"/>
              <a:sym typeface="Arial"/>
            </a:endParaRPr>
          </a:p>
        </p:txBody>
      </p:sp>
      <p:sp>
        <p:nvSpPr>
          <p:cNvPr id="840" name="Google Shape;840;p44"/>
          <p:cNvSpPr/>
          <p:nvPr/>
        </p:nvSpPr>
        <p:spPr>
          <a:xfrm>
            <a:off x="6313488" y="2859088"/>
            <a:ext cx="1003300"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locations</a:t>
            </a:r>
            <a:endParaRPr sz="1800" b="0" i="0" u="none" strike="noStrike" cap="none">
              <a:solidFill>
                <a:schemeClr val="dk1"/>
              </a:solidFill>
              <a:latin typeface="Arial"/>
              <a:ea typeface="Arial"/>
              <a:cs typeface="Arial"/>
              <a:sym typeface="Arial"/>
            </a:endParaRPr>
          </a:p>
        </p:txBody>
      </p:sp>
      <p:sp>
        <p:nvSpPr>
          <p:cNvPr id="841" name="Google Shape;841;p44"/>
          <p:cNvSpPr/>
          <p:nvPr/>
        </p:nvSpPr>
        <p:spPr>
          <a:xfrm>
            <a:off x="1270000" y="3317875"/>
            <a:ext cx="301625" cy="314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2.</a:t>
            </a:r>
            <a:endParaRPr sz="1800" b="0" i="0" u="none" strike="noStrike" cap="none">
              <a:solidFill>
                <a:schemeClr val="dk1"/>
              </a:solidFill>
              <a:latin typeface="Arial"/>
              <a:ea typeface="Arial"/>
              <a:cs typeface="Arial"/>
              <a:sym typeface="Arial"/>
            </a:endParaRPr>
          </a:p>
        </p:txBody>
      </p:sp>
      <p:sp>
        <p:nvSpPr>
          <p:cNvPr id="842" name="Google Shape;842;p44"/>
          <p:cNvSpPr/>
          <p:nvPr/>
        </p:nvSpPr>
        <p:spPr>
          <a:xfrm>
            <a:off x="1936750" y="3325813"/>
            <a:ext cx="2882900"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Single computer is required</a:t>
            </a:r>
            <a:endParaRPr sz="1800" b="0" i="0" u="none" strike="noStrike" cap="none">
              <a:solidFill>
                <a:schemeClr val="dk1"/>
              </a:solidFill>
              <a:latin typeface="Arial"/>
              <a:ea typeface="Arial"/>
              <a:cs typeface="Arial"/>
              <a:sym typeface="Arial"/>
            </a:endParaRPr>
          </a:p>
        </p:txBody>
      </p:sp>
      <p:sp>
        <p:nvSpPr>
          <p:cNvPr id="843" name="Google Shape;843;p44"/>
          <p:cNvSpPr/>
          <p:nvPr/>
        </p:nvSpPr>
        <p:spPr>
          <a:xfrm>
            <a:off x="6313488" y="3325813"/>
            <a:ext cx="2601913"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Uses multiple computers</a:t>
            </a:r>
            <a:endParaRPr sz="1800" b="0" i="0" u="none" strike="noStrike" cap="none">
              <a:solidFill>
                <a:schemeClr val="dk1"/>
              </a:solidFill>
              <a:latin typeface="Arial"/>
              <a:ea typeface="Arial"/>
              <a:cs typeface="Arial"/>
              <a:sym typeface="Arial"/>
            </a:endParaRPr>
          </a:p>
        </p:txBody>
      </p:sp>
      <p:sp>
        <p:nvSpPr>
          <p:cNvPr id="844" name="Google Shape;844;p44"/>
          <p:cNvSpPr/>
          <p:nvPr/>
        </p:nvSpPr>
        <p:spPr>
          <a:xfrm>
            <a:off x="1270000" y="3757613"/>
            <a:ext cx="301625" cy="314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3.</a:t>
            </a:r>
            <a:endParaRPr sz="1800" b="0" i="0" u="none" strike="noStrike" cap="none">
              <a:solidFill>
                <a:schemeClr val="dk1"/>
              </a:solidFill>
              <a:latin typeface="Arial"/>
              <a:ea typeface="Arial"/>
              <a:cs typeface="Arial"/>
              <a:sym typeface="Arial"/>
            </a:endParaRPr>
          </a:p>
        </p:txBody>
      </p:sp>
      <p:sp>
        <p:nvSpPr>
          <p:cNvPr id="845" name="Google Shape;845;p44"/>
          <p:cNvSpPr/>
          <p:nvPr/>
        </p:nvSpPr>
        <p:spPr>
          <a:xfrm>
            <a:off x="1936750" y="3767138"/>
            <a:ext cx="3835400"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Multiple processors perform multiple </a:t>
            </a:r>
            <a:endParaRPr sz="1800" b="0" i="0" u="none" strike="noStrike" cap="none">
              <a:solidFill>
                <a:schemeClr val="dk1"/>
              </a:solidFill>
              <a:latin typeface="Arial"/>
              <a:ea typeface="Arial"/>
              <a:cs typeface="Arial"/>
              <a:sym typeface="Arial"/>
            </a:endParaRPr>
          </a:p>
        </p:txBody>
      </p:sp>
      <p:sp>
        <p:nvSpPr>
          <p:cNvPr id="846" name="Google Shape;846;p44"/>
          <p:cNvSpPr/>
          <p:nvPr/>
        </p:nvSpPr>
        <p:spPr>
          <a:xfrm>
            <a:off x="1936750" y="4041775"/>
            <a:ext cx="1168400"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operations</a:t>
            </a:r>
            <a:endParaRPr sz="1800" b="0" i="0" u="none" strike="noStrike" cap="none">
              <a:solidFill>
                <a:schemeClr val="dk1"/>
              </a:solidFill>
              <a:latin typeface="Arial"/>
              <a:ea typeface="Arial"/>
              <a:cs typeface="Arial"/>
              <a:sym typeface="Arial"/>
            </a:endParaRPr>
          </a:p>
        </p:txBody>
      </p:sp>
      <p:sp>
        <p:nvSpPr>
          <p:cNvPr id="847" name="Google Shape;847;p44"/>
          <p:cNvSpPr/>
          <p:nvPr/>
        </p:nvSpPr>
        <p:spPr>
          <a:xfrm>
            <a:off x="6313488" y="3767138"/>
            <a:ext cx="4849813"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Multiple computers perform multiple operations</a:t>
            </a:r>
            <a:endParaRPr sz="1800" b="0" i="0" u="none" strike="noStrike" cap="none">
              <a:solidFill>
                <a:schemeClr val="dk1"/>
              </a:solidFill>
              <a:latin typeface="Arial"/>
              <a:ea typeface="Arial"/>
              <a:cs typeface="Arial"/>
              <a:sym typeface="Arial"/>
            </a:endParaRPr>
          </a:p>
        </p:txBody>
      </p:sp>
      <p:sp>
        <p:nvSpPr>
          <p:cNvPr id="848" name="Google Shape;848;p44"/>
          <p:cNvSpPr/>
          <p:nvPr/>
        </p:nvSpPr>
        <p:spPr>
          <a:xfrm>
            <a:off x="1270000" y="4503738"/>
            <a:ext cx="301625" cy="31273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4.</a:t>
            </a:r>
            <a:endParaRPr sz="1800" b="0" i="0" u="none" strike="noStrike" cap="none">
              <a:solidFill>
                <a:schemeClr val="dk1"/>
              </a:solidFill>
              <a:latin typeface="Arial"/>
              <a:ea typeface="Arial"/>
              <a:cs typeface="Arial"/>
              <a:sym typeface="Arial"/>
            </a:endParaRPr>
          </a:p>
        </p:txBody>
      </p:sp>
      <p:sp>
        <p:nvSpPr>
          <p:cNvPr id="849" name="Google Shape;849;p44"/>
          <p:cNvSpPr/>
          <p:nvPr/>
        </p:nvSpPr>
        <p:spPr>
          <a:xfrm>
            <a:off x="1936750" y="4513263"/>
            <a:ext cx="3756025"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Processors communicate with each </a:t>
            </a:r>
            <a:endParaRPr sz="1800" b="0" i="0" u="none" strike="noStrike" cap="none">
              <a:solidFill>
                <a:schemeClr val="dk1"/>
              </a:solidFill>
              <a:latin typeface="Arial"/>
              <a:ea typeface="Arial"/>
              <a:cs typeface="Arial"/>
              <a:sym typeface="Arial"/>
            </a:endParaRPr>
          </a:p>
        </p:txBody>
      </p:sp>
      <p:sp>
        <p:nvSpPr>
          <p:cNvPr id="850" name="Google Shape;850;p44"/>
          <p:cNvSpPr/>
          <p:nvPr/>
        </p:nvSpPr>
        <p:spPr>
          <a:xfrm>
            <a:off x="1936750" y="4784725"/>
            <a:ext cx="2006600" cy="3206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other through bus</a:t>
            </a:r>
            <a:endParaRPr sz="1800" b="0" i="0" u="none" strike="noStrike" cap="none">
              <a:solidFill>
                <a:schemeClr val="dk1"/>
              </a:solidFill>
              <a:latin typeface="Arial"/>
              <a:ea typeface="Arial"/>
              <a:cs typeface="Arial"/>
              <a:sym typeface="Arial"/>
            </a:endParaRPr>
          </a:p>
        </p:txBody>
      </p:sp>
      <p:sp>
        <p:nvSpPr>
          <p:cNvPr id="851" name="Google Shape;851;p44"/>
          <p:cNvSpPr/>
          <p:nvPr/>
        </p:nvSpPr>
        <p:spPr>
          <a:xfrm>
            <a:off x="6313488" y="4513263"/>
            <a:ext cx="5038725"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Computer communicate with each other through </a:t>
            </a:r>
            <a:endParaRPr sz="1800" b="0" i="0" u="none" strike="noStrike" cap="none">
              <a:solidFill>
                <a:schemeClr val="dk1"/>
              </a:solidFill>
              <a:latin typeface="Arial"/>
              <a:ea typeface="Arial"/>
              <a:cs typeface="Arial"/>
              <a:sym typeface="Arial"/>
            </a:endParaRPr>
          </a:p>
        </p:txBody>
      </p:sp>
      <p:sp>
        <p:nvSpPr>
          <p:cNvPr id="852" name="Google Shape;852;p44"/>
          <p:cNvSpPr/>
          <p:nvPr/>
        </p:nvSpPr>
        <p:spPr>
          <a:xfrm>
            <a:off x="6313488" y="4784725"/>
            <a:ext cx="2125663" cy="3206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message passing. </a:t>
            </a:r>
            <a:endParaRPr sz="1800" b="0" i="0" u="none" strike="noStrike" cap="none">
              <a:solidFill>
                <a:schemeClr val="dk1"/>
              </a:solidFill>
              <a:latin typeface="Arial"/>
              <a:ea typeface="Arial"/>
              <a:cs typeface="Arial"/>
              <a:sym typeface="Arial"/>
            </a:endParaRPr>
          </a:p>
        </p:txBody>
      </p:sp>
      <p:sp>
        <p:nvSpPr>
          <p:cNvPr id="853" name="Google Shape;853;p44"/>
          <p:cNvSpPr/>
          <p:nvPr/>
        </p:nvSpPr>
        <p:spPr>
          <a:xfrm>
            <a:off x="1270000" y="5246688"/>
            <a:ext cx="301625" cy="3143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5.</a:t>
            </a:r>
            <a:endParaRPr sz="1800" b="0" i="0" u="none" strike="noStrike" cap="none">
              <a:solidFill>
                <a:schemeClr val="dk1"/>
              </a:solidFill>
              <a:latin typeface="Arial"/>
              <a:ea typeface="Arial"/>
              <a:cs typeface="Arial"/>
              <a:sym typeface="Arial"/>
            </a:endParaRPr>
          </a:p>
        </p:txBody>
      </p:sp>
      <p:sp>
        <p:nvSpPr>
          <p:cNvPr id="854" name="Google Shape;854;p44"/>
          <p:cNvSpPr/>
          <p:nvPr/>
        </p:nvSpPr>
        <p:spPr>
          <a:xfrm>
            <a:off x="1936750" y="5254625"/>
            <a:ext cx="3616325"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Improves the system performance </a:t>
            </a:r>
            <a:endParaRPr sz="1800" b="0" i="0" u="none" strike="noStrike" cap="none">
              <a:solidFill>
                <a:schemeClr val="dk1"/>
              </a:solidFill>
              <a:latin typeface="Arial"/>
              <a:ea typeface="Arial"/>
              <a:cs typeface="Arial"/>
              <a:sym typeface="Arial"/>
            </a:endParaRPr>
          </a:p>
        </p:txBody>
      </p:sp>
      <p:sp>
        <p:nvSpPr>
          <p:cNvPr id="855" name="Google Shape;855;p44"/>
          <p:cNvSpPr/>
          <p:nvPr/>
        </p:nvSpPr>
        <p:spPr>
          <a:xfrm>
            <a:off x="6313488" y="5254625"/>
            <a:ext cx="4945063"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Improves system scalability, fault tolerance and </a:t>
            </a:r>
            <a:endParaRPr sz="1800" b="0" i="0" u="none" strike="noStrike" cap="none">
              <a:solidFill>
                <a:schemeClr val="dk1"/>
              </a:solidFill>
              <a:latin typeface="Arial"/>
              <a:ea typeface="Arial"/>
              <a:cs typeface="Arial"/>
              <a:sym typeface="Arial"/>
            </a:endParaRPr>
          </a:p>
        </p:txBody>
      </p:sp>
      <p:sp>
        <p:nvSpPr>
          <p:cNvPr id="856" name="Google Shape;856;p44"/>
          <p:cNvSpPr/>
          <p:nvPr/>
        </p:nvSpPr>
        <p:spPr>
          <a:xfrm>
            <a:off x="6313488" y="5530850"/>
            <a:ext cx="3059113" cy="30797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resource sharing capabilities </a:t>
            </a: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06"/>
                                        </p:tgtEl>
                                        <p:attrNameLst>
                                          <p:attrName>style.visibility</p:attrName>
                                        </p:attrNameLst>
                                      </p:cBhvr>
                                      <p:to>
                                        <p:strVal val="visible"/>
                                      </p:to>
                                    </p:set>
                                    <p:anim calcmode="lin" valueType="num">
                                      <p:cBhvr additive="base">
                                        <p:cTn id="7" dur="500"/>
                                        <p:tgtEl>
                                          <p:spTgt spid="806"/>
                                        </p:tgtEl>
                                        <p:attrNameLst>
                                          <p:attrName>ppt_y</p:attrName>
                                        </p:attrNameLst>
                                      </p:cBhvr>
                                      <p:tavLst>
                                        <p:tav tm="0">
                                          <p:val>
                                            <p:strVal val="#ppt_y+1"/>
                                          </p:val>
                                        </p:tav>
                                        <p:tav tm="100000">
                                          <p:val>
                                            <p:strVal val="#ppt_y"/>
                                          </p:val>
                                        </p:tav>
                                      </p:tavLst>
                                    </p:anim>
                                  </p:childTnLst>
                                </p:cTn>
                              </p:par>
                              <p:par>
                                <p:cTn id="8" presetID="2" presetClass="entr" presetSubtype="4" fill="hold" nodeType="withEffect">
                                  <p:stCondLst>
                                    <p:cond delay="0"/>
                                  </p:stCondLst>
                                  <p:childTnLst>
                                    <p:set>
                                      <p:cBhvr>
                                        <p:cTn id="9" dur="1" fill="hold">
                                          <p:stCondLst>
                                            <p:cond delay="0"/>
                                          </p:stCondLst>
                                        </p:cTn>
                                        <p:tgtEl>
                                          <p:spTgt spid="805"/>
                                        </p:tgtEl>
                                        <p:attrNameLst>
                                          <p:attrName>style.visibility</p:attrName>
                                        </p:attrNameLst>
                                      </p:cBhvr>
                                      <p:to>
                                        <p:strVal val="visible"/>
                                      </p:to>
                                    </p:set>
                                    <p:anim calcmode="lin" valueType="num">
                                      <p:cBhvr additive="base">
                                        <p:cTn id="10" dur="500"/>
                                        <p:tgtEl>
                                          <p:spTgt spid="805"/>
                                        </p:tgtEl>
                                        <p:attrNameLst>
                                          <p:attrName>ppt_y</p:attrName>
                                        </p:attrNameLst>
                                      </p:cBhvr>
                                      <p:tavLst>
                                        <p:tav tm="0">
                                          <p:val>
                                            <p:strVal val="#ppt_y+1"/>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39"/>
                                        </p:tgtEl>
                                        <p:attrNameLst>
                                          <p:attrName>style.visibility</p:attrName>
                                        </p:attrNameLst>
                                      </p:cBhvr>
                                      <p:to>
                                        <p:strVal val="visible"/>
                                      </p:to>
                                    </p:set>
                                    <p:anim calcmode="lin" valueType="num">
                                      <p:cBhvr additive="base">
                                        <p:cTn id="15" dur="500"/>
                                        <p:tgtEl>
                                          <p:spTgt spid="839"/>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840"/>
                                        </p:tgtEl>
                                        <p:attrNameLst>
                                          <p:attrName>style.visibility</p:attrName>
                                        </p:attrNameLst>
                                      </p:cBhvr>
                                      <p:to>
                                        <p:strVal val="visible"/>
                                      </p:to>
                                    </p:set>
                                    <p:anim calcmode="lin" valueType="num">
                                      <p:cBhvr additive="base">
                                        <p:cTn id="18" dur="500"/>
                                        <p:tgtEl>
                                          <p:spTgt spid="840"/>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837"/>
                                        </p:tgtEl>
                                        <p:attrNameLst>
                                          <p:attrName>style.visibility</p:attrName>
                                        </p:attrNameLst>
                                      </p:cBhvr>
                                      <p:to>
                                        <p:strVal val="visible"/>
                                      </p:to>
                                    </p:set>
                                    <p:anim calcmode="lin" valueType="num">
                                      <p:cBhvr additive="base">
                                        <p:cTn id="21" dur="500"/>
                                        <p:tgtEl>
                                          <p:spTgt spid="837"/>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838"/>
                                        </p:tgtEl>
                                        <p:attrNameLst>
                                          <p:attrName>style.visibility</p:attrName>
                                        </p:attrNameLst>
                                      </p:cBhvr>
                                      <p:to>
                                        <p:strVal val="visible"/>
                                      </p:to>
                                    </p:set>
                                    <p:anim calcmode="lin" valueType="num">
                                      <p:cBhvr additive="base">
                                        <p:cTn id="24" dur="500"/>
                                        <p:tgtEl>
                                          <p:spTgt spid="838"/>
                                        </p:tgtEl>
                                        <p:attrNameLst>
                                          <p:attrName>ppt_y</p:attrName>
                                        </p:attrNameLst>
                                      </p:cBhvr>
                                      <p:tavLst>
                                        <p:tav tm="0">
                                          <p:val>
                                            <p:strVal val="#ppt_y+1"/>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36"/>
                                        </p:tgtEl>
                                        <p:attrNameLst>
                                          <p:attrName>style.visibility</p:attrName>
                                        </p:attrNameLst>
                                      </p:cBhvr>
                                      <p:to>
                                        <p:strVal val="visible"/>
                                      </p:to>
                                    </p:set>
                                    <p:anim calcmode="lin" valueType="num">
                                      <p:cBhvr additive="base">
                                        <p:cTn id="27" dur="500"/>
                                        <p:tgtEl>
                                          <p:spTgt spid="83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843"/>
                                        </p:tgtEl>
                                        <p:attrNameLst>
                                          <p:attrName>style.visibility</p:attrName>
                                        </p:attrNameLst>
                                      </p:cBhvr>
                                      <p:to>
                                        <p:strVal val="visible"/>
                                      </p:to>
                                    </p:set>
                                    <p:anim calcmode="lin" valueType="num">
                                      <p:cBhvr additive="base">
                                        <p:cTn id="32" dur="500"/>
                                        <p:tgtEl>
                                          <p:spTgt spid="843"/>
                                        </p:tgtEl>
                                        <p:attrNameLst>
                                          <p:attrName>ppt_y</p:attrName>
                                        </p:attrNameLst>
                                      </p:cBhvr>
                                      <p:tavLst>
                                        <p:tav tm="0">
                                          <p:val>
                                            <p:strVal val="#ppt_y+1"/>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842"/>
                                        </p:tgtEl>
                                        <p:attrNameLst>
                                          <p:attrName>style.visibility</p:attrName>
                                        </p:attrNameLst>
                                      </p:cBhvr>
                                      <p:to>
                                        <p:strVal val="visible"/>
                                      </p:to>
                                    </p:set>
                                    <p:anim calcmode="lin" valueType="num">
                                      <p:cBhvr additive="base">
                                        <p:cTn id="35" dur="500"/>
                                        <p:tgtEl>
                                          <p:spTgt spid="842"/>
                                        </p:tgtEl>
                                        <p:attrNameLst>
                                          <p:attrName>ppt_y</p:attrName>
                                        </p:attrNameLst>
                                      </p:cBhvr>
                                      <p:tavLst>
                                        <p:tav tm="0">
                                          <p:val>
                                            <p:strVal val="#ppt_y+1"/>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841"/>
                                        </p:tgtEl>
                                        <p:attrNameLst>
                                          <p:attrName>style.visibility</p:attrName>
                                        </p:attrNameLst>
                                      </p:cBhvr>
                                      <p:to>
                                        <p:strVal val="visible"/>
                                      </p:to>
                                    </p:set>
                                    <p:anim calcmode="lin" valueType="num">
                                      <p:cBhvr additive="base">
                                        <p:cTn id="38" dur="500"/>
                                        <p:tgtEl>
                                          <p:spTgt spid="841"/>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47"/>
                                        </p:tgtEl>
                                        <p:attrNameLst>
                                          <p:attrName>style.visibility</p:attrName>
                                        </p:attrNameLst>
                                      </p:cBhvr>
                                      <p:to>
                                        <p:strVal val="visible"/>
                                      </p:to>
                                    </p:set>
                                    <p:anim calcmode="lin" valueType="num">
                                      <p:cBhvr additive="base">
                                        <p:cTn id="43" dur="500"/>
                                        <p:tgtEl>
                                          <p:spTgt spid="847"/>
                                        </p:tgtEl>
                                        <p:attrNameLst>
                                          <p:attrName>ppt_y</p:attrName>
                                        </p:attrNameLst>
                                      </p:cBhvr>
                                      <p:tavLst>
                                        <p:tav tm="0">
                                          <p:val>
                                            <p:strVal val="#ppt_y+1"/>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845"/>
                                        </p:tgtEl>
                                        <p:attrNameLst>
                                          <p:attrName>style.visibility</p:attrName>
                                        </p:attrNameLst>
                                      </p:cBhvr>
                                      <p:to>
                                        <p:strVal val="visible"/>
                                      </p:to>
                                    </p:set>
                                    <p:anim calcmode="lin" valueType="num">
                                      <p:cBhvr additive="base">
                                        <p:cTn id="46" dur="500"/>
                                        <p:tgtEl>
                                          <p:spTgt spid="845"/>
                                        </p:tgtEl>
                                        <p:attrNameLst>
                                          <p:attrName>ppt_y</p:attrName>
                                        </p:attrNameLst>
                                      </p:cBhvr>
                                      <p:tavLst>
                                        <p:tav tm="0">
                                          <p:val>
                                            <p:strVal val="#ppt_y+1"/>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846"/>
                                        </p:tgtEl>
                                        <p:attrNameLst>
                                          <p:attrName>style.visibility</p:attrName>
                                        </p:attrNameLst>
                                      </p:cBhvr>
                                      <p:to>
                                        <p:strVal val="visible"/>
                                      </p:to>
                                    </p:set>
                                    <p:anim calcmode="lin" valueType="num">
                                      <p:cBhvr additive="base">
                                        <p:cTn id="49" dur="500"/>
                                        <p:tgtEl>
                                          <p:spTgt spid="846"/>
                                        </p:tgtEl>
                                        <p:attrNameLst>
                                          <p:attrName>ppt_y</p:attrName>
                                        </p:attrNameLst>
                                      </p:cBhvr>
                                      <p:tavLst>
                                        <p:tav tm="0">
                                          <p:val>
                                            <p:strVal val="#ppt_y+1"/>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844"/>
                                        </p:tgtEl>
                                        <p:attrNameLst>
                                          <p:attrName>style.visibility</p:attrName>
                                        </p:attrNameLst>
                                      </p:cBhvr>
                                      <p:to>
                                        <p:strVal val="visible"/>
                                      </p:to>
                                    </p:set>
                                    <p:anim calcmode="lin" valueType="num">
                                      <p:cBhvr additive="base">
                                        <p:cTn id="52" dur="500"/>
                                        <p:tgtEl>
                                          <p:spTgt spid="844"/>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851"/>
                                        </p:tgtEl>
                                        <p:attrNameLst>
                                          <p:attrName>style.visibility</p:attrName>
                                        </p:attrNameLst>
                                      </p:cBhvr>
                                      <p:to>
                                        <p:strVal val="visible"/>
                                      </p:to>
                                    </p:set>
                                    <p:anim calcmode="lin" valueType="num">
                                      <p:cBhvr additive="base">
                                        <p:cTn id="57" dur="500"/>
                                        <p:tgtEl>
                                          <p:spTgt spid="851"/>
                                        </p:tgtEl>
                                        <p:attrNameLst>
                                          <p:attrName>ppt_y</p:attrName>
                                        </p:attrNameLst>
                                      </p:cBhvr>
                                      <p:tavLst>
                                        <p:tav tm="0">
                                          <p:val>
                                            <p:strVal val="#ppt_y+1"/>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852"/>
                                        </p:tgtEl>
                                        <p:attrNameLst>
                                          <p:attrName>style.visibility</p:attrName>
                                        </p:attrNameLst>
                                      </p:cBhvr>
                                      <p:to>
                                        <p:strVal val="visible"/>
                                      </p:to>
                                    </p:set>
                                    <p:anim calcmode="lin" valueType="num">
                                      <p:cBhvr additive="base">
                                        <p:cTn id="60" dur="500"/>
                                        <p:tgtEl>
                                          <p:spTgt spid="852"/>
                                        </p:tgtEl>
                                        <p:attrNameLst>
                                          <p:attrName>ppt_y</p:attrName>
                                        </p:attrNameLst>
                                      </p:cBhvr>
                                      <p:tavLst>
                                        <p:tav tm="0">
                                          <p:val>
                                            <p:strVal val="#ppt_y+1"/>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849"/>
                                        </p:tgtEl>
                                        <p:attrNameLst>
                                          <p:attrName>style.visibility</p:attrName>
                                        </p:attrNameLst>
                                      </p:cBhvr>
                                      <p:to>
                                        <p:strVal val="visible"/>
                                      </p:to>
                                    </p:set>
                                    <p:anim calcmode="lin" valueType="num">
                                      <p:cBhvr additive="base">
                                        <p:cTn id="63" dur="500"/>
                                        <p:tgtEl>
                                          <p:spTgt spid="849"/>
                                        </p:tgtEl>
                                        <p:attrNameLst>
                                          <p:attrName>ppt_y</p:attrName>
                                        </p:attrNameLst>
                                      </p:cBhvr>
                                      <p:tavLst>
                                        <p:tav tm="0">
                                          <p:val>
                                            <p:strVal val="#ppt_y+1"/>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850"/>
                                        </p:tgtEl>
                                        <p:attrNameLst>
                                          <p:attrName>style.visibility</p:attrName>
                                        </p:attrNameLst>
                                      </p:cBhvr>
                                      <p:to>
                                        <p:strVal val="visible"/>
                                      </p:to>
                                    </p:set>
                                    <p:anim calcmode="lin" valueType="num">
                                      <p:cBhvr additive="base">
                                        <p:cTn id="66" dur="500"/>
                                        <p:tgtEl>
                                          <p:spTgt spid="850"/>
                                        </p:tgtEl>
                                        <p:attrNameLst>
                                          <p:attrName>ppt_y</p:attrName>
                                        </p:attrNameLst>
                                      </p:cBhvr>
                                      <p:tavLst>
                                        <p:tav tm="0">
                                          <p:val>
                                            <p:strVal val="#ppt_y+1"/>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848"/>
                                        </p:tgtEl>
                                        <p:attrNameLst>
                                          <p:attrName>style.visibility</p:attrName>
                                        </p:attrNameLst>
                                      </p:cBhvr>
                                      <p:to>
                                        <p:strVal val="visible"/>
                                      </p:to>
                                    </p:set>
                                    <p:anim calcmode="lin" valueType="num">
                                      <p:cBhvr additive="base">
                                        <p:cTn id="69" dur="500"/>
                                        <p:tgtEl>
                                          <p:spTgt spid="848"/>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855"/>
                                        </p:tgtEl>
                                        <p:attrNameLst>
                                          <p:attrName>style.visibility</p:attrName>
                                        </p:attrNameLst>
                                      </p:cBhvr>
                                      <p:to>
                                        <p:strVal val="visible"/>
                                      </p:to>
                                    </p:set>
                                    <p:anim calcmode="lin" valueType="num">
                                      <p:cBhvr additive="base">
                                        <p:cTn id="74" dur="500"/>
                                        <p:tgtEl>
                                          <p:spTgt spid="855"/>
                                        </p:tgtEl>
                                        <p:attrNameLst>
                                          <p:attrName>ppt_y</p:attrName>
                                        </p:attrNameLst>
                                      </p:cBhvr>
                                      <p:tavLst>
                                        <p:tav tm="0">
                                          <p:val>
                                            <p:strVal val="#ppt_y+1"/>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856"/>
                                        </p:tgtEl>
                                        <p:attrNameLst>
                                          <p:attrName>style.visibility</p:attrName>
                                        </p:attrNameLst>
                                      </p:cBhvr>
                                      <p:to>
                                        <p:strVal val="visible"/>
                                      </p:to>
                                    </p:set>
                                    <p:anim calcmode="lin" valueType="num">
                                      <p:cBhvr additive="base">
                                        <p:cTn id="77" dur="500"/>
                                        <p:tgtEl>
                                          <p:spTgt spid="856"/>
                                        </p:tgtEl>
                                        <p:attrNameLst>
                                          <p:attrName>ppt_y</p:attrName>
                                        </p:attrNameLst>
                                      </p:cBhvr>
                                      <p:tavLst>
                                        <p:tav tm="0">
                                          <p:val>
                                            <p:strVal val="#ppt_y+1"/>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854"/>
                                        </p:tgtEl>
                                        <p:attrNameLst>
                                          <p:attrName>style.visibility</p:attrName>
                                        </p:attrNameLst>
                                      </p:cBhvr>
                                      <p:to>
                                        <p:strVal val="visible"/>
                                      </p:to>
                                    </p:set>
                                    <p:anim calcmode="lin" valueType="num">
                                      <p:cBhvr additive="base">
                                        <p:cTn id="80" dur="500"/>
                                        <p:tgtEl>
                                          <p:spTgt spid="854"/>
                                        </p:tgtEl>
                                        <p:attrNameLst>
                                          <p:attrName>ppt_y</p:attrName>
                                        </p:attrNameLst>
                                      </p:cBhvr>
                                      <p:tavLst>
                                        <p:tav tm="0">
                                          <p:val>
                                            <p:strVal val="#ppt_y+1"/>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853"/>
                                        </p:tgtEl>
                                        <p:attrNameLst>
                                          <p:attrName>style.visibility</p:attrName>
                                        </p:attrNameLst>
                                      </p:cBhvr>
                                      <p:to>
                                        <p:strVal val="visible"/>
                                      </p:to>
                                    </p:set>
                                    <p:anim calcmode="lin" valueType="num">
                                      <p:cBhvr additive="base">
                                        <p:cTn id="83" dur="500"/>
                                        <p:tgtEl>
                                          <p:spTgt spid="8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60"/>
        <p:cNvGrpSpPr/>
        <p:nvPr/>
      </p:nvGrpSpPr>
      <p:grpSpPr>
        <a:xfrm>
          <a:off x="0" y="0"/>
          <a:ext cx="0" cy="0"/>
          <a:chOff x="0" y="0"/>
          <a:chExt cx="0" cy="0"/>
        </a:xfrm>
      </p:grpSpPr>
      <p:sp>
        <p:nvSpPr>
          <p:cNvPr id="861" name="Google Shape;861;p45"/>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862" name="Google Shape;862;p45"/>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863" name="Google Shape;863;p45"/>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864" name="Google Shape;864;p45"/>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865" name="Google Shape;865;p45"/>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866" name="Google Shape;866;p45"/>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867" name="Google Shape;867;p45"/>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868" name="Google Shape;868;p45"/>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869" name="Google Shape;869;p45"/>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Applications of Parallel and Distributed Computing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3"/>
        <p:cNvGrpSpPr/>
        <p:nvPr/>
      </p:nvGrpSpPr>
      <p:grpSpPr>
        <a:xfrm>
          <a:off x="0" y="0"/>
          <a:ext cx="0" cy="0"/>
          <a:chOff x="0" y="0"/>
          <a:chExt cx="0" cy="0"/>
        </a:xfrm>
      </p:grpSpPr>
      <p:sp>
        <p:nvSpPr>
          <p:cNvPr id="874" name="Google Shape;874;p46"/>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875" name="Google Shape;875;p46"/>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876" name="Google Shape;876;p46"/>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877" name="Google Shape;877;p46"/>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878" name="Google Shape;878;p46"/>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879" name="Google Shape;879;p46"/>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880" name="Google Shape;880;p46"/>
          <p:cNvGrpSpPr/>
          <p:nvPr/>
        </p:nvGrpSpPr>
        <p:grpSpPr>
          <a:xfrm>
            <a:off x="5256089" y="2722919"/>
            <a:ext cx="6292064" cy="883309"/>
            <a:chOff x="0" y="0"/>
            <a:chExt cx="6292064" cy="883309"/>
          </a:xfrm>
        </p:grpSpPr>
        <p:sp>
          <p:nvSpPr>
            <p:cNvPr id="881" name="Google Shape;881;p46"/>
            <p:cNvSpPr/>
            <p:nvPr/>
          </p:nvSpPr>
          <p:spPr>
            <a:xfrm>
              <a:off x="0" y="0"/>
              <a:ext cx="6292064"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6"/>
            <p:cNvSpPr txBox="1"/>
            <p:nvPr/>
          </p:nvSpPr>
          <p:spPr>
            <a:xfrm>
              <a:off x="1346743" y="0"/>
              <a:ext cx="4945320"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Scope of parallel and distributed computing. </a:t>
              </a:r>
              <a:endParaRPr sz="2400">
                <a:solidFill>
                  <a:schemeClr val="lt1"/>
                </a:solidFill>
                <a:latin typeface="Arial"/>
                <a:ea typeface="Arial"/>
                <a:cs typeface="Arial"/>
                <a:sym typeface="Arial"/>
              </a:endParaRPr>
            </a:p>
          </p:txBody>
        </p:sp>
        <p:sp>
          <p:nvSpPr>
            <p:cNvPr id="883" name="Google Shape;883;p46"/>
            <p:cNvSpPr/>
            <p:nvPr/>
          </p:nvSpPr>
          <p:spPr>
            <a:xfrm>
              <a:off x="249263" y="88330"/>
              <a:ext cx="936548" cy="706647"/>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8"/>
        <p:cNvGrpSpPr/>
        <p:nvPr/>
      </p:nvGrpSpPr>
      <p:grpSpPr>
        <a:xfrm>
          <a:off x="0" y="0"/>
          <a:ext cx="0" cy="0"/>
          <a:chOff x="0" y="0"/>
          <a:chExt cx="0" cy="0"/>
        </a:xfrm>
      </p:grpSpPr>
      <p:sp>
        <p:nvSpPr>
          <p:cNvPr id="889" name="Google Shape;889;p47"/>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890" name="Google Shape;890;p47"/>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891" name="Google Shape;891;p47"/>
          <p:cNvSpPr/>
          <p:nvPr/>
        </p:nvSpPr>
        <p:spPr>
          <a:xfrm>
            <a:off x="0" y="0"/>
            <a:ext cx="5998281"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892" name="Google Shape;892;p47"/>
          <p:cNvSpPr/>
          <p:nvPr/>
        </p:nvSpPr>
        <p:spPr>
          <a:xfrm>
            <a:off x="0" y="0"/>
            <a:ext cx="5998281"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893" name="Google Shape;893;p47"/>
          <p:cNvSpPr txBox="1">
            <a:spLocks noGrp="1"/>
          </p:cNvSpPr>
          <p:nvPr>
            <p:ph type="title"/>
          </p:nvPr>
        </p:nvSpPr>
        <p:spPr>
          <a:xfrm>
            <a:off x="838201" y="559813"/>
            <a:ext cx="4876800"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Applications of Parallel and Distributed Computing</a:t>
            </a:r>
            <a:endParaRPr/>
          </a:p>
        </p:txBody>
      </p:sp>
      <p:grpSp>
        <p:nvGrpSpPr>
          <p:cNvPr id="894" name="Google Shape;894;p47"/>
          <p:cNvGrpSpPr/>
          <p:nvPr/>
        </p:nvGrpSpPr>
        <p:grpSpPr>
          <a:xfrm>
            <a:off x="6029431" y="344893"/>
            <a:ext cx="5936595" cy="5782736"/>
            <a:chOff x="-155027" y="1460"/>
            <a:chExt cx="5936595" cy="5782736"/>
          </a:xfrm>
        </p:grpSpPr>
        <p:sp>
          <p:nvSpPr>
            <p:cNvPr id="895" name="Google Shape;895;p47"/>
            <p:cNvSpPr/>
            <p:nvPr/>
          </p:nvSpPr>
          <p:spPr>
            <a:xfrm>
              <a:off x="1884671" y="1460"/>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7"/>
            <p:cNvSpPr txBox="1"/>
            <p:nvPr/>
          </p:nvSpPr>
          <p:spPr>
            <a:xfrm>
              <a:off x="2348971" y="1460"/>
              <a:ext cx="928599" cy="1532188"/>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chemeClr val="lt1"/>
                </a:buClr>
                <a:buSzPts val="1400"/>
                <a:buFont typeface="Avenir"/>
                <a:buNone/>
              </a:pPr>
              <a:r>
                <a:rPr lang="en-US" sz="1400">
                  <a:solidFill>
                    <a:schemeClr val="lt1"/>
                  </a:solidFill>
                  <a:latin typeface="Avenir"/>
                  <a:ea typeface="Avenir"/>
                  <a:cs typeface="Avenir"/>
                  <a:sym typeface="Avenir"/>
                </a:rPr>
                <a:t>Science</a:t>
              </a:r>
              <a:endParaRPr/>
            </a:p>
          </p:txBody>
        </p:sp>
        <p:sp>
          <p:nvSpPr>
            <p:cNvPr id="897" name="Google Shape;897;p47"/>
            <p:cNvSpPr/>
            <p:nvPr/>
          </p:nvSpPr>
          <p:spPr>
            <a:xfrm rot="3600000">
              <a:off x="3584479" y="982845"/>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7"/>
            <p:cNvSpPr txBox="1"/>
            <p:nvPr/>
          </p:nvSpPr>
          <p:spPr>
            <a:xfrm rot="-1800000">
              <a:off x="3887718" y="1365892"/>
              <a:ext cx="1532188" cy="928599"/>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chemeClr val="lt1"/>
                </a:buClr>
                <a:buSzPts val="1400"/>
                <a:buFont typeface="Avenir"/>
                <a:buNone/>
              </a:pPr>
              <a:r>
                <a:rPr lang="en-US" sz="1400">
                  <a:solidFill>
                    <a:schemeClr val="lt1"/>
                  </a:solidFill>
                  <a:latin typeface="Avenir"/>
                  <a:ea typeface="Avenir"/>
                  <a:cs typeface="Avenir"/>
                  <a:sym typeface="Avenir"/>
                </a:rPr>
                <a:t>Engineering</a:t>
              </a:r>
              <a:endParaRPr/>
            </a:p>
          </p:txBody>
        </p:sp>
        <p:sp>
          <p:nvSpPr>
            <p:cNvPr id="899" name="Google Shape;899;p47"/>
            <p:cNvSpPr/>
            <p:nvPr/>
          </p:nvSpPr>
          <p:spPr>
            <a:xfrm rot="7200000">
              <a:off x="3584479" y="2945614"/>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7"/>
            <p:cNvSpPr txBox="1"/>
            <p:nvPr/>
          </p:nvSpPr>
          <p:spPr>
            <a:xfrm rot="1800000">
              <a:off x="3887718" y="3491166"/>
              <a:ext cx="1532188" cy="928599"/>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chemeClr val="lt1"/>
                </a:buClr>
                <a:buSzPts val="1400"/>
                <a:buFont typeface="Avenir"/>
                <a:buNone/>
              </a:pPr>
              <a:r>
                <a:rPr lang="en-US" sz="1400">
                  <a:solidFill>
                    <a:schemeClr val="lt1"/>
                  </a:solidFill>
                  <a:latin typeface="Avenir"/>
                  <a:ea typeface="Avenir"/>
                  <a:cs typeface="Avenir"/>
                  <a:sym typeface="Avenir"/>
                </a:rPr>
                <a:t>Business</a:t>
              </a:r>
              <a:endParaRPr/>
            </a:p>
          </p:txBody>
        </p:sp>
        <p:sp>
          <p:nvSpPr>
            <p:cNvPr id="901" name="Google Shape;901;p47"/>
            <p:cNvSpPr/>
            <p:nvPr/>
          </p:nvSpPr>
          <p:spPr>
            <a:xfrm rot="10800000">
              <a:off x="1884671" y="3926998"/>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7"/>
            <p:cNvSpPr txBox="1"/>
            <p:nvPr/>
          </p:nvSpPr>
          <p:spPr>
            <a:xfrm>
              <a:off x="2348970" y="4252008"/>
              <a:ext cx="928599" cy="1532188"/>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chemeClr val="lt1"/>
                </a:buClr>
                <a:buSzPts val="1400"/>
                <a:buFont typeface="Avenir"/>
                <a:buNone/>
              </a:pPr>
              <a:r>
                <a:rPr lang="en-US" sz="1400">
                  <a:solidFill>
                    <a:schemeClr val="lt1"/>
                  </a:solidFill>
                  <a:latin typeface="Avenir"/>
                  <a:ea typeface="Avenir"/>
                  <a:cs typeface="Avenir"/>
                  <a:sym typeface="Avenir"/>
                </a:rPr>
                <a:t>Defense</a:t>
              </a:r>
              <a:endParaRPr/>
            </a:p>
          </p:txBody>
        </p:sp>
        <p:sp>
          <p:nvSpPr>
            <p:cNvPr id="903" name="Google Shape;903;p47"/>
            <p:cNvSpPr/>
            <p:nvPr/>
          </p:nvSpPr>
          <p:spPr>
            <a:xfrm rot="-7200000">
              <a:off x="184864" y="2945614"/>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7"/>
            <p:cNvSpPr txBox="1"/>
            <p:nvPr/>
          </p:nvSpPr>
          <p:spPr>
            <a:xfrm rot="-1800000">
              <a:off x="206636" y="3491165"/>
              <a:ext cx="1532188" cy="928599"/>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chemeClr val="lt1"/>
                </a:buClr>
                <a:buSzPts val="1400"/>
                <a:buFont typeface="Avenir"/>
                <a:buNone/>
              </a:pPr>
              <a:r>
                <a:rPr lang="en-US" sz="1400">
                  <a:solidFill>
                    <a:schemeClr val="lt1"/>
                  </a:solidFill>
                  <a:latin typeface="Avenir"/>
                  <a:ea typeface="Avenir"/>
                  <a:cs typeface="Avenir"/>
                  <a:sym typeface="Avenir"/>
                </a:rPr>
                <a:t>P2P Network</a:t>
              </a:r>
              <a:endParaRPr/>
            </a:p>
          </p:txBody>
        </p:sp>
        <p:sp>
          <p:nvSpPr>
            <p:cNvPr id="905" name="Google Shape;905;p47"/>
            <p:cNvSpPr/>
            <p:nvPr/>
          </p:nvSpPr>
          <p:spPr>
            <a:xfrm rot="-3600000">
              <a:off x="184864" y="982845"/>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7"/>
            <p:cNvSpPr txBox="1"/>
            <p:nvPr/>
          </p:nvSpPr>
          <p:spPr>
            <a:xfrm rot="1800000">
              <a:off x="206636" y="1365891"/>
              <a:ext cx="1532188" cy="928599"/>
            </a:xfrm>
            <a:prstGeom prst="rect">
              <a:avLst/>
            </a:prstGeom>
            <a:noFill/>
            <a:ln>
              <a:noFill/>
            </a:ln>
          </p:spPr>
          <p:txBody>
            <a:bodyPr spcFirstLastPara="1" wrap="square" lIns="99550" tIns="99550" rIns="99550" bIns="99550" anchor="ctr" anchorCtr="0">
              <a:noAutofit/>
            </a:bodyPr>
            <a:lstStyle/>
            <a:p>
              <a:pPr marL="0" marR="0" lvl="0" indent="0" algn="ctr" rtl="0">
                <a:lnSpc>
                  <a:spcPct val="90000"/>
                </a:lnSpc>
                <a:spcBef>
                  <a:spcPts val="0"/>
                </a:spcBef>
                <a:spcAft>
                  <a:spcPts val="0"/>
                </a:spcAft>
                <a:buClr>
                  <a:schemeClr val="lt1"/>
                </a:buClr>
                <a:buSzPts val="1400"/>
                <a:buFont typeface="Avenir"/>
                <a:buNone/>
              </a:pPr>
              <a:r>
                <a:rPr lang="en-US" sz="1400">
                  <a:solidFill>
                    <a:schemeClr val="lt1"/>
                  </a:solidFill>
                  <a:latin typeface="Avenir"/>
                  <a:ea typeface="Avenir"/>
                  <a:cs typeface="Avenir"/>
                  <a:sym typeface="Avenir"/>
                </a:rPr>
                <a:t>Google</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1"/>
        <p:cNvGrpSpPr/>
        <p:nvPr/>
      </p:nvGrpSpPr>
      <p:grpSpPr>
        <a:xfrm>
          <a:off x="0" y="0"/>
          <a:ext cx="0" cy="0"/>
          <a:chOff x="0" y="0"/>
          <a:chExt cx="0" cy="0"/>
        </a:xfrm>
      </p:grpSpPr>
      <p:sp>
        <p:nvSpPr>
          <p:cNvPr id="912" name="Google Shape;912;p48"/>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13" name="Google Shape;913;p48"/>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14" name="Google Shape;914;p48"/>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15" name="Google Shape;915;p48"/>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16" name="Google Shape;916;p48"/>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Applications of Parallel and Distributed Computing</a:t>
            </a:r>
            <a:endParaRPr/>
          </a:p>
        </p:txBody>
      </p:sp>
      <p:grpSp>
        <p:nvGrpSpPr>
          <p:cNvPr id="917" name="Google Shape;917;p48"/>
          <p:cNvGrpSpPr/>
          <p:nvPr/>
        </p:nvGrpSpPr>
        <p:grpSpPr>
          <a:xfrm>
            <a:off x="1186936" y="3073593"/>
            <a:ext cx="8794189" cy="2512625"/>
            <a:chOff x="1073" y="711393"/>
            <a:chExt cx="8794189" cy="2512625"/>
          </a:xfrm>
        </p:grpSpPr>
        <p:sp>
          <p:nvSpPr>
            <p:cNvPr id="918" name="Google Shape;918;p48"/>
            <p:cNvSpPr/>
            <p:nvPr/>
          </p:nvSpPr>
          <p:spPr>
            <a:xfrm>
              <a:off x="1073" y="711393"/>
              <a:ext cx="4187709" cy="2512625"/>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48"/>
            <p:cNvSpPr txBox="1"/>
            <p:nvPr/>
          </p:nvSpPr>
          <p:spPr>
            <a:xfrm>
              <a:off x="123727" y="834047"/>
              <a:ext cx="3942401" cy="2267317"/>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Science</a:t>
              </a:r>
              <a:r>
                <a:rPr lang="en-US" sz="1600">
                  <a:solidFill>
                    <a:schemeClr val="lt1"/>
                  </a:solidFill>
                  <a:latin typeface="Arial"/>
                  <a:ea typeface="Arial"/>
                  <a:cs typeface="Arial"/>
                  <a:sym typeface="Arial"/>
                </a:rPr>
                <a:t> </a:t>
              </a:r>
              <a:endParaRPr sz="1600">
                <a:solidFill>
                  <a:schemeClr val="lt1"/>
                </a:solidFill>
                <a:latin typeface="Arial"/>
                <a:ea typeface="Arial"/>
                <a:cs typeface="Arial"/>
                <a:sym typeface="Arial"/>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Global climate modeling</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Biology: genomics; protein folding; drug design </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Astrophysical modeling </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Computational Chemistry</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Computational Material Sciences and Nano sciences </a:t>
              </a:r>
              <a:endParaRPr sz="1600" b="0" i="0" u="none" strike="noStrike" cap="none">
                <a:solidFill>
                  <a:schemeClr val="lt1"/>
                </a:solidFill>
                <a:latin typeface="Arial"/>
                <a:ea typeface="Arial"/>
                <a:cs typeface="Arial"/>
                <a:sym typeface="Arial"/>
              </a:endParaRPr>
            </a:p>
          </p:txBody>
        </p:sp>
        <p:sp>
          <p:nvSpPr>
            <p:cNvPr id="920" name="Google Shape;920;p48"/>
            <p:cNvSpPr/>
            <p:nvPr/>
          </p:nvSpPr>
          <p:spPr>
            <a:xfrm>
              <a:off x="4607553" y="711393"/>
              <a:ext cx="4187709" cy="2512625"/>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48"/>
            <p:cNvSpPr txBox="1"/>
            <p:nvPr/>
          </p:nvSpPr>
          <p:spPr>
            <a:xfrm>
              <a:off x="4730207" y="834047"/>
              <a:ext cx="3942401" cy="2267317"/>
            </a:xfrm>
            <a:prstGeom prst="rect">
              <a:avLst/>
            </a:prstGeom>
            <a:noFill/>
            <a:ln>
              <a:noFill/>
            </a:ln>
          </p:spPr>
          <p:txBody>
            <a:bodyPr spcFirstLastPara="1" wrap="square" lIns="60950" tIns="60950" rIns="60950" bIns="6095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Engineering </a:t>
              </a:r>
              <a:endParaRPr sz="1600" b="1">
                <a:solidFill>
                  <a:schemeClr val="lt1"/>
                </a:solidFill>
                <a:latin typeface="Arial"/>
                <a:ea typeface="Arial"/>
                <a:cs typeface="Arial"/>
                <a:sym typeface="Arial"/>
              </a:endParaRPr>
            </a:p>
            <a:p>
              <a:pPr marL="171450" marR="0" lvl="1" indent="-171450" algn="l" rtl="0">
                <a:lnSpc>
                  <a:spcPct val="90000"/>
                </a:lnSpc>
                <a:spcBef>
                  <a:spcPts val="56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Semiconductor design </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Earthquake and structural modeling</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Computation fluid dynamics (airplane design) </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Combustion (engine design) </a:t>
              </a:r>
              <a:endParaRPr sz="1600" b="0" i="0" u="none" strike="noStrike" cap="none">
                <a:solidFill>
                  <a:schemeClr val="lt1"/>
                </a:solidFill>
                <a:latin typeface="Arial"/>
                <a:ea typeface="Arial"/>
                <a:cs typeface="Arial"/>
                <a:sym typeface="Arial"/>
              </a:endParaRPr>
            </a:p>
            <a:p>
              <a:pPr marL="171450" marR="0" lvl="1" indent="-171450" algn="l" rtl="0">
                <a:lnSpc>
                  <a:spcPct val="90000"/>
                </a:lnSpc>
                <a:spcBef>
                  <a:spcPts val="240"/>
                </a:spcBef>
                <a:spcAft>
                  <a:spcPts val="0"/>
                </a:spcAft>
                <a:buClr>
                  <a:schemeClr val="lt1"/>
                </a:buClr>
                <a:buSzPts val="1600"/>
                <a:buFont typeface="Arial"/>
                <a:buChar char="•"/>
              </a:pPr>
              <a:r>
                <a:rPr lang="en-US" sz="1600" b="0" i="0" u="none" strike="noStrike" cap="none">
                  <a:solidFill>
                    <a:schemeClr val="lt1"/>
                  </a:solidFill>
                  <a:latin typeface="Arial"/>
                  <a:ea typeface="Arial"/>
                  <a:cs typeface="Arial"/>
                  <a:sym typeface="Arial"/>
                </a:rPr>
                <a:t>Crash simulation</a:t>
              </a:r>
              <a:endParaRPr sz="1600" b="0" i="0" u="none" strike="noStrike" cap="none">
                <a:solidFill>
                  <a:schemeClr val="lt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26"/>
        <p:cNvGrpSpPr/>
        <p:nvPr/>
      </p:nvGrpSpPr>
      <p:grpSpPr>
        <a:xfrm>
          <a:off x="0" y="0"/>
          <a:ext cx="0" cy="0"/>
          <a:chOff x="0" y="0"/>
          <a:chExt cx="0" cy="0"/>
        </a:xfrm>
      </p:grpSpPr>
      <p:sp>
        <p:nvSpPr>
          <p:cNvPr id="927" name="Google Shape;927;p49"/>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28" name="Google Shape;928;p49"/>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29" name="Google Shape;929;p49"/>
          <p:cNvSpPr txBox="1">
            <a:spLocks noGrp="1"/>
          </p:cNvSpPr>
          <p:nvPr>
            <p:ph type="title"/>
          </p:nvPr>
        </p:nvSpPr>
        <p:spPr>
          <a:xfrm>
            <a:off x="838200" y="559813"/>
            <a:ext cx="10894888" cy="23076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700"/>
              <a:buFont typeface="Avenir"/>
              <a:buNone/>
            </a:pPr>
            <a:r>
              <a:rPr lang="en-US" sz="3700">
                <a:solidFill>
                  <a:schemeClr val="dk2"/>
                </a:solidFill>
              </a:rPr>
              <a:t>Applications of Parallel and Distributed Computing Cont.…</a:t>
            </a:r>
            <a:endParaRPr sz="3700">
              <a:solidFill>
                <a:schemeClr val="dk2"/>
              </a:solidFill>
            </a:endParaRPr>
          </a:p>
        </p:txBody>
      </p:sp>
      <p:pic>
        <p:nvPicPr>
          <p:cNvPr id="930" name="Google Shape;930;p49"/>
          <p:cNvPicPr preferRelativeResize="0"/>
          <p:nvPr/>
        </p:nvPicPr>
        <p:blipFill rotWithShape="1">
          <a:blip r:embed="rId3">
            <a:alphaModFix/>
          </a:blip>
          <a:srcRect t="37018" r="40625"/>
          <a:stretch/>
        </p:blipFill>
        <p:spPr>
          <a:xfrm rot="-5400000">
            <a:off x="36314" y="-39361"/>
            <a:ext cx="1295924" cy="1374648"/>
          </a:xfrm>
          <a:prstGeom prst="rect">
            <a:avLst/>
          </a:prstGeom>
          <a:noFill/>
          <a:ln>
            <a:noFill/>
          </a:ln>
        </p:spPr>
      </p:pic>
      <p:pic>
        <p:nvPicPr>
          <p:cNvPr id="931" name="Google Shape;931;p49"/>
          <p:cNvPicPr preferRelativeResize="0"/>
          <p:nvPr/>
        </p:nvPicPr>
        <p:blipFill rotWithShape="1">
          <a:blip r:embed="rId4">
            <a:alphaModFix/>
          </a:blip>
          <a:srcRect r="46047"/>
          <a:stretch/>
        </p:blipFill>
        <p:spPr>
          <a:xfrm>
            <a:off x="10820400" y="3144779"/>
            <a:ext cx="1371600" cy="2548349"/>
          </a:xfrm>
          <a:prstGeom prst="rect">
            <a:avLst/>
          </a:prstGeom>
          <a:noFill/>
          <a:ln>
            <a:noFill/>
          </a:ln>
        </p:spPr>
      </p:pic>
      <p:grpSp>
        <p:nvGrpSpPr>
          <p:cNvPr id="932" name="Google Shape;932;p49"/>
          <p:cNvGrpSpPr/>
          <p:nvPr/>
        </p:nvGrpSpPr>
        <p:grpSpPr>
          <a:xfrm>
            <a:off x="839483" y="2545469"/>
            <a:ext cx="10513033" cy="3003723"/>
            <a:chOff x="1283" y="596019"/>
            <a:chExt cx="10513033" cy="3003723"/>
          </a:xfrm>
        </p:grpSpPr>
        <p:sp>
          <p:nvSpPr>
            <p:cNvPr id="933" name="Google Shape;933;p49"/>
            <p:cNvSpPr/>
            <p:nvPr/>
          </p:nvSpPr>
          <p:spPr>
            <a:xfrm>
              <a:off x="1283" y="596019"/>
              <a:ext cx="5006206" cy="3003723"/>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49"/>
            <p:cNvSpPr txBox="1"/>
            <p:nvPr/>
          </p:nvSpPr>
          <p:spPr>
            <a:xfrm>
              <a:off x="147910" y="742646"/>
              <a:ext cx="4712952" cy="2710469"/>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dk1"/>
                </a:buClr>
                <a:buSzPts val="1800"/>
                <a:buFont typeface="Avenir"/>
                <a:buNone/>
              </a:pPr>
              <a:endParaRPr sz="1800" b="1">
                <a:solidFill>
                  <a:schemeClr val="lt1"/>
                </a:solidFill>
                <a:latin typeface="Arial"/>
                <a:ea typeface="Arial"/>
                <a:cs typeface="Arial"/>
                <a:sym typeface="Arial"/>
              </a:endParaRPr>
            </a:p>
            <a:p>
              <a:pPr marL="0" marR="0" lvl="0" indent="0" algn="l" rtl="0">
                <a:lnSpc>
                  <a:spcPct val="90000"/>
                </a:lnSpc>
                <a:spcBef>
                  <a:spcPts val="630"/>
                </a:spcBef>
                <a:spcAft>
                  <a:spcPts val="0"/>
                </a:spcAft>
                <a:buClr>
                  <a:schemeClr val="lt1"/>
                </a:buClr>
                <a:buSzPts val="1800"/>
                <a:buFont typeface="Arial"/>
                <a:buNone/>
              </a:pPr>
              <a:r>
                <a:rPr lang="en-US" sz="1800" b="1">
                  <a:solidFill>
                    <a:schemeClr val="lt1"/>
                  </a:solidFill>
                  <a:latin typeface="Arial"/>
                  <a:ea typeface="Arial"/>
                  <a:cs typeface="Arial"/>
                  <a:sym typeface="Arial"/>
                </a:rPr>
                <a:t>Business</a:t>
              </a:r>
              <a:endParaRPr sz="1800" b="1">
                <a:solidFill>
                  <a:schemeClr val="lt1"/>
                </a:solidFill>
                <a:latin typeface="Arial"/>
                <a:ea typeface="Arial"/>
                <a:cs typeface="Arial"/>
                <a:sym typeface="Arial"/>
              </a:endParaRPr>
            </a:p>
            <a:p>
              <a:pPr marL="171450" marR="0" lvl="1" indent="-171450" algn="l" rtl="0">
                <a:lnSpc>
                  <a:spcPct val="90000"/>
                </a:lnSpc>
                <a:spcBef>
                  <a:spcPts val="630"/>
                </a:spcBef>
                <a:spcAft>
                  <a:spcPts val="0"/>
                </a:spcAft>
                <a:buClr>
                  <a:schemeClr val="lt1"/>
                </a:buClr>
                <a:buSzPts val="1800"/>
                <a:buFont typeface="Arial"/>
                <a:buChar char="•"/>
              </a:pPr>
              <a:r>
                <a:rPr lang="en-US" sz="1800" b="0" i="0" u="none" strike="noStrike" cap="none">
                  <a:solidFill>
                    <a:schemeClr val="lt1"/>
                  </a:solidFill>
                  <a:latin typeface="Arial"/>
                  <a:ea typeface="Arial"/>
                  <a:cs typeface="Arial"/>
                  <a:sym typeface="Arial"/>
                </a:rPr>
                <a:t>Financial and economic modeling</a:t>
              </a:r>
              <a:endParaRPr sz="1800" b="0" i="0" u="none" strike="noStrike" cap="none">
                <a:solidFill>
                  <a:schemeClr val="lt1"/>
                </a:solidFill>
                <a:latin typeface="Arial"/>
                <a:ea typeface="Arial"/>
                <a:cs typeface="Arial"/>
                <a:sym typeface="Arial"/>
              </a:endParaRPr>
            </a:p>
            <a:p>
              <a:pPr marL="171450" marR="0" lvl="1" indent="-171450" algn="l" rtl="0">
                <a:lnSpc>
                  <a:spcPct val="90000"/>
                </a:lnSpc>
                <a:spcBef>
                  <a:spcPts val="270"/>
                </a:spcBef>
                <a:spcAft>
                  <a:spcPts val="0"/>
                </a:spcAft>
                <a:buClr>
                  <a:schemeClr val="lt1"/>
                </a:buClr>
                <a:buSzPts val="1800"/>
                <a:buFont typeface="Arial"/>
                <a:buChar char="•"/>
              </a:pPr>
              <a:r>
                <a:rPr lang="en-US" sz="1800" b="0" i="0" u="none" strike="noStrike" cap="none">
                  <a:solidFill>
                    <a:schemeClr val="lt1"/>
                  </a:solidFill>
                  <a:latin typeface="Arial"/>
                  <a:ea typeface="Arial"/>
                  <a:cs typeface="Arial"/>
                  <a:sym typeface="Arial"/>
                </a:rPr>
                <a:t>Transaction processing, web services and search engines </a:t>
              </a:r>
              <a:endParaRPr sz="1800" b="0" i="0" u="none" strike="noStrike" cap="none">
                <a:solidFill>
                  <a:schemeClr val="lt1"/>
                </a:solidFill>
                <a:latin typeface="Arial"/>
                <a:ea typeface="Arial"/>
                <a:cs typeface="Arial"/>
                <a:sym typeface="Arial"/>
              </a:endParaRPr>
            </a:p>
          </p:txBody>
        </p:sp>
        <p:sp>
          <p:nvSpPr>
            <p:cNvPr id="935" name="Google Shape;935;p49"/>
            <p:cNvSpPr/>
            <p:nvPr/>
          </p:nvSpPr>
          <p:spPr>
            <a:xfrm>
              <a:off x="5508110" y="596019"/>
              <a:ext cx="5006206" cy="3003723"/>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49"/>
            <p:cNvSpPr txBox="1"/>
            <p:nvPr/>
          </p:nvSpPr>
          <p:spPr>
            <a:xfrm>
              <a:off x="5654737" y="742646"/>
              <a:ext cx="4712952" cy="2710469"/>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dk1"/>
                </a:buClr>
                <a:buSzPts val="1800"/>
                <a:buFont typeface="Avenir"/>
                <a:buNone/>
              </a:pPr>
              <a:endParaRPr sz="1800" b="1">
                <a:solidFill>
                  <a:schemeClr val="lt1"/>
                </a:solidFill>
                <a:latin typeface="Arial"/>
                <a:ea typeface="Arial"/>
                <a:cs typeface="Arial"/>
                <a:sym typeface="Arial"/>
              </a:endParaRPr>
            </a:p>
            <a:p>
              <a:pPr marL="0" marR="0" lvl="0" indent="0" algn="l" rtl="0">
                <a:lnSpc>
                  <a:spcPct val="90000"/>
                </a:lnSpc>
                <a:spcBef>
                  <a:spcPts val="630"/>
                </a:spcBef>
                <a:spcAft>
                  <a:spcPts val="0"/>
                </a:spcAft>
                <a:buClr>
                  <a:schemeClr val="lt1"/>
                </a:buClr>
                <a:buSzPts val="1800"/>
                <a:buFont typeface="Arial"/>
                <a:buNone/>
              </a:pPr>
              <a:r>
                <a:rPr lang="en-US" sz="1800" b="1">
                  <a:solidFill>
                    <a:schemeClr val="lt1"/>
                  </a:solidFill>
                  <a:latin typeface="Arial"/>
                  <a:ea typeface="Arial"/>
                  <a:cs typeface="Arial"/>
                  <a:sym typeface="Arial"/>
                </a:rPr>
                <a:t>Defense </a:t>
              </a:r>
              <a:endParaRPr sz="1800" b="1">
                <a:solidFill>
                  <a:schemeClr val="lt1"/>
                </a:solidFill>
                <a:latin typeface="Arial"/>
                <a:ea typeface="Arial"/>
                <a:cs typeface="Arial"/>
                <a:sym typeface="Arial"/>
              </a:endParaRPr>
            </a:p>
            <a:p>
              <a:pPr marL="171450" marR="0" lvl="1" indent="-171450" algn="l" rtl="0">
                <a:lnSpc>
                  <a:spcPct val="90000"/>
                </a:lnSpc>
                <a:spcBef>
                  <a:spcPts val="630"/>
                </a:spcBef>
                <a:spcAft>
                  <a:spcPts val="0"/>
                </a:spcAft>
                <a:buClr>
                  <a:schemeClr val="lt1"/>
                </a:buClr>
                <a:buSzPts val="1800"/>
                <a:buFont typeface="Arial"/>
                <a:buChar char="•"/>
              </a:pPr>
              <a:r>
                <a:rPr lang="en-US" sz="1800" b="0" i="0" u="none" strike="noStrike" cap="none">
                  <a:solidFill>
                    <a:schemeClr val="lt1"/>
                  </a:solidFill>
                  <a:latin typeface="Arial"/>
                  <a:ea typeface="Arial"/>
                  <a:cs typeface="Arial"/>
                  <a:sym typeface="Arial"/>
                </a:rPr>
                <a:t>Nuclear weapons -- test by simulations </a:t>
              </a:r>
              <a:endParaRPr sz="1800" b="0" i="0" u="none" strike="noStrike" cap="none">
                <a:solidFill>
                  <a:schemeClr val="lt1"/>
                </a:solidFill>
                <a:latin typeface="Arial"/>
                <a:ea typeface="Arial"/>
                <a:cs typeface="Arial"/>
                <a:sym typeface="Arial"/>
              </a:endParaRPr>
            </a:p>
            <a:p>
              <a:pPr marL="171450" marR="0" lvl="1" indent="-171450" algn="l" rtl="0">
                <a:lnSpc>
                  <a:spcPct val="90000"/>
                </a:lnSpc>
                <a:spcBef>
                  <a:spcPts val="270"/>
                </a:spcBef>
                <a:spcAft>
                  <a:spcPts val="0"/>
                </a:spcAft>
                <a:buClr>
                  <a:schemeClr val="lt1"/>
                </a:buClr>
                <a:buSzPts val="1800"/>
                <a:buFont typeface="Arial"/>
                <a:buChar char="•"/>
              </a:pPr>
              <a:r>
                <a:rPr lang="en-US" sz="1800" b="0" i="0" u="none" strike="noStrike" cap="none">
                  <a:solidFill>
                    <a:schemeClr val="lt1"/>
                  </a:solidFill>
                  <a:latin typeface="Arial"/>
                  <a:ea typeface="Arial"/>
                  <a:cs typeface="Arial"/>
                  <a:sym typeface="Arial"/>
                </a:rPr>
                <a:t>Cryptography</a:t>
              </a:r>
              <a:endParaRPr sz="1800" b="0" i="0" u="none" strike="noStrike" cap="none">
                <a:solidFill>
                  <a:schemeClr val="lt1"/>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1"/>
        <p:cNvGrpSpPr/>
        <p:nvPr/>
      </p:nvGrpSpPr>
      <p:grpSpPr>
        <a:xfrm>
          <a:off x="0" y="0"/>
          <a:ext cx="0" cy="0"/>
          <a:chOff x="0" y="0"/>
          <a:chExt cx="0" cy="0"/>
        </a:xfrm>
      </p:grpSpPr>
      <p:sp>
        <p:nvSpPr>
          <p:cNvPr id="942" name="Google Shape;942;p5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43" name="Google Shape;943;p50"/>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44" name="Google Shape;944;p50"/>
          <p:cNvSpPr txBox="1">
            <a:spLocks noGrp="1"/>
          </p:cNvSpPr>
          <p:nvPr>
            <p:ph type="title"/>
          </p:nvPr>
        </p:nvSpPr>
        <p:spPr>
          <a:xfrm>
            <a:off x="838200" y="559813"/>
            <a:ext cx="10894888" cy="230763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2"/>
              </a:buClr>
              <a:buSzPts val="3700"/>
              <a:buFont typeface="Avenir"/>
              <a:buNone/>
            </a:pPr>
            <a:r>
              <a:rPr lang="en-US" sz="3700">
                <a:solidFill>
                  <a:schemeClr val="dk2"/>
                </a:solidFill>
              </a:rPr>
              <a:t>Applications of Parallel and Distributed Computing Cont.…</a:t>
            </a:r>
            <a:endParaRPr sz="3700">
              <a:solidFill>
                <a:schemeClr val="dk2"/>
              </a:solidFill>
            </a:endParaRPr>
          </a:p>
        </p:txBody>
      </p:sp>
      <p:pic>
        <p:nvPicPr>
          <p:cNvPr id="945" name="Google Shape;945;p50"/>
          <p:cNvPicPr preferRelativeResize="0"/>
          <p:nvPr/>
        </p:nvPicPr>
        <p:blipFill rotWithShape="1">
          <a:blip r:embed="rId3">
            <a:alphaModFix/>
          </a:blip>
          <a:srcRect t="37018" r="40625"/>
          <a:stretch/>
        </p:blipFill>
        <p:spPr>
          <a:xfrm rot="-5400000">
            <a:off x="36314" y="-39361"/>
            <a:ext cx="1295924" cy="1374648"/>
          </a:xfrm>
          <a:prstGeom prst="rect">
            <a:avLst/>
          </a:prstGeom>
          <a:noFill/>
          <a:ln>
            <a:noFill/>
          </a:ln>
        </p:spPr>
      </p:pic>
      <p:pic>
        <p:nvPicPr>
          <p:cNvPr id="946" name="Google Shape;946;p50"/>
          <p:cNvPicPr preferRelativeResize="0"/>
          <p:nvPr/>
        </p:nvPicPr>
        <p:blipFill rotWithShape="1">
          <a:blip r:embed="rId4">
            <a:alphaModFix/>
          </a:blip>
          <a:srcRect r="46047"/>
          <a:stretch/>
        </p:blipFill>
        <p:spPr>
          <a:xfrm>
            <a:off x="10820400" y="3144779"/>
            <a:ext cx="1371600" cy="2548349"/>
          </a:xfrm>
          <a:prstGeom prst="rect">
            <a:avLst/>
          </a:prstGeom>
          <a:noFill/>
          <a:ln>
            <a:noFill/>
          </a:ln>
        </p:spPr>
      </p:pic>
      <p:grpSp>
        <p:nvGrpSpPr>
          <p:cNvPr id="947" name="Google Shape;947;p50"/>
          <p:cNvGrpSpPr/>
          <p:nvPr/>
        </p:nvGrpSpPr>
        <p:grpSpPr>
          <a:xfrm>
            <a:off x="1655158" y="3081070"/>
            <a:ext cx="8350850" cy="2385957"/>
            <a:chOff x="1019" y="697466"/>
            <a:chExt cx="8350850" cy="2385957"/>
          </a:xfrm>
        </p:grpSpPr>
        <p:sp>
          <p:nvSpPr>
            <p:cNvPr id="948" name="Google Shape;948;p50"/>
            <p:cNvSpPr/>
            <p:nvPr/>
          </p:nvSpPr>
          <p:spPr>
            <a:xfrm>
              <a:off x="1019" y="697466"/>
              <a:ext cx="3976595" cy="2385957"/>
            </a:xfrm>
            <a:prstGeom prst="flowChartAlternateProcess">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50"/>
            <p:cNvSpPr txBox="1"/>
            <p:nvPr/>
          </p:nvSpPr>
          <p:spPr>
            <a:xfrm>
              <a:off x="117489" y="813936"/>
              <a:ext cx="3743655" cy="2153017"/>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b="1">
                  <a:solidFill>
                    <a:schemeClr val="lt1"/>
                  </a:solidFill>
                  <a:latin typeface="Arial"/>
                  <a:ea typeface="Arial"/>
                  <a:cs typeface="Arial"/>
                  <a:sym typeface="Arial"/>
                </a:rPr>
                <a:t>P2P Network </a:t>
              </a:r>
              <a:endParaRPr sz="1800" b="1">
                <a:solidFill>
                  <a:schemeClr val="lt1"/>
                </a:solidFill>
                <a:latin typeface="Arial"/>
                <a:ea typeface="Arial"/>
                <a:cs typeface="Arial"/>
                <a:sym typeface="Arial"/>
              </a:endParaRPr>
            </a:p>
            <a:p>
              <a:pPr marL="171450" marR="0" lvl="1" indent="-171450" algn="l" rtl="0">
                <a:lnSpc>
                  <a:spcPct val="90000"/>
                </a:lnSpc>
                <a:spcBef>
                  <a:spcPts val="630"/>
                </a:spcBef>
                <a:spcAft>
                  <a:spcPts val="0"/>
                </a:spcAft>
                <a:buClr>
                  <a:schemeClr val="lt1"/>
                </a:buClr>
                <a:buSzPts val="1800"/>
                <a:buFont typeface="Arial"/>
                <a:buChar char="•"/>
              </a:pPr>
              <a:r>
                <a:rPr lang="en-US" sz="1800" b="0" i="0" u="none" strike="noStrike" cap="none">
                  <a:solidFill>
                    <a:schemeClr val="lt1"/>
                  </a:solidFill>
                  <a:latin typeface="Arial"/>
                  <a:ea typeface="Arial"/>
                  <a:cs typeface="Arial"/>
                  <a:sym typeface="Arial"/>
                </a:rPr>
                <a:t>eDonkey, BitTorrent, Skype, …</a:t>
              </a:r>
              <a:endParaRPr sz="1800" b="0" i="0" u="none" strike="noStrike" cap="none">
                <a:solidFill>
                  <a:schemeClr val="lt1"/>
                </a:solidFill>
                <a:latin typeface="Arial"/>
                <a:ea typeface="Arial"/>
                <a:cs typeface="Arial"/>
                <a:sym typeface="Arial"/>
              </a:endParaRPr>
            </a:p>
          </p:txBody>
        </p:sp>
        <p:sp>
          <p:nvSpPr>
            <p:cNvPr id="950" name="Google Shape;950;p50"/>
            <p:cNvSpPr/>
            <p:nvPr/>
          </p:nvSpPr>
          <p:spPr>
            <a:xfrm>
              <a:off x="4375274" y="697466"/>
              <a:ext cx="3976595" cy="2385957"/>
            </a:xfrm>
            <a:prstGeom prst="flowChartAlternateProcess">
              <a:avLst/>
            </a:prstGeom>
            <a:solidFill>
              <a:schemeClr val="accent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50"/>
            <p:cNvSpPr txBox="1"/>
            <p:nvPr/>
          </p:nvSpPr>
          <p:spPr>
            <a:xfrm>
              <a:off x="4491744" y="813936"/>
              <a:ext cx="3743655" cy="2153017"/>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lt1"/>
                </a:buClr>
                <a:buSzPts val="1800"/>
                <a:buFont typeface="Arial"/>
                <a:buNone/>
              </a:pPr>
              <a:r>
                <a:rPr lang="en-US" sz="1800" b="1">
                  <a:solidFill>
                    <a:schemeClr val="lt1"/>
                  </a:solidFill>
                  <a:latin typeface="Arial"/>
                  <a:ea typeface="Arial"/>
                  <a:cs typeface="Arial"/>
                  <a:sym typeface="Arial"/>
                </a:rPr>
                <a:t>Google </a:t>
              </a:r>
              <a:endParaRPr sz="1800" b="1">
                <a:solidFill>
                  <a:schemeClr val="lt1"/>
                </a:solidFill>
                <a:latin typeface="Arial"/>
                <a:ea typeface="Arial"/>
                <a:cs typeface="Arial"/>
                <a:sym typeface="Arial"/>
              </a:endParaRPr>
            </a:p>
            <a:p>
              <a:pPr marL="171450" marR="0" lvl="1" indent="-171450" algn="l" rtl="0">
                <a:lnSpc>
                  <a:spcPct val="90000"/>
                </a:lnSpc>
                <a:spcBef>
                  <a:spcPts val="630"/>
                </a:spcBef>
                <a:spcAft>
                  <a:spcPts val="0"/>
                </a:spcAft>
                <a:buClr>
                  <a:schemeClr val="lt1"/>
                </a:buClr>
                <a:buSzPts val="1800"/>
                <a:buFont typeface="Arial"/>
                <a:buChar char="•"/>
              </a:pPr>
              <a:r>
                <a:rPr lang="en-US" sz="1800" b="0" i="0" u="none" strike="noStrike" cap="none">
                  <a:solidFill>
                    <a:schemeClr val="lt1"/>
                  </a:solidFill>
                  <a:latin typeface="Arial"/>
                  <a:ea typeface="Arial"/>
                  <a:cs typeface="Arial"/>
                  <a:sym typeface="Arial"/>
                </a:rPr>
                <a:t>1500+ Linux machines behind Google search engine</a:t>
              </a:r>
              <a:endParaRPr sz="1800" b="0" i="0" u="none" strike="noStrike" cap="none">
                <a:solidFill>
                  <a:schemeClr val="lt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5"/>
        <p:cNvGrpSpPr/>
        <p:nvPr/>
      </p:nvGrpSpPr>
      <p:grpSpPr>
        <a:xfrm>
          <a:off x="0" y="0"/>
          <a:ext cx="0" cy="0"/>
          <a:chOff x="0" y="0"/>
          <a:chExt cx="0" cy="0"/>
        </a:xfrm>
      </p:grpSpPr>
      <p:sp>
        <p:nvSpPr>
          <p:cNvPr id="956" name="Google Shape;956;p5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957" name="Google Shape;957;p5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958" name="Google Shape;958;p5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59" name="Google Shape;959;p5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960" name="Google Shape;960;p51"/>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961" name="Google Shape;961;p5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62" name="Google Shape;962;p5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63" name="Google Shape;963;p5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964" name="Google Shape;964;p51"/>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Issues in Parallel and Distributed Computing</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68"/>
        <p:cNvGrpSpPr/>
        <p:nvPr/>
      </p:nvGrpSpPr>
      <p:grpSpPr>
        <a:xfrm>
          <a:off x="0" y="0"/>
          <a:ext cx="0" cy="0"/>
          <a:chOff x="0" y="0"/>
          <a:chExt cx="0" cy="0"/>
        </a:xfrm>
      </p:grpSpPr>
      <p:sp>
        <p:nvSpPr>
          <p:cNvPr id="969" name="Google Shape;969;p5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70" name="Google Shape;970;p52"/>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71" name="Google Shape;971;p52"/>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72" name="Google Shape;972;p52"/>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73" name="Google Shape;973;p52"/>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974" name="Google Shape;974;p5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975" name="Google Shape;975;p52"/>
          <p:cNvGrpSpPr/>
          <p:nvPr/>
        </p:nvGrpSpPr>
        <p:grpSpPr>
          <a:xfrm>
            <a:off x="5256089" y="2722919"/>
            <a:ext cx="6292064" cy="883309"/>
            <a:chOff x="0" y="0"/>
            <a:chExt cx="6292064" cy="883309"/>
          </a:xfrm>
        </p:grpSpPr>
        <p:sp>
          <p:nvSpPr>
            <p:cNvPr id="976" name="Google Shape;976;p52"/>
            <p:cNvSpPr/>
            <p:nvPr/>
          </p:nvSpPr>
          <p:spPr>
            <a:xfrm>
              <a:off x="0" y="0"/>
              <a:ext cx="6292064"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52"/>
            <p:cNvSpPr txBox="1"/>
            <p:nvPr/>
          </p:nvSpPr>
          <p:spPr>
            <a:xfrm>
              <a:off x="1346743" y="0"/>
              <a:ext cx="4945320"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Identifying the key challenges in parallel and distributed computing. </a:t>
              </a:r>
              <a:endParaRPr sz="2400">
                <a:solidFill>
                  <a:schemeClr val="lt1"/>
                </a:solidFill>
                <a:latin typeface="Arial"/>
                <a:ea typeface="Arial"/>
                <a:cs typeface="Arial"/>
                <a:sym typeface="Arial"/>
              </a:endParaRPr>
            </a:p>
          </p:txBody>
        </p:sp>
        <p:sp>
          <p:nvSpPr>
            <p:cNvPr id="978" name="Google Shape;978;p52"/>
            <p:cNvSpPr/>
            <p:nvPr/>
          </p:nvSpPr>
          <p:spPr>
            <a:xfrm>
              <a:off x="249263" y="88330"/>
              <a:ext cx="936548" cy="706647"/>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3"/>
        <p:cNvGrpSpPr/>
        <p:nvPr/>
      </p:nvGrpSpPr>
      <p:grpSpPr>
        <a:xfrm>
          <a:off x="0" y="0"/>
          <a:ext cx="0" cy="0"/>
          <a:chOff x="0" y="0"/>
          <a:chExt cx="0" cy="0"/>
        </a:xfrm>
      </p:grpSpPr>
      <p:sp>
        <p:nvSpPr>
          <p:cNvPr id="984" name="Google Shape;984;p53"/>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85" name="Google Shape;985;p53"/>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986" name="Google Shape;986;p53"/>
          <p:cNvSpPr/>
          <p:nvPr/>
        </p:nvSpPr>
        <p:spPr>
          <a:xfrm>
            <a:off x="0" y="0"/>
            <a:ext cx="5998281"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87" name="Google Shape;987;p53"/>
          <p:cNvSpPr/>
          <p:nvPr/>
        </p:nvSpPr>
        <p:spPr>
          <a:xfrm>
            <a:off x="0" y="0"/>
            <a:ext cx="5998281"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988" name="Google Shape;988;p53"/>
          <p:cNvSpPr txBox="1">
            <a:spLocks noGrp="1"/>
          </p:cNvSpPr>
          <p:nvPr>
            <p:ph type="title"/>
          </p:nvPr>
        </p:nvSpPr>
        <p:spPr>
          <a:xfrm>
            <a:off x="838201" y="559813"/>
            <a:ext cx="4876800"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Issues in Parallel and Distributed Computing</a:t>
            </a:r>
            <a:endParaRPr/>
          </a:p>
        </p:txBody>
      </p:sp>
      <p:grpSp>
        <p:nvGrpSpPr>
          <p:cNvPr id="989" name="Google Shape;989;p53"/>
          <p:cNvGrpSpPr/>
          <p:nvPr/>
        </p:nvGrpSpPr>
        <p:grpSpPr>
          <a:xfrm>
            <a:off x="6029431" y="344893"/>
            <a:ext cx="5936595" cy="5782736"/>
            <a:chOff x="-155027" y="1460"/>
            <a:chExt cx="5936595" cy="5782736"/>
          </a:xfrm>
        </p:grpSpPr>
        <p:sp>
          <p:nvSpPr>
            <p:cNvPr id="990" name="Google Shape;990;p53"/>
            <p:cNvSpPr/>
            <p:nvPr/>
          </p:nvSpPr>
          <p:spPr>
            <a:xfrm>
              <a:off x="1884671" y="1460"/>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3"/>
            <p:cNvSpPr txBox="1"/>
            <p:nvPr/>
          </p:nvSpPr>
          <p:spPr>
            <a:xfrm>
              <a:off x="2348971" y="1460"/>
              <a:ext cx="928599" cy="1532188"/>
            </a:xfrm>
            <a:prstGeom prst="rect">
              <a:avLst/>
            </a:prstGeom>
            <a:noFill/>
            <a:ln>
              <a:noFill/>
            </a:ln>
          </p:spPr>
          <p:txBody>
            <a:bodyPr spcFirstLastPara="1" wrap="square" lIns="56875" tIns="56875" rIns="56875" bIns="5687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US" sz="800" b="1">
                  <a:solidFill>
                    <a:schemeClr val="lt1"/>
                  </a:solidFill>
                  <a:latin typeface="Arial"/>
                  <a:ea typeface="Arial"/>
                  <a:cs typeface="Arial"/>
                  <a:sym typeface="Arial"/>
                </a:rPr>
                <a:t>Failure Handling</a:t>
              </a:r>
              <a:endParaRPr sz="800">
                <a:solidFill>
                  <a:schemeClr val="lt1"/>
                </a:solidFill>
                <a:latin typeface="Avenir"/>
                <a:ea typeface="Avenir"/>
                <a:cs typeface="Avenir"/>
                <a:sym typeface="Avenir"/>
              </a:endParaRPr>
            </a:p>
          </p:txBody>
        </p:sp>
        <p:sp>
          <p:nvSpPr>
            <p:cNvPr id="992" name="Google Shape;992;p53"/>
            <p:cNvSpPr/>
            <p:nvPr/>
          </p:nvSpPr>
          <p:spPr>
            <a:xfrm rot="3600000">
              <a:off x="3584479" y="982845"/>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53"/>
            <p:cNvSpPr txBox="1"/>
            <p:nvPr/>
          </p:nvSpPr>
          <p:spPr>
            <a:xfrm rot="-1800000">
              <a:off x="3887718" y="1365892"/>
              <a:ext cx="1532188" cy="928599"/>
            </a:xfrm>
            <a:prstGeom prst="rect">
              <a:avLst/>
            </a:prstGeom>
            <a:noFill/>
            <a:ln>
              <a:noFill/>
            </a:ln>
          </p:spPr>
          <p:txBody>
            <a:bodyPr spcFirstLastPara="1" wrap="square" lIns="56875" tIns="56875" rIns="56875" bIns="5687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US" sz="800" b="1">
                  <a:solidFill>
                    <a:schemeClr val="lt1"/>
                  </a:solidFill>
                  <a:latin typeface="Arial"/>
                  <a:ea typeface="Arial"/>
                  <a:cs typeface="Arial"/>
                  <a:sym typeface="Arial"/>
                </a:rPr>
                <a:t>Scalability</a:t>
              </a:r>
              <a:endParaRPr sz="800">
                <a:solidFill>
                  <a:schemeClr val="lt1"/>
                </a:solidFill>
                <a:latin typeface="Avenir"/>
                <a:ea typeface="Avenir"/>
                <a:cs typeface="Avenir"/>
                <a:sym typeface="Avenir"/>
              </a:endParaRPr>
            </a:p>
          </p:txBody>
        </p:sp>
        <p:sp>
          <p:nvSpPr>
            <p:cNvPr id="994" name="Google Shape;994;p53"/>
            <p:cNvSpPr/>
            <p:nvPr/>
          </p:nvSpPr>
          <p:spPr>
            <a:xfrm rot="7200000">
              <a:off x="3584479" y="2945614"/>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53"/>
            <p:cNvSpPr txBox="1"/>
            <p:nvPr/>
          </p:nvSpPr>
          <p:spPr>
            <a:xfrm rot="1800000">
              <a:off x="3887718" y="3491166"/>
              <a:ext cx="1532188" cy="928599"/>
            </a:xfrm>
            <a:prstGeom prst="rect">
              <a:avLst/>
            </a:prstGeom>
            <a:noFill/>
            <a:ln>
              <a:noFill/>
            </a:ln>
          </p:spPr>
          <p:txBody>
            <a:bodyPr spcFirstLastPara="1" wrap="square" lIns="56875" tIns="56875" rIns="56875" bIns="5687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US" sz="800" b="1">
                  <a:solidFill>
                    <a:schemeClr val="lt1"/>
                  </a:solidFill>
                  <a:latin typeface="Arial"/>
                  <a:ea typeface="Arial"/>
                  <a:cs typeface="Arial"/>
                  <a:sym typeface="Arial"/>
                </a:rPr>
                <a:t>Security</a:t>
              </a:r>
              <a:endParaRPr sz="800">
                <a:solidFill>
                  <a:schemeClr val="lt1"/>
                </a:solidFill>
                <a:latin typeface="Avenir"/>
                <a:ea typeface="Avenir"/>
                <a:cs typeface="Avenir"/>
                <a:sym typeface="Avenir"/>
              </a:endParaRPr>
            </a:p>
          </p:txBody>
        </p:sp>
        <p:sp>
          <p:nvSpPr>
            <p:cNvPr id="996" name="Google Shape;996;p53"/>
            <p:cNvSpPr/>
            <p:nvPr/>
          </p:nvSpPr>
          <p:spPr>
            <a:xfrm rot="10800000">
              <a:off x="1884671" y="3926998"/>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53"/>
            <p:cNvSpPr txBox="1"/>
            <p:nvPr/>
          </p:nvSpPr>
          <p:spPr>
            <a:xfrm>
              <a:off x="2348970" y="4252008"/>
              <a:ext cx="928599" cy="1532188"/>
            </a:xfrm>
            <a:prstGeom prst="rect">
              <a:avLst/>
            </a:prstGeom>
            <a:noFill/>
            <a:ln>
              <a:noFill/>
            </a:ln>
          </p:spPr>
          <p:txBody>
            <a:bodyPr spcFirstLastPara="1" wrap="square" lIns="56875" tIns="56875" rIns="56875" bIns="5687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US" sz="800" b="1">
                  <a:solidFill>
                    <a:schemeClr val="lt1"/>
                  </a:solidFill>
                  <a:latin typeface="Arial"/>
                  <a:ea typeface="Arial"/>
                  <a:cs typeface="Arial"/>
                  <a:sym typeface="Arial"/>
                </a:rPr>
                <a:t>Process synchronization</a:t>
              </a:r>
              <a:endParaRPr sz="800">
                <a:solidFill>
                  <a:schemeClr val="lt1"/>
                </a:solidFill>
                <a:latin typeface="Avenir"/>
                <a:ea typeface="Avenir"/>
                <a:cs typeface="Avenir"/>
                <a:sym typeface="Avenir"/>
              </a:endParaRPr>
            </a:p>
          </p:txBody>
        </p:sp>
        <p:sp>
          <p:nvSpPr>
            <p:cNvPr id="998" name="Google Shape;998;p53"/>
            <p:cNvSpPr/>
            <p:nvPr/>
          </p:nvSpPr>
          <p:spPr>
            <a:xfrm rot="-7200000">
              <a:off x="184864" y="2945614"/>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53"/>
            <p:cNvSpPr txBox="1"/>
            <p:nvPr/>
          </p:nvSpPr>
          <p:spPr>
            <a:xfrm rot="-1800000">
              <a:off x="206636" y="3491165"/>
              <a:ext cx="1532188" cy="928599"/>
            </a:xfrm>
            <a:prstGeom prst="rect">
              <a:avLst/>
            </a:prstGeom>
            <a:noFill/>
            <a:ln>
              <a:noFill/>
            </a:ln>
          </p:spPr>
          <p:txBody>
            <a:bodyPr spcFirstLastPara="1" wrap="square" lIns="56875" tIns="56875" rIns="56875" bIns="5687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US" sz="800" b="1">
                  <a:solidFill>
                    <a:schemeClr val="lt1"/>
                  </a:solidFill>
                  <a:latin typeface="Arial"/>
                  <a:ea typeface="Arial"/>
                  <a:cs typeface="Arial"/>
                  <a:sym typeface="Arial"/>
                </a:rPr>
                <a:t>Resource management</a:t>
              </a:r>
              <a:endParaRPr sz="800">
                <a:solidFill>
                  <a:schemeClr val="lt1"/>
                </a:solidFill>
                <a:latin typeface="Avenir"/>
                <a:ea typeface="Avenir"/>
                <a:cs typeface="Avenir"/>
                <a:sym typeface="Avenir"/>
              </a:endParaRPr>
            </a:p>
          </p:txBody>
        </p:sp>
        <p:sp>
          <p:nvSpPr>
            <p:cNvPr id="1000" name="Google Shape;1000;p53"/>
            <p:cNvSpPr/>
            <p:nvPr/>
          </p:nvSpPr>
          <p:spPr>
            <a:xfrm rot="-3600000">
              <a:off x="184864" y="982845"/>
              <a:ext cx="1857198" cy="1857198"/>
            </a:xfrm>
            <a:prstGeom prst="downArrow">
              <a:avLst>
                <a:gd name="adj1" fmla="val 50000"/>
                <a:gd name="adj2" fmla="val 35000"/>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3"/>
            <p:cNvSpPr txBox="1"/>
            <p:nvPr/>
          </p:nvSpPr>
          <p:spPr>
            <a:xfrm rot="1800000">
              <a:off x="206636" y="1365891"/>
              <a:ext cx="1532188" cy="928599"/>
            </a:xfrm>
            <a:prstGeom prst="rect">
              <a:avLst/>
            </a:prstGeom>
            <a:noFill/>
            <a:ln>
              <a:noFill/>
            </a:ln>
          </p:spPr>
          <p:txBody>
            <a:bodyPr spcFirstLastPara="1" wrap="square" lIns="56875" tIns="56875" rIns="56875" bIns="56875" anchor="ctr" anchorCtr="0">
              <a:noAutofit/>
            </a:bodyPr>
            <a:lstStyle/>
            <a:p>
              <a:pPr marL="0" marR="0" lvl="0" indent="0" algn="ctr" rtl="0">
                <a:lnSpc>
                  <a:spcPct val="90000"/>
                </a:lnSpc>
                <a:spcBef>
                  <a:spcPts val="0"/>
                </a:spcBef>
                <a:spcAft>
                  <a:spcPts val="0"/>
                </a:spcAft>
                <a:buClr>
                  <a:schemeClr val="lt1"/>
                </a:buClr>
                <a:buSzPts val="800"/>
                <a:buFont typeface="Arial"/>
                <a:buNone/>
              </a:pPr>
              <a:r>
                <a:rPr lang="en-US" sz="800" b="1">
                  <a:solidFill>
                    <a:schemeClr val="lt1"/>
                  </a:solidFill>
                  <a:latin typeface="Arial"/>
                  <a:ea typeface="Arial"/>
                  <a:cs typeface="Arial"/>
                  <a:sym typeface="Arial"/>
                </a:rPr>
                <a:t>Communication</a:t>
              </a:r>
              <a:endParaRPr sz="800">
                <a:solidFill>
                  <a:schemeClr val="lt1"/>
                </a:solidFill>
                <a:latin typeface="Avenir"/>
                <a:ea typeface="Avenir"/>
                <a:cs typeface="Avenir"/>
                <a:sym typeface="Aveni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6"/>
        <p:cNvGrpSpPr/>
        <p:nvPr/>
      </p:nvGrpSpPr>
      <p:grpSpPr>
        <a:xfrm>
          <a:off x="0" y="0"/>
          <a:ext cx="0" cy="0"/>
          <a:chOff x="0" y="0"/>
          <a:chExt cx="0" cy="0"/>
        </a:xfrm>
      </p:grpSpPr>
      <p:sp>
        <p:nvSpPr>
          <p:cNvPr id="1007" name="Google Shape;1007;p5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08" name="Google Shape;1008;p5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09" name="Google Shape;1009;p54"/>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10" name="Google Shape;1010;p54"/>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11" name="Google Shape;1011;p54"/>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Issues in Parallel and Distributed Computing</a:t>
            </a:r>
            <a:endParaRPr/>
          </a:p>
        </p:txBody>
      </p:sp>
      <p:grpSp>
        <p:nvGrpSpPr>
          <p:cNvPr id="1012" name="Google Shape;1012;p54"/>
          <p:cNvGrpSpPr/>
          <p:nvPr/>
        </p:nvGrpSpPr>
        <p:grpSpPr>
          <a:xfrm>
            <a:off x="2115097" y="2362765"/>
            <a:ext cx="6875957" cy="4256544"/>
            <a:chOff x="991146" y="565"/>
            <a:chExt cx="6875957" cy="4256544"/>
          </a:xfrm>
        </p:grpSpPr>
        <p:sp>
          <p:nvSpPr>
            <p:cNvPr id="1013" name="Google Shape;1013;p54"/>
            <p:cNvSpPr/>
            <p:nvPr/>
          </p:nvSpPr>
          <p:spPr>
            <a:xfrm>
              <a:off x="991146" y="565"/>
              <a:ext cx="3274265" cy="1964559"/>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54"/>
            <p:cNvSpPr txBox="1"/>
            <p:nvPr/>
          </p:nvSpPr>
          <p:spPr>
            <a:xfrm>
              <a:off x="1087046" y="96465"/>
              <a:ext cx="3082465" cy="1772759"/>
            </a:xfrm>
            <a:prstGeom prst="rect">
              <a:avLst/>
            </a:prstGeom>
            <a:noFill/>
            <a:ln>
              <a:noFill/>
            </a:ln>
          </p:spPr>
          <p:txBody>
            <a:bodyPr spcFirstLastPara="1" wrap="square" lIns="60950" tIns="60950" rIns="60950" bIns="60950" anchor="t"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Failure Handling</a:t>
              </a:r>
              <a:endParaRPr/>
            </a:p>
            <a:p>
              <a:pPr marL="0" marR="0" lvl="0" indent="0" algn="just" rtl="0">
                <a:lnSpc>
                  <a:spcPct val="90000"/>
                </a:lnSpc>
                <a:spcBef>
                  <a:spcPts val="560"/>
                </a:spcBef>
                <a:spcAft>
                  <a:spcPts val="0"/>
                </a:spcAft>
                <a:buClr>
                  <a:schemeClr val="lt1"/>
                </a:buClr>
                <a:buSzPts val="1600"/>
                <a:buFont typeface="Arial"/>
                <a:buNone/>
              </a:pPr>
              <a:r>
                <a:rPr lang="en-US" sz="1600" b="0" i="0">
                  <a:solidFill>
                    <a:schemeClr val="lt1"/>
                  </a:solidFill>
                  <a:latin typeface="Arial"/>
                  <a:ea typeface="Arial"/>
                  <a:cs typeface="Arial"/>
                  <a:sym typeface="Arial"/>
                </a:rPr>
                <a:t>Failures, like in any program, are a major problem. With so many processes and users, the consequences of failures are exacerbated.</a:t>
              </a:r>
              <a:endParaRPr sz="1600">
                <a:solidFill>
                  <a:schemeClr val="lt1"/>
                </a:solidFill>
                <a:latin typeface="Arial"/>
                <a:ea typeface="Arial"/>
                <a:cs typeface="Arial"/>
                <a:sym typeface="Arial"/>
              </a:endParaRPr>
            </a:p>
          </p:txBody>
        </p:sp>
        <p:sp>
          <p:nvSpPr>
            <p:cNvPr id="1015" name="Google Shape;1015;p54"/>
            <p:cNvSpPr/>
            <p:nvPr/>
          </p:nvSpPr>
          <p:spPr>
            <a:xfrm>
              <a:off x="4592838" y="565"/>
              <a:ext cx="3274265" cy="1964559"/>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54"/>
            <p:cNvSpPr txBox="1"/>
            <p:nvPr/>
          </p:nvSpPr>
          <p:spPr>
            <a:xfrm>
              <a:off x="4688738" y="96465"/>
              <a:ext cx="3082465" cy="1772759"/>
            </a:xfrm>
            <a:prstGeom prst="rect">
              <a:avLst/>
            </a:prstGeom>
            <a:noFill/>
            <a:ln>
              <a:noFill/>
            </a:ln>
          </p:spPr>
          <p:txBody>
            <a:bodyPr spcFirstLastPara="1" wrap="square" lIns="60950" tIns="60950" rIns="60950" bIns="6095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1">
                  <a:solidFill>
                    <a:schemeClr val="lt1"/>
                  </a:solidFill>
                  <a:latin typeface="Arial"/>
                  <a:ea typeface="Arial"/>
                  <a:cs typeface="Arial"/>
                  <a:sym typeface="Arial"/>
                </a:rPr>
                <a:t>Scalability</a:t>
              </a:r>
              <a:endParaRPr/>
            </a:p>
            <a:p>
              <a:pPr marL="0" marR="0" lvl="0" indent="0" algn="l" rtl="0">
                <a:lnSpc>
                  <a:spcPct val="90000"/>
                </a:lnSpc>
                <a:spcBef>
                  <a:spcPts val="560"/>
                </a:spcBef>
                <a:spcAft>
                  <a:spcPts val="0"/>
                </a:spcAft>
                <a:buClr>
                  <a:schemeClr val="lt1"/>
                </a:buClr>
                <a:buSzPts val="1600"/>
                <a:buFont typeface="Avenir"/>
                <a:buNone/>
              </a:pPr>
              <a:r>
                <a:rPr lang="en-US" sz="1600" b="0" i="0">
                  <a:solidFill>
                    <a:schemeClr val="lt1"/>
                  </a:solidFill>
                  <a:latin typeface="Avenir"/>
                  <a:ea typeface="Avenir"/>
                  <a:cs typeface="Avenir"/>
                  <a:sym typeface="Avenir"/>
                </a:rPr>
                <a:t>As a distributed system is scaled, several factors need to be taken into account: size, geography, and administration; and their associated problems like overloading, control and reliability.</a:t>
              </a:r>
              <a:endParaRPr sz="1600">
                <a:solidFill>
                  <a:schemeClr val="lt1"/>
                </a:solidFill>
                <a:latin typeface="Arial"/>
                <a:ea typeface="Arial"/>
                <a:cs typeface="Arial"/>
                <a:sym typeface="Arial"/>
              </a:endParaRPr>
            </a:p>
          </p:txBody>
        </p:sp>
        <p:sp>
          <p:nvSpPr>
            <p:cNvPr id="1017" name="Google Shape;1017;p54"/>
            <p:cNvSpPr/>
            <p:nvPr/>
          </p:nvSpPr>
          <p:spPr>
            <a:xfrm>
              <a:off x="2791992" y="2292550"/>
              <a:ext cx="3274265" cy="1964559"/>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54"/>
            <p:cNvSpPr txBox="1"/>
            <p:nvPr/>
          </p:nvSpPr>
          <p:spPr>
            <a:xfrm>
              <a:off x="2887892" y="2388450"/>
              <a:ext cx="3082465" cy="1772759"/>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Security</a:t>
              </a:r>
              <a:endParaRPr/>
            </a:p>
            <a:p>
              <a:pPr marL="0" marR="0" lvl="0" indent="0" algn="just" rtl="0">
                <a:lnSpc>
                  <a:spcPct val="90000"/>
                </a:lnSpc>
                <a:spcBef>
                  <a:spcPts val="525"/>
                </a:spcBef>
                <a:spcAft>
                  <a:spcPts val="0"/>
                </a:spcAft>
                <a:buClr>
                  <a:schemeClr val="lt1"/>
                </a:buClr>
                <a:buSzPts val="1500"/>
                <a:buFont typeface="Arial"/>
                <a:buNone/>
              </a:pPr>
              <a:r>
                <a:rPr lang="en-US" sz="1500">
                  <a:solidFill>
                    <a:schemeClr val="lt1"/>
                  </a:solidFill>
                  <a:latin typeface="Arial"/>
                  <a:ea typeface="Arial"/>
                  <a:cs typeface="Arial"/>
                  <a:sym typeface="Arial"/>
                </a:rPr>
                <a:t>As connectivity and sharing increase, security is becoming increasingly important. Increased connectivity can also lead to unwanted communication, such as electronic junk mail, often called spam.</a:t>
              </a:r>
              <a:endParaRPr sz="1500">
                <a:solidFill>
                  <a:schemeClr val="lt1"/>
                </a:solidFill>
                <a:latin typeface="Arial"/>
                <a:ea typeface="Arial"/>
                <a:cs typeface="Arial"/>
                <a:sym typeface="Arial"/>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23"/>
        <p:cNvGrpSpPr/>
        <p:nvPr/>
      </p:nvGrpSpPr>
      <p:grpSpPr>
        <a:xfrm>
          <a:off x="0" y="0"/>
          <a:ext cx="0" cy="0"/>
          <a:chOff x="0" y="0"/>
          <a:chExt cx="0" cy="0"/>
        </a:xfrm>
      </p:grpSpPr>
      <p:sp>
        <p:nvSpPr>
          <p:cNvPr id="1024" name="Google Shape;1024;p55"/>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25" name="Google Shape;1025;p55"/>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1026" name="Google Shape;1026;p55"/>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1027" name="Google Shape;1027;p55"/>
          <p:cNvSpPr txBox="1">
            <a:spLocks noGrp="1"/>
          </p:cNvSpPr>
          <p:nvPr>
            <p:ph type="title"/>
          </p:nvPr>
        </p:nvSpPr>
        <p:spPr>
          <a:xfrm>
            <a:off x="838201" y="559813"/>
            <a:ext cx="10348146" cy="1675009"/>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4400"/>
              <a:buFont typeface="Avenir"/>
              <a:buNone/>
            </a:pPr>
            <a:r>
              <a:rPr lang="en-US">
                <a:solidFill>
                  <a:schemeClr val="dk1"/>
                </a:solidFill>
              </a:rPr>
              <a:t>Issues in Parallel and Distributed Computing Cont.…</a:t>
            </a:r>
            <a:endParaRPr>
              <a:solidFill>
                <a:schemeClr val="dk1"/>
              </a:solidFill>
            </a:endParaRPr>
          </a:p>
        </p:txBody>
      </p:sp>
      <p:pic>
        <p:nvPicPr>
          <p:cNvPr id="1028" name="Google Shape;1028;p55"/>
          <p:cNvPicPr preferRelativeResize="0"/>
          <p:nvPr/>
        </p:nvPicPr>
        <p:blipFill rotWithShape="1">
          <a:blip r:embed="rId4">
            <a:alphaModFix/>
          </a:blip>
          <a:srcRect r="46047"/>
          <a:stretch/>
        </p:blipFill>
        <p:spPr>
          <a:xfrm rot="10800000">
            <a:off x="0" y="2719662"/>
            <a:ext cx="1371600" cy="2548349"/>
          </a:xfrm>
          <a:prstGeom prst="rect">
            <a:avLst/>
          </a:prstGeom>
          <a:noFill/>
          <a:ln>
            <a:noFill/>
          </a:ln>
        </p:spPr>
      </p:pic>
      <p:grpSp>
        <p:nvGrpSpPr>
          <p:cNvPr id="1029" name="Google Shape;1029;p55"/>
          <p:cNvGrpSpPr/>
          <p:nvPr/>
        </p:nvGrpSpPr>
        <p:grpSpPr>
          <a:xfrm>
            <a:off x="2639793" y="2095821"/>
            <a:ext cx="7430760" cy="4440169"/>
            <a:chOff x="1115793" y="259"/>
            <a:chExt cx="7430760" cy="4440169"/>
          </a:xfrm>
        </p:grpSpPr>
        <p:sp>
          <p:nvSpPr>
            <p:cNvPr id="1030" name="Google Shape;1030;p55"/>
            <p:cNvSpPr/>
            <p:nvPr/>
          </p:nvSpPr>
          <p:spPr>
            <a:xfrm>
              <a:off x="1115793" y="259"/>
              <a:ext cx="3538457" cy="212307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55"/>
            <p:cNvSpPr txBox="1"/>
            <p:nvPr/>
          </p:nvSpPr>
          <p:spPr>
            <a:xfrm>
              <a:off x="1219431" y="103897"/>
              <a:ext cx="3331181" cy="1915798"/>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Process synchronization</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One of the most important issues that engineers of distributed systems are facing is synchronizing computations consisting of thousands of components. Current methods of synchronization like semaphores, monitors, barriers, remote procedure call, object method invocation, and message passing, do not scale well.</a:t>
              </a:r>
              <a:endParaRPr sz="1400">
                <a:solidFill>
                  <a:schemeClr val="lt1"/>
                </a:solidFill>
                <a:latin typeface="Arial"/>
                <a:ea typeface="Arial"/>
                <a:cs typeface="Arial"/>
                <a:sym typeface="Arial"/>
              </a:endParaRPr>
            </a:p>
          </p:txBody>
        </p:sp>
        <p:sp>
          <p:nvSpPr>
            <p:cNvPr id="1032" name="Google Shape;1032;p55"/>
            <p:cNvSpPr/>
            <p:nvPr/>
          </p:nvSpPr>
          <p:spPr>
            <a:xfrm>
              <a:off x="5008096" y="259"/>
              <a:ext cx="3538457" cy="212307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55"/>
            <p:cNvSpPr txBox="1"/>
            <p:nvPr/>
          </p:nvSpPr>
          <p:spPr>
            <a:xfrm>
              <a:off x="5111734" y="103897"/>
              <a:ext cx="3331181" cy="1915798"/>
            </a:xfrm>
            <a:prstGeom prst="rect">
              <a:avLst/>
            </a:prstGeom>
            <a:noFill/>
            <a:ln>
              <a:noFill/>
            </a:ln>
          </p:spPr>
          <p:txBody>
            <a:bodyPr spcFirstLastPara="1" wrap="square" lIns="53325" tIns="53325" rIns="53325" bIns="53325" anchor="t" anchorCtr="0">
              <a:noAutofit/>
            </a:bodyPr>
            <a:lstStyle/>
            <a:p>
              <a:pPr marL="0" marR="0" lvl="0" indent="0" algn="ctr" rtl="0">
                <a:lnSpc>
                  <a:spcPct val="90000"/>
                </a:lnSpc>
                <a:spcBef>
                  <a:spcPts val="0"/>
                </a:spcBef>
                <a:spcAft>
                  <a:spcPts val="0"/>
                </a:spcAft>
                <a:buClr>
                  <a:schemeClr val="lt1"/>
                </a:buClr>
                <a:buSzPts val="1400"/>
                <a:buFont typeface="Arial"/>
                <a:buNone/>
              </a:pPr>
              <a:r>
                <a:rPr lang="en-US" sz="1400" b="1">
                  <a:solidFill>
                    <a:schemeClr val="lt1"/>
                  </a:solidFill>
                  <a:latin typeface="Arial"/>
                  <a:ea typeface="Arial"/>
                  <a:cs typeface="Arial"/>
                  <a:sym typeface="Arial"/>
                </a:rPr>
                <a:t>Resource management</a:t>
              </a:r>
              <a:endParaRPr/>
            </a:p>
            <a:p>
              <a:pPr marL="0" marR="0" lvl="0" indent="0" algn="just" rtl="0">
                <a:lnSpc>
                  <a:spcPct val="90000"/>
                </a:lnSpc>
                <a:spcBef>
                  <a:spcPts val="490"/>
                </a:spcBef>
                <a:spcAft>
                  <a:spcPts val="0"/>
                </a:spcAft>
                <a:buClr>
                  <a:schemeClr val="lt1"/>
                </a:buClr>
                <a:buSzPts val="1400"/>
                <a:buFont typeface="Arial"/>
                <a:buNone/>
              </a:pPr>
              <a:r>
                <a:rPr lang="en-US" sz="1400">
                  <a:solidFill>
                    <a:schemeClr val="lt1"/>
                  </a:solidFill>
                  <a:latin typeface="Arial"/>
                  <a:ea typeface="Arial"/>
                  <a:cs typeface="Arial"/>
                  <a:sym typeface="Arial"/>
                </a:rPr>
                <a:t>In distributed systems, objects consisting of resources are located on different places. Routing is an issue at the network layer of the distributed system and at the application layer. Resource management in a distributed system will interact with its heterogeneous nature.</a:t>
              </a:r>
              <a:endParaRPr/>
            </a:p>
            <a:p>
              <a:pPr marL="0" marR="0" lvl="0" indent="0" algn="l" rtl="0">
                <a:lnSpc>
                  <a:spcPct val="90000"/>
                </a:lnSpc>
                <a:spcBef>
                  <a:spcPts val="490"/>
                </a:spcBef>
                <a:spcAft>
                  <a:spcPts val="0"/>
                </a:spcAft>
                <a:buClr>
                  <a:schemeClr val="dk1"/>
                </a:buClr>
                <a:buSzPts val="1600"/>
                <a:buFont typeface="Avenir"/>
                <a:buNone/>
              </a:pPr>
              <a:endParaRPr sz="1600">
                <a:solidFill>
                  <a:schemeClr val="lt1"/>
                </a:solidFill>
                <a:latin typeface="Arial"/>
                <a:ea typeface="Arial"/>
                <a:cs typeface="Arial"/>
                <a:sym typeface="Arial"/>
              </a:endParaRPr>
            </a:p>
            <a:p>
              <a:pPr marL="0" marR="0" lvl="0" indent="0" algn="l" rtl="0">
                <a:lnSpc>
                  <a:spcPct val="90000"/>
                </a:lnSpc>
                <a:spcBef>
                  <a:spcPts val="560"/>
                </a:spcBef>
                <a:spcAft>
                  <a:spcPts val="0"/>
                </a:spcAft>
                <a:buClr>
                  <a:schemeClr val="dk1"/>
                </a:buClr>
                <a:buSzPts val="1600"/>
                <a:buFont typeface="Avenir"/>
                <a:buNone/>
              </a:pPr>
              <a:endParaRPr sz="1600">
                <a:solidFill>
                  <a:schemeClr val="lt1"/>
                </a:solidFill>
                <a:latin typeface="Arial"/>
                <a:ea typeface="Arial"/>
                <a:cs typeface="Arial"/>
                <a:sym typeface="Arial"/>
              </a:endParaRPr>
            </a:p>
          </p:txBody>
        </p:sp>
        <p:sp>
          <p:nvSpPr>
            <p:cNvPr id="1034" name="Google Shape;1034;p55"/>
            <p:cNvSpPr/>
            <p:nvPr/>
          </p:nvSpPr>
          <p:spPr>
            <a:xfrm>
              <a:off x="3061944" y="2317354"/>
              <a:ext cx="3538457" cy="2123074"/>
            </a:xfrm>
            <a:prstGeom prst="flowChartAlternateProcess">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55"/>
            <p:cNvSpPr txBox="1"/>
            <p:nvPr/>
          </p:nvSpPr>
          <p:spPr>
            <a:xfrm>
              <a:off x="3165582" y="2420992"/>
              <a:ext cx="3331181" cy="1915798"/>
            </a:xfrm>
            <a:prstGeom prst="rect">
              <a:avLst/>
            </a:prstGeom>
            <a:noFill/>
            <a:ln>
              <a:noFill/>
            </a:ln>
          </p:spPr>
          <p:txBody>
            <a:bodyPr spcFirstLastPara="1" wrap="square" lIns="57150" tIns="57150" rIns="57150" bIns="57150" anchor="ctr" anchorCtr="0">
              <a:noAutofit/>
            </a:bodyPr>
            <a:lstStyle/>
            <a:p>
              <a:pPr marL="0" marR="0" lvl="0" indent="0" algn="ctr" rtl="0">
                <a:lnSpc>
                  <a:spcPct val="90000"/>
                </a:lnSpc>
                <a:spcBef>
                  <a:spcPts val="0"/>
                </a:spcBef>
                <a:spcAft>
                  <a:spcPts val="0"/>
                </a:spcAft>
                <a:buClr>
                  <a:schemeClr val="lt1"/>
                </a:buClr>
                <a:buSzPts val="1500"/>
                <a:buFont typeface="Arial"/>
                <a:buNone/>
              </a:pPr>
              <a:r>
                <a:rPr lang="en-US" sz="1500" b="1">
                  <a:solidFill>
                    <a:schemeClr val="lt1"/>
                  </a:solidFill>
                  <a:latin typeface="Arial"/>
                  <a:ea typeface="Arial"/>
                  <a:cs typeface="Arial"/>
                  <a:sym typeface="Arial"/>
                </a:rPr>
                <a:t>Communication and Latency</a:t>
              </a:r>
              <a:endParaRPr/>
            </a:p>
            <a:p>
              <a:pPr marL="0" marR="0" lvl="0" indent="0" algn="just" rtl="0">
                <a:lnSpc>
                  <a:spcPct val="90000"/>
                </a:lnSpc>
                <a:spcBef>
                  <a:spcPts val="525"/>
                </a:spcBef>
                <a:spcAft>
                  <a:spcPts val="0"/>
                </a:spcAft>
                <a:buClr>
                  <a:schemeClr val="lt1"/>
                </a:buClr>
                <a:buSzPts val="1500"/>
                <a:buFont typeface="Arial"/>
                <a:buNone/>
              </a:pPr>
              <a:r>
                <a:rPr lang="en-US" sz="1500">
                  <a:solidFill>
                    <a:schemeClr val="lt1"/>
                  </a:solidFill>
                  <a:latin typeface="Arial"/>
                  <a:ea typeface="Arial"/>
                  <a:cs typeface="Arial"/>
                  <a:sym typeface="Arial"/>
                </a:rPr>
                <a:t>Distributed Systems have become more effective with the advent of Internet but there are certain requirements for performance, reliability etc. Effective approaches to communication should be used.</a:t>
              </a:r>
              <a:endParaRPr/>
            </a:p>
            <a:p>
              <a:pPr marL="0" marR="0" lvl="0" indent="0" algn="ctr" rtl="0">
                <a:lnSpc>
                  <a:spcPct val="90000"/>
                </a:lnSpc>
                <a:spcBef>
                  <a:spcPts val="525"/>
                </a:spcBef>
                <a:spcAft>
                  <a:spcPts val="0"/>
                </a:spcAft>
                <a:buClr>
                  <a:schemeClr val="lt1"/>
                </a:buClr>
                <a:buSzPts val="1500"/>
                <a:buFont typeface="Arial"/>
                <a:buNone/>
              </a:pPr>
              <a:r>
                <a:rPr lang="en-US" sz="1500">
                  <a:solidFill>
                    <a:schemeClr val="lt1"/>
                  </a:solidFill>
                  <a:latin typeface="Arial"/>
                  <a:ea typeface="Arial"/>
                  <a:cs typeface="Arial"/>
                  <a:sym typeface="Arial"/>
                </a:rPr>
                <a:t> </a:t>
              </a:r>
              <a:endParaRPr sz="1500">
                <a:solidFill>
                  <a:schemeClr val="lt1"/>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39"/>
        <p:cNvGrpSpPr/>
        <p:nvPr/>
      </p:nvGrpSpPr>
      <p:grpSpPr>
        <a:xfrm>
          <a:off x="0" y="0"/>
          <a:ext cx="0" cy="0"/>
          <a:chOff x="0" y="0"/>
          <a:chExt cx="0" cy="0"/>
        </a:xfrm>
      </p:grpSpPr>
      <p:sp>
        <p:nvSpPr>
          <p:cNvPr id="1040" name="Google Shape;1040;p56"/>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1041" name="Google Shape;1041;p56"/>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1042" name="Google Shape;1042;p56"/>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43" name="Google Shape;1043;p56"/>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1044" name="Google Shape;1044;p56"/>
          <p:cNvPicPr preferRelativeResize="0"/>
          <p:nvPr/>
        </p:nvPicPr>
        <p:blipFill rotWithShape="1">
          <a:blip r:embed="rId4">
            <a:alphaModFix/>
          </a:blip>
          <a:srcRect l="9052" r="15486" b="-2"/>
          <a:stretch/>
        </p:blipFill>
        <p:spPr>
          <a:xfrm>
            <a:off x="3048" y="10"/>
            <a:ext cx="6195372" cy="4618233"/>
          </a:xfrm>
          <a:prstGeom prst="rect">
            <a:avLst/>
          </a:prstGeom>
          <a:noFill/>
          <a:ln>
            <a:noFill/>
          </a:ln>
        </p:spPr>
      </p:pic>
      <p:sp>
        <p:nvSpPr>
          <p:cNvPr id="1045" name="Google Shape;1045;p56"/>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46" name="Google Shape;1046;p56"/>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47" name="Google Shape;1047;p56"/>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a:t>CS621 Parallel and Distributed Computing</a:t>
            </a:r>
            <a:endParaRPr sz="4100"/>
          </a:p>
        </p:txBody>
      </p:sp>
      <p:sp>
        <p:nvSpPr>
          <p:cNvPr id="1048" name="Google Shape;1048;p56"/>
          <p:cNvSpPr txBox="1">
            <a:spLocks noGrp="1"/>
          </p:cNvSpPr>
          <p:nvPr>
            <p:ph type="subTitle" idx="1"/>
          </p:nvPr>
        </p:nvSpPr>
        <p:spPr>
          <a:xfrm>
            <a:off x="6553200" y="369204"/>
            <a:ext cx="4800600" cy="3935986"/>
          </a:xfrm>
          <a:prstGeom prst="rect">
            <a:avLst/>
          </a:prstGeom>
          <a:noFill/>
          <a:ln>
            <a:noFill/>
          </a:ln>
        </p:spPr>
        <p:txBody>
          <a:bodyPr spcFirstLastPara="1" wrap="square" lIns="91425" tIns="45700" rIns="91425" bIns="45700" anchor="ctr" anchorCtr="0">
            <a:normAutofit/>
          </a:bodyPr>
          <a:lstStyle/>
          <a:p>
            <a:pPr marL="0" lvl="0" indent="0" algn="ctr" rtl="0">
              <a:lnSpc>
                <a:spcPct val="110000"/>
              </a:lnSpc>
              <a:spcBef>
                <a:spcPts val="0"/>
              </a:spcBef>
              <a:spcAft>
                <a:spcPts val="0"/>
              </a:spcAft>
              <a:buSzPts val="2800"/>
              <a:buNone/>
            </a:pPr>
            <a:r>
              <a:rPr lang="en-US" sz="2800" b="1">
                <a:solidFill>
                  <a:schemeClr val="dk2"/>
                </a:solidFill>
                <a:latin typeface="Arial"/>
                <a:ea typeface="Arial"/>
                <a:cs typeface="Arial"/>
                <a:sym typeface="Arial"/>
              </a:rPr>
              <a:t>Parallel and Distributed Computing Efforts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2"/>
        <p:cNvGrpSpPr/>
        <p:nvPr/>
      </p:nvGrpSpPr>
      <p:grpSpPr>
        <a:xfrm>
          <a:off x="0" y="0"/>
          <a:ext cx="0" cy="0"/>
          <a:chOff x="0" y="0"/>
          <a:chExt cx="0" cy="0"/>
        </a:xfrm>
      </p:grpSpPr>
      <p:sp>
        <p:nvSpPr>
          <p:cNvPr id="1053" name="Google Shape;1053;p57"/>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54" name="Google Shape;1054;p57"/>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55" name="Google Shape;1055;p57"/>
          <p:cNvSpPr/>
          <p:nvPr/>
        </p:nvSpPr>
        <p:spPr>
          <a:xfrm>
            <a:off x="0" y="0"/>
            <a:ext cx="4572000" cy="6858000"/>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56" name="Google Shape;1056;p57"/>
          <p:cNvSpPr/>
          <p:nvPr/>
        </p:nvSpPr>
        <p:spPr>
          <a:xfrm>
            <a:off x="0" y="0"/>
            <a:ext cx="4572000" cy="6858000"/>
          </a:xfrm>
          <a:prstGeom prst="rect">
            <a:avLst/>
          </a:prstGeom>
          <a:blipFill rotWithShape="1">
            <a:blip r:embed="rId3">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57" name="Google Shape;1057;p57"/>
          <p:cNvSpPr txBox="1">
            <a:spLocks noGrp="1"/>
          </p:cNvSpPr>
          <p:nvPr>
            <p:ph type="title"/>
          </p:nvPr>
        </p:nvSpPr>
        <p:spPr>
          <a:xfrm>
            <a:off x="838201" y="559813"/>
            <a:ext cx="2819399" cy="557793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3700"/>
              <a:buFont typeface="Avenir"/>
              <a:buNone/>
            </a:pPr>
            <a:r>
              <a:rPr lang="en-US" sz="3700"/>
              <a:t>Objectives</a:t>
            </a:r>
            <a:endParaRPr sz="3700"/>
          </a:p>
        </p:txBody>
      </p:sp>
      <p:sp>
        <p:nvSpPr>
          <p:cNvPr id="1058" name="Google Shape;1058;p57"/>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p>
            <a:pPr marL="228600" lvl="0" indent="-50800" algn="l" rtl="0">
              <a:lnSpc>
                <a:spcPct val="100000"/>
              </a:lnSpc>
              <a:spcBef>
                <a:spcPts val="0"/>
              </a:spcBef>
              <a:spcAft>
                <a:spcPts val="0"/>
              </a:spcAft>
              <a:buSzPts val="2800"/>
              <a:buNone/>
            </a:pPr>
            <a:endParaRPr/>
          </a:p>
          <a:p>
            <a:pPr marL="228600" lvl="0" indent="-50800" algn="l" rtl="0">
              <a:lnSpc>
                <a:spcPct val="100000"/>
              </a:lnSpc>
              <a:spcBef>
                <a:spcPts val="1000"/>
              </a:spcBef>
              <a:spcAft>
                <a:spcPts val="0"/>
              </a:spcAft>
              <a:buSzPts val="2800"/>
              <a:buNone/>
            </a:pPr>
            <a:endParaRPr/>
          </a:p>
          <a:p>
            <a:pPr marL="228600" lvl="0" indent="-50800" algn="l" rtl="0">
              <a:lnSpc>
                <a:spcPct val="100000"/>
              </a:lnSpc>
              <a:spcBef>
                <a:spcPts val="1000"/>
              </a:spcBef>
              <a:spcAft>
                <a:spcPts val="0"/>
              </a:spcAft>
              <a:buSzPts val="2800"/>
              <a:buNone/>
            </a:pPr>
            <a:endParaRPr/>
          </a:p>
        </p:txBody>
      </p:sp>
      <p:grpSp>
        <p:nvGrpSpPr>
          <p:cNvPr id="1059" name="Google Shape;1059;p57"/>
          <p:cNvGrpSpPr/>
          <p:nvPr/>
        </p:nvGrpSpPr>
        <p:grpSpPr>
          <a:xfrm>
            <a:off x="5256089" y="2722919"/>
            <a:ext cx="6292064" cy="883309"/>
            <a:chOff x="0" y="0"/>
            <a:chExt cx="6292064" cy="883309"/>
          </a:xfrm>
        </p:grpSpPr>
        <p:sp>
          <p:nvSpPr>
            <p:cNvPr id="1060" name="Google Shape;1060;p57"/>
            <p:cNvSpPr/>
            <p:nvPr/>
          </p:nvSpPr>
          <p:spPr>
            <a:xfrm>
              <a:off x="0" y="0"/>
              <a:ext cx="6292064" cy="883309"/>
            </a:xfrm>
            <a:prstGeom prst="roundRect">
              <a:avLst>
                <a:gd name="adj" fmla="val 10000"/>
              </a:avLst>
            </a:prstGeom>
            <a:solidFill>
              <a:srgbClr val="44B0A7"/>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57"/>
            <p:cNvSpPr txBox="1"/>
            <p:nvPr/>
          </p:nvSpPr>
          <p:spPr>
            <a:xfrm>
              <a:off x="1346743" y="0"/>
              <a:ext cx="4945320" cy="883309"/>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lt1"/>
                </a:buClr>
                <a:buSzPts val="2400"/>
                <a:buFont typeface="Arial"/>
                <a:buNone/>
              </a:pPr>
              <a:r>
                <a:rPr lang="en-US" sz="2400">
                  <a:solidFill>
                    <a:schemeClr val="lt1"/>
                  </a:solidFill>
                  <a:latin typeface="Arial"/>
                  <a:ea typeface="Arial"/>
                  <a:cs typeface="Arial"/>
                  <a:sym typeface="Arial"/>
                </a:rPr>
                <a:t>Identifying the prerequisites for  parallel and distributed computing. </a:t>
              </a:r>
              <a:endParaRPr sz="2400">
                <a:solidFill>
                  <a:schemeClr val="lt1"/>
                </a:solidFill>
                <a:latin typeface="Arial"/>
                <a:ea typeface="Arial"/>
                <a:cs typeface="Arial"/>
                <a:sym typeface="Arial"/>
              </a:endParaRPr>
            </a:p>
          </p:txBody>
        </p:sp>
        <p:sp>
          <p:nvSpPr>
            <p:cNvPr id="1062" name="Google Shape;1062;p57"/>
            <p:cNvSpPr/>
            <p:nvPr/>
          </p:nvSpPr>
          <p:spPr>
            <a:xfrm>
              <a:off x="249263" y="88330"/>
              <a:ext cx="936548" cy="706647"/>
            </a:xfrm>
            <a:prstGeom prst="roundRect">
              <a:avLst>
                <a:gd name="adj" fmla="val 10000"/>
              </a:avLst>
            </a:prstGeom>
            <a:blipFill rotWithShape="1">
              <a:blip r:embed="rId4">
                <a:alphaModFix/>
              </a:blip>
              <a:stretch>
                <a:fillRect l="-6998" r="-6999"/>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7"/>
        <p:cNvGrpSpPr/>
        <p:nvPr/>
      </p:nvGrpSpPr>
      <p:grpSpPr>
        <a:xfrm>
          <a:off x="0" y="0"/>
          <a:ext cx="0" cy="0"/>
          <a:chOff x="0" y="0"/>
          <a:chExt cx="0" cy="0"/>
        </a:xfrm>
      </p:grpSpPr>
      <p:sp>
        <p:nvSpPr>
          <p:cNvPr id="1068" name="Google Shape;1068;p58"/>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69" name="Google Shape;1069;p58"/>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70" name="Google Shape;1070;p58"/>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71" name="Google Shape;1071;p58"/>
          <p:cNvSpPr/>
          <p:nvPr/>
        </p:nvSpPr>
        <p:spPr>
          <a:xfrm>
            <a:off x="1524" y="0"/>
            <a:ext cx="12188952" cy="2225674"/>
          </a:xfrm>
          <a:prstGeom prst="rect">
            <a:avLst/>
          </a:prstGeom>
          <a:blipFill rotWithShape="1">
            <a:blip r:embed="rId3">
              <a:alphaModFix amt="24000"/>
            </a:blip>
            <a:tile tx="88900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venir"/>
              <a:ea typeface="Avenir"/>
              <a:cs typeface="Avenir"/>
              <a:sym typeface="Avenir"/>
            </a:endParaRPr>
          </a:p>
        </p:txBody>
      </p:sp>
      <p:sp>
        <p:nvSpPr>
          <p:cNvPr id="1072" name="Google Shape;1072;p58"/>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a:t>Parallel and Distributed Computing Programming Design Efforts</a:t>
            </a:r>
            <a:endParaRPr/>
          </a:p>
        </p:txBody>
      </p:sp>
      <p:grpSp>
        <p:nvGrpSpPr>
          <p:cNvPr id="1073" name="Google Shape;1073;p58"/>
          <p:cNvGrpSpPr/>
          <p:nvPr/>
        </p:nvGrpSpPr>
        <p:grpSpPr>
          <a:xfrm>
            <a:off x="1186875" y="2362200"/>
            <a:ext cx="8794311" cy="3935413"/>
            <a:chOff x="1012" y="0"/>
            <a:chExt cx="8794311" cy="3935413"/>
          </a:xfrm>
        </p:grpSpPr>
        <p:sp>
          <p:nvSpPr>
            <p:cNvPr id="1074" name="Google Shape;1074;p58"/>
            <p:cNvSpPr/>
            <p:nvPr/>
          </p:nvSpPr>
          <p:spPr>
            <a:xfrm rot="5400000">
              <a:off x="4961599" y="-291852"/>
              <a:ext cx="3148330" cy="4519118"/>
            </a:xfrm>
            <a:prstGeom prst="round2SameRect">
              <a:avLst>
                <a:gd name="adj1" fmla="val 16667"/>
                <a:gd name="adj2" fmla="val 0"/>
              </a:avLst>
            </a:prstGeom>
            <a:solidFill>
              <a:srgbClr val="CEE3E1">
                <a:alpha val="89803"/>
              </a:srgbClr>
            </a:solidFill>
            <a:ln w="9525" cap="flat" cmpd="sng">
              <a:solidFill>
                <a:srgbClr val="CEE3E1">
                  <a:alpha val="89803"/>
                </a:srgbClr>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58"/>
            <p:cNvSpPr txBox="1"/>
            <p:nvPr/>
          </p:nvSpPr>
          <p:spPr>
            <a:xfrm>
              <a:off x="4276206" y="547230"/>
              <a:ext cx="4365429" cy="2840952"/>
            </a:xfrm>
            <a:prstGeom prst="rect">
              <a:avLst/>
            </a:prstGeom>
            <a:noFill/>
            <a:ln>
              <a:noFill/>
            </a:ln>
          </p:spPr>
          <p:txBody>
            <a:bodyPr spcFirstLastPara="1" wrap="square" lIns="247650" tIns="123825" rIns="247650" bIns="123825" anchor="ctr" anchorCtr="0">
              <a:noAutofit/>
            </a:bodyPr>
            <a:lstStyle/>
            <a:p>
              <a:pPr marL="285750" marR="0" lvl="1" indent="-285750" algn="l" rtl="0">
                <a:lnSpc>
                  <a:spcPct val="90000"/>
                </a:lnSpc>
                <a:spcBef>
                  <a:spcPts val="0"/>
                </a:spcBef>
                <a:spcAft>
                  <a:spcPts val="0"/>
                </a:spcAft>
                <a:buClr>
                  <a:schemeClr val="accent1"/>
                </a:buClr>
                <a:buSzPts val="2880"/>
                <a:buFont typeface="Arial"/>
                <a:buChar char="•"/>
              </a:pPr>
              <a:r>
                <a:rPr lang="en-US" sz="3600" b="0" i="0" u="none" strike="noStrike" cap="none">
                  <a:solidFill>
                    <a:schemeClr val="dk1"/>
                  </a:solidFill>
                  <a:latin typeface="Avenir"/>
                  <a:ea typeface="Avenir"/>
                  <a:cs typeface="Avenir"/>
                  <a:sym typeface="Avenir"/>
                </a:rPr>
                <a:t>Decomposition</a:t>
              </a:r>
              <a:endParaRPr sz="3600" b="0" i="0" u="none" strike="noStrike" cap="none">
                <a:solidFill>
                  <a:schemeClr val="dk1"/>
                </a:solidFill>
                <a:latin typeface="Avenir"/>
                <a:ea typeface="Avenir"/>
                <a:cs typeface="Avenir"/>
                <a:sym typeface="Avenir"/>
              </a:endParaRPr>
            </a:p>
            <a:p>
              <a:pPr marL="285750" marR="0" lvl="1" indent="-285750" algn="l" rtl="0">
                <a:lnSpc>
                  <a:spcPct val="90000"/>
                </a:lnSpc>
                <a:spcBef>
                  <a:spcPts val="540"/>
                </a:spcBef>
                <a:spcAft>
                  <a:spcPts val="0"/>
                </a:spcAft>
                <a:buClr>
                  <a:schemeClr val="accent1"/>
                </a:buClr>
                <a:buSzPts val="2880"/>
                <a:buFont typeface="Arial"/>
                <a:buChar char="•"/>
              </a:pPr>
              <a:r>
                <a:rPr lang="en-US" sz="3600" b="0" i="0" u="none" strike="noStrike" cap="none">
                  <a:solidFill>
                    <a:schemeClr val="dk1"/>
                  </a:solidFill>
                  <a:latin typeface="Avenir"/>
                  <a:ea typeface="Avenir"/>
                  <a:cs typeface="Avenir"/>
                  <a:sym typeface="Avenir"/>
                </a:rPr>
                <a:t>Communication</a:t>
              </a:r>
              <a:endParaRPr sz="3600" b="0" i="0" u="none" strike="noStrike" cap="none">
                <a:solidFill>
                  <a:schemeClr val="dk1"/>
                </a:solidFill>
                <a:latin typeface="Avenir"/>
                <a:ea typeface="Avenir"/>
                <a:cs typeface="Avenir"/>
                <a:sym typeface="Avenir"/>
              </a:endParaRPr>
            </a:p>
            <a:p>
              <a:pPr marL="285750" marR="0" lvl="1" indent="-285750" algn="l" rtl="0">
                <a:lnSpc>
                  <a:spcPct val="90000"/>
                </a:lnSpc>
                <a:spcBef>
                  <a:spcPts val="540"/>
                </a:spcBef>
                <a:spcAft>
                  <a:spcPts val="0"/>
                </a:spcAft>
                <a:buClr>
                  <a:schemeClr val="accent1"/>
                </a:buClr>
                <a:buSzPts val="2880"/>
                <a:buFont typeface="Arial"/>
                <a:buChar char="•"/>
              </a:pPr>
              <a:r>
                <a:rPr lang="en-US" sz="3600" b="0" i="0" u="none" strike="noStrike" cap="none">
                  <a:solidFill>
                    <a:schemeClr val="dk1"/>
                  </a:solidFill>
                  <a:latin typeface="Avenir"/>
                  <a:ea typeface="Avenir"/>
                  <a:cs typeface="Avenir"/>
                  <a:sym typeface="Avenir"/>
                </a:rPr>
                <a:t>Synchronization </a:t>
              </a:r>
              <a:endParaRPr sz="3600" b="0" i="0" u="none" strike="noStrike" cap="none">
                <a:solidFill>
                  <a:schemeClr val="dk1"/>
                </a:solidFill>
                <a:latin typeface="Avenir"/>
                <a:ea typeface="Avenir"/>
                <a:cs typeface="Avenir"/>
                <a:sym typeface="Avenir"/>
              </a:endParaRPr>
            </a:p>
          </p:txBody>
        </p:sp>
        <p:sp>
          <p:nvSpPr>
            <p:cNvPr id="1076" name="Google Shape;1076;p58"/>
            <p:cNvSpPr/>
            <p:nvPr/>
          </p:nvSpPr>
          <p:spPr>
            <a:xfrm>
              <a:off x="1012" y="0"/>
              <a:ext cx="4275193" cy="3935413"/>
            </a:xfrm>
            <a:prstGeom prst="roundRect">
              <a:avLst>
                <a:gd name="adj" fmla="val 16667"/>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58"/>
            <p:cNvSpPr txBox="1"/>
            <p:nvPr/>
          </p:nvSpPr>
          <p:spPr>
            <a:xfrm>
              <a:off x="193123" y="192111"/>
              <a:ext cx="3890971" cy="3551191"/>
            </a:xfrm>
            <a:prstGeom prst="rect">
              <a:avLst/>
            </a:prstGeom>
            <a:noFill/>
            <a:ln>
              <a:noFill/>
            </a:ln>
          </p:spPr>
          <p:txBody>
            <a:bodyPr spcFirstLastPara="1" wrap="square" lIns="99050" tIns="49525" rIns="99050" bIns="49525" anchor="ctr" anchorCtr="0">
              <a:noAutofit/>
            </a:bodyPr>
            <a:lstStyle/>
            <a:p>
              <a:pPr marL="0" marR="0" lvl="0" indent="0" algn="l" rtl="0">
                <a:lnSpc>
                  <a:spcPct val="90000"/>
                </a:lnSpc>
                <a:spcBef>
                  <a:spcPts val="0"/>
                </a:spcBef>
                <a:spcAft>
                  <a:spcPts val="0"/>
                </a:spcAft>
                <a:buClr>
                  <a:schemeClr val="lt1"/>
                </a:buClr>
                <a:buSzPts val="2600"/>
                <a:buFont typeface="Avenir"/>
                <a:buNone/>
              </a:pPr>
              <a:r>
                <a:rPr lang="en-US" sz="2600">
                  <a:solidFill>
                    <a:schemeClr val="lt1"/>
                  </a:solidFill>
                  <a:latin typeface="Avenir"/>
                  <a:ea typeface="Avenir"/>
                  <a:cs typeface="Avenir"/>
                  <a:sym typeface="Avenir"/>
                </a:rPr>
                <a:t>Before a program is written or a piece of software is developed, it must first go through a design process.</a:t>
              </a:r>
              <a:endParaRPr/>
            </a:p>
            <a:p>
              <a:pPr marL="0" marR="0" lvl="0" indent="0" algn="l" rtl="0">
                <a:lnSpc>
                  <a:spcPct val="90000"/>
                </a:lnSpc>
                <a:spcBef>
                  <a:spcPts val="910"/>
                </a:spcBef>
                <a:spcAft>
                  <a:spcPts val="0"/>
                </a:spcAft>
                <a:buClr>
                  <a:schemeClr val="lt1"/>
                </a:buClr>
                <a:buSzPts val="2600"/>
                <a:buFont typeface="Avenir"/>
                <a:buNone/>
              </a:pPr>
              <a:r>
                <a:rPr lang="en-US" sz="2600">
                  <a:solidFill>
                    <a:schemeClr val="lt1"/>
                  </a:solidFill>
                  <a:latin typeface="Avenir"/>
                  <a:ea typeface="Avenir"/>
                  <a:cs typeface="Avenir"/>
                  <a:sym typeface="Avenir"/>
                </a:rPr>
                <a:t>For parallel and distributed programs, the design process will include three issues: </a:t>
              </a:r>
              <a:endParaRPr sz="2600">
                <a:solidFill>
                  <a:schemeClr val="lt1"/>
                </a:solidFill>
                <a:latin typeface="Avenir"/>
                <a:ea typeface="Avenir"/>
                <a:cs typeface="Avenir"/>
                <a:sym typeface="Aveni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82"/>
        <p:cNvGrpSpPr/>
        <p:nvPr/>
      </p:nvGrpSpPr>
      <p:grpSpPr>
        <a:xfrm>
          <a:off x="0" y="0"/>
          <a:ext cx="0" cy="0"/>
          <a:chOff x="0" y="0"/>
          <a:chExt cx="0" cy="0"/>
        </a:xfrm>
      </p:grpSpPr>
      <p:sp>
        <p:nvSpPr>
          <p:cNvPr id="1083" name="Google Shape;1083;p59"/>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084" name="Google Shape;1084;p59"/>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1085" name="Google Shape;1085;p59"/>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1086" name="Google Shape;1086;p59"/>
          <p:cNvSpPr txBox="1">
            <a:spLocks noGrp="1"/>
          </p:cNvSpPr>
          <p:nvPr>
            <p:ph type="title"/>
          </p:nvPr>
        </p:nvSpPr>
        <p:spPr>
          <a:xfrm>
            <a:off x="838201" y="559813"/>
            <a:ext cx="10348146" cy="128347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Avenir"/>
              <a:buNone/>
            </a:pPr>
            <a:r>
              <a:rPr lang="en-US" sz="4000">
                <a:solidFill>
                  <a:schemeClr val="dk2"/>
                </a:solidFill>
              </a:rPr>
              <a:t>Decomposition</a:t>
            </a:r>
            <a:br>
              <a:rPr lang="en-US" sz="2800">
                <a:solidFill>
                  <a:schemeClr val="dk2"/>
                </a:solidFill>
              </a:rPr>
            </a:br>
            <a:endParaRPr sz="2800">
              <a:solidFill>
                <a:schemeClr val="dk2"/>
              </a:solidFill>
            </a:endParaRPr>
          </a:p>
        </p:txBody>
      </p:sp>
      <p:pic>
        <p:nvPicPr>
          <p:cNvPr id="1087" name="Google Shape;1087;p59"/>
          <p:cNvPicPr preferRelativeResize="0"/>
          <p:nvPr/>
        </p:nvPicPr>
        <p:blipFill rotWithShape="1">
          <a:blip r:embed="rId4">
            <a:alphaModFix/>
          </a:blip>
          <a:srcRect r="67342"/>
          <a:stretch/>
        </p:blipFill>
        <p:spPr>
          <a:xfrm rot="10800000">
            <a:off x="-1" y="2719661"/>
            <a:ext cx="830249" cy="2548349"/>
          </a:xfrm>
          <a:prstGeom prst="rect">
            <a:avLst/>
          </a:prstGeom>
          <a:noFill/>
          <a:ln>
            <a:noFill/>
          </a:ln>
        </p:spPr>
      </p:pic>
      <p:grpSp>
        <p:nvGrpSpPr>
          <p:cNvPr id="1088" name="Google Shape;1088;p59"/>
          <p:cNvGrpSpPr/>
          <p:nvPr/>
        </p:nvGrpSpPr>
        <p:grpSpPr>
          <a:xfrm>
            <a:off x="1676387" y="1535750"/>
            <a:ext cx="8839224" cy="4609464"/>
            <a:chOff x="838187" y="0"/>
            <a:chExt cx="8839224" cy="4609464"/>
          </a:xfrm>
        </p:grpSpPr>
        <p:sp>
          <p:nvSpPr>
            <p:cNvPr id="1089" name="Google Shape;1089;p59"/>
            <p:cNvSpPr/>
            <p:nvPr/>
          </p:nvSpPr>
          <p:spPr>
            <a:xfrm>
              <a:off x="838187" y="0"/>
              <a:ext cx="8839224" cy="4609464"/>
            </a:xfrm>
            <a:prstGeom prst="rightArrow">
              <a:avLst>
                <a:gd name="adj1" fmla="val 50000"/>
                <a:gd name="adj2" fmla="val 50000"/>
              </a:avLst>
            </a:prstGeom>
            <a:gradFill>
              <a:gsLst>
                <a:gs pos="0">
                  <a:srgbClr val="D5E8E6"/>
                </a:gs>
                <a:gs pos="50000">
                  <a:srgbClr val="CCE3E0"/>
                </a:gs>
                <a:gs pos="100000">
                  <a:srgbClr val="B2CAC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59"/>
            <p:cNvSpPr/>
            <p:nvPr/>
          </p:nvSpPr>
          <p:spPr>
            <a:xfrm>
              <a:off x="867870" y="1382839"/>
              <a:ext cx="4261693" cy="1843785"/>
            </a:xfrm>
            <a:prstGeom prst="roundRect">
              <a:avLst>
                <a:gd name="adj" fmla="val 16667"/>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59"/>
            <p:cNvSpPr txBox="1"/>
            <p:nvPr/>
          </p:nvSpPr>
          <p:spPr>
            <a:xfrm>
              <a:off x="957876" y="1472845"/>
              <a:ext cx="4081681" cy="1663773"/>
            </a:xfrm>
            <a:prstGeom prst="rect">
              <a:avLst/>
            </a:prstGeom>
            <a:noFill/>
            <a:ln>
              <a:noFill/>
            </a:ln>
          </p:spPr>
          <p:txBody>
            <a:bodyPr spcFirstLastPara="1" wrap="square" lIns="83800" tIns="83800" rIns="83800" bIns="83800" anchor="ctr" anchorCtr="0">
              <a:noAutofit/>
            </a:bodyPr>
            <a:lstStyle/>
            <a:p>
              <a:pPr marL="0" marR="0" lvl="0" indent="0" algn="just" rtl="0">
                <a:lnSpc>
                  <a:spcPct val="90000"/>
                </a:lnSpc>
                <a:spcBef>
                  <a:spcPts val="0"/>
                </a:spcBef>
                <a:spcAft>
                  <a:spcPts val="0"/>
                </a:spcAft>
                <a:buClr>
                  <a:schemeClr val="lt1"/>
                </a:buClr>
                <a:buSzPts val="2200"/>
                <a:buFont typeface="Arial"/>
                <a:buNone/>
              </a:pPr>
              <a:r>
                <a:rPr lang="en-US" sz="2200">
                  <a:solidFill>
                    <a:schemeClr val="lt1"/>
                  </a:solidFill>
                  <a:latin typeface="Arial"/>
                  <a:ea typeface="Arial"/>
                  <a:cs typeface="Arial"/>
                  <a:sym typeface="Arial"/>
                </a:rPr>
                <a:t>Decomposition is the process of dividing up the problem and the solution into parts: logical areas and logical resources.</a:t>
              </a:r>
              <a:endParaRPr sz="2200">
                <a:solidFill>
                  <a:schemeClr val="lt1"/>
                </a:solidFill>
                <a:latin typeface="Arial"/>
                <a:ea typeface="Arial"/>
                <a:cs typeface="Arial"/>
                <a:sym typeface="Arial"/>
              </a:endParaRPr>
            </a:p>
          </p:txBody>
        </p:sp>
        <p:sp>
          <p:nvSpPr>
            <p:cNvPr id="1092" name="Google Shape;1092;p59"/>
            <p:cNvSpPr/>
            <p:nvPr/>
          </p:nvSpPr>
          <p:spPr>
            <a:xfrm>
              <a:off x="5386035" y="1382839"/>
              <a:ext cx="4261693" cy="1843785"/>
            </a:xfrm>
            <a:prstGeom prst="roundRect">
              <a:avLst>
                <a:gd name="adj" fmla="val 16667"/>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59"/>
            <p:cNvSpPr txBox="1"/>
            <p:nvPr/>
          </p:nvSpPr>
          <p:spPr>
            <a:xfrm>
              <a:off x="5476041" y="1472845"/>
              <a:ext cx="4081681" cy="1663773"/>
            </a:xfrm>
            <a:prstGeom prst="rect">
              <a:avLst/>
            </a:prstGeom>
            <a:noFill/>
            <a:ln>
              <a:noFill/>
            </a:ln>
          </p:spPr>
          <p:txBody>
            <a:bodyPr spcFirstLastPara="1" wrap="square" lIns="83800" tIns="83800" rIns="83800" bIns="83800" anchor="ctr" anchorCtr="0">
              <a:noAutofit/>
            </a:bodyPr>
            <a:lstStyle/>
            <a:p>
              <a:pPr marL="0" marR="0" lvl="0" indent="0" algn="just" rtl="0">
                <a:lnSpc>
                  <a:spcPct val="90000"/>
                </a:lnSpc>
                <a:spcBef>
                  <a:spcPts val="0"/>
                </a:spcBef>
                <a:spcAft>
                  <a:spcPts val="0"/>
                </a:spcAft>
                <a:buClr>
                  <a:schemeClr val="lt1"/>
                </a:buClr>
                <a:buSzPts val="2200"/>
                <a:buFont typeface="Arial"/>
                <a:buNone/>
              </a:pPr>
              <a:r>
                <a:rPr lang="en-US" sz="2200">
                  <a:solidFill>
                    <a:schemeClr val="lt1"/>
                  </a:solidFill>
                  <a:latin typeface="Arial"/>
                  <a:ea typeface="Arial"/>
                  <a:cs typeface="Arial"/>
                  <a:sym typeface="Arial"/>
                </a:rPr>
                <a:t>One of the primary issues of concurrent programming is identifying a natural WBS(Work breakdown structure) for the software solution at hand.</a:t>
              </a:r>
              <a:endParaRPr sz="2200">
                <a:solidFill>
                  <a:schemeClr val="lt1"/>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8"/>
        <p:cNvGrpSpPr/>
        <p:nvPr/>
      </p:nvGrpSpPr>
      <p:grpSpPr>
        <a:xfrm>
          <a:off x="0" y="0"/>
          <a:ext cx="0" cy="0"/>
          <a:chOff x="0" y="0"/>
          <a:chExt cx="0" cy="0"/>
        </a:xfrm>
      </p:grpSpPr>
      <p:sp>
        <p:nvSpPr>
          <p:cNvPr id="1099" name="Google Shape;1099;p6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100" name="Google Shape;1100;p60"/>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dirty="0">
              <a:solidFill>
                <a:srgbClr val="595959"/>
              </a:solidFill>
              <a:latin typeface="Avenir"/>
              <a:ea typeface="Avenir"/>
              <a:cs typeface="Avenir"/>
              <a:sym typeface="Avenir"/>
            </a:endParaRPr>
          </a:p>
        </p:txBody>
      </p:sp>
      <p:pic>
        <p:nvPicPr>
          <p:cNvPr id="1101" name="Google Shape;1101;p60"/>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1102" name="Google Shape;1102;p60"/>
          <p:cNvSpPr txBox="1">
            <a:spLocks noGrp="1"/>
          </p:cNvSpPr>
          <p:nvPr>
            <p:ph type="title"/>
          </p:nvPr>
        </p:nvSpPr>
        <p:spPr>
          <a:xfrm>
            <a:off x="838201" y="559813"/>
            <a:ext cx="10348146" cy="1097537"/>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2"/>
              </a:buClr>
              <a:buSzPts val="4400"/>
              <a:buFont typeface="Avenir"/>
              <a:buNone/>
            </a:pPr>
            <a:r>
              <a:rPr lang="en-US" sz="4400">
                <a:solidFill>
                  <a:schemeClr val="dk2"/>
                </a:solidFill>
              </a:rPr>
              <a:t>Communication</a:t>
            </a:r>
            <a:endParaRPr>
              <a:solidFill>
                <a:schemeClr val="dk1"/>
              </a:solidFill>
            </a:endParaRPr>
          </a:p>
        </p:txBody>
      </p:sp>
      <p:pic>
        <p:nvPicPr>
          <p:cNvPr id="1103" name="Google Shape;1103;p60"/>
          <p:cNvPicPr preferRelativeResize="0"/>
          <p:nvPr/>
        </p:nvPicPr>
        <p:blipFill rotWithShape="1">
          <a:blip r:embed="rId4">
            <a:alphaModFix/>
          </a:blip>
          <a:srcRect r="46047"/>
          <a:stretch/>
        </p:blipFill>
        <p:spPr>
          <a:xfrm rot="10800000">
            <a:off x="0" y="2719662"/>
            <a:ext cx="1371600" cy="2548349"/>
          </a:xfrm>
          <a:prstGeom prst="rect">
            <a:avLst/>
          </a:prstGeom>
          <a:noFill/>
          <a:ln>
            <a:noFill/>
          </a:ln>
        </p:spPr>
      </p:pic>
      <p:grpSp>
        <p:nvGrpSpPr>
          <p:cNvPr id="1104" name="Google Shape;1104;p60"/>
          <p:cNvGrpSpPr/>
          <p:nvPr/>
        </p:nvGrpSpPr>
        <p:grpSpPr>
          <a:xfrm>
            <a:off x="1748901" y="1731146"/>
            <a:ext cx="8068795" cy="3863940"/>
            <a:chOff x="8115725" y="1032700"/>
            <a:chExt cx="2895000" cy="3202500"/>
          </a:xfrm>
        </p:grpSpPr>
        <p:sp>
          <p:nvSpPr>
            <p:cNvPr id="1112" name="Google Shape;1112;p60"/>
            <p:cNvSpPr/>
            <p:nvPr/>
          </p:nvSpPr>
          <p:spPr>
            <a:xfrm>
              <a:off x="8115725" y="1032700"/>
              <a:ext cx="2895000" cy="3202500"/>
            </a:xfrm>
            <a:prstGeom prst="roundRect">
              <a:avLst>
                <a:gd name="adj" fmla="val 10000"/>
              </a:avLst>
            </a:prstGeom>
            <a:gradFill>
              <a:gsLst>
                <a:gs pos="0">
                  <a:srgbClr val="5DBAB1"/>
                </a:gs>
                <a:gs pos="50000">
                  <a:srgbClr val="3DB5AB"/>
                </a:gs>
                <a:gs pos="100000">
                  <a:srgbClr val="32A49A"/>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60"/>
            <p:cNvSpPr txBox="1"/>
            <p:nvPr/>
          </p:nvSpPr>
          <p:spPr>
            <a:xfrm>
              <a:off x="8200517" y="1117492"/>
              <a:ext cx="2725500" cy="3033000"/>
            </a:xfrm>
            <a:prstGeom prst="rect">
              <a:avLst/>
            </a:prstGeom>
            <a:noFill/>
            <a:ln>
              <a:noFill/>
            </a:ln>
          </p:spPr>
          <p:txBody>
            <a:bodyPr spcFirstLastPara="1" wrap="square" lIns="53325" tIns="53325" rIns="53325" bIns="53325" anchor="t" anchorCtr="0">
              <a:noAutofit/>
            </a:bodyPr>
            <a:lstStyle/>
            <a:p>
              <a:pPr marL="0" marR="0" lvl="0" indent="0" algn="just" rtl="0">
                <a:lnSpc>
                  <a:spcPct val="90000"/>
                </a:lnSpc>
                <a:spcBef>
                  <a:spcPts val="0"/>
                </a:spcBef>
                <a:spcAft>
                  <a:spcPts val="0"/>
                </a:spcAft>
                <a:buClr>
                  <a:schemeClr val="lt1"/>
                </a:buClr>
                <a:buSzPts val="1400"/>
                <a:buFont typeface="Arial"/>
                <a:buNone/>
              </a:pPr>
              <a:r>
                <a:rPr lang="en-US" dirty="0">
                  <a:solidFill>
                    <a:schemeClr val="lt1"/>
                  </a:solidFill>
                </a:rPr>
                <a:t>Following issues must be considered when designing parallel or distributed systems:</a:t>
              </a:r>
              <a:endParaRPr dirty="0">
                <a:solidFill>
                  <a:schemeClr val="lt1"/>
                </a:solidFill>
              </a:endParaRPr>
            </a:p>
            <a:p>
              <a:pPr marL="0" marR="0" lvl="0" indent="0" algn="just" rtl="0">
                <a:lnSpc>
                  <a:spcPct val="90000"/>
                </a:lnSpc>
                <a:spcBef>
                  <a:spcPts val="0"/>
                </a:spcBef>
                <a:spcAft>
                  <a:spcPts val="0"/>
                </a:spcAft>
                <a:buClr>
                  <a:schemeClr val="lt1"/>
                </a:buClr>
                <a:buSzPts val="1400"/>
                <a:buFont typeface="Arial"/>
                <a:buNone/>
              </a:pPr>
              <a:r>
                <a:rPr lang="en-US" sz="1400" dirty="0">
                  <a:solidFill>
                    <a:schemeClr val="lt1"/>
                  </a:solidFill>
                  <a:latin typeface="Arial"/>
                  <a:ea typeface="Arial"/>
                  <a:cs typeface="Arial"/>
                  <a:sym typeface="Arial"/>
                </a:rPr>
                <a:t>Important Questions:</a:t>
              </a:r>
            </a:p>
            <a:p>
              <a:pPr marL="0" marR="0" lvl="0" indent="0" algn="just" rtl="0">
                <a:lnSpc>
                  <a:spcPct val="90000"/>
                </a:lnSpc>
                <a:spcBef>
                  <a:spcPts val="0"/>
                </a:spcBef>
                <a:spcAft>
                  <a:spcPts val="0"/>
                </a:spcAft>
                <a:buClr>
                  <a:schemeClr val="lt1"/>
                </a:buClr>
                <a:buSzPts val="1400"/>
                <a:buFont typeface="Arial"/>
                <a:buNone/>
              </a:pPr>
              <a:endParaRPr lang="en-US" dirty="0">
                <a:solidFill>
                  <a:schemeClr val="lt1"/>
                </a:solidFill>
              </a:endParaRPr>
            </a:p>
            <a:p>
              <a:pPr marL="0" marR="0" lvl="0" indent="0" algn="just" rtl="0">
                <a:lnSpc>
                  <a:spcPct val="90000"/>
                </a:lnSpc>
                <a:spcBef>
                  <a:spcPts val="0"/>
                </a:spcBef>
                <a:spcAft>
                  <a:spcPts val="0"/>
                </a:spcAft>
                <a:buClr>
                  <a:schemeClr val="lt1"/>
                </a:buClr>
                <a:buSzPts val="1400"/>
                <a:buFont typeface="Arial"/>
                <a:buNone/>
              </a:pPr>
              <a:endParaRPr sz="1400" dirty="0">
                <a:solidFill>
                  <a:schemeClr val="lt1"/>
                </a:solidFill>
                <a:latin typeface="Arial"/>
                <a:ea typeface="Arial"/>
                <a:cs typeface="Arial"/>
                <a:sym typeface="Arial"/>
              </a:endParaRPr>
            </a:p>
            <a:p>
              <a:pPr marL="114300" marR="0" lvl="1" indent="-114300" algn="just" rtl="0">
                <a:lnSpc>
                  <a:spcPct val="90000"/>
                </a:lnSpc>
                <a:spcBef>
                  <a:spcPts val="490"/>
                </a:spcBef>
                <a:spcAft>
                  <a:spcPts val="0"/>
                </a:spcAft>
                <a:buClr>
                  <a:schemeClr val="lt1"/>
                </a:buClr>
                <a:buSzPts val="1400"/>
                <a:buFont typeface="Avenir"/>
                <a:buChar char="•"/>
              </a:pPr>
              <a:r>
                <a:rPr lang="en-US" sz="1400" b="0" i="0" u="none" strike="noStrike" cap="none" dirty="0">
                  <a:solidFill>
                    <a:schemeClr val="lt1"/>
                  </a:solidFill>
                  <a:latin typeface="Avenir"/>
                  <a:ea typeface="Avenir"/>
                  <a:cs typeface="Avenir"/>
                  <a:sym typeface="Avenir"/>
                </a:rPr>
                <a:t>How will this communication be performed if the parts are in different processes or different computers? </a:t>
              </a:r>
              <a:endParaRPr sz="1400" b="0" i="0" u="none" strike="noStrike" cap="none" dirty="0">
                <a:solidFill>
                  <a:schemeClr val="lt1"/>
                </a:solidFill>
                <a:latin typeface="Avenir"/>
                <a:ea typeface="Avenir"/>
                <a:cs typeface="Avenir"/>
                <a:sym typeface="Avenir"/>
              </a:endParaRPr>
            </a:p>
            <a:p>
              <a:pPr marL="114300" marR="0" lvl="1" indent="-114300" algn="just" rtl="0">
                <a:lnSpc>
                  <a:spcPct val="90000"/>
                </a:lnSpc>
                <a:spcBef>
                  <a:spcPts val="210"/>
                </a:spcBef>
                <a:spcAft>
                  <a:spcPts val="0"/>
                </a:spcAft>
                <a:buClr>
                  <a:schemeClr val="lt1"/>
                </a:buClr>
                <a:buSzPts val="1400"/>
                <a:buFont typeface="Avenir"/>
                <a:buChar char="•"/>
              </a:pPr>
              <a:r>
                <a:rPr lang="en-US" sz="1400" b="0" i="0" u="none" strike="noStrike" cap="none" dirty="0">
                  <a:solidFill>
                    <a:schemeClr val="lt1"/>
                  </a:solidFill>
                  <a:latin typeface="Avenir"/>
                  <a:ea typeface="Avenir"/>
                  <a:cs typeface="Avenir"/>
                  <a:sym typeface="Avenir"/>
                </a:rPr>
                <a:t>Do the different parts need to share any memory? </a:t>
              </a:r>
              <a:endParaRPr sz="1400" b="0" i="0" u="none" strike="noStrike" cap="none" dirty="0">
                <a:solidFill>
                  <a:schemeClr val="lt1"/>
                </a:solidFill>
                <a:latin typeface="Avenir"/>
                <a:ea typeface="Avenir"/>
                <a:cs typeface="Avenir"/>
                <a:sym typeface="Avenir"/>
              </a:endParaRPr>
            </a:p>
            <a:p>
              <a:pPr marL="114300" marR="0" lvl="1" indent="-114300" algn="just" rtl="0">
                <a:lnSpc>
                  <a:spcPct val="90000"/>
                </a:lnSpc>
                <a:spcBef>
                  <a:spcPts val="210"/>
                </a:spcBef>
                <a:spcAft>
                  <a:spcPts val="0"/>
                </a:spcAft>
                <a:buClr>
                  <a:schemeClr val="lt1"/>
                </a:buClr>
                <a:buSzPts val="1400"/>
                <a:buFont typeface="Avenir"/>
                <a:buChar char="•"/>
              </a:pPr>
              <a:r>
                <a:rPr lang="en-US" sz="1400" b="0" i="0" u="none" strike="noStrike" cap="none" dirty="0">
                  <a:solidFill>
                    <a:schemeClr val="lt1"/>
                  </a:solidFill>
                  <a:latin typeface="Avenir"/>
                  <a:ea typeface="Avenir"/>
                  <a:cs typeface="Avenir"/>
                  <a:sym typeface="Avenir"/>
                </a:rPr>
                <a:t>How will one part of the software know when the other part is done? </a:t>
              </a:r>
              <a:endParaRPr sz="1400" b="0" i="0" u="none" strike="noStrike" cap="none" dirty="0">
                <a:solidFill>
                  <a:schemeClr val="lt1"/>
                </a:solidFill>
                <a:latin typeface="Avenir"/>
                <a:ea typeface="Avenir"/>
                <a:cs typeface="Avenir"/>
                <a:sym typeface="Avenir"/>
              </a:endParaRPr>
            </a:p>
            <a:p>
              <a:pPr marL="114300" marR="0" lvl="1" indent="-114300" algn="just" rtl="0">
                <a:lnSpc>
                  <a:spcPct val="90000"/>
                </a:lnSpc>
                <a:spcBef>
                  <a:spcPts val="210"/>
                </a:spcBef>
                <a:spcAft>
                  <a:spcPts val="0"/>
                </a:spcAft>
                <a:buClr>
                  <a:schemeClr val="lt1"/>
                </a:buClr>
                <a:buSzPts val="1400"/>
                <a:buFont typeface="Avenir"/>
                <a:buChar char="•"/>
              </a:pPr>
              <a:r>
                <a:rPr lang="en-US" sz="1400" b="0" i="0" u="none" strike="noStrike" cap="none" dirty="0">
                  <a:solidFill>
                    <a:schemeClr val="lt1"/>
                  </a:solidFill>
                  <a:latin typeface="Avenir"/>
                  <a:ea typeface="Avenir"/>
                  <a:cs typeface="Avenir"/>
                  <a:sym typeface="Avenir"/>
                </a:rPr>
                <a:t>Which part starts first? </a:t>
              </a:r>
              <a:endParaRPr sz="1400" b="0" i="0" u="none" strike="noStrike" cap="none" dirty="0">
                <a:solidFill>
                  <a:schemeClr val="lt1"/>
                </a:solidFill>
                <a:latin typeface="Avenir"/>
                <a:ea typeface="Avenir"/>
                <a:cs typeface="Avenir"/>
                <a:sym typeface="Avenir"/>
              </a:endParaRPr>
            </a:p>
            <a:p>
              <a:pPr marL="114300" marR="0" lvl="1" indent="-114300" algn="just" rtl="0">
                <a:lnSpc>
                  <a:spcPct val="90000"/>
                </a:lnSpc>
                <a:spcBef>
                  <a:spcPts val="210"/>
                </a:spcBef>
                <a:spcAft>
                  <a:spcPts val="0"/>
                </a:spcAft>
                <a:buClr>
                  <a:schemeClr val="lt1"/>
                </a:buClr>
                <a:buSzPts val="1400"/>
                <a:buFont typeface="Avenir"/>
                <a:buChar char="•"/>
              </a:pPr>
              <a:r>
                <a:rPr lang="en-US" sz="1400" b="0" i="0" u="none" strike="noStrike" cap="none" dirty="0">
                  <a:solidFill>
                    <a:schemeClr val="lt1"/>
                  </a:solidFill>
                  <a:latin typeface="Avenir"/>
                  <a:ea typeface="Avenir"/>
                  <a:cs typeface="Avenir"/>
                  <a:sym typeface="Avenir"/>
                </a:rPr>
                <a:t>How will one component know if another component has failed?</a:t>
              </a:r>
              <a:endParaRPr sz="1400" b="0" i="0" u="none" strike="noStrike" cap="none" dirty="0">
                <a:solidFill>
                  <a:schemeClr val="lt1"/>
                </a:solidFill>
                <a:latin typeface="Avenir"/>
                <a:ea typeface="Avenir"/>
                <a:cs typeface="Avenir"/>
                <a:sym typeface="Aveni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18"/>
        <p:cNvGrpSpPr/>
        <p:nvPr/>
      </p:nvGrpSpPr>
      <p:grpSpPr>
        <a:xfrm>
          <a:off x="0" y="0"/>
          <a:ext cx="0" cy="0"/>
          <a:chOff x="0" y="0"/>
          <a:chExt cx="0" cy="0"/>
        </a:xfrm>
      </p:grpSpPr>
      <p:sp>
        <p:nvSpPr>
          <p:cNvPr id="1119" name="Google Shape;1119;p61"/>
          <p:cNvSpPr/>
          <p:nvPr/>
        </p:nvSpPr>
        <p:spPr>
          <a:xfrm>
            <a:off x="0" y="0"/>
            <a:ext cx="1219200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sp>
        <p:nvSpPr>
          <p:cNvPr id="1120" name="Google Shape;1120;p61"/>
          <p:cNvSpPr/>
          <p:nvPr/>
        </p:nvSpPr>
        <p:spPr>
          <a:xfrm>
            <a:off x="0"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595959"/>
              </a:solidFill>
              <a:latin typeface="Avenir"/>
              <a:ea typeface="Avenir"/>
              <a:cs typeface="Avenir"/>
              <a:sym typeface="Avenir"/>
            </a:endParaRPr>
          </a:p>
        </p:txBody>
      </p:sp>
      <p:pic>
        <p:nvPicPr>
          <p:cNvPr id="1121" name="Google Shape;1121;p61"/>
          <p:cNvPicPr preferRelativeResize="0"/>
          <p:nvPr/>
        </p:nvPicPr>
        <p:blipFill rotWithShape="1">
          <a:blip r:embed="rId3">
            <a:alphaModFix/>
          </a:blip>
          <a:srcRect t="37018" r="40625"/>
          <a:stretch/>
        </p:blipFill>
        <p:spPr>
          <a:xfrm>
            <a:off x="10744200" y="0"/>
            <a:ext cx="1447800" cy="1535750"/>
          </a:xfrm>
          <a:prstGeom prst="rect">
            <a:avLst/>
          </a:prstGeom>
          <a:noFill/>
          <a:ln>
            <a:noFill/>
          </a:ln>
        </p:spPr>
      </p:pic>
      <p:sp>
        <p:nvSpPr>
          <p:cNvPr id="1122" name="Google Shape;1122;p61"/>
          <p:cNvSpPr txBox="1">
            <a:spLocks noGrp="1"/>
          </p:cNvSpPr>
          <p:nvPr>
            <p:ph type="title"/>
          </p:nvPr>
        </p:nvSpPr>
        <p:spPr>
          <a:xfrm>
            <a:off x="838201" y="559813"/>
            <a:ext cx="10348146" cy="128347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3600"/>
              <a:buFont typeface="Avenir"/>
              <a:buNone/>
            </a:pPr>
            <a:r>
              <a:rPr lang="en-US" sz="3600">
                <a:solidFill>
                  <a:schemeClr val="dk2"/>
                </a:solidFill>
              </a:rPr>
              <a:t>Synchronization</a:t>
            </a:r>
            <a:endParaRPr sz="3600">
              <a:solidFill>
                <a:schemeClr val="dk2"/>
              </a:solidFill>
            </a:endParaRPr>
          </a:p>
        </p:txBody>
      </p:sp>
      <p:pic>
        <p:nvPicPr>
          <p:cNvPr id="1123" name="Google Shape;1123;p61"/>
          <p:cNvPicPr preferRelativeResize="0"/>
          <p:nvPr/>
        </p:nvPicPr>
        <p:blipFill rotWithShape="1">
          <a:blip r:embed="rId4">
            <a:alphaModFix/>
          </a:blip>
          <a:srcRect r="67342"/>
          <a:stretch/>
        </p:blipFill>
        <p:spPr>
          <a:xfrm rot="10800000">
            <a:off x="-1" y="2719661"/>
            <a:ext cx="830249" cy="2548349"/>
          </a:xfrm>
          <a:prstGeom prst="rect">
            <a:avLst/>
          </a:prstGeom>
          <a:noFill/>
          <a:ln>
            <a:noFill/>
          </a:ln>
        </p:spPr>
      </p:pic>
      <p:grpSp>
        <p:nvGrpSpPr>
          <p:cNvPr id="1124" name="Google Shape;1124;p61"/>
          <p:cNvGrpSpPr/>
          <p:nvPr/>
        </p:nvGrpSpPr>
        <p:grpSpPr>
          <a:xfrm>
            <a:off x="647701" y="1944648"/>
            <a:ext cx="10894740" cy="4252174"/>
            <a:chOff x="0" y="101364"/>
            <a:chExt cx="10894740" cy="4252174"/>
          </a:xfrm>
        </p:grpSpPr>
        <p:sp>
          <p:nvSpPr>
            <p:cNvPr id="1125" name="Google Shape;1125;p61"/>
            <p:cNvSpPr/>
            <p:nvPr/>
          </p:nvSpPr>
          <p:spPr>
            <a:xfrm>
              <a:off x="524021" y="1586704"/>
              <a:ext cx="3549536" cy="13643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61"/>
            <p:cNvSpPr txBox="1"/>
            <p:nvPr/>
          </p:nvSpPr>
          <p:spPr>
            <a:xfrm>
              <a:off x="524021" y="1586704"/>
              <a:ext cx="3549536" cy="1364375"/>
            </a:xfrm>
            <a:prstGeom prst="rect">
              <a:avLst/>
            </a:prstGeom>
            <a:noFill/>
            <a:ln>
              <a:noFill/>
            </a:ln>
          </p:spPr>
          <p:txBody>
            <a:bodyPr spcFirstLastPara="1" wrap="square" lIns="20300" tIns="20300" rIns="20300" bIns="20300" anchor="ctr" anchorCtr="0">
              <a:noAutofit/>
            </a:bodyPr>
            <a:lstStyle/>
            <a:p>
              <a:pPr marL="0" marR="0" lvl="0" indent="0" algn="just" rtl="0">
                <a:lnSpc>
                  <a:spcPct val="90000"/>
                </a:lnSpc>
                <a:spcBef>
                  <a:spcPts val="0"/>
                </a:spcBef>
                <a:spcAft>
                  <a:spcPts val="0"/>
                </a:spcAft>
                <a:buClr>
                  <a:schemeClr val="dk1"/>
                </a:buClr>
                <a:buSzPts val="1600"/>
                <a:buFont typeface="Arial"/>
                <a:buNone/>
              </a:pPr>
              <a:r>
                <a:rPr lang="en-US" sz="1600">
                  <a:solidFill>
                    <a:schemeClr val="dk1"/>
                  </a:solidFill>
                  <a:latin typeface="Arial"/>
                  <a:ea typeface="Arial"/>
                  <a:cs typeface="Arial"/>
                  <a:sym typeface="Arial"/>
                </a:rPr>
                <a:t>The WBS designates who does what. </a:t>
              </a:r>
              <a:br>
                <a:rPr lang="en-US" sz="1600">
                  <a:solidFill>
                    <a:schemeClr val="dk1"/>
                  </a:solidFill>
                  <a:latin typeface="Arial"/>
                  <a:ea typeface="Arial"/>
                  <a:cs typeface="Arial"/>
                  <a:sym typeface="Arial"/>
                </a:rPr>
              </a:br>
              <a:r>
                <a:rPr lang="en-US" sz="1600">
                  <a:solidFill>
                    <a:schemeClr val="dk1"/>
                  </a:solidFill>
                  <a:latin typeface="Arial"/>
                  <a:ea typeface="Arial"/>
                  <a:cs typeface="Arial"/>
                  <a:sym typeface="Arial"/>
                </a:rPr>
                <a:t>When multiple components of software are working on the same problem, they must be coordinated. </a:t>
              </a:r>
              <a:endParaRPr sz="1600">
                <a:solidFill>
                  <a:schemeClr val="dk1"/>
                </a:solidFill>
                <a:latin typeface="Arial"/>
                <a:ea typeface="Arial"/>
                <a:cs typeface="Arial"/>
                <a:sym typeface="Arial"/>
              </a:endParaRPr>
            </a:p>
          </p:txBody>
        </p:sp>
        <p:sp>
          <p:nvSpPr>
            <p:cNvPr id="1127" name="Google Shape;1127;p61"/>
            <p:cNvSpPr/>
            <p:nvPr/>
          </p:nvSpPr>
          <p:spPr>
            <a:xfrm>
              <a:off x="272065" y="1161813"/>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61"/>
            <p:cNvSpPr/>
            <p:nvPr/>
          </p:nvSpPr>
          <p:spPr>
            <a:xfrm>
              <a:off x="502597" y="700748"/>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61"/>
            <p:cNvSpPr/>
            <p:nvPr/>
          </p:nvSpPr>
          <p:spPr>
            <a:xfrm>
              <a:off x="1055875" y="792961"/>
              <a:ext cx="517521" cy="517521"/>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61"/>
            <p:cNvSpPr/>
            <p:nvPr/>
          </p:nvSpPr>
          <p:spPr>
            <a:xfrm>
              <a:off x="1516940" y="285790"/>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61"/>
            <p:cNvSpPr/>
            <p:nvPr/>
          </p:nvSpPr>
          <p:spPr>
            <a:xfrm>
              <a:off x="2116324" y="101364"/>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61"/>
            <p:cNvSpPr/>
            <p:nvPr/>
          </p:nvSpPr>
          <p:spPr>
            <a:xfrm>
              <a:off x="2854028" y="424109"/>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61"/>
            <p:cNvSpPr/>
            <p:nvPr/>
          </p:nvSpPr>
          <p:spPr>
            <a:xfrm>
              <a:off x="3315093" y="654641"/>
              <a:ext cx="517521" cy="517521"/>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61"/>
            <p:cNvSpPr/>
            <p:nvPr/>
          </p:nvSpPr>
          <p:spPr>
            <a:xfrm>
              <a:off x="3960583" y="1161813"/>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61"/>
            <p:cNvSpPr/>
            <p:nvPr/>
          </p:nvSpPr>
          <p:spPr>
            <a:xfrm>
              <a:off x="4237222" y="1668984"/>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61"/>
            <p:cNvSpPr/>
            <p:nvPr/>
          </p:nvSpPr>
          <p:spPr>
            <a:xfrm>
              <a:off x="1839685" y="700748"/>
              <a:ext cx="846853" cy="846853"/>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61"/>
            <p:cNvSpPr/>
            <p:nvPr/>
          </p:nvSpPr>
          <p:spPr>
            <a:xfrm>
              <a:off x="0" y="2547760"/>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61"/>
            <p:cNvSpPr/>
            <p:nvPr/>
          </p:nvSpPr>
          <p:spPr>
            <a:xfrm>
              <a:off x="318171" y="2867753"/>
              <a:ext cx="517521" cy="517521"/>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61"/>
            <p:cNvSpPr/>
            <p:nvPr/>
          </p:nvSpPr>
          <p:spPr>
            <a:xfrm>
              <a:off x="1009769" y="3236604"/>
              <a:ext cx="752758" cy="752758"/>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61"/>
            <p:cNvSpPr/>
            <p:nvPr/>
          </p:nvSpPr>
          <p:spPr>
            <a:xfrm>
              <a:off x="1978005" y="3835989"/>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61"/>
            <p:cNvSpPr/>
            <p:nvPr/>
          </p:nvSpPr>
          <p:spPr>
            <a:xfrm>
              <a:off x="2162431" y="3236604"/>
              <a:ext cx="517521" cy="517521"/>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61"/>
            <p:cNvSpPr/>
            <p:nvPr/>
          </p:nvSpPr>
          <p:spPr>
            <a:xfrm>
              <a:off x="2623496" y="3882095"/>
              <a:ext cx="329332" cy="329332"/>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61"/>
            <p:cNvSpPr/>
            <p:nvPr/>
          </p:nvSpPr>
          <p:spPr>
            <a:xfrm>
              <a:off x="3038454" y="3144391"/>
              <a:ext cx="752758" cy="752758"/>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61"/>
            <p:cNvSpPr/>
            <p:nvPr/>
          </p:nvSpPr>
          <p:spPr>
            <a:xfrm>
              <a:off x="4052796" y="2959965"/>
              <a:ext cx="517521" cy="517521"/>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61"/>
            <p:cNvSpPr/>
            <p:nvPr/>
          </p:nvSpPr>
          <p:spPr>
            <a:xfrm>
              <a:off x="4742476" y="792194"/>
              <a:ext cx="1175572" cy="2901631"/>
            </a:xfrm>
            <a:prstGeom prst="chevron">
              <a:avLst>
                <a:gd name="adj" fmla="val 62310"/>
              </a:avLst>
            </a:prstGeom>
            <a:gradFill>
              <a:gsLst>
                <a:gs pos="0">
                  <a:srgbClr val="B7D8D4"/>
                </a:gs>
                <a:gs pos="50000">
                  <a:srgbClr val="ACD3CF"/>
                </a:gs>
                <a:gs pos="100000">
                  <a:srgbClr val="95BD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61"/>
            <p:cNvSpPr/>
            <p:nvPr/>
          </p:nvSpPr>
          <p:spPr>
            <a:xfrm>
              <a:off x="5551150" y="792194"/>
              <a:ext cx="1223904" cy="2901631"/>
            </a:xfrm>
            <a:prstGeom prst="chevron">
              <a:avLst>
                <a:gd name="adj" fmla="val 62310"/>
              </a:avLst>
            </a:prstGeom>
            <a:gradFill>
              <a:gsLst>
                <a:gs pos="0">
                  <a:srgbClr val="B7D8D4"/>
                </a:gs>
                <a:gs pos="50000">
                  <a:srgbClr val="ACD3CF"/>
                </a:gs>
                <a:gs pos="100000">
                  <a:srgbClr val="95BDB8"/>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61"/>
            <p:cNvSpPr/>
            <p:nvPr/>
          </p:nvSpPr>
          <p:spPr>
            <a:xfrm>
              <a:off x="7013601" y="274632"/>
              <a:ext cx="3881139" cy="4078906"/>
            </a:xfrm>
            <a:prstGeom prst="ellipse">
              <a:avLst/>
            </a:prstGeom>
            <a:gradFill>
              <a:gsLst>
                <a:gs pos="0">
                  <a:srgbClr val="5DBAB1"/>
                </a:gs>
                <a:gs pos="50000">
                  <a:srgbClr val="3DB5AB"/>
                </a:gs>
                <a:gs pos="100000">
                  <a:srgbClr val="32A49A"/>
                </a:gs>
              </a:gsLst>
              <a:lin ang="54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61"/>
            <p:cNvSpPr txBox="1"/>
            <p:nvPr/>
          </p:nvSpPr>
          <p:spPr>
            <a:xfrm>
              <a:off x="7581981" y="871974"/>
              <a:ext cx="2744379" cy="2884222"/>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lt1"/>
                </a:buClr>
                <a:buSzPts val="1400"/>
                <a:buFont typeface="Arial"/>
                <a:buNone/>
              </a:pPr>
              <a:r>
                <a:rPr lang="en-US" sz="1400">
                  <a:solidFill>
                    <a:schemeClr val="lt1"/>
                  </a:solidFill>
                  <a:latin typeface="Arial"/>
                  <a:ea typeface="Arial"/>
                  <a:cs typeface="Arial"/>
                  <a:sym typeface="Arial"/>
                </a:rPr>
                <a:t>The components' order of execution must be coordinated. . Do all the parts start at the same time or does some work while others wait? </a:t>
              </a:r>
              <a:br>
                <a:rPr lang="en-US" sz="1400">
                  <a:solidFill>
                    <a:schemeClr val="lt1"/>
                  </a:solidFill>
                  <a:latin typeface="Arial"/>
                  <a:ea typeface="Arial"/>
                  <a:cs typeface="Arial"/>
                  <a:sym typeface="Arial"/>
                </a:rPr>
              </a:br>
              <a:r>
                <a:rPr lang="en-US" sz="1400">
                  <a:solidFill>
                    <a:schemeClr val="lt1"/>
                  </a:solidFill>
                  <a:latin typeface="Arial"/>
                  <a:ea typeface="Arial"/>
                  <a:cs typeface="Arial"/>
                  <a:sym typeface="Arial"/>
                </a:rPr>
                <a:t>What two or more components need access to the same resource? </a:t>
              </a:r>
              <a:br>
                <a:rPr lang="en-US" sz="1400">
                  <a:solidFill>
                    <a:schemeClr val="lt1"/>
                  </a:solidFill>
                  <a:latin typeface="Arial"/>
                  <a:ea typeface="Arial"/>
                  <a:cs typeface="Arial"/>
                  <a:sym typeface="Arial"/>
                </a:rPr>
              </a:br>
              <a:r>
                <a:rPr lang="en-US" sz="1400">
                  <a:solidFill>
                    <a:schemeClr val="lt1"/>
                  </a:solidFill>
                  <a:latin typeface="Arial"/>
                  <a:ea typeface="Arial"/>
                  <a:cs typeface="Arial"/>
                  <a:sym typeface="Arial"/>
                </a:rPr>
                <a:t>Who gets it first? If some of the parts finish their work long before the other parts, should they be assigned new work? </a:t>
              </a:r>
              <a:br>
                <a:rPr lang="en-US" sz="1400">
                  <a:solidFill>
                    <a:schemeClr val="lt1"/>
                  </a:solidFill>
                  <a:latin typeface="Arial"/>
                  <a:ea typeface="Arial"/>
                  <a:cs typeface="Arial"/>
                  <a:sym typeface="Arial"/>
                </a:rPr>
              </a:br>
              <a:r>
                <a:rPr lang="en-US" sz="1400">
                  <a:solidFill>
                    <a:schemeClr val="lt1"/>
                  </a:solidFill>
                  <a:latin typeface="Arial"/>
                  <a:ea typeface="Arial"/>
                  <a:cs typeface="Arial"/>
                  <a:sym typeface="Arial"/>
                </a:rPr>
                <a:t>Who assigns the new work in such cases?</a:t>
              </a:r>
              <a:endParaRPr sz="1400">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1269</Words>
  <Application>Microsoft Office PowerPoint</Application>
  <PresentationFormat>Widescreen</PresentationFormat>
  <Paragraphs>195</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Arial</vt:lpstr>
      <vt:lpstr>Avenir</vt:lpstr>
      <vt:lpstr>Calibri</vt:lpstr>
      <vt:lpstr>BlockprintVTI</vt:lpstr>
      <vt:lpstr>CS621 Parallel and Distributed Computing</vt:lpstr>
      <vt:lpstr>CS621 Parallel and Distributed Computing</vt:lpstr>
      <vt:lpstr>Objectives</vt:lpstr>
      <vt:lpstr>Introduction to Distributed Computing</vt:lpstr>
      <vt:lpstr>Introduction to Distributed Computing Cont.…</vt:lpstr>
      <vt:lpstr>Introduction to Distributed Computing Cont.…</vt:lpstr>
      <vt:lpstr>CS621 Parallel and Distributed Computing</vt:lpstr>
      <vt:lpstr>Objectives</vt:lpstr>
      <vt:lpstr>Why Use Distributed Computing</vt:lpstr>
      <vt:lpstr>Why use Distributed Computing</vt:lpstr>
      <vt:lpstr>Why use Distributed Computing Cont.…</vt:lpstr>
      <vt:lpstr>CS621 Parallel and Distributed Computing</vt:lpstr>
      <vt:lpstr>Objectives</vt:lpstr>
      <vt:lpstr>Difference between Parallel and Distributed Computing</vt:lpstr>
      <vt:lpstr>Difference between Parallel and Distributed Computing Cont…</vt:lpstr>
      <vt:lpstr>CS621 Parallel and Distributed Computing</vt:lpstr>
      <vt:lpstr>Objectives</vt:lpstr>
      <vt:lpstr>Applications of Parallel and Distributed Computing</vt:lpstr>
      <vt:lpstr>Applications of Parallel and Distributed Computing</vt:lpstr>
      <vt:lpstr>Applications of Parallel and Distributed Computing Cont.…</vt:lpstr>
      <vt:lpstr>Applications of Parallel and Distributed Computing Cont.…</vt:lpstr>
      <vt:lpstr>CS621 Parallel and Distributed Computing</vt:lpstr>
      <vt:lpstr>Objectives</vt:lpstr>
      <vt:lpstr>Issues in Parallel and Distributed Computing</vt:lpstr>
      <vt:lpstr>Issues in Parallel and Distributed Computing</vt:lpstr>
      <vt:lpstr>Issues in Parallel and Distributed Computing Cont.…</vt:lpstr>
      <vt:lpstr>CS621 Parallel and Distributed Computing</vt:lpstr>
      <vt:lpstr>Objectives</vt:lpstr>
      <vt:lpstr>Parallel and Distributed Computing Programming Design Efforts</vt:lpstr>
      <vt:lpstr>Decomposition </vt:lpstr>
      <vt:lpstr>Communication</vt:lpstr>
      <vt:lpstr>Synchronization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CS621 Parallel and Distributed Computing</dc:title>
  <dc:creator>Academics 1</dc:creator>
  <cp:lastModifiedBy>Said Nabi</cp:lastModifiedBy>
  <cp:revision>2</cp:revision>
  <dcterms:created xsi:type="dcterms:W3CDTF">2022-12-26T05:14:17Z</dcterms:created>
  <dcterms:modified xsi:type="dcterms:W3CDTF">2023-04-19T06:30:04Z</dcterms:modified>
</cp:coreProperties>
</file>