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9.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0.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1.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2.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3.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4.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27.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8.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29.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30.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46"/>
  </p:notesMasterIdLst>
  <p:sldIdLst>
    <p:sldId id="342" r:id="rId2"/>
    <p:sldId id="318" r:id="rId3"/>
    <p:sldId id="319" r:id="rId4"/>
    <p:sldId id="338" r:id="rId5"/>
    <p:sldId id="261" r:id="rId6"/>
    <p:sldId id="348" r:id="rId7"/>
    <p:sldId id="360" r:id="rId8"/>
    <p:sldId id="358" r:id="rId9"/>
    <p:sldId id="340" r:id="rId10"/>
    <p:sldId id="341" r:id="rId11"/>
    <p:sldId id="347" r:id="rId12"/>
    <p:sldId id="349" r:id="rId13"/>
    <p:sldId id="361" r:id="rId14"/>
    <p:sldId id="322" r:id="rId15"/>
    <p:sldId id="323" r:id="rId16"/>
    <p:sldId id="278" r:id="rId17"/>
    <p:sldId id="350" r:id="rId18"/>
    <p:sldId id="353" r:id="rId19"/>
    <p:sldId id="354" r:id="rId20"/>
    <p:sldId id="356" r:id="rId21"/>
    <p:sldId id="324" r:id="rId22"/>
    <p:sldId id="333" r:id="rId23"/>
    <p:sldId id="288" r:id="rId24"/>
    <p:sldId id="305" r:id="rId25"/>
    <p:sldId id="363" r:id="rId26"/>
    <p:sldId id="367" r:id="rId27"/>
    <p:sldId id="375" r:id="rId28"/>
    <p:sldId id="364" r:id="rId29"/>
    <p:sldId id="365" r:id="rId30"/>
    <p:sldId id="366" r:id="rId31"/>
    <p:sldId id="369" r:id="rId32"/>
    <p:sldId id="370" r:id="rId33"/>
    <p:sldId id="326" r:id="rId34"/>
    <p:sldId id="327" r:id="rId35"/>
    <p:sldId id="300" r:id="rId36"/>
    <p:sldId id="372" r:id="rId37"/>
    <p:sldId id="301" r:id="rId38"/>
    <p:sldId id="371" r:id="rId39"/>
    <p:sldId id="328" r:id="rId40"/>
    <p:sldId id="334" r:id="rId41"/>
    <p:sldId id="290" r:id="rId42"/>
    <p:sldId id="306" r:id="rId43"/>
    <p:sldId id="373" r:id="rId44"/>
    <p:sldId id="382"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25F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162" autoAdjust="0"/>
  </p:normalViewPr>
  <p:slideViewPr>
    <p:cSldViewPr snapToGrid="0">
      <p:cViewPr varScale="1">
        <p:scale>
          <a:sx n="92" d="100"/>
          <a:sy n="92" d="100"/>
        </p:scale>
        <p:origin x="13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8.svg"/></Relationships>
</file>

<file path=ppt/diagrams/_rels/data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ata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8.svg"/></Relationships>
</file>

<file path=ppt/diagrams/_rels/drawing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What is Concurrency?</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Mechanisms for Concurrency Control.</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6B0C91-A28F-4529-ABE8-2BC389DCAF8A}"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754A7878-F3D9-4826-81AE-ED825EC8B844}">
      <dgm:prSet/>
      <dgm:spPr/>
      <dgm:t>
        <a:bodyPr/>
        <a:lstStyle/>
        <a:p>
          <a:r>
            <a:rPr lang="en-US" dirty="0"/>
            <a:t>Concurrent doesn't necessarily mean at the same exact instant. For example, two tasks may occur concurrently within the same second but with each task executing within different fractions of the second. </a:t>
          </a:r>
        </a:p>
      </dgm:t>
    </dgm:pt>
    <dgm:pt modelId="{DBC34895-B43E-46F6-8213-B6D9971303E1}" type="parTrans" cxnId="{3C5706E3-9051-4359-B80C-1987B0D2EA37}">
      <dgm:prSet/>
      <dgm:spPr/>
      <dgm:t>
        <a:bodyPr/>
        <a:lstStyle/>
        <a:p>
          <a:endParaRPr lang="en-US"/>
        </a:p>
      </dgm:t>
    </dgm:pt>
    <dgm:pt modelId="{545CA7C1-0D8B-4418-BA1F-A1DD98261635}" type="sibTrans" cxnId="{3C5706E3-9051-4359-B80C-1987B0D2EA37}">
      <dgm:prSet/>
      <dgm:spPr/>
      <dgm:t>
        <a:bodyPr/>
        <a:lstStyle/>
        <a:p>
          <a:endParaRPr lang="en-US"/>
        </a:p>
      </dgm:t>
    </dgm:pt>
    <dgm:pt modelId="{C5D9F2BF-5415-46A3-B4F7-A9FF7275350A}">
      <dgm:prSet/>
      <dgm:spPr/>
      <dgm:t>
        <a:bodyPr/>
        <a:lstStyle/>
        <a:p>
          <a:r>
            <a:rPr lang="en-US"/>
            <a:t>Concurrent tasks can execute in a single or multiprocessing environment.</a:t>
          </a:r>
        </a:p>
      </dgm:t>
    </dgm:pt>
    <dgm:pt modelId="{3366FE1B-6CA9-471B-BF88-26A8E083CB4B}" type="parTrans" cxnId="{8DCAB35D-CAD7-4779-B8E8-8542CF08BD4C}">
      <dgm:prSet/>
      <dgm:spPr/>
      <dgm:t>
        <a:bodyPr/>
        <a:lstStyle/>
        <a:p>
          <a:endParaRPr lang="en-US"/>
        </a:p>
      </dgm:t>
    </dgm:pt>
    <dgm:pt modelId="{5E814139-3B75-4F0A-8149-51E4145EE7A6}" type="sibTrans" cxnId="{8DCAB35D-CAD7-4779-B8E8-8542CF08BD4C}">
      <dgm:prSet/>
      <dgm:spPr/>
      <dgm:t>
        <a:bodyPr/>
        <a:lstStyle/>
        <a:p>
          <a:endParaRPr lang="en-US"/>
        </a:p>
      </dgm:t>
    </dgm:pt>
    <dgm:pt modelId="{4FD214A8-0538-4F22-9785-6B54CE514DEC}">
      <dgm:prSet/>
      <dgm:spPr/>
      <dgm:t>
        <a:bodyPr/>
        <a:lstStyle/>
        <a:p>
          <a:r>
            <a:rPr lang="en-US"/>
            <a:t>In a single processing environment, concurrent tasks exist at the same time and execute within the same time period by context switching.</a:t>
          </a:r>
        </a:p>
      </dgm:t>
    </dgm:pt>
    <dgm:pt modelId="{ED319E76-7E94-49CF-B06F-D81898662CEE}" type="parTrans" cxnId="{DF72FC7C-5A17-4936-B0AE-2B16A45E7CC9}">
      <dgm:prSet/>
      <dgm:spPr/>
      <dgm:t>
        <a:bodyPr/>
        <a:lstStyle/>
        <a:p>
          <a:endParaRPr lang="en-US"/>
        </a:p>
      </dgm:t>
    </dgm:pt>
    <dgm:pt modelId="{F3387749-F32D-49EF-A194-259D10030357}" type="sibTrans" cxnId="{DF72FC7C-5A17-4936-B0AE-2B16A45E7CC9}">
      <dgm:prSet/>
      <dgm:spPr/>
      <dgm:t>
        <a:bodyPr/>
        <a:lstStyle/>
        <a:p>
          <a:endParaRPr lang="en-US"/>
        </a:p>
      </dgm:t>
    </dgm:pt>
    <dgm:pt modelId="{F5161AC5-C3F4-4AAB-860A-34BB237D06E4}">
      <dgm:prSet/>
      <dgm:spPr/>
      <dgm:t>
        <a:bodyPr/>
        <a:lstStyle/>
        <a:p>
          <a:r>
            <a:rPr lang="en-US"/>
            <a:t>In a multiprocessor environment, if enough processors are free, concurrent tasks may execute at the same instant over the same time period. The determining factor for what makes an acceptable time period for concurrency is relative to the application. </a:t>
          </a:r>
        </a:p>
      </dgm:t>
    </dgm:pt>
    <dgm:pt modelId="{2F848F2C-C9A0-4126-890C-6411DC6AEF58}" type="parTrans" cxnId="{848AFAD5-DEDB-4BA2-ADA2-13A9BF7B4D51}">
      <dgm:prSet/>
      <dgm:spPr/>
      <dgm:t>
        <a:bodyPr/>
        <a:lstStyle/>
        <a:p>
          <a:endParaRPr lang="en-US"/>
        </a:p>
      </dgm:t>
    </dgm:pt>
    <dgm:pt modelId="{FF7241A0-4E6E-475E-82A0-ECC161CA0A88}" type="sibTrans" cxnId="{848AFAD5-DEDB-4BA2-ADA2-13A9BF7B4D51}">
      <dgm:prSet/>
      <dgm:spPr/>
      <dgm:t>
        <a:bodyPr/>
        <a:lstStyle/>
        <a:p>
          <a:endParaRPr lang="en-US"/>
        </a:p>
      </dgm:t>
    </dgm:pt>
    <dgm:pt modelId="{24C5CD45-38E6-4EEA-ACFB-262C46873AFF}" type="pres">
      <dgm:prSet presAssocID="{4D6B0C91-A28F-4529-ABE8-2BC389DCAF8A}" presName="Name0" presStyleCnt="0">
        <dgm:presLayoutVars>
          <dgm:dir/>
          <dgm:animLvl val="lvl"/>
          <dgm:resizeHandles val="exact"/>
        </dgm:presLayoutVars>
      </dgm:prSet>
      <dgm:spPr/>
    </dgm:pt>
    <dgm:pt modelId="{F7731B6E-78FF-4789-A2A5-98130467E3D1}" type="pres">
      <dgm:prSet presAssocID="{C5D9F2BF-5415-46A3-B4F7-A9FF7275350A}" presName="boxAndChildren" presStyleCnt="0"/>
      <dgm:spPr/>
    </dgm:pt>
    <dgm:pt modelId="{E825AF52-B654-4F45-9D01-E8F2453466E5}" type="pres">
      <dgm:prSet presAssocID="{C5D9F2BF-5415-46A3-B4F7-A9FF7275350A}" presName="parentTextBox" presStyleLbl="node1" presStyleIdx="0" presStyleCnt="2"/>
      <dgm:spPr/>
    </dgm:pt>
    <dgm:pt modelId="{243F42A9-D355-4514-A8B3-B56F692DFBFA}" type="pres">
      <dgm:prSet presAssocID="{C5D9F2BF-5415-46A3-B4F7-A9FF7275350A}" presName="entireBox" presStyleLbl="node1" presStyleIdx="0" presStyleCnt="2"/>
      <dgm:spPr/>
    </dgm:pt>
    <dgm:pt modelId="{59431B15-7A2F-4BEF-939F-76889580D974}" type="pres">
      <dgm:prSet presAssocID="{C5D9F2BF-5415-46A3-B4F7-A9FF7275350A}" presName="descendantBox" presStyleCnt="0"/>
      <dgm:spPr/>
    </dgm:pt>
    <dgm:pt modelId="{B41B6A33-14F6-4658-BE27-02FDDB57FED5}" type="pres">
      <dgm:prSet presAssocID="{4FD214A8-0538-4F22-9785-6B54CE514DEC}" presName="childTextBox" presStyleLbl="fgAccFollowNode1" presStyleIdx="0" presStyleCnt="2">
        <dgm:presLayoutVars>
          <dgm:bulletEnabled val="1"/>
        </dgm:presLayoutVars>
      </dgm:prSet>
      <dgm:spPr/>
    </dgm:pt>
    <dgm:pt modelId="{F8E4B9DA-0AB3-41E8-9FEA-5444EEA0BC96}" type="pres">
      <dgm:prSet presAssocID="{F5161AC5-C3F4-4AAB-860A-34BB237D06E4}" presName="childTextBox" presStyleLbl="fgAccFollowNode1" presStyleIdx="1" presStyleCnt="2">
        <dgm:presLayoutVars>
          <dgm:bulletEnabled val="1"/>
        </dgm:presLayoutVars>
      </dgm:prSet>
      <dgm:spPr/>
    </dgm:pt>
    <dgm:pt modelId="{BB349E15-2259-4350-B701-108D79760631}" type="pres">
      <dgm:prSet presAssocID="{545CA7C1-0D8B-4418-BA1F-A1DD98261635}" presName="sp" presStyleCnt="0"/>
      <dgm:spPr/>
    </dgm:pt>
    <dgm:pt modelId="{B26DC231-49B4-4EDA-A0E1-164AC1CDE56D}" type="pres">
      <dgm:prSet presAssocID="{754A7878-F3D9-4826-81AE-ED825EC8B844}" presName="arrowAndChildren" presStyleCnt="0"/>
      <dgm:spPr/>
    </dgm:pt>
    <dgm:pt modelId="{506A5A6A-473B-47EA-85E9-E4F7CFCBA44E}" type="pres">
      <dgm:prSet presAssocID="{754A7878-F3D9-4826-81AE-ED825EC8B844}" presName="parentTextArrow" presStyleLbl="node1" presStyleIdx="1" presStyleCnt="2"/>
      <dgm:spPr/>
    </dgm:pt>
  </dgm:ptLst>
  <dgm:cxnLst>
    <dgm:cxn modelId="{3B27892B-EB4F-45DB-89B9-529826604045}" type="presOf" srcId="{F5161AC5-C3F4-4AAB-860A-34BB237D06E4}" destId="{F8E4B9DA-0AB3-41E8-9FEA-5444EEA0BC96}" srcOrd="0" destOrd="0" presId="urn:microsoft.com/office/officeart/2005/8/layout/process4"/>
    <dgm:cxn modelId="{A720C639-28F9-443B-AC78-0F702EB25BEF}" type="presOf" srcId="{C5D9F2BF-5415-46A3-B4F7-A9FF7275350A}" destId="{E825AF52-B654-4F45-9D01-E8F2453466E5}" srcOrd="0" destOrd="0" presId="urn:microsoft.com/office/officeart/2005/8/layout/process4"/>
    <dgm:cxn modelId="{8DCAB35D-CAD7-4779-B8E8-8542CF08BD4C}" srcId="{4D6B0C91-A28F-4529-ABE8-2BC389DCAF8A}" destId="{C5D9F2BF-5415-46A3-B4F7-A9FF7275350A}" srcOrd="1" destOrd="0" parTransId="{3366FE1B-6CA9-471B-BF88-26A8E083CB4B}" sibTransId="{5E814139-3B75-4F0A-8149-51E4145EE7A6}"/>
    <dgm:cxn modelId="{5BB7DA6B-598D-4ED0-A9F5-5B8D5B55E25E}" type="presOf" srcId="{4D6B0C91-A28F-4529-ABE8-2BC389DCAF8A}" destId="{24C5CD45-38E6-4EEA-ACFB-262C46873AFF}" srcOrd="0" destOrd="0" presId="urn:microsoft.com/office/officeart/2005/8/layout/process4"/>
    <dgm:cxn modelId="{5C97664C-0473-45C7-A82D-159942635C6C}" type="presOf" srcId="{4FD214A8-0538-4F22-9785-6B54CE514DEC}" destId="{B41B6A33-14F6-4658-BE27-02FDDB57FED5}" srcOrd="0" destOrd="0" presId="urn:microsoft.com/office/officeart/2005/8/layout/process4"/>
    <dgm:cxn modelId="{DF72FC7C-5A17-4936-B0AE-2B16A45E7CC9}" srcId="{C5D9F2BF-5415-46A3-B4F7-A9FF7275350A}" destId="{4FD214A8-0538-4F22-9785-6B54CE514DEC}" srcOrd="0" destOrd="0" parTransId="{ED319E76-7E94-49CF-B06F-D81898662CEE}" sibTransId="{F3387749-F32D-49EF-A194-259D10030357}"/>
    <dgm:cxn modelId="{98B7129C-F5FE-4EC7-9D6A-7E6A2C7C1591}" type="presOf" srcId="{754A7878-F3D9-4826-81AE-ED825EC8B844}" destId="{506A5A6A-473B-47EA-85E9-E4F7CFCBA44E}" srcOrd="0" destOrd="0" presId="urn:microsoft.com/office/officeart/2005/8/layout/process4"/>
    <dgm:cxn modelId="{848AFAD5-DEDB-4BA2-ADA2-13A9BF7B4D51}" srcId="{C5D9F2BF-5415-46A3-B4F7-A9FF7275350A}" destId="{F5161AC5-C3F4-4AAB-860A-34BB237D06E4}" srcOrd="1" destOrd="0" parTransId="{2F848F2C-C9A0-4126-890C-6411DC6AEF58}" sibTransId="{FF7241A0-4E6E-475E-82A0-ECC161CA0A88}"/>
    <dgm:cxn modelId="{3C5706E3-9051-4359-B80C-1987B0D2EA37}" srcId="{4D6B0C91-A28F-4529-ABE8-2BC389DCAF8A}" destId="{754A7878-F3D9-4826-81AE-ED825EC8B844}" srcOrd="0" destOrd="0" parTransId="{DBC34895-B43E-46F6-8213-B6D9971303E1}" sibTransId="{545CA7C1-0D8B-4418-BA1F-A1DD98261635}"/>
    <dgm:cxn modelId="{78DD58F2-7F70-4A24-B446-418C6B23522E}" type="presOf" srcId="{C5D9F2BF-5415-46A3-B4F7-A9FF7275350A}" destId="{243F42A9-D355-4514-A8B3-B56F692DFBFA}" srcOrd="1" destOrd="0" presId="urn:microsoft.com/office/officeart/2005/8/layout/process4"/>
    <dgm:cxn modelId="{7B276D54-A301-419D-9126-59C0C0C20BCB}" type="presParOf" srcId="{24C5CD45-38E6-4EEA-ACFB-262C46873AFF}" destId="{F7731B6E-78FF-4789-A2A5-98130467E3D1}" srcOrd="0" destOrd="0" presId="urn:microsoft.com/office/officeart/2005/8/layout/process4"/>
    <dgm:cxn modelId="{969B3790-059C-487F-B08F-4C14D19A994B}" type="presParOf" srcId="{F7731B6E-78FF-4789-A2A5-98130467E3D1}" destId="{E825AF52-B654-4F45-9D01-E8F2453466E5}" srcOrd="0" destOrd="0" presId="urn:microsoft.com/office/officeart/2005/8/layout/process4"/>
    <dgm:cxn modelId="{38B877AD-9147-47CD-8DD9-B405D5176101}" type="presParOf" srcId="{F7731B6E-78FF-4789-A2A5-98130467E3D1}" destId="{243F42A9-D355-4514-A8B3-B56F692DFBFA}" srcOrd="1" destOrd="0" presId="urn:microsoft.com/office/officeart/2005/8/layout/process4"/>
    <dgm:cxn modelId="{084DCBCF-6EEF-4F40-8693-D7F072C6252D}" type="presParOf" srcId="{F7731B6E-78FF-4789-A2A5-98130467E3D1}" destId="{59431B15-7A2F-4BEF-939F-76889580D974}" srcOrd="2" destOrd="0" presId="urn:microsoft.com/office/officeart/2005/8/layout/process4"/>
    <dgm:cxn modelId="{E063B309-1142-4171-B30B-7EA1F747A657}" type="presParOf" srcId="{59431B15-7A2F-4BEF-939F-76889580D974}" destId="{B41B6A33-14F6-4658-BE27-02FDDB57FED5}" srcOrd="0" destOrd="0" presId="urn:microsoft.com/office/officeart/2005/8/layout/process4"/>
    <dgm:cxn modelId="{3E59D352-FB6B-4C2A-B6A5-630EBD02E969}" type="presParOf" srcId="{59431B15-7A2F-4BEF-939F-76889580D974}" destId="{F8E4B9DA-0AB3-41E8-9FEA-5444EEA0BC96}" srcOrd="1" destOrd="0" presId="urn:microsoft.com/office/officeart/2005/8/layout/process4"/>
    <dgm:cxn modelId="{9CA65969-A0C6-4AA7-B3FE-E006687E42E1}" type="presParOf" srcId="{24C5CD45-38E6-4EEA-ACFB-262C46873AFF}" destId="{BB349E15-2259-4350-B701-108D79760631}" srcOrd="1" destOrd="0" presId="urn:microsoft.com/office/officeart/2005/8/layout/process4"/>
    <dgm:cxn modelId="{08D9CD2A-DBDD-4606-A150-0FE951AEBCF9}" type="presParOf" srcId="{24C5CD45-38E6-4EEA-ACFB-262C46873AFF}" destId="{B26DC231-49B4-4EDA-A0E1-164AC1CDE56D}" srcOrd="2" destOrd="0" presId="urn:microsoft.com/office/officeart/2005/8/layout/process4"/>
    <dgm:cxn modelId="{E4696292-639B-4C26-B965-34552C2E7295}" type="presParOf" srcId="{B26DC231-49B4-4EDA-A0E1-164AC1CDE56D}" destId="{506A5A6A-473B-47EA-85E9-E4F7CFCBA44E}" srcOrd="0" destOrd="0" presId="urn:microsoft.com/office/officeart/2005/8/layout/process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9BEE94-B8BA-4AFA-B737-F0F91AD82B13}"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PK"/>
        </a:p>
      </dgm:t>
    </dgm:pt>
    <dgm:pt modelId="{29316610-B645-4EDE-9D79-9A0B334D8298}">
      <dgm:prSet/>
      <dgm:spPr/>
      <dgm:t>
        <a:bodyPr/>
        <a:lstStyle/>
        <a:p>
          <a:r>
            <a:rPr lang="en-US" dirty="0"/>
            <a:t>Synchronization and Coordination are two basic approaches to tackle this challenge: </a:t>
          </a:r>
          <a:endParaRPr lang="en-PK" dirty="0"/>
        </a:p>
      </dgm:t>
    </dgm:pt>
    <dgm:pt modelId="{33A8888F-EEBC-40FD-8759-DE16DD586056}" type="parTrans" cxnId="{1256CE47-36CA-4BCF-AE1F-0D27FA82D445}">
      <dgm:prSet/>
      <dgm:spPr/>
      <dgm:t>
        <a:bodyPr/>
        <a:lstStyle/>
        <a:p>
          <a:endParaRPr lang="en-PK"/>
        </a:p>
      </dgm:t>
    </dgm:pt>
    <dgm:pt modelId="{FCAFF225-8E56-44E0-88BF-7AB4A208AD9C}" type="sibTrans" cxnId="{1256CE47-36CA-4BCF-AE1F-0D27FA82D445}">
      <dgm:prSet/>
      <dgm:spPr/>
      <dgm:t>
        <a:bodyPr/>
        <a:lstStyle/>
        <a:p>
          <a:endParaRPr lang="en-PK"/>
        </a:p>
      </dgm:t>
    </dgm:pt>
    <dgm:pt modelId="{67EBF00B-B533-4453-9DD7-03BAE049CDAF}">
      <dgm:prSet/>
      <dgm:spPr/>
      <dgm:t>
        <a:bodyPr/>
        <a:lstStyle/>
        <a:p>
          <a:r>
            <a:rPr lang="en-US" dirty="0"/>
            <a:t>Synchronization is a mechanism that controls access on shared resources between multiple activities. It enforces exclusiveness and ordered access on the resource by different activities.</a:t>
          </a:r>
          <a:endParaRPr lang="en-PK" dirty="0"/>
        </a:p>
      </dgm:t>
    </dgm:pt>
    <dgm:pt modelId="{69EBF56C-4F50-4B63-BCD9-B7ECFB28E5FB}" type="parTrans" cxnId="{B1D6266F-C135-4C7E-BA41-095543D200E8}">
      <dgm:prSet/>
      <dgm:spPr/>
      <dgm:t>
        <a:bodyPr/>
        <a:lstStyle/>
        <a:p>
          <a:endParaRPr lang="en-PK"/>
        </a:p>
      </dgm:t>
    </dgm:pt>
    <dgm:pt modelId="{5CFFB183-756E-486A-AAB8-96B5A3AB1425}" type="sibTrans" cxnId="{B1D6266F-C135-4C7E-BA41-095543D200E8}">
      <dgm:prSet/>
      <dgm:spPr/>
      <dgm:t>
        <a:bodyPr/>
        <a:lstStyle/>
        <a:p>
          <a:endParaRPr lang="en-PK"/>
        </a:p>
      </dgm:t>
    </dgm:pt>
    <dgm:pt modelId="{04027683-74DA-42A2-BD2E-456204C36C8F}">
      <dgm:prSet/>
      <dgm:spPr/>
      <dgm:t>
        <a:bodyPr/>
        <a:lstStyle/>
        <a:p>
          <a:r>
            <a:rPr lang="en-US" dirty="0"/>
            <a:t> Coordination aims at the orchestration of collaborating activities.</a:t>
          </a:r>
          <a:endParaRPr lang="en-PK" dirty="0"/>
        </a:p>
      </dgm:t>
    </dgm:pt>
    <dgm:pt modelId="{A93F0D08-EEEB-48A4-8FFA-8C83B2529397}" type="parTrans" cxnId="{F7DE73A1-4423-46BC-AEBE-C75C7F671D31}">
      <dgm:prSet/>
      <dgm:spPr/>
      <dgm:t>
        <a:bodyPr/>
        <a:lstStyle/>
        <a:p>
          <a:endParaRPr lang="en-PK"/>
        </a:p>
      </dgm:t>
    </dgm:pt>
    <dgm:pt modelId="{856224AC-3A0B-4FCC-9AF6-A2B257BD2020}" type="sibTrans" cxnId="{F7DE73A1-4423-46BC-AEBE-C75C7F671D31}">
      <dgm:prSet/>
      <dgm:spPr/>
      <dgm:t>
        <a:bodyPr/>
        <a:lstStyle/>
        <a:p>
          <a:endParaRPr lang="en-PK"/>
        </a:p>
      </dgm:t>
    </dgm:pt>
    <dgm:pt modelId="{087BEA23-0DA4-475D-9EFB-129FCE17FF6C}" type="pres">
      <dgm:prSet presAssocID="{C99BEE94-B8BA-4AFA-B737-F0F91AD82B13}" presName="Name0" presStyleCnt="0">
        <dgm:presLayoutVars>
          <dgm:dir/>
          <dgm:animLvl val="lvl"/>
          <dgm:resizeHandles val="exact"/>
        </dgm:presLayoutVars>
      </dgm:prSet>
      <dgm:spPr/>
    </dgm:pt>
    <dgm:pt modelId="{0BEEE808-B79A-4321-94C2-6E48290A28D7}" type="pres">
      <dgm:prSet presAssocID="{29316610-B645-4EDE-9D79-9A0B334D8298}" presName="linNode" presStyleCnt="0"/>
      <dgm:spPr/>
    </dgm:pt>
    <dgm:pt modelId="{AC9D75FF-6572-4EFF-B5A9-AE7663C8D0E5}" type="pres">
      <dgm:prSet presAssocID="{29316610-B645-4EDE-9D79-9A0B334D8298}" presName="parentText" presStyleLbl="node1" presStyleIdx="0" presStyleCnt="1">
        <dgm:presLayoutVars>
          <dgm:chMax val="1"/>
          <dgm:bulletEnabled val="1"/>
        </dgm:presLayoutVars>
      </dgm:prSet>
      <dgm:spPr/>
    </dgm:pt>
    <dgm:pt modelId="{76E3935F-79F1-40F7-B988-C5D0B802B791}" type="pres">
      <dgm:prSet presAssocID="{29316610-B645-4EDE-9D79-9A0B334D8298}" presName="descendantText" presStyleLbl="alignAccFollowNode1" presStyleIdx="0" presStyleCnt="1">
        <dgm:presLayoutVars>
          <dgm:bulletEnabled val="1"/>
        </dgm:presLayoutVars>
      </dgm:prSet>
      <dgm:spPr/>
    </dgm:pt>
  </dgm:ptLst>
  <dgm:cxnLst>
    <dgm:cxn modelId="{49426A1B-6323-4C7E-8B39-365375564E0A}" type="presOf" srcId="{C99BEE94-B8BA-4AFA-B737-F0F91AD82B13}" destId="{087BEA23-0DA4-475D-9EFB-129FCE17FF6C}" srcOrd="0" destOrd="0" presId="urn:microsoft.com/office/officeart/2005/8/layout/vList5"/>
    <dgm:cxn modelId="{CABED13B-91F2-4A3B-B7B5-1439A8742E61}" type="presOf" srcId="{04027683-74DA-42A2-BD2E-456204C36C8F}" destId="{76E3935F-79F1-40F7-B988-C5D0B802B791}" srcOrd="0" destOrd="1" presId="urn:microsoft.com/office/officeart/2005/8/layout/vList5"/>
    <dgm:cxn modelId="{1256CE47-36CA-4BCF-AE1F-0D27FA82D445}" srcId="{C99BEE94-B8BA-4AFA-B737-F0F91AD82B13}" destId="{29316610-B645-4EDE-9D79-9A0B334D8298}" srcOrd="0" destOrd="0" parTransId="{33A8888F-EEBC-40FD-8759-DE16DD586056}" sibTransId="{FCAFF225-8E56-44E0-88BF-7AB4A208AD9C}"/>
    <dgm:cxn modelId="{B1D6266F-C135-4C7E-BA41-095543D200E8}" srcId="{29316610-B645-4EDE-9D79-9A0B334D8298}" destId="{67EBF00B-B533-4453-9DD7-03BAE049CDAF}" srcOrd="0" destOrd="0" parTransId="{69EBF56C-4F50-4B63-BCD9-B7ECFB28E5FB}" sibTransId="{5CFFB183-756E-486A-AAB8-96B5A3AB1425}"/>
    <dgm:cxn modelId="{F7DE73A1-4423-46BC-AEBE-C75C7F671D31}" srcId="{29316610-B645-4EDE-9D79-9A0B334D8298}" destId="{04027683-74DA-42A2-BD2E-456204C36C8F}" srcOrd="1" destOrd="0" parTransId="{A93F0D08-EEEB-48A4-8FFA-8C83B2529397}" sibTransId="{856224AC-3A0B-4FCC-9AF6-A2B257BD2020}"/>
    <dgm:cxn modelId="{B6E3F3AD-98E6-43B4-ACAA-142A469617EB}" type="presOf" srcId="{29316610-B645-4EDE-9D79-9A0B334D8298}" destId="{AC9D75FF-6572-4EFF-B5A9-AE7663C8D0E5}" srcOrd="0" destOrd="0" presId="urn:microsoft.com/office/officeart/2005/8/layout/vList5"/>
    <dgm:cxn modelId="{FCF37AC3-46FD-4141-99C8-F074A55F701E}" type="presOf" srcId="{67EBF00B-B533-4453-9DD7-03BAE049CDAF}" destId="{76E3935F-79F1-40F7-B988-C5D0B802B791}" srcOrd="0" destOrd="0" presId="urn:microsoft.com/office/officeart/2005/8/layout/vList5"/>
    <dgm:cxn modelId="{331CD825-E8AB-4668-B16A-2E9657218619}" type="presParOf" srcId="{087BEA23-0DA4-475D-9EFB-129FCE17FF6C}" destId="{0BEEE808-B79A-4321-94C2-6E48290A28D7}" srcOrd="0" destOrd="0" presId="urn:microsoft.com/office/officeart/2005/8/layout/vList5"/>
    <dgm:cxn modelId="{2A6EC587-5B9F-4469-A843-71E947E11535}" type="presParOf" srcId="{0BEEE808-B79A-4321-94C2-6E48290A28D7}" destId="{AC9D75FF-6572-4EFF-B5A9-AE7663C8D0E5}" srcOrd="0" destOrd="0" presId="urn:microsoft.com/office/officeart/2005/8/layout/vList5"/>
    <dgm:cxn modelId="{2366204E-F134-4539-9438-E8A0E524D7E8}" type="presParOf" srcId="{0BEEE808-B79A-4321-94C2-6E48290A28D7}" destId="{76E3935F-79F1-40F7-B988-C5D0B802B791}"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8530B52-412F-4B69-8C73-A47F553D7BD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2827463-1BCE-4F1D-9A79-9EDD3380BA88}">
      <dgm:prSet/>
      <dgm:spPr/>
      <dgm:t>
        <a:bodyPr/>
        <a:lstStyle/>
        <a:p>
          <a:r>
            <a:rPr lang="en-US"/>
            <a:t>The overall time to perform the series of tasks is reduced.</a:t>
          </a:r>
        </a:p>
      </dgm:t>
    </dgm:pt>
    <dgm:pt modelId="{DB937F33-5A68-4DC2-A1FD-EF035C5C98C8}" type="parTrans" cxnId="{DF69FB5E-AFE2-4B10-9A80-35AD0F9988C4}">
      <dgm:prSet/>
      <dgm:spPr/>
      <dgm:t>
        <a:bodyPr/>
        <a:lstStyle/>
        <a:p>
          <a:endParaRPr lang="en-US"/>
        </a:p>
      </dgm:t>
    </dgm:pt>
    <dgm:pt modelId="{CB633FEA-A5A3-4A00-A183-928D4F066040}" type="sibTrans" cxnId="{DF69FB5E-AFE2-4B10-9A80-35AD0F9988C4}">
      <dgm:prSet/>
      <dgm:spPr/>
      <dgm:t>
        <a:bodyPr/>
        <a:lstStyle/>
        <a:p>
          <a:endParaRPr lang="en-US"/>
        </a:p>
      </dgm:t>
    </dgm:pt>
    <dgm:pt modelId="{7075A54A-5B6F-4CBC-A66B-0B3D02ED6E63}">
      <dgm:prSet/>
      <dgm:spPr/>
      <dgm:t>
        <a:bodyPr/>
        <a:lstStyle/>
        <a:p>
          <a:r>
            <a:rPr lang="en-US"/>
            <a:t>Concurrent processes can reduce duplication in code.</a:t>
          </a:r>
        </a:p>
      </dgm:t>
    </dgm:pt>
    <dgm:pt modelId="{885C1C1F-5787-4116-AA84-1656C5986EB0}" type="parTrans" cxnId="{72EAED98-34A7-4633-8DA6-ECF0273569C9}">
      <dgm:prSet/>
      <dgm:spPr/>
      <dgm:t>
        <a:bodyPr/>
        <a:lstStyle/>
        <a:p>
          <a:endParaRPr lang="en-US"/>
        </a:p>
      </dgm:t>
    </dgm:pt>
    <dgm:pt modelId="{C04A15A0-1ECC-43CC-AC5E-D2D00FC589B8}" type="sibTrans" cxnId="{72EAED98-34A7-4633-8DA6-ECF0273569C9}">
      <dgm:prSet/>
      <dgm:spPr/>
      <dgm:t>
        <a:bodyPr/>
        <a:lstStyle/>
        <a:p>
          <a:endParaRPr lang="en-US"/>
        </a:p>
      </dgm:t>
    </dgm:pt>
    <dgm:pt modelId="{7521BA46-5A24-4779-94DA-93C25B3B0D88}">
      <dgm:prSet/>
      <dgm:spPr/>
      <dgm:t>
        <a:bodyPr/>
        <a:lstStyle/>
        <a:p>
          <a:r>
            <a:rPr lang="en-US"/>
            <a:t>The overall runtime of the algorithm can be significantly reduced.</a:t>
          </a:r>
        </a:p>
      </dgm:t>
    </dgm:pt>
    <dgm:pt modelId="{9DEC4D6A-402B-49AC-8949-C09040CD0F9A}" type="parTrans" cxnId="{AD3DFAA3-92E8-4D07-B9C2-8422FA5CDD06}">
      <dgm:prSet/>
      <dgm:spPr/>
      <dgm:t>
        <a:bodyPr/>
        <a:lstStyle/>
        <a:p>
          <a:endParaRPr lang="en-US"/>
        </a:p>
      </dgm:t>
    </dgm:pt>
    <dgm:pt modelId="{957E6D16-E411-433E-9019-580C21E92FC0}" type="sibTrans" cxnId="{AD3DFAA3-92E8-4D07-B9C2-8422FA5CDD06}">
      <dgm:prSet/>
      <dgm:spPr/>
      <dgm:t>
        <a:bodyPr/>
        <a:lstStyle/>
        <a:p>
          <a:endParaRPr lang="en-US"/>
        </a:p>
      </dgm:t>
    </dgm:pt>
    <dgm:pt modelId="{33DE9B61-CC5D-42B2-A88D-3034CD059440}">
      <dgm:prSet/>
      <dgm:spPr/>
      <dgm:t>
        <a:bodyPr/>
        <a:lstStyle/>
        <a:p>
          <a:r>
            <a:rPr lang="en-US"/>
            <a:t>Concurrency control can also increase the scalability of parallel and distributed computing systems</a:t>
          </a:r>
        </a:p>
      </dgm:t>
    </dgm:pt>
    <dgm:pt modelId="{C440230F-8DA8-4288-9B73-159BC2FDDF25}" type="parTrans" cxnId="{8E05BC53-FBEC-4B81-93DD-465F53405ED9}">
      <dgm:prSet/>
      <dgm:spPr/>
      <dgm:t>
        <a:bodyPr/>
        <a:lstStyle/>
        <a:p>
          <a:endParaRPr lang="en-US"/>
        </a:p>
      </dgm:t>
    </dgm:pt>
    <dgm:pt modelId="{8F0C612E-B123-404A-9D04-5F75EFBF729F}" type="sibTrans" cxnId="{8E05BC53-FBEC-4B81-93DD-465F53405ED9}">
      <dgm:prSet/>
      <dgm:spPr/>
      <dgm:t>
        <a:bodyPr/>
        <a:lstStyle/>
        <a:p>
          <a:endParaRPr lang="en-US"/>
        </a:p>
      </dgm:t>
    </dgm:pt>
    <dgm:pt modelId="{4BD7552A-68BC-43E1-BB7E-DE212F618A28}">
      <dgm:prSet/>
      <dgm:spPr/>
      <dgm:t>
        <a:bodyPr/>
        <a:lstStyle/>
        <a:p>
          <a:r>
            <a:rPr lang="en-US"/>
            <a:t>Redundancy can make systems more reliable.</a:t>
          </a:r>
        </a:p>
      </dgm:t>
    </dgm:pt>
    <dgm:pt modelId="{3939BF8C-AFFB-4610-AEC1-DCD5EA69711B}" type="parTrans" cxnId="{0ABDEFB1-13F6-45E5-8BFF-FF51AF291957}">
      <dgm:prSet/>
      <dgm:spPr/>
      <dgm:t>
        <a:bodyPr/>
        <a:lstStyle/>
        <a:p>
          <a:endParaRPr lang="en-US"/>
        </a:p>
      </dgm:t>
    </dgm:pt>
    <dgm:pt modelId="{E3957EEF-CCAB-445F-B03E-E90DD3FE0280}" type="sibTrans" cxnId="{0ABDEFB1-13F6-45E5-8BFF-FF51AF291957}">
      <dgm:prSet/>
      <dgm:spPr/>
      <dgm:t>
        <a:bodyPr/>
        <a:lstStyle/>
        <a:p>
          <a:endParaRPr lang="en-US"/>
        </a:p>
      </dgm:t>
    </dgm:pt>
    <dgm:pt modelId="{C8D4F61F-1480-49DD-8541-420BBA225A10}">
      <dgm:prSet/>
      <dgm:spPr/>
      <dgm:t>
        <a:bodyPr/>
        <a:lstStyle/>
        <a:p>
          <a:r>
            <a:rPr lang="en-US"/>
            <a:t>More real-world problems can be solved than with sequential algorithms alone.</a:t>
          </a:r>
        </a:p>
      </dgm:t>
    </dgm:pt>
    <dgm:pt modelId="{71AD3453-B46D-40B8-82F4-EADE3CBC0EE2}" type="parTrans" cxnId="{C642100A-3106-4310-A0C6-D4DD4CBAD303}">
      <dgm:prSet/>
      <dgm:spPr/>
      <dgm:t>
        <a:bodyPr/>
        <a:lstStyle/>
        <a:p>
          <a:endParaRPr lang="en-US"/>
        </a:p>
      </dgm:t>
    </dgm:pt>
    <dgm:pt modelId="{CA305B03-F406-4740-9170-01F38B90ED97}" type="sibTrans" cxnId="{C642100A-3106-4310-A0C6-D4DD4CBAD303}">
      <dgm:prSet/>
      <dgm:spPr/>
      <dgm:t>
        <a:bodyPr/>
        <a:lstStyle/>
        <a:p>
          <a:endParaRPr lang="en-US"/>
        </a:p>
      </dgm:t>
    </dgm:pt>
    <dgm:pt modelId="{89FCB2FA-2612-4FDB-BDE4-E70B8685EC9F}" type="pres">
      <dgm:prSet presAssocID="{A8530B52-412F-4B69-8C73-A47F553D7BDE}" presName="linear" presStyleCnt="0">
        <dgm:presLayoutVars>
          <dgm:animLvl val="lvl"/>
          <dgm:resizeHandles val="exact"/>
        </dgm:presLayoutVars>
      </dgm:prSet>
      <dgm:spPr/>
    </dgm:pt>
    <dgm:pt modelId="{73AE544D-FB57-4DF1-BDA4-C47E218C789E}" type="pres">
      <dgm:prSet presAssocID="{42827463-1BCE-4F1D-9A79-9EDD3380BA88}" presName="parentText" presStyleLbl="node1" presStyleIdx="0" presStyleCnt="6">
        <dgm:presLayoutVars>
          <dgm:chMax val="0"/>
          <dgm:bulletEnabled val="1"/>
        </dgm:presLayoutVars>
      </dgm:prSet>
      <dgm:spPr/>
    </dgm:pt>
    <dgm:pt modelId="{2CE485FF-BD1E-45D4-9DFE-83659B2BB2B5}" type="pres">
      <dgm:prSet presAssocID="{CB633FEA-A5A3-4A00-A183-928D4F066040}" presName="spacer" presStyleCnt="0"/>
      <dgm:spPr/>
    </dgm:pt>
    <dgm:pt modelId="{9631F185-9B52-4EED-BB63-A5EABE53A3B8}" type="pres">
      <dgm:prSet presAssocID="{7075A54A-5B6F-4CBC-A66B-0B3D02ED6E63}" presName="parentText" presStyleLbl="node1" presStyleIdx="1" presStyleCnt="6">
        <dgm:presLayoutVars>
          <dgm:chMax val="0"/>
          <dgm:bulletEnabled val="1"/>
        </dgm:presLayoutVars>
      </dgm:prSet>
      <dgm:spPr/>
    </dgm:pt>
    <dgm:pt modelId="{39716ABC-FB5F-4687-B43E-4B12F03BD88D}" type="pres">
      <dgm:prSet presAssocID="{C04A15A0-1ECC-43CC-AC5E-D2D00FC589B8}" presName="spacer" presStyleCnt="0"/>
      <dgm:spPr/>
    </dgm:pt>
    <dgm:pt modelId="{31B39887-6BF5-422E-BA2F-2E16454709D3}" type="pres">
      <dgm:prSet presAssocID="{7521BA46-5A24-4779-94DA-93C25B3B0D88}" presName="parentText" presStyleLbl="node1" presStyleIdx="2" presStyleCnt="6">
        <dgm:presLayoutVars>
          <dgm:chMax val="0"/>
          <dgm:bulletEnabled val="1"/>
        </dgm:presLayoutVars>
      </dgm:prSet>
      <dgm:spPr/>
    </dgm:pt>
    <dgm:pt modelId="{4B4CA7A6-F22A-44C1-B8CB-73C6089E81E7}" type="pres">
      <dgm:prSet presAssocID="{957E6D16-E411-433E-9019-580C21E92FC0}" presName="spacer" presStyleCnt="0"/>
      <dgm:spPr/>
    </dgm:pt>
    <dgm:pt modelId="{0EC3A3EA-5102-463A-A270-49D2E67C3061}" type="pres">
      <dgm:prSet presAssocID="{33DE9B61-CC5D-42B2-A88D-3034CD059440}" presName="parentText" presStyleLbl="node1" presStyleIdx="3" presStyleCnt="6">
        <dgm:presLayoutVars>
          <dgm:chMax val="0"/>
          <dgm:bulletEnabled val="1"/>
        </dgm:presLayoutVars>
      </dgm:prSet>
      <dgm:spPr/>
    </dgm:pt>
    <dgm:pt modelId="{A1165558-135C-4318-A9D7-FAD66417EA9F}" type="pres">
      <dgm:prSet presAssocID="{8F0C612E-B123-404A-9D04-5F75EFBF729F}" presName="spacer" presStyleCnt="0"/>
      <dgm:spPr/>
    </dgm:pt>
    <dgm:pt modelId="{68439191-5AA3-43D4-A0CD-276804D11512}" type="pres">
      <dgm:prSet presAssocID="{4BD7552A-68BC-43E1-BB7E-DE212F618A28}" presName="parentText" presStyleLbl="node1" presStyleIdx="4" presStyleCnt="6">
        <dgm:presLayoutVars>
          <dgm:chMax val="0"/>
          <dgm:bulletEnabled val="1"/>
        </dgm:presLayoutVars>
      </dgm:prSet>
      <dgm:spPr/>
    </dgm:pt>
    <dgm:pt modelId="{860F6481-91CD-47E8-A97A-DB6C1CDB8889}" type="pres">
      <dgm:prSet presAssocID="{E3957EEF-CCAB-445F-B03E-E90DD3FE0280}" presName="spacer" presStyleCnt="0"/>
      <dgm:spPr/>
    </dgm:pt>
    <dgm:pt modelId="{B8258E16-C081-4678-9287-2F3F2E5BD971}" type="pres">
      <dgm:prSet presAssocID="{C8D4F61F-1480-49DD-8541-420BBA225A10}" presName="parentText" presStyleLbl="node1" presStyleIdx="5" presStyleCnt="6">
        <dgm:presLayoutVars>
          <dgm:chMax val="0"/>
          <dgm:bulletEnabled val="1"/>
        </dgm:presLayoutVars>
      </dgm:prSet>
      <dgm:spPr/>
    </dgm:pt>
  </dgm:ptLst>
  <dgm:cxnLst>
    <dgm:cxn modelId="{C642100A-3106-4310-A0C6-D4DD4CBAD303}" srcId="{A8530B52-412F-4B69-8C73-A47F553D7BDE}" destId="{C8D4F61F-1480-49DD-8541-420BBA225A10}" srcOrd="5" destOrd="0" parTransId="{71AD3453-B46D-40B8-82F4-EADE3CBC0EE2}" sibTransId="{CA305B03-F406-4740-9170-01F38B90ED97}"/>
    <dgm:cxn modelId="{BD88090C-B990-4763-8C0E-B71DB600A2CD}" type="presOf" srcId="{7521BA46-5A24-4779-94DA-93C25B3B0D88}" destId="{31B39887-6BF5-422E-BA2F-2E16454709D3}" srcOrd="0" destOrd="0" presId="urn:microsoft.com/office/officeart/2005/8/layout/vList2"/>
    <dgm:cxn modelId="{DF69FB5E-AFE2-4B10-9A80-35AD0F9988C4}" srcId="{A8530B52-412F-4B69-8C73-A47F553D7BDE}" destId="{42827463-1BCE-4F1D-9A79-9EDD3380BA88}" srcOrd="0" destOrd="0" parTransId="{DB937F33-5A68-4DC2-A1FD-EF035C5C98C8}" sibTransId="{CB633FEA-A5A3-4A00-A183-928D4F066040}"/>
    <dgm:cxn modelId="{8E05BC53-FBEC-4B81-93DD-465F53405ED9}" srcId="{A8530B52-412F-4B69-8C73-A47F553D7BDE}" destId="{33DE9B61-CC5D-42B2-A88D-3034CD059440}" srcOrd="3" destOrd="0" parTransId="{C440230F-8DA8-4288-9B73-159BC2FDDF25}" sibTransId="{8F0C612E-B123-404A-9D04-5F75EFBF729F}"/>
    <dgm:cxn modelId="{2A8C1A54-0122-4830-A21E-AA6CBA2D7497}" type="presOf" srcId="{7075A54A-5B6F-4CBC-A66B-0B3D02ED6E63}" destId="{9631F185-9B52-4EED-BB63-A5EABE53A3B8}" srcOrd="0" destOrd="0" presId="urn:microsoft.com/office/officeart/2005/8/layout/vList2"/>
    <dgm:cxn modelId="{E154E458-B2C0-45DD-A31A-3BCF494585C8}" type="presOf" srcId="{33DE9B61-CC5D-42B2-A88D-3034CD059440}" destId="{0EC3A3EA-5102-463A-A270-49D2E67C3061}" srcOrd="0" destOrd="0" presId="urn:microsoft.com/office/officeart/2005/8/layout/vList2"/>
    <dgm:cxn modelId="{37CD7479-41AA-415C-91C1-3CC3C375EBC7}" type="presOf" srcId="{42827463-1BCE-4F1D-9A79-9EDD3380BA88}" destId="{73AE544D-FB57-4DF1-BDA4-C47E218C789E}" srcOrd="0" destOrd="0" presId="urn:microsoft.com/office/officeart/2005/8/layout/vList2"/>
    <dgm:cxn modelId="{72EAED98-34A7-4633-8DA6-ECF0273569C9}" srcId="{A8530B52-412F-4B69-8C73-A47F553D7BDE}" destId="{7075A54A-5B6F-4CBC-A66B-0B3D02ED6E63}" srcOrd="1" destOrd="0" parTransId="{885C1C1F-5787-4116-AA84-1656C5986EB0}" sibTransId="{C04A15A0-1ECC-43CC-AC5E-D2D00FC589B8}"/>
    <dgm:cxn modelId="{8879C1A2-0B4C-4CEE-A941-386978AE1342}" type="presOf" srcId="{4BD7552A-68BC-43E1-BB7E-DE212F618A28}" destId="{68439191-5AA3-43D4-A0CD-276804D11512}" srcOrd="0" destOrd="0" presId="urn:microsoft.com/office/officeart/2005/8/layout/vList2"/>
    <dgm:cxn modelId="{AD3DFAA3-92E8-4D07-B9C2-8422FA5CDD06}" srcId="{A8530B52-412F-4B69-8C73-A47F553D7BDE}" destId="{7521BA46-5A24-4779-94DA-93C25B3B0D88}" srcOrd="2" destOrd="0" parTransId="{9DEC4D6A-402B-49AC-8949-C09040CD0F9A}" sibTransId="{957E6D16-E411-433E-9019-580C21E92FC0}"/>
    <dgm:cxn modelId="{0ABDEFB1-13F6-45E5-8BFF-FF51AF291957}" srcId="{A8530B52-412F-4B69-8C73-A47F553D7BDE}" destId="{4BD7552A-68BC-43E1-BB7E-DE212F618A28}" srcOrd="4" destOrd="0" parTransId="{3939BF8C-AFFB-4610-AEC1-DCD5EA69711B}" sibTransId="{E3957EEF-CCAB-445F-B03E-E90DD3FE0280}"/>
    <dgm:cxn modelId="{7B5F8EF3-77F3-4DB6-AA10-A87A0F5DA9E4}" type="presOf" srcId="{C8D4F61F-1480-49DD-8541-420BBA225A10}" destId="{B8258E16-C081-4678-9287-2F3F2E5BD971}" srcOrd="0" destOrd="0" presId="urn:microsoft.com/office/officeart/2005/8/layout/vList2"/>
    <dgm:cxn modelId="{2364E5F7-7092-4791-BCDB-28B508D791D6}" type="presOf" srcId="{A8530B52-412F-4B69-8C73-A47F553D7BDE}" destId="{89FCB2FA-2612-4FDB-BDE4-E70B8685EC9F}" srcOrd="0" destOrd="0" presId="urn:microsoft.com/office/officeart/2005/8/layout/vList2"/>
    <dgm:cxn modelId="{4F604874-8971-4E35-9C5C-FC9F65951B81}" type="presParOf" srcId="{89FCB2FA-2612-4FDB-BDE4-E70B8685EC9F}" destId="{73AE544D-FB57-4DF1-BDA4-C47E218C789E}" srcOrd="0" destOrd="0" presId="urn:microsoft.com/office/officeart/2005/8/layout/vList2"/>
    <dgm:cxn modelId="{064DBD02-27DE-4A6E-B063-D05B6555B5FD}" type="presParOf" srcId="{89FCB2FA-2612-4FDB-BDE4-E70B8685EC9F}" destId="{2CE485FF-BD1E-45D4-9DFE-83659B2BB2B5}" srcOrd="1" destOrd="0" presId="urn:microsoft.com/office/officeart/2005/8/layout/vList2"/>
    <dgm:cxn modelId="{5A249E67-02E2-4C57-BF5A-116448961EEF}" type="presParOf" srcId="{89FCB2FA-2612-4FDB-BDE4-E70B8685EC9F}" destId="{9631F185-9B52-4EED-BB63-A5EABE53A3B8}" srcOrd="2" destOrd="0" presId="urn:microsoft.com/office/officeart/2005/8/layout/vList2"/>
    <dgm:cxn modelId="{E574F610-8594-4289-A36F-3E793E227CE5}" type="presParOf" srcId="{89FCB2FA-2612-4FDB-BDE4-E70B8685EC9F}" destId="{39716ABC-FB5F-4687-B43E-4B12F03BD88D}" srcOrd="3" destOrd="0" presId="urn:microsoft.com/office/officeart/2005/8/layout/vList2"/>
    <dgm:cxn modelId="{364278BC-CDC9-4263-AF29-129BF8A90C04}" type="presParOf" srcId="{89FCB2FA-2612-4FDB-BDE4-E70B8685EC9F}" destId="{31B39887-6BF5-422E-BA2F-2E16454709D3}" srcOrd="4" destOrd="0" presId="urn:microsoft.com/office/officeart/2005/8/layout/vList2"/>
    <dgm:cxn modelId="{DB5C7B90-5A63-4672-A50F-71A1CA8AAC97}" type="presParOf" srcId="{89FCB2FA-2612-4FDB-BDE4-E70B8685EC9F}" destId="{4B4CA7A6-F22A-44C1-B8CB-73C6089E81E7}" srcOrd="5" destOrd="0" presId="urn:microsoft.com/office/officeart/2005/8/layout/vList2"/>
    <dgm:cxn modelId="{B3896C2D-E467-4510-AA22-EF139FE98BFE}" type="presParOf" srcId="{89FCB2FA-2612-4FDB-BDE4-E70B8685EC9F}" destId="{0EC3A3EA-5102-463A-A270-49D2E67C3061}" srcOrd="6" destOrd="0" presId="urn:microsoft.com/office/officeart/2005/8/layout/vList2"/>
    <dgm:cxn modelId="{5AC48AFF-801B-4DB1-A1F5-DF3460DF1EA3}" type="presParOf" srcId="{89FCB2FA-2612-4FDB-BDE4-E70B8685EC9F}" destId="{A1165558-135C-4318-A9D7-FAD66417EA9F}" srcOrd="7" destOrd="0" presId="urn:microsoft.com/office/officeart/2005/8/layout/vList2"/>
    <dgm:cxn modelId="{DC8DC441-3DC1-4EC5-9315-EE7A248BCF36}" type="presParOf" srcId="{89FCB2FA-2612-4FDB-BDE4-E70B8685EC9F}" destId="{68439191-5AA3-43D4-A0CD-276804D11512}" srcOrd="8" destOrd="0" presId="urn:microsoft.com/office/officeart/2005/8/layout/vList2"/>
    <dgm:cxn modelId="{CC7611B2-3F11-4843-B19B-461910CB7A89}" type="presParOf" srcId="{89FCB2FA-2612-4FDB-BDE4-E70B8685EC9F}" destId="{860F6481-91CD-47E8-A97A-DB6C1CDB8889}" srcOrd="9" destOrd="0" presId="urn:microsoft.com/office/officeart/2005/8/layout/vList2"/>
    <dgm:cxn modelId="{1C193591-7FF6-42FD-BB8E-01AE0EEA4046}" type="presParOf" srcId="{89FCB2FA-2612-4FDB-BDE4-E70B8685EC9F}" destId="{B8258E16-C081-4678-9287-2F3F2E5BD971}"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pPr>
            <a:lnSpc>
              <a:spcPct val="100000"/>
            </a:lnSpc>
          </a:pPr>
          <a:r>
            <a:rPr lang="en-US" dirty="0">
              <a:latin typeface="Arial" panose="020B0604020202020204" pitchFamily="34" charset="0"/>
              <a:cs typeface="Arial" panose="020B0604020202020204" pitchFamily="34" charset="0"/>
            </a:rPr>
            <a:t>Understanding of Concurrency Control.</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pPr>
            <a:lnSpc>
              <a:spcPct val="100000"/>
            </a:lnSpc>
          </a:pPr>
          <a:r>
            <a:rPr lang="en-US" dirty="0">
              <a:latin typeface="Arial" panose="020B0604020202020204" pitchFamily="34" charset="0"/>
              <a:cs typeface="Arial" panose="020B0604020202020204" pitchFamily="34" charset="0"/>
            </a:rPr>
            <a:t>Parallel Programming Technique.</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0A21289C-5EA5-44FD-A1F9-BA5F36EDFC33}">
      <dgm:prSet/>
      <dgm:spPr/>
      <dgm:t>
        <a:bodyPr/>
        <a:lstStyle/>
        <a:p>
          <a:pPr>
            <a:lnSpc>
              <a:spcPct val="100000"/>
            </a:lnSpc>
          </a:pPr>
          <a:r>
            <a:rPr lang="en-US" dirty="0">
              <a:latin typeface="Arial" panose="020B0604020202020204" pitchFamily="34" charset="0"/>
              <a:cs typeface="Arial" panose="020B0604020202020204" pitchFamily="34" charset="0"/>
            </a:rPr>
            <a:t>Distributed Programming Technique.</a:t>
          </a:r>
        </a:p>
      </dgm:t>
    </dgm:pt>
    <dgm:pt modelId="{8D3E94D2-005F-4660-8248-F49362158F67}" type="parTrans" cxnId="{7E5D32DF-A07E-418E-9A6C-F3BAFDB833C0}">
      <dgm:prSet/>
      <dgm:spPr/>
      <dgm:t>
        <a:bodyPr/>
        <a:lstStyle/>
        <a:p>
          <a:endParaRPr lang="en-PK"/>
        </a:p>
      </dgm:t>
    </dgm:pt>
    <dgm:pt modelId="{488D97D0-2E25-4F9B-82AA-CEC70175E8D0}" type="sibTrans" cxnId="{7E5D32DF-A07E-418E-9A6C-F3BAFDB833C0}">
      <dgm:prSet/>
      <dgm:spPr/>
      <dgm:t>
        <a:bodyPr/>
        <a:lstStyle/>
        <a:p>
          <a:endParaRPr lang="en-PK"/>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3"/>
      <dgm:spPr/>
    </dgm:pt>
    <dgm:pt modelId="{C11A7D35-1FE6-446D-AE68-CDC0EA75C5EF}" type="pres">
      <dgm:prSet presAssocID="{ED44C359-7308-4379-89E9-19E66492F1E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3">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3"/>
      <dgm:spPr/>
    </dgm:pt>
    <dgm:pt modelId="{3807B6D7-BF48-4FDE-BD86-4D161441F3BF}" type="pres">
      <dgm:prSet presAssocID="{B52304F7-9CCF-4381-9DB7-D65E8FF69D9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3" custScaleX="104344">
        <dgm:presLayoutVars>
          <dgm:chMax val="0"/>
          <dgm:chPref val="0"/>
        </dgm:presLayoutVars>
      </dgm:prSet>
      <dgm:spPr/>
    </dgm:pt>
    <dgm:pt modelId="{ED406103-6FDF-4B71-9B8B-4D3D5CA489A6}" type="pres">
      <dgm:prSet presAssocID="{3B0ED119-AD1B-484D-96A0-C81E45281368}" presName="sibTrans" presStyleCnt="0"/>
      <dgm:spPr/>
    </dgm:pt>
    <dgm:pt modelId="{8B69961F-B003-438B-A58E-6A6ECBC94E16}" type="pres">
      <dgm:prSet presAssocID="{0A21289C-5EA5-44FD-A1F9-BA5F36EDFC33}" presName="compNode" presStyleCnt="0"/>
      <dgm:spPr/>
    </dgm:pt>
    <dgm:pt modelId="{7DD2B69A-2536-4F76-8CDC-6A7C4DAF803D}" type="pres">
      <dgm:prSet presAssocID="{0A21289C-5EA5-44FD-A1F9-BA5F36EDFC33}" presName="bgRect" presStyleLbl="bgShp" presStyleIdx="2" presStyleCnt="3"/>
      <dgm:spPr/>
    </dgm:pt>
    <dgm:pt modelId="{95774C3F-0C0C-4B26-A07B-2E5BF451D730}" type="pres">
      <dgm:prSet presAssocID="{0A21289C-5EA5-44FD-A1F9-BA5F36EDFC33}" presName="iconRect" presStyleLbl="node1" presStyleIdx="2" presStyleCnt="3"/>
      <dgm:spPr>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pt>
    <dgm:pt modelId="{32B949F0-6006-44F8-A6A1-96E5F8ABCAF0}" type="pres">
      <dgm:prSet presAssocID="{0A21289C-5EA5-44FD-A1F9-BA5F36EDFC33}" presName="spaceRect" presStyleCnt="0"/>
      <dgm:spPr/>
    </dgm:pt>
    <dgm:pt modelId="{1041D294-5806-4DF3-88ED-21C36CB0B748}" type="pres">
      <dgm:prSet presAssocID="{0A21289C-5EA5-44FD-A1F9-BA5F36EDFC33}" presName="parTx" presStyleLbl="revTx" presStyleIdx="2" presStyleCnt="3" custScaleX="101290">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6DC00CC8-0EFF-4D87-B6A8-A205DFA7214D}" type="presOf" srcId="{0A21289C-5EA5-44FD-A1F9-BA5F36EDFC33}" destId="{1041D294-5806-4DF3-88ED-21C36CB0B748}" srcOrd="0" destOrd="0" presId="urn:microsoft.com/office/officeart/2018/2/layout/IconVerticalSolidList"/>
    <dgm:cxn modelId="{7E5D32DF-A07E-418E-9A6C-F3BAFDB833C0}" srcId="{AC605FAC-F4E1-443B-91BE-22C6277E36A9}" destId="{0A21289C-5EA5-44FD-A1F9-BA5F36EDFC33}" srcOrd="2" destOrd="0" parTransId="{8D3E94D2-005F-4660-8248-F49362158F67}" sibTransId="{488D97D0-2E25-4F9B-82AA-CEC70175E8D0}"/>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 modelId="{689E55B7-D1CD-4F42-AB55-97BB4A18B3F6}" type="presParOf" srcId="{203A11AC-6691-4719-A18C-2D6C7EA9F1B7}" destId="{ED406103-6FDF-4B71-9B8B-4D3D5CA489A6}" srcOrd="3" destOrd="0" presId="urn:microsoft.com/office/officeart/2018/2/layout/IconVerticalSolidList"/>
    <dgm:cxn modelId="{52A4BFD9-42ED-4F6D-BD2F-93DB8CB2EC18}" type="presParOf" srcId="{203A11AC-6691-4719-A18C-2D6C7EA9F1B7}" destId="{8B69961F-B003-438B-A58E-6A6ECBC94E16}" srcOrd="4" destOrd="0" presId="urn:microsoft.com/office/officeart/2018/2/layout/IconVerticalSolidList"/>
    <dgm:cxn modelId="{0AB6E864-4DAB-4904-AFC7-86028934B88D}" type="presParOf" srcId="{8B69961F-B003-438B-A58E-6A6ECBC94E16}" destId="{7DD2B69A-2536-4F76-8CDC-6A7C4DAF803D}" srcOrd="0" destOrd="0" presId="urn:microsoft.com/office/officeart/2018/2/layout/IconVerticalSolidList"/>
    <dgm:cxn modelId="{21981001-26BC-48EB-99A2-598A1A47CCC8}" type="presParOf" srcId="{8B69961F-B003-438B-A58E-6A6ECBC94E16}" destId="{95774C3F-0C0C-4B26-A07B-2E5BF451D730}" srcOrd="1" destOrd="0" presId="urn:microsoft.com/office/officeart/2018/2/layout/IconVerticalSolidList"/>
    <dgm:cxn modelId="{86948115-A091-454D-9173-CC05490DCFF1}" type="presParOf" srcId="{8B69961F-B003-438B-A58E-6A6ECBC94E16}" destId="{32B949F0-6006-44F8-A6A1-96E5F8ABCAF0}" srcOrd="2" destOrd="0" presId="urn:microsoft.com/office/officeart/2018/2/layout/IconVerticalSolidList"/>
    <dgm:cxn modelId="{FB8049F2-1725-40CE-96DD-0542D249D59D}" type="presParOf" srcId="{8B69961F-B003-438B-A58E-6A6ECBC94E16}" destId="{1041D294-5806-4DF3-88ED-21C36CB0B74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99BEE94-B8BA-4AFA-B737-F0F91AD82B13}"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PK"/>
        </a:p>
      </dgm:t>
    </dgm:pt>
    <dgm:pt modelId="{29316610-B645-4EDE-9D79-9A0B334D8298}">
      <dgm:prSet/>
      <dgm:spPr/>
      <dgm:t>
        <a:bodyPr/>
        <a:lstStyle/>
        <a:p>
          <a:r>
            <a:rPr lang="en-US" dirty="0"/>
            <a:t>Parallel programming and distributed programming are two basic approaches for achieving concurrency: </a:t>
          </a:r>
          <a:endParaRPr lang="en-PK" dirty="0"/>
        </a:p>
      </dgm:t>
    </dgm:pt>
    <dgm:pt modelId="{33A8888F-EEBC-40FD-8759-DE16DD586056}" type="parTrans" cxnId="{1256CE47-36CA-4BCF-AE1F-0D27FA82D445}">
      <dgm:prSet/>
      <dgm:spPr/>
      <dgm:t>
        <a:bodyPr/>
        <a:lstStyle/>
        <a:p>
          <a:endParaRPr lang="en-PK"/>
        </a:p>
      </dgm:t>
    </dgm:pt>
    <dgm:pt modelId="{FCAFF225-8E56-44E0-88BF-7AB4A208AD9C}" type="sibTrans" cxnId="{1256CE47-36CA-4BCF-AE1F-0D27FA82D445}">
      <dgm:prSet/>
      <dgm:spPr/>
      <dgm:t>
        <a:bodyPr/>
        <a:lstStyle/>
        <a:p>
          <a:endParaRPr lang="en-PK"/>
        </a:p>
      </dgm:t>
    </dgm:pt>
    <dgm:pt modelId="{67EBF00B-B533-4453-9DD7-03BAE049CDAF}">
      <dgm:prSet/>
      <dgm:spPr/>
      <dgm:t>
        <a:bodyPr/>
        <a:lstStyle/>
        <a:p>
          <a:r>
            <a:rPr lang="en-US"/>
            <a:t>Parallel programming techniques assign the work a program has do to two or more processors within a single physical or a single virtual computer.</a:t>
          </a:r>
          <a:endParaRPr lang="en-PK"/>
        </a:p>
      </dgm:t>
    </dgm:pt>
    <dgm:pt modelId="{69EBF56C-4F50-4B63-BCD9-B7ECFB28E5FB}" type="parTrans" cxnId="{B1D6266F-C135-4C7E-BA41-095543D200E8}">
      <dgm:prSet/>
      <dgm:spPr/>
      <dgm:t>
        <a:bodyPr/>
        <a:lstStyle/>
        <a:p>
          <a:endParaRPr lang="en-PK"/>
        </a:p>
      </dgm:t>
    </dgm:pt>
    <dgm:pt modelId="{5CFFB183-756E-486A-AAB8-96B5A3AB1425}" type="sibTrans" cxnId="{B1D6266F-C135-4C7E-BA41-095543D200E8}">
      <dgm:prSet/>
      <dgm:spPr/>
      <dgm:t>
        <a:bodyPr/>
        <a:lstStyle/>
        <a:p>
          <a:endParaRPr lang="en-PK"/>
        </a:p>
      </dgm:t>
    </dgm:pt>
    <dgm:pt modelId="{04027683-74DA-42A2-BD2E-456204C36C8F}">
      <dgm:prSet/>
      <dgm:spPr/>
      <dgm:t>
        <a:bodyPr/>
        <a:lstStyle/>
        <a:p>
          <a:r>
            <a:rPr lang="en-US"/>
            <a:t>Distributed programming techniques assign the work a program has to do to two or more processes where the processes may or may not exist on the same computer.</a:t>
          </a:r>
          <a:endParaRPr lang="en-PK"/>
        </a:p>
      </dgm:t>
    </dgm:pt>
    <dgm:pt modelId="{A93F0D08-EEEB-48A4-8FFA-8C83B2529397}" type="parTrans" cxnId="{F7DE73A1-4423-46BC-AEBE-C75C7F671D31}">
      <dgm:prSet/>
      <dgm:spPr/>
      <dgm:t>
        <a:bodyPr/>
        <a:lstStyle/>
        <a:p>
          <a:endParaRPr lang="en-PK"/>
        </a:p>
      </dgm:t>
    </dgm:pt>
    <dgm:pt modelId="{856224AC-3A0B-4FCC-9AF6-A2B257BD2020}" type="sibTrans" cxnId="{F7DE73A1-4423-46BC-AEBE-C75C7F671D31}">
      <dgm:prSet/>
      <dgm:spPr/>
      <dgm:t>
        <a:bodyPr/>
        <a:lstStyle/>
        <a:p>
          <a:endParaRPr lang="en-PK"/>
        </a:p>
      </dgm:t>
    </dgm:pt>
    <dgm:pt modelId="{087BEA23-0DA4-475D-9EFB-129FCE17FF6C}" type="pres">
      <dgm:prSet presAssocID="{C99BEE94-B8BA-4AFA-B737-F0F91AD82B13}" presName="Name0" presStyleCnt="0">
        <dgm:presLayoutVars>
          <dgm:dir/>
          <dgm:animLvl val="lvl"/>
          <dgm:resizeHandles val="exact"/>
        </dgm:presLayoutVars>
      </dgm:prSet>
      <dgm:spPr/>
    </dgm:pt>
    <dgm:pt modelId="{0BEEE808-B79A-4321-94C2-6E48290A28D7}" type="pres">
      <dgm:prSet presAssocID="{29316610-B645-4EDE-9D79-9A0B334D8298}" presName="linNode" presStyleCnt="0"/>
      <dgm:spPr/>
    </dgm:pt>
    <dgm:pt modelId="{AC9D75FF-6572-4EFF-B5A9-AE7663C8D0E5}" type="pres">
      <dgm:prSet presAssocID="{29316610-B645-4EDE-9D79-9A0B334D8298}" presName="parentText" presStyleLbl="node1" presStyleIdx="0" presStyleCnt="1">
        <dgm:presLayoutVars>
          <dgm:chMax val="1"/>
          <dgm:bulletEnabled val="1"/>
        </dgm:presLayoutVars>
      </dgm:prSet>
      <dgm:spPr/>
    </dgm:pt>
    <dgm:pt modelId="{76E3935F-79F1-40F7-B988-C5D0B802B791}" type="pres">
      <dgm:prSet presAssocID="{29316610-B645-4EDE-9D79-9A0B334D8298}" presName="descendantText" presStyleLbl="alignAccFollowNode1" presStyleIdx="0" presStyleCnt="1">
        <dgm:presLayoutVars>
          <dgm:bulletEnabled val="1"/>
        </dgm:presLayoutVars>
      </dgm:prSet>
      <dgm:spPr/>
    </dgm:pt>
  </dgm:ptLst>
  <dgm:cxnLst>
    <dgm:cxn modelId="{49426A1B-6323-4C7E-8B39-365375564E0A}" type="presOf" srcId="{C99BEE94-B8BA-4AFA-B737-F0F91AD82B13}" destId="{087BEA23-0DA4-475D-9EFB-129FCE17FF6C}" srcOrd="0" destOrd="0" presId="urn:microsoft.com/office/officeart/2005/8/layout/vList5"/>
    <dgm:cxn modelId="{CABED13B-91F2-4A3B-B7B5-1439A8742E61}" type="presOf" srcId="{04027683-74DA-42A2-BD2E-456204C36C8F}" destId="{76E3935F-79F1-40F7-B988-C5D0B802B791}" srcOrd="0" destOrd="1" presId="urn:microsoft.com/office/officeart/2005/8/layout/vList5"/>
    <dgm:cxn modelId="{1256CE47-36CA-4BCF-AE1F-0D27FA82D445}" srcId="{C99BEE94-B8BA-4AFA-B737-F0F91AD82B13}" destId="{29316610-B645-4EDE-9D79-9A0B334D8298}" srcOrd="0" destOrd="0" parTransId="{33A8888F-EEBC-40FD-8759-DE16DD586056}" sibTransId="{FCAFF225-8E56-44E0-88BF-7AB4A208AD9C}"/>
    <dgm:cxn modelId="{B1D6266F-C135-4C7E-BA41-095543D200E8}" srcId="{29316610-B645-4EDE-9D79-9A0B334D8298}" destId="{67EBF00B-B533-4453-9DD7-03BAE049CDAF}" srcOrd="0" destOrd="0" parTransId="{69EBF56C-4F50-4B63-BCD9-B7ECFB28E5FB}" sibTransId="{5CFFB183-756E-486A-AAB8-96B5A3AB1425}"/>
    <dgm:cxn modelId="{F7DE73A1-4423-46BC-AEBE-C75C7F671D31}" srcId="{29316610-B645-4EDE-9D79-9A0B334D8298}" destId="{04027683-74DA-42A2-BD2E-456204C36C8F}" srcOrd="1" destOrd="0" parTransId="{A93F0D08-EEEB-48A4-8FFA-8C83B2529397}" sibTransId="{856224AC-3A0B-4FCC-9AF6-A2B257BD2020}"/>
    <dgm:cxn modelId="{B6E3F3AD-98E6-43B4-ACAA-142A469617EB}" type="presOf" srcId="{29316610-B645-4EDE-9D79-9A0B334D8298}" destId="{AC9D75FF-6572-4EFF-B5A9-AE7663C8D0E5}" srcOrd="0" destOrd="0" presId="urn:microsoft.com/office/officeart/2005/8/layout/vList5"/>
    <dgm:cxn modelId="{FCF37AC3-46FD-4141-99C8-F074A55F701E}" type="presOf" srcId="{67EBF00B-B533-4453-9DD7-03BAE049CDAF}" destId="{76E3935F-79F1-40F7-B988-C5D0B802B791}" srcOrd="0" destOrd="0" presId="urn:microsoft.com/office/officeart/2005/8/layout/vList5"/>
    <dgm:cxn modelId="{331CD825-E8AB-4668-B16A-2E9657218619}" type="presParOf" srcId="{087BEA23-0DA4-475D-9EFB-129FCE17FF6C}" destId="{0BEEE808-B79A-4321-94C2-6E48290A28D7}" srcOrd="0" destOrd="0" presId="urn:microsoft.com/office/officeart/2005/8/layout/vList5"/>
    <dgm:cxn modelId="{2A6EC587-5B9F-4469-A843-71E947E11535}" type="presParOf" srcId="{0BEEE808-B79A-4321-94C2-6E48290A28D7}" destId="{AC9D75FF-6572-4EFF-B5A9-AE7663C8D0E5}" srcOrd="0" destOrd="0" presId="urn:microsoft.com/office/officeart/2005/8/layout/vList5"/>
    <dgm:cxn modelId="{2366204E-F134-4539-9438-E8A0E524D7E8}" type="presParOf" srcId="{0BEEE808-B79A-4321-94C2-6E48290A28D7}" destId="{76E3935F-79F1-40F7-B988-C5D0B802B791}"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Models of Programming Concurrency.</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Van Roy Approaches for Programming Concurrency.</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992F066-DE42-4A39-9374-525FD359533F}"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PK"/>
        </a:p>
      </dgm:t>
    </dgm:pt>
    <dgm:pt modelId="{D3CEBD0C-4695-449F-A7DB-B4685069EECF}">
      <dgm:prSet/>
      <dgm:spPr/>
      <dgm:t>
        <a:bodyPr/>
        <a:lstStyle/>
        <a:p>
          <a:r>
            <a:rPr lang="en-US" b="0" i="0" dirty="0"/>
            <a:t>Van Roy introduces four main approaches for programming concurrency:</a:t>
          </a:r>
          <a:endParaRPr lang="en-PK" dirty="0"/>
        </a:p>
      </dgm:t>
    </dgm:pt>
    <dgm:pt modelId="{1AE60CAC-7EB0-4689-B818-E5667A34708D}" type="parTrans" cxnId="{A67E8D16-951C-4B5C-9174-9D0850DAFAF9}">
      <dgm:prSet/>
      <dgm:spPr/>
      <dgm:t>
        <a:bodyPr/>
        <a:lstStyle/>
        <a:p>
          <a:endParaRPr lang="en-PK"/>
        </a:p>
      </dgm:t>
    </dgm:pt>
    <dgm:pt modelId="{7307F219-6DDD-48B0-94FD-B8D005972669}" type="sibTrans" cxnId="{A67E8D16-951C-4B5C-9174-9D0850DAFAF9}">
      <dgm:prSet/>
      <dgm:spPr/>
      <dgm:t>
        <a:bodyPr/>
        <a:lstStyle/>
        <a:p>
          <a:endParaRPr lang="en-PK"/>
        </a:p>
      </dgm:t>
    </dgm:pt>
    <dgm:pt modelId="{A9A5EB20-FC33-498C-A03D-DC85D0ADA894}">
      <dgm:prSet/>
      <dgm:spPr/>
      <dgm:t>
        <a:bodyPr/>
        <a:lstStyle/>
        <a:p>
          <a:r>
            <a:rPr lang="en-US" b="0" i="0" dirty="0"/>
            <a:t>Sequential Programming.</a:t>
          </a:r>
          <a:endParaRPr lang="en-PK" dirty="0"/>
        </a:p>
      </dgm:t>
    </dgm:pt>
    <dgm:pt modelId="{4E1ED11A-2CED-484D-9940-600F63C27ABF}" type="parTrans" cxnId="{DBB935EB-6423-42B2-B0FC-1F541BB65F11}">
      <dgm:prSet/>
      <dgm:spPr/>
      <dgm:t>
        <a:bodyPr/>
        <a:lstStyle/>
        <a:p>
          <a:endParaRPr lang="en-PK"/>
        </a:p>
      </dgm:t>
    </dgm:pt>
    <dgm:pt modelId="{92E772E8-7A17-429F-A3CD-A5C0F7084141}" type="sibTrans" cxnId="{DBB935EB-6423-42B2-B0FC-1F541BB65F11}">
      <dgm:prSet/>
      <dgm:spPr/>
      <dgm:t>
        <a:bodyPr/>
        <a:lstStyle/>
        <a:p>
          <a:endParaRPr lang="en-PK"/>
        </a:p>
      </dgm:t>
    </dgm:pt>
    <dgm:pt modelId="{F2E704AE-C669-40F8-9BAA-4EDD992F9C0E}">
      <dgm:prSet/>
      <dgm:spPr/>
      <dgm:t>
        <a:bodyPr/>
        <a:lstStyle/>
        <a:p>
          <a:r>
            <a:rPr lang="en-US" b="0" i="0" dirty="0"/>
            <a:t>Declarative Concurrency.</a:t>
          </a:r>
          <a:endParaRPr lang="en-PK" dirty="0"/>
        </a:p>
      </dgm:t>
    </dgm:pt>
    <dgm:pt modelId="{CD1C0E04-C6E7-48E6-AA5A-3B457D012AD6}" type="parTrans" cxnId="{63013600-E8F8-4AD4-A4D1-C4ABFE1347BB}">
      <dgm:prSet/>
      <dgm:spPr/>
      <dgm:t>
        <a:bodyPr/>
        <a:lstStyle/>
        <a:p>
          <a:endParaRPr lang="en-PK"/>
        </a:p>
      </dgm:t>
    </dgm:pt>
    <dgm:pt modelId="{3C805D1D-6805-4899-A7C5-AA4F16ED1E95}" type="sibTrans" cxnId="{63013600-E8F8-4AD4-A4D1-C4ABFE1347BB}">
      <dgm:prSet/>
      <dgm:spPr/>
      <dgm:t>
        <a:bodyPr/>
        <a:lstStyle/>
        <a:p>
          <a:endParaRPr lang="en-PK"/>
        </a:p>
      </dgm:t>
    </dgm:pt>
    <dgm:pt modelId="{4DB54330-E97D-496B-9DC2-07610CB7B81E}">
      <dgm:prSet/>
      <dgm:spPr/>
      <dgm:t>
        <a:bodyPr/>
        <a:lstStyle/>
        <a:p>
          <a:r>
            <a:rPr lang="en-US" b="0" i="0" dirty="0"/>
            <a:t>Message-passing Concurrency.</a:t>
          </a:r>
          <a:endParaRPr lang="en-PK" dirty="0"/>
        </a:p>
      </dgm:t>
    </dgm:pt>
    <dgm:pt modelId="{CFC8ADDA-51CB-460D-9944-318FD7D029CD}" type="parTrans" cxnId="{BA074C75-D5C7-427B-B262-F57703DF26CF}">
      <dgm:prSet/>
      <dgm:spPr/>
      <dgm:t>
        <a:bodyPr/>
        <a:lstStyle/>
        <a:p>
          <a:endParaRPr lang="en-PK"/>
        </a:p>
      </dgm:t>
    </dgm:pt>
    <dgm:pt modelId="{C3AFE7B9-979D-4B63-929B-83F928F49B66}" type="sibTrans" cxnId="{BA074C75-D5C7-427B-B262-F57703DF26CF}">
      <dgm:prSet/>
      <dgm:spPr/>
      <dgm:t>
        <a:bodyPr/>
        <a:lstStyle/>
        <a:p>
          <a:endParaRPr lang="en-PK"/>
        </a:p>
      </dgm:t>
    </dgm:pt>
    <dgm:pt modelId="{8E2DC50D-60D3-4EFE-B1B4-CF5408BFA5FE}">
      <dgm:prSet/>
      <dgm:spPr/>
      <dgm:t>
        <a:bodyPr/>
        <a:lstStyle/>
        <a:p>
          <a:r>
            <a:rPr lang="en-US" b="0" i="0" dirty="0"/>
            <a:t>Shared-state Concurrency.</a:t>
          </a:r>
          <a:endParaRPr lang="en-PK" dirty="0"/>
        </a:p>
      </dgm:t>
    </dgm:pt>
    <dgm:pt modelId="{C1E1575B-930B-4868-B1EA-94F1AE9F5B3B}" type="parTrans" cxnId="{73C15A00-E902-41B4-B369-4FB6E92EFB01}">
      <dgm:prSet/>
      <dgm:spPr/>
      <dgm:t>
        <a:bodyPr/>
        <a:lstStyle/>
        <a:p>
          <a:endParaRPr lang="en-PK"/>
        </a:p>
      </dgm:t>
    </dgm:pt>
    <dgm:pt modelId="{182BA114-E333-48B5-B1D5-147FA61C91FE}" type="sibTrans" cxnId="{73C15A00-E902-41B4-B369-4FB6E92EFB01}">
      <dgm:prSet/>
      <dgm:spPr/>
      <dgm:t>
        <a:bodyPr/>
        <a:lstStyle/>
        <a:p>
          <a:endParaRPr lang="en-PK"/>
        </a:p>
      </dgm:t>
    </dgm:pt>
    <dgm:pt modelId="{0A4FCBB7-24A2-4FB1-B014-ACD59B621E8A}" type="pres">
      <dgm:prSet presAssocID="{3992F066-DE42-4A39-9374-525FD359533F}" presName="Name0" presStyleCnt="0">
        <dgm:presLayoutVars>
          <dgm:dir/>
          <dgm:animLvl val="lvl"/>
          <dgm:resizeHandles val="exact"/>
        </dgm:presLayoutVars>
      </dgm:prSet>
      <dgm:spPr/>
    </dgm:pt>
    <dgm:pt modelId="{1ABD14F5-D385-4869-9821-BFE2FB7FABD2}" type="pres">
      <dgm:prSet presAssocID="{D3CEBD0C-4695-449F-A7DB-B4685069EECF}" presName="linNode" presStyleCnt="0"/>
      <dgm:spPr/>
    </dgm:pt>
    <dgm:pt modelId="{49137B24-550A-44A1-9124-BCD1E552C58B}" type="pres">
      <dgm:prSet presAssocID="{D3CEBD0C-4695-449F-A7DB-B4685069EECF}" presName="parentText" presStyleLbl="node1" presStyleIdx="0" presStyleCnt="1">
        <dgm:presLayoutVars>
          <dgm:chMax val="1"/>
          <dgm:bulletEnabled val="1"/>
        </dgm:presLayoutVars>
      </dgm:prSet>
      <dgm:spPr/>
    </dgm:pt>
    <dgm:pt modelId="{00CFDF00-DFCD-4ADC-99D9-C5B95FBA68D9}" type="pres">
      <dgm:prSet presAssocID="{D3CEBD0C-4695-449F-A7DB-B4685069EECF}" presName="descendantText" presStyleLbl="alignAccFollowNode1" presStyleIdx="0" presStyleCnt="1">
        <dgm:presLayoutVars>
          <dgm:bulletEnabled val="1"/>
        </dgm:presLayoutVars>
      </dgm:prSet>
      <dgm:spPr/>
    </dgm:pt>
  </dgm:ptLst>
  <dgm:cxnLst>
    <dgm:cxn modelId="{63013600-E8F8-4AD4-A4D1-C4ABFE1347BB}" srcId="{D3CEBD0C-4695-449F-A7DB-B4685069EECF}" destId="{F2E704AE-C669-40F8-9BAA-4EDD992F9C0E}" srcOrd="1" destOrd="0" parTransId="{CD1C0E04-C6E7-48E6-AA5A-3B457D012AD6}" sibTransId="{3C805D1D-6805-4899-A7C5-AA4F16ED1E95}"/>
    <dgm:cxn modelId="{73C15A00-E902-41B4-B369-4FB6E92EFB01}" srcId="{D3CEBD0C-4695-449F-A7DB-B4685069EECF}" destId="{8E2DC50D-60D3-4EFE-B1B4-CF5408BFA5FE}" srcOrd="3" destOrd="0" parTransId="{C1E1575B-930B-4868-B1EA-94F1AE9F5B3B}" sibTransId="{182BA114-E333-48B5-B1D5-147FA61C91FE}"/>
    <dgm:cxn modelId="{65A86815-1FB4-4E94-BDF2-AE4DDB2235AB}" type="presOf" srcId="{4DB54330-E97D-496B-9DC2-07610CB7B81E}" destId="{00CFDF00-DFCD-4ADC-99D9-C5B95FBA68D9}" srcOrd="0" destOrd="2" presId="urn:microsoft.com/office/officeart/2005/8/layout/vList5"/>
    <dgm:cxn modelId="{A67E8D16-951C-4B5C-9174-9D0850DAFAF9}" srcId="{3992F066-DE42-4A39-9374-525FD359533F}" destId="{D3CEBD0C-4695-449F-A7DB-B4685069EECF}" srcOrd="0" destOrd="0" parTransId="{1AE60CAC-7EB0-4689-B818-E5667A34708D}" sibTransId="{7307F219-6DDD-48B0-94FD-B8D005972669}"/>
    <dgm:cxn modelId="{6A144728-C703-40B3-BCEE-8B9A55A54CA6}" type="presOf" srcId="{8E2DC50D-60D3-4EFE-B1B4-CF5408BFA5FE}" destId="{00CFDF00-DFCD-4ADC-99D9-C5B95FBA68D9}" srcOrd="0" destOrd="3" presId="urn:microsoft.com/office/officeart/2005/8/layout/vList5"/>
    <dgm:cxn modelId="{425F473A-DDDE-4609-BE2B-115FCA209A65}" type="presOf" srcId="{3992F066-DE42-4A39-9374-525FD359533F}" destId="{0A4FCBB7-24A2-4FB1-B014-ACD59B621E8A}" srcOrd="0" destOrd="0" presId="urn:microsoft.com/office/officeart/2005/8/layout/vList5"/>
    <dgm:cxn modelId="{2AAEC55D-A636-47B2-B6EE-C3BE78EFB345}" type="presOf" srcId="{A9A5EB20-FC33-498C-A03D-DC85D0ADA894}" destId="{00CFDF00-DFCD-4ADC-99D9-C5B95FBA68D9}" srcOrd="0" destOrd="0" presId="urn:microsoft.com/office/officeart/2005/8/layout/vList5"/>
    <dgm:cxn modelId="{0C99054C-0844-4EE0-ABAD-4589521636EC}" type="presOf" srcId="{D3CEBD0C-4695-449F-A7DB-B4685069EECF}" destId="{49137B24-550A-44A1-9124-BCD1E552C58B}" srcOrd="0" destOrd="0" presId="urn:microsoft.com/office/officeart/2005/8/layout/vList5"/>
    <dgm:cxn modelId="{BA074C75-D5C7-427B-B262-F57703DF26CF}" srcId="{D3CEBD0C-4695-449F-A7DB-B4685069EECF}" destId="{4DB54330-E97D-496B-9DC2-07610CB7B81E}" srcOrd="2" destOrd="0" parTransId="{CFC8ADDA-51CB-460D-9944-318FD7D029CD}" sibTransId="{C3AFE7B9-979D-4B63-929B-83F928F49B66}"/>
    <dgm:cxn modelId="{5E556092-1430-45F1-8240-20869D0353A4}" type="presOf" srcId="{F2E704AE-C669-40F8-9BAA-4EDD992F9C0E}" destId="{00CFDF00-DFCD-4ADC-99D9-C5B95FBA68D9}" srcOrd="0" destOrd="1" presId="urn:microsoft.com/office/officeart/2005/8/layout/vList5"/>
    <dgm:cxn modelId="{DBB935EB-6423-42B2-B0FC-1F541BB65F11}" srcId="{D3CEBD0C-4695-449F-A7DB-B4685069EECF}" destId="{A9A5EB20-FC33-498C-A03D-DC85D0ADA894}" srcOrd="0" destOrd="0" parTransId="{4E1ED11A-2CED-484D-9940-600F63C27ABF}" sibTransId="{92E772E8-7A17-429F-A3CD-A5C0F7084141}"/>
    <dgm:cxn modelId="{3A47420A-70CA-4CAD-93D7-0AF3BDE84225}" type="presParOf" srcId="{0A4FCBB7-24A2-4FB1-B014-ACD59B621E8A}" destId="{1ABD14F5-D385-4869-9821-BFE2FB7FABD2}" srcOrd="0" destOrd="0" presId="urn:microsoft.com/office/officeart/2005/8/layout/vList5"/>
    <dgm:cxn modelId="{F33711FD-57D8-458F-B08A-4F2130CDD7D5}" type="presParOf" srcId="{1ABD14F5-D385-4869-9821-BFE2FB7FABD2}" destId="{49137B24-550A-44A1-9124-BCD1E552C58B}" srcOrd="0" destOrd="0" presId="urn:microsoft.com/office/officeart/2005/8/layout/vList5"/>
    <dgm:cxn modelId="{17CE5B37-2866-4A62-A861-C0D90D862E86}" type="presParOf" srcId="{1ABD14F5-D385-4869-9821-BFE2FB7FABD2}" destId="{00CFDF00-DFCD-4ADC-99D9-C5B95FBA68D9}"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55790A7-94EF-4F5F-BF61-0F2C0DE536D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PK"/>
        </a:p>
      </dgm:t>
    </dgm:pt>
    <dgm:pt modelId="{8AD45CD8-8637-4086-A4C7-CBDBAD67947A}">
      <dgm:prSet/>
      <dgm:spPr/>
      <dgm:t>
        <a:bodyPr/>
        <a:lstStyle/>
        <a:p>
          <a:r>
            <a:rPr lang="en-US" dirty="0"/>
            <a:t>In this deterministic programming model, no concurrency is used at all. In its strongest form, there is a total order of all operations of the program. Weaker forms still keep the deterministic behavior. However, they either make no guarantees on the exact execution order to the programmer a priori. Or they provide mechanisms for explicit preemption of the task currently active, as co-routines do, for instance.</a:t>
          </a:r>
          <a:endParaRPr lang="en-PK" dirty="0"/>
        </a:p>
      </dgm:t>
    </dgm:pt>
    <dgm:pt modelId="{AC9DFE7C-0C70-4CED-9789-C14865E2D74D}" type="parTrans" cxnId="{971AEF2D-36F1-425B-9F4E-565D8ED1D63E}">
      <dgm:prSet/>
      <dgm:spPr/>
      <dgm:t>
        <a:bodyPr/>
        <a:lstStyle/>
        <a:p>
          <a:endParaRPr lang="en-PK"/>
        </a:p>
      </dgm:t>
    </dgm:pt>
    <dgm:pt modelId="{FE053DCA-E74E-4B4E-8D3D-67C9F1596348}" type="sibTrans" cxnId="{971AEF2D-36F1-425B-9F4E-565D8ED1D63E}">
      <dgm:prSet/>
      <dgm:spPr/>
      <dgm:t>
        <a:bodyPr/>
        <a:lstStyle/>
        <a:p>
          <a:endParaRPr lang="en-PK"/>
        </a:p>
      </dgm:t>
    </dgm:pt>
    <dgm:pt modelId="{7775CF0A-6188-430B-8734-9AE23194308B}" type="pres">
      <dgm:prSet presAssocID="{955790A7-94EF-4F5F-BF61-0F2C0DE536DE}" presName="linear" presStyleCnt="0">
        <dgm:presLayoutVars>
          <dgm:animLvl val="lvl"/>
          <dgm:resizeHandles val="exact"/>
        </dgm:presLayoutVars>
      </dgm:prSet>
      <dgm:spPr/>
    </dgm:pt>
    <dgm:pt modelId="{B41FEEAD-0EC3-4197-A40F-ECE178D41B01}" type="pres">
      <dgm:prSet presAssocID="{8AD45CD8-8637-4086-A4C7-CBDBAD67947A}" presName="parentText" presStyleLbl="node1" presStyleIdx="0" presStyleCnt="1">
        <dgm:presLayoutVars>
          <dgm:chMax val="0"/>
          <dgm:bulletEnabled val="1"/>
        </dgm:presLayoutVars>
      </dgm:prSet>
      <dgm:spPr/>
    </dgm:pt>
  </dgm:ptLst>
  <dgm:cxnLst>
    <dgm:cxn modelId="{971AEF2D-36F1-425B-9F4E-565D8ED1D63E}" srcId="{955790A7-94EF-4F5F-BF61-0F2C0DE536DE}" destId="{8AD45CD8-8637-4086-A4C7-CBDBAD67947A}" srcOrd="0" destOrd="0" parTransId="{AC9DFE7C-0C70-4CED-9789-C14865E2D74D}" sibTransId="{FE053DCA-E74E-4B4E-8D3D-67C9F1596348}"/>
    <dgm:cxn modelId="{6E49E797-AC20-4226-963F-D47E252C9AAF}" type="presOf" srcId="{955790A7-94EF-4F5F-BF61-0F2C0DE536DE}" destId="{7775CF0A-6188-430B-8734-9AE23194308B}" srcOrd="0" destOrd="0" presId="urn:microsoft.com/office/officeart/2005/8/layout/vList2"/>
    <dgm:cxn modelId="{EB55D1E9-BBE9-471F-AB3B-A13A0185A8E4}" type="presOf" srcId="{8AD45CD8-8637-4086-A4C7-CBDBAD67947A}" destId="{B41FEEAD-0EC3-4197-A40F-ECE178D41B01}" srcOrd="0" destOrd="0" presId="urn:microsoft.com/office/officeart/2005/8/layout/vList2"/>
    <dgm:cxn modelId="{DADA0323-10AD-44E7-A4F9-5F41C08F4401}" type="presParOf" srcId="{7775CF0A-6188-430B-8734-9AE23194308B}" destId="{B41FEEAD-0EC3-4197-A40F-ECE178D41B01}"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32C9DF9-7CA6-41E8-B8D3-66137325FF2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PK"/>
        </a:p>
      </dgm:t>
    </dgm:pt>
    <dgm:pt modelId="{7B2467C3-BCB6-4363-8E3A-1E6473058F81}">
      <dgm:prSet/>
      <dgm:spPr/>
      <dgm:t>
        <a:bodyPr/>
        <a:lstStyle/>
        <a:p>
          <a:r>
            <a:rPr lang="en-US"/>
            <a:t>Declarative programming is a programming model that favors implicit control flow of computations. Control flow is not described directly, it is rather a result of computational logic of the program. The declarative concurrency model extends the declarative programming model by allowing multiple flows of executions. It adds implicit concurrency that is based on a data-driven or a demand-driven approach. While this introduces some form of nondeterminism at runtime, the nondeterminism is generally not observable from the outside.</a:t>
          </a:r>
          <a:endParaRPr lang="en-PK"/>
        </a:p>
      </dgm:t>
    </dgm:pt>
    <dgm:pt modelId="{2C177173-8476-435D-A3D0-93EE72BD1B41}" type="parTrans" cxnId="{773F2B64-5A12-4679-B5C8-EE3B8E69E050}">
      <dgm:prSet/>
      <dgm:spPr/>
      <dgm:t>
        <a:bodyPr/>
        <a:lstStyle/>
        <a:p>
          <a:endParaRPr lang="en-PK"/>
        </a:p>
      </dgm:t>
    </dgm:pt>
    <dgm:pt modelId="{6E1FECC8-8720-4DCC-85F0-B4CB72A436CF}" type="sibTrans" cxnId="{773F2B64-5A12-4679-B5C8-EE3B8E69E050}">
      <dgm:prSet/>
      <dgm:spPr/>
      <dgm:t>
        <a:bodyPr/>
        <a:lstStyle/>
        <a:p>
          <a:endParaRPr lang="en-PK"/>
        </a:p>
      </dgm:t>
    </dgm:pt>
    <dgm:pt modelId="{3DC0EC2C-029A-4680-98DB-FCC338777BD0}" type="pres">
      <dgm:prSet presAssocID="{932C9DF9-7CA6-41E8-B8D3-66137325FF2D}" presName="linear" presStyleCnt="0">
        <dgm:presLayoutVars>
          <dgm:animLvl val="lvl"/>
          <dgm:resizeHandles val="exact"/>
        </dgm:presLayoutVars>
      </dgm:prSet>
      <dgm:spPr/>
    </dgm:pt>
    <dgm:pt modelId="{BCB9EF1C-AE52-4543-AD3B-9FCCC5232F5C}" type="pres">
      <dgm:prSet presAssocID="{7B2467C3-BCB6-4363-8E3A-1E6473058F81}" presName="parentText" presStyleLbl="node1" presStyleIdx="0" presStyleCnt="1">
        <dgm:presLayoutVars>
          <dgm:chMax val="0"/>
          <dgm:bulletEnabled val="1"/>
        </dgm:presLayoutVars>
      </dgm:prSet>
      <dgm:spPr/>
    </dgm:pt>
  </dgm:ptLst>
  <dgm:cxnLst>
    <dgm:cxn modelId="{773F2B64-5A12-4679-B5C8-EE3B8E69E050}" srcId="{932C9DF9-7CA6-41E8-B8D3-66137325FF2D}" destId="{7B2467C3-BCB6-4363-8E3A-1E6473058F81}" srcOrd="0" destOrd="0" parTransId="{2C177173-8476-435D-A3D0-93EE72BD1B41}" sibTransId="{6E1FECC8-8720-4DCC-85F0-B4CB72A436CF}"/>
    <dgm:cxn modelId="{BB14FFC6-EB23-4E4F-A093-EB5D00344E7F}" type="presOf" srcId="{7B2467C3-BCB6-4363-8E3A-1E6473058F81}" destId="{BCB9EF1C-AE52-4543-AD3B-9FCCC5232F5C}" srcOrd="0" destOrd="0" presId="urn:microsoft.com/office/officeart/2005/8/layout/vList2"/>
    <dgm:cxn modelId="{E9C404E8-39D9-492C-80A9-A8EADC7461B2}" type="presOf" srcId="{932C9DF9-7CA6-41E8-B8D3-66137325FF2D}" destId="{3DC0EC2C-029A-4680-98DB-FCC338777BD0}" srcOrd="0" destOrd="0" presId="urn:microsoft.com/office/officeart/2005/8/layout/vList2"/>
    <dgm:cxn modelId="{3DE62D79-79B6-465A-B643-ACDEACD85586}" type="presParOf" srcId="{3DC0EC2C-029A-4680-98DB-FCC338777BD0}" destId="{BCB9EF1C-AE52-4543-AD3B-9FCCC5232F5C}"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0645BEF-1F2B-4A33-935D-89B34DF1626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PK"/>
        </a:p>
      </dgm:t>
    </dgm:pt>
    <dgm:pt modelId="{FC6E1B9B-F6F9-438A-96A7-FAF2BB56F21B}">
      <dgm:prSet/>
      <dgm:spPr/>
      <dgm:t>
        <a:bodyPr/>
        <a:lstStyle/>
        <a:p>
          <a:r>
            <a:rPr lang="en-US"/>
            <a:t>This model is a programming style that allows concurrent activities to communicate via messages. Generally, this is the only allowed form of interaction between activities which are otherwise completely isolated. Message passing can be either synchronous or asynchronous resulting in different mechanisms and patterns for synchronization and coordination.</a:t>
          </a:r>
          <a:endParaRPr lang="en-PK"/>
        </a:p>
      </dgm:t>
    </dgm:pt>
    <dgm:pt modelId="{F4AD331F-95F5-40CA-B382-86050C513DAC}" type="parTrans" cxnId="{9A45EBF0-83E2-432C-B324-AC1D2E053935}">
      <dgm:prSet/>
      <dgm:spPr/>
      <dgm:t>
        <a:bodyPr/>
        <a:lstStyle/>
        <a:p>
          <a:endParaRPr lang="en-PK"/>
        </a:p>
      </dgm:t>
    </dgm:pt>
    <dgm:pt modelId="{A6ADACB3-7323-4E87-A151-5DEB2DADFD9D}" type="sibTrans" cxnId="{9A45EBF0-83E2-432C-B324-AC1D2E053935}">
      <dgm:prSet/>
      <dgm:spPr/>
      <dgm:t>
        <a:bodyPr/>
        <a:lstStyle/>
        <a:p>
          <a:endParaRPr lang="en-PK"/>
        </a:p>
      </dgm:t>
    </dgm:pt>
    <dgm:pt modelId="{205421BA-67C8-4F6C-B351-060C5A566EA1}" type="pres">
      <dgm:prSet presAssocID="{30645BEF-1F2B-4A33-935D-89B34DF1626D}" presName="linear" presStyleCnt="0">
        <dgm:presLayoutVars>
          <dgm:animLvl val="lvl"/>
          <dgm:resizeHandles val="exact"/>
        </dgm:presLayoutVars>
      </dgm:prSet>
      <dgm:spPr/>
    </dgm:pt>
    <dgm:pt modelId="{7E425D90-8525-458D-BAAB-D79B0AE8E472}" type="pres">
      <dgm:prSet presAssocID="{FC6E1B9B-F6F9-438A-96A7-FAF2BB56F21B}" presName="parentText" presStyleLbl="node1" presStyleIdx="0" presStyleCnt="1">
        <dgm:presLayoutVars>
          <dgm:chMax val="0"/>
          <dgm:bulletEnabled val="1"/>
        </dgm:presLayoutVars>
      </dgm:prSet>
      <dgm:spPr/>
    </dgm:pt>
  </dgm:ptLst>
  <dgm:cxnLst>
    <dgm:cxn modelId="{62A91733-39A8-4502-B5D8-A1B9F4B21C10}" type="presOf" srcId="{FC6E1B9B-F6F9-438A-96A7-FAF2BB56F21B}" destId="{7E425D90-8525-458D-BAAB-D79B0AE8E472}" srcOrd="0" destOrd="0" presId="urn:microsoft.com/office/officeart/2005/8/layout/vList2"/>
    <dgm:cxn modelId="{1150AFBF-674D-41BF-AF7F-A3B93567107C}" type="presOf" srcId="{30645BEF-1F2B-4A33-935D-89B34DF1626D}" destId="{205421BA-67C8-4F6C-B351-060C5A566EA1}" srcOrd="0" destOrd="0" presId="urn:microsoft.com/office/officeart/2005/8/layout/vList2"/>
    <dgm:cxn modelId="{9A45EBF0-83E2-432C-B324-AC1D2E053935}" srcId="{30645BEF-1F2B-4A33-935D-89B34DF1626D}" destId="{FC6E1B9B-F6F9-438A-96A7-FAF2BB56F21B}" srcOrd="0" destOrd="0" parTransId="{F4AD331F-95F5-40CA-B382-86050C513DAC}" sibTransId="{A6ADACB3-7323-4E87-A151-5DEB2DADFD9D}"/>
    <dgm:cxn modelId="{633CFFF2-A62C-4433-9686-3E61E8528317}" type="presParOf" srcId="{205421BA-67C8-4F6C-B351-060C5A566EA1}" destId="{7E425D90-8525-458D-BAAB-D79B0AE8E472}"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F26922A-E6BD-4702-9872-3BE763F185D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PK"/>
        </a:p>
      </dgm:t>
    </dgm:pt>
    <dgm:pt modelId="{1012FB10-6955-45AC-B742-7BC984C71992}">
      <dgm:prSet/>
      <dgm:spPr/>
      <dgm:t>
        <a:bodyPr/>
        <a:lstStyle/>
        <a:p>
          <a:r>
            <a:rPr lang="en-US"/>
            <a:t>Shared-state concurrency is an extended programming model where multiple activities are allowed to access contended resources and states. Sharing the exact same resources and states among different activities requires dedicated mechanisms for synchronization of access and coordination between activities. The general nondeterminism and missing invariants of this model would otherwise directly cause problems regarding consistency and state validity.</a:t>
          </a:r>
          <a:endParaRPr lang="en-PK"/>
        </a:p>
      </dgm:t>
    </dgm:pt>
    <dgm:pt modelId="{24B715A4-D7B9-4084-8177-449AD83545BD}" type="parTrans" cxnId="{09AA487B-CD5E-4C49-998A-4052393B39C4}">
      <dgm:prSet/>
      <dgm:spPr/>
      <dgm:t>
        <a:bodyPr/>
        <a:lstStyle/>
        <a:p>
          <a:endParaRPr lang="en-PK"/>
        </a:p>
      </dgm:t>
    </dgm:pt>
    <dgm:pt modelId="{94F556B2-CE82-4D12-B841-B209647EF6B2}" type="sibTrans" cxnId="{09AA487B-CD5E-4C49-998A-4052393B39C4}">
      <dgm:prSet/>
      <dgm:spPr/>
      <dgm:t>
        <a:bodyPr/>
        <a:lstStyle/>
        <a:p>
          <a:endParaRPr lang="en-PK"/>
        </a:p>
      </dgm:t>
    </dgm:pt>
    <dgm:pt modelId="{CF4AC149-D5D9-4D6F-9E42-8030072E8EAB}" type="pres">
      <dgm:prSet presAssocID="{8F26922A-E6BD-4702-9872-3BE763F185DE}" presName="linear" presStyleCnt="0">
        <dgm:presLayoutVars>
          <dgm:animLvl val="lvl"/>
          <dgm:resizeHandles val="exact"/>
        </dgm:presLayoutVars>
      </dgm:prSet>
      <dgm:spPr/>
    </dgm:pt>
    <dgm:pt modelId="{693E5111-9177-4CE1-95FB-9A112A8D5891}" type="pres">
      <dgm:prSet presAssocID="{1012FB10-6955-45AC-B742-7BC984C71992}" presName="parentText" presStyleLbl="node1" presStyleIdx="0" presStyleCnt="1">
        <dgm:presLayoutVars>
          <dgm:chMax val="0"/>
          <dgm:bulletEnabled val="1"/>
        </dgm:presLayoutVars>
      </dgm:prSet>
      <dgm:spPr/>
    </dgm:pt>
  </dgm:ptLst>
  <dgm:cxnLst>
    <dgm:cxn modelId="{46A3616F-8C17-4BB4-B028-C64E014FA014}" type="presOf" srcId="{1012FB10-6955-45AC-B742-7BC984C71992}" destId="{693E5111-9177-4CE1-95FB-9A112A8D5891}" srcOrd="0" destOrd="0" presId="urn:microsoft.com/office/officeart/2005/8/layout/vList2"/>
    <dgm:cxn modelId="{09AA487B-CD5E-4C49-998A-4052393B39C4}" srcId="{8F26922A-E6BD-4702-9872-3BE763F185DE}" destId="{1012FB10-6955-45AC-B742-7BC984C71992}" srcOrd="0" destOrd="0" parTransId="{24B715A4-D7B9-4084-8177-449AD83545BD}" sibTransId="{94F556B2-CE82-4D12-B841-B209647EF6B2}"/>
    <dgm:cxn modelId="{F833F8B7-497F-4169-A04F-D951F6E93936}" type="presOf" srcId="{8F26922A-E6BD-4702-9872-3BE763F185DE}" destId="{CF4AC149-D5D9-4D6F-9E42-8030072E8EAB}" srcOrd="0" destOrd="0" presId="urn:microsoft.com/office/officeart/2005/8/layout/vList2"/>
    <dgm:cxn modelId="{1194D9B7-CF5E-4EBD-8F80-1764C68FDCE8}" type="presParOf" srcId="{CF4AC149-D5D9-4D6F-9E42-8030072E8EAB}" destId="{693E5111-9177-4CE1-95FB-9A112A8D5891}"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dirty="0">
              <a:latin typeface="Arial" panose="020B0604020202020204" pitchFamily="34" charset="0"/>
              <a:cs typeface="Arial" panose="020B0604020202020204" pitchFamily="34" charset="0"/>
            </a:rPr>
            <a:t>Introduction of Memory Hierarchy.</a:t>
          </a:r>
          <a:endParaRPr lang="en-PK" dirty="0">
            <a:latin typeface="Arial" panose="020B0604020202020204" pitchFamily="34" charset="0"/>
            <a:cs typeface="Arial" panose="020B0604020202020204" pitchFamily="34" charset="0"/>
          </a:endParaRPr>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Characteristics of Memory Hierarchy.</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2"/>
      <dgm:spPr/>
    </dgm:pt>
    <dgm:pt modelId="{D881F5EF-E907-4B70-B27C-A1BEE31A375E}" type="pres">
      <dgm:prSet presAssocID="{AD97C7EA-A52E-4807-91FC-7F73ACA10AE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2" custScaleX="113693">
        <dgm:presLayoutVars>
          <dgm:chMax val="0"/>
          <dgm:chPref val="0"/>
        </dgm:presLayoutVars>
      </dgm:prSet>
      <dgm:spPr/>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2"/>
      <dgm:spPr/>
    </dgm:pt>
    <dgm:pt modelId="{506C0FB1-07FE-4287-8822-A312BB62CC32}" type="pres">
      <dgm:prSet presAssocID="{13132748-EF84-4804-85DC-B5D259AD20F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2">
        <dgm:presLayoutVars>
          <dgm:chMax val="0"/>
          <dgm:chPref val="0"/>
        </dgm:presLayoutVars>
      </dgm:prSet>
      <dgm:spPr/>
    </dgm:pt>
  </dgm:ptLst>
  <dgm:cxnLst>
    <dgm:cxn modelId="{1D5F7927-FA0D-46D1-8C91-FF5F26216785}" srcId="{33284D22-5FBB-4E6B-B09D-FBF016189D2A}" destId="{AD97C7EA-A52E-4807-91FC-7F73ACA10AEF}" srcOrd="0" destOrd="0" parTransId="{C71A38FA-4936-49B3-A787-599066C56025}" sibTransId="{21989FB5-9492-48A8-96CF-3AC5D9A84B6B}"/>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7DF9FB5-8547-43CF-81A1-AF5458A8A71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PK"/>
        </a:p>
      </dgm:t>
    </dgm:pt>
    <dgm:pt modelId="{BDD70B36-7DF3-4025-A120-A8E167F589C9}">
      <dgm:prSet/>
      <dgm:spPr/>
      <dgm:t>
        <a:bodyPr/>
        <a:lstStyle/>
        <a:p>
          <a:r>
            <a:rPr lang="en-US" dirty="0">
              <a:latin typeface="Arial" panose="020B0604020202020204" pitchFamily="34" charset="0"/>
              <a:cs typeface="Arial" panose="020B0604020202020204" pitchFamily="34" charset="0"/>
            </a:rPr>
            <a:t>We are concerned with five types of memory:</a:t>
          </a:r>
          <a:endParaRPr lang="en-PK" dirty="0">
            <a:latin typeface="Arial" panose="020B0604020202020204" pitchFamily="34" charset="0"/>
            <a:cs typeface="Arial" panose="020B0604020202020204" pitchFamily="34" charset="0"/>
          </a:endParaRPr>
        </a:p>
      </dgm:t>
    </dgm:pt>
    <dgm:pt modelId="{BE53C7CF-7571-425A-925C-4DBF6A46F16F}" type="parTrans" cxnId="{BFFB5CAD-59BE-4BBB-BEB3-54D7DD99209D}">
      <dgm:prSet/>
      <dgm:spPr/>
      <dgm:t>
        <a:bodyPr/>
        <a:lstStyle/>
        <a:p>
          <a:endParaRPr lang="en-PK"/>
        </a:p>
      </dgm:t>
    </dgm:pt>
    <dgm:pt modelId="{FEE56E43-8380-406B-B147-8AED42ED3F38}" type="sibTrans" cxnId="{BFFB5CAD-59BE-4BBB-BEB3-54D7DD99209D}">
      <dgm:prSet/>
      <dgm:spPr/>
      <dgm:t>
        <a:bodyPr/>
        <a:lstStyle/>
        <a:p>
          <a:endParaRPr lang="en-PK"/>
        </a:p>
      </dgm:t>
    </dgm:pt>
    <dgm:pt modelId="{A2888C01-B378-4964-9A9E-1E2875C5C982}">
      <dgm:prSet/>
      <dgm:spPr/>
      <dgm:t>
        <a:bodyPr/>
        <a:lstStyle/>
        <a:p>
          <a:r>
            <a:rPr lang="en-US" b="1" dirty="0">
              <a:latin typeface="Arial" panose="020B0604020202020204" pitchFamily="34" charset="0"/>
              <a:cs typeface="Arial" panose="020B0604020202020204" pitchFamily="34" charset="0"/>
            </a:rPr>
            <a:t>Registers: </a:t>
          </a:r>
          <a:r>
            <a:rPr lang="en-US" dirty="0">
              <a:latin typeface="Arial" panose="020B0604020202020204" pitchFamily="34" charset="0"/>
              <a:cs typeface="Arial" panose="020B0604020202020204" pitchFamily="34" charset="0"/>
            </a:rPr>
            <a:t>are the fastest type of memory, which are located internal to a processor. These elements are primarily used for temporary storage of operands, small partitions of memory, etc., and are assumed to be one word (32 bits) in length in the MIPS architecture.</a:t>
          </a:r>
          <a:endParaRPr lang="en-PK" dirty="0">
            <a:latin typeface="Arial" panose="020B0604020202020204" pitchFamily="34" charset="0"/>
            <a:cs typeface="Arial" panose="020B0604020202020204" pitchFamily="34" charset="0"/>
          </a:endParaRPr>
        </a:p>
      </dgm:t>
    </dgm:pt>
    <dgm:pt modelId="{3ED36874-80EF-4A0F-AFD7-2FDA196076E8}" type="parTrans" cxnId="{7924E028-A086-45CC-8D2E-1AAFEED2B3D4}">
      <dgm:prSet/>
      <dgm:spPr/>
      <dgm:t>
        <a:bodyPr/>
        <a:lstStyle/>
        <a:p>
          <a:endParaRPr lang="en-PK"/>
        </a:p>
      </dgm:t>
    </dgm:pt>
    <dgm:pt modelId="{67BEAB4B-E708-4633-A3B8-7B7F03A246C8}" type="sibTrans" cxnId="{7924E028-A086-45CC-8D2E-1AAFEED2B3D4}">
      <dgm:prSet/>
      <dgm:spPr/>
      <dgm:t>
        <a:bodyPr/>
        <a:lstStyle/>
        <a:p>
          <a:endParaRPr lang="en-PK"/>
        </a:p>
      </dgm:t>
    </dgm:pt>
    <dgm:pt modelId="{7774DCB5-4548-4037-8ABB-02458F22367A}">
      <dgm:prSet/>
      <dgm:spPr/>
      <dgm:t>
        <a:bodyPr/>
        <a:lstStyle/>
        <a:p>
          <a:r>
            <a:rPr lang="en-US" b="1" dirty="0">
              <a:latin typeface="Arial" panose="020B0604020202020204" pitchFamily="34" charset="0"/>
              <a:cs typeface="Arial" panose="020B0604020202020204" pitchFamily="34" charset="0"/>
            </a:rPr>
            <a:t>Cache: </a:t>
          </a:r>
          <a:r>
            <a:rPr lang="en-US" dirty="0">
              <a:latin typeface="Arial" panose="020B0604020202020204" pitchFamily="34" charset="0"/>
              <a:cs typeface="Arial" panose="020B0604020202020204" pitchFamily="34" charset="0"/>
            </a:rPr>
            <a:t>is a very fast type of memory that can be external or internal to a given processor. Cache is used for temporary storage of blocks of data obtained from main memory (read operation) or created by the processor and eventually written to main memory (write operation).</a:t>
          </a:r>
          <a:endParaRPr lang="en-PK" dirty="0">
            <a:latin typeface="Arial" panose="020B0604020202020204" pitchFamily="34" charset="0"/>
            <a:cs typeface="Arial" panose="020B0604020202020204" pitchFamily="34" charset="0"/>
          </a:endParaRPr>
        </a:p>
      </dgm:t>
    </dgm:pt>
    <dgm:pt modelId="{320A627D-EA75-407E-A703-BF0E152E9C66}" type="parTrans" cxnId="{353458F9-C5F0-415E-96CB-5B937B05CDD7}">
      <dgm:prSet/>
      <dgm:spPr/>
      <dgm:t>
        <a:bodyPr/>
        <a:lstStyle/>
        <a:p>
          <a:endParaRPr lang="en-PK"/>
        </a:p>
      </dgm:t>
    </dgm:pt>
    <dgm:pt modelId="{99B67C4A-18AB-4C16-8974-BFBDEF8C32A1}" type="sibTrans" cxnId="{353458F9-C5F0-415E-96CB-5B937B05CDD7}">
      <dgm:prSet/>
      <dgm:spPr/>
      <dgm:t>
        <a:bodyPr/>
        <a:lstStyle/>
        <a:p>
          <a:endParaRPr lang="en-PK"/>
        </a:p>
      </dgm:t>
    </dgm:pt>
    <dgm:pt modelId="{371C9A30-46B2-4A05-BD2E-4B5343A8B462}">
      <dgm:prSet/>
      <dgm:spPr/>
      <dgm:t>
        <a:bodyPr/>
        <a:lstStyle/>
        <a:p>
          <a:r>
            <a:rPr lang="en-US" b="1" dirty="0">
              <a:latin typeface="Arial" panose="020B0604020202020204" pitchFamily="34" charset="0"/>
              <a:cs typeface="Arial" panose="020B0604020202020204" pitchFamily="34" charset="0"/>
            </a:rPr>
            <a:t>Main Memory: </a:t>
          </a:r>
          <a:r>
            <a:rPr lang="en-US" dirty="0">
              <a:latin typeface="Arial" panose="020B0604020202020204" pitchFamily="34" charset="0"/>
              <a:cs typeface="Arial" panose="020B0604020202020204" pitchFamily="34" charset="0"/>
            </a:rPr>
            <a:t>is modelled as a large, linear array of storage elements that is partitioned into static and dynamic storage. Main memory is used primarily for storage of data that a program produces during its execution, as well as for instruction storage. </a:t>
          </a:r>
          <a:endParaRPr lang="en-PK" dirty="0">
            <a:latin typeface="Arial" panose="020B0604020202020204" pitchFamily="34" charset="0"/>
            <a:cs typeface="Arial" panose="020B0604020202020204" pitchFamily="34" charset="0"/>
          </a:endParaRPr>
        </a:p>
      </dgm:t>
    </dgm:pt>
    <dgm:pt modelId="{3765A155-D3F2-4079-BEF6-F148D0A811BB}" type="parTrans" cxnId="{FFB5388E-5CC5-418F-BADB-D4F729A46953}">
      <dgm:prSet/>
      <dgm:spPr/>
      <dgm:t>
        <a:bodyPr/>
        <a:lstStyle/>
        <a:p>
          <a:endParaRPr lang="en-PK"/>
        </a:p>
      </dgm:t>
    </dgm:pt>
    <dgm:pt modelId="{86C525F5-08FE-4483-BA3C-ACD7B7719D57}" type="sibTrans" cxnId="{FFB5388E-5CC5-418F-BADB-D4F729A46953}">
      <dgm:prSet/>
      <dgm:spPr/>
      <dgm:t>
        <a:bodyPr/>
        <a:lstStyle/>
        <a:p>
          <a:endParaRPr lang="en-PK"/>
        </a:p>
      </dgm:t>
    </dgm:pt>
    <dgm:pt modelId="{0CC22F94-5483-4B5B-A3F3-56E704A4C246}">
      <dgm:prSet/>
      <dgm:spPr/>
      <dgm:t>
        <a:bodyPr/>
        <a:lstStyle/>
        <a:p>
          <a:r>
            <a:rPr lang="en-US" b="1" dirty="0">
              <a:latin typeface="Arial" panose="020B0604020202020204" pitchFamily="34" charset="0"/>
              <a:cs typeface="Arial" panose="020B0604020202020204" pitchFamily="34" charset="0"/>
            </a:rPr>
            <a:t>Disk Storage: </a:t>
          </a:r>
          <a:r>
            <a:rPr lang="en-US" dirty="0">
              <a:latin typeface="Arial" panose="020B0604020202020204" pitchFamily="34" charset="0"/>
              <a:cs typeface="Arial" panose="020B0604020202020204" pitchFamily="34" charset="0"/>
            </a:rPr>
            <a:t>is much slower than main memory, but also has much higher capacity than the preceding three types of memory. </a:t>
          </a:r>
          <a:endParaRPr lang="en-PK" dirty="0">
            <a:latin typeface="Arial" panose="020B0604020202020204" pitchFamily="34" charset="0"/>
            <a:cs typeface="Arial" panose="020B0604020202020204" pitchFamily="34" charset="0"/>
          </a:endParaRPr>
        </a:p>
      </dgm:t>
    </dgm:pt>
    <dgm:pt modelId="{CA5384A2-67E3-42A5-BEC0-34E6BA3FB7BE}" type="parTrans" cxnId="{2411C97D-B8C5-4744-AABA-98D579645619}">
      <dgm:prSet/>
      <dgm:spPr/>
      <dgm:t>
        <a:bodyPr/>
        <a:lstStyle/>
        <a:p>
          <a:endParaRPr lang="en-PK"/>
        </a:p>
      </dgm:t>
    </dgm:pt>
    <dgm:pt modelId="{5D726D2B-3F27-4FA6-86F8-4C5C90B4B52D}" type="sibTrans" cxnId="{2411C97D-B8C5-4744-AABA-98D579645619}">
      <dgm:prSet/>
      <dgm:spPr/>
      <dgm:t>
        <a:bodyPr/>
        <a:lstStyle/>
        <a:p>
          <a:endParaRPr lang="en-PK"/>
        </a:p>
      </dgm:t>
    </dgm:pt>
    <dgm:pt modelId="{AFE27332-BBE5-4713-A937-53C90511476D}">
      <dgm:prSet/>
      <dgm:spPr/>
      <dgm:t>
        <a:bodyPr/>
        <a:lstStyle/>
        <a:p>
          <a:r>
            <a:rPr lang="en-US" b="1" dirty="0">
              <a:latin typeface="Arial" panose="020B0604020202020204" pitchFamily="34" charset="0"/>
              <a:cs typeface="Arial" panose="020B0604020202020204" pitchFamily="34" charset="0"/>
            </a:rPr>
            <a:t>Archival Storage: </a:t>
          </a:r>
          <a:r>
            <a:rPr lang="en-US" dirty="0">
              <a:latin typeface="Arial" panose="020B0604020202020204" pitchFamily="34" charset="0"/>
              <a:cs typeface="Arial" panose="020B0604020202020204" pitchFamily="34" charset="0"/>
            </a:rPr>
            <a:t>is offline storage such as a CD-ROM jukebox or (in former years) rooms filled with racks containing magnetic tapes. This type of storage has a very long access time, in comparison with disk storage, and is also designed to be much less volatile than disk data</a:t>
          </a:r>
          <a:r>
            <a:rPr lang="en-US" dirty="0"/>
            <a:t>.</a:t>
          </a:r>
          <a:endParaRPr lang="en-PK" dirty="0"/>
        </a:p>
      </dgm:t>
    </dgm:pt>
    <dgm:pt modelId="{AEFB2DC9-B49B-4AC6-AD3C-0806624A9BD3}" type="parTrans" cxnId="{0FB90979-79C7-4AD8-B838-D90A514B8105}">
      <dgm:prSet/>
      <dgm:spPr/>
      <dgm:t>
        <a:bodyPr/>
        <a:lstStyle/>
        <a:p>
          <a:endParaRPr lang="en-PK"/>
        </a:p>
      </dgm:t>
    </dgm:pt>
    <dgm:pt modelId="{B2ABD72E-2F87-41B3-90A9-57D1AE85DE29}" type="sibTrans" cxnId="{0FB90979-79C7-4AD8-B838-D90A514B8105}">
      <dgm:prSet/>
      <dgm:spPr/>
      <dgm:t>
        <a:bodyPr/>
        <a:lstStyle/>
        <a:p>
          <a:endParaRPr lang="en-PK"/>
        </a:p>
      </dgm:t>
    </dgm:pt>
    <dgm:pt modelId="{6B0A8FA6-54F5-474E-831A-FC25C87326BA}" type="pres">
      <dgm:prSet presAssocID="{D7DF9FB5-8547-43CF-81A1-AF5458A8A71B}" presName="linear" presStyleCnt="0">
        <dgm:presLayoutVars>
          <dgm:animLvl val="lvl"/>
          <dgm:resizeHandles val="exact"/>
        </dgm:presLayoutVars>
      </dgm:prSet>
      <dgm:spPr/>
    </dgm:pt>
    <dgm:pt modelId="{1F1111FB-9F23-42BD-B1AB-2EDE3C7066E9}" type="pres">
      <dgm:prSet presAssocID="{BDD70B36-7DF3-4025-A120-A8E167F589C9}" presName="parentText" presStyleLbl="node1" presStyleIdx="0" presStyleCnt="1">
        <dgm:presLayoutVars>
          <dgm:chMax val="0"/>
          <dgm:bulletEnabled val="1"/>
        </dgm:presLayoutVars>
      </dgm:prSet>
      <dgm:spPr/>
    </dgm:pt>
    <dgm:pt modelId="{F973E3B3-2BCD-40C8-876C-1C80E6D002BE}" type="pres">
      <dgm:prSet presAssocID="{BDD70B36-7DF3-4025-A120-A8E167F589C9}" presName="childText" presStyleLbl="revTx" presStyleIdx="0" presStyleCnt="1">
        <dgm:presLayoutVars>
          <dgm:bulletEnabled val="1"/>
        </dgm:presLayoutVars>
      </dgm:prSet>
      <dgm:spPr/>
    </dgm:pt>
  </dgm:ptLst>
  <dgm:cxnLst>
    <dgm:cxn modelId="{47E21D25-8DF3-477A-9012-717B45D89B01}" type="presOf" srcId="{371C9A30-46B2-4A05-BD2E-4B5343A8B462}" destId="{F973E3B3-2BCD-40C8-876C-1C80E6D002BE}" srcOrd="0" destOrd="2" presId="urn:microsoft.com/office/officeart/2005/8/layout/vList2"/>
    <dgm:cxn modelId="{7924E028-A086-45CC-8D2E-1AAFEED2B3D4}" srcId="{BDD70B36-7DF3-4025-A120-A8E167F589C9}" destId="{A2888C01-B378-4964-9A9E-1E2875C5C982}" srcOrd="0" destOrd="0" parTransId="{3ED36874-80EF-4A0F-AFD7-2FDA196076E8}" sibTransId="{67BEAB4B-E708-4633-A3B8-7B7F03A246C8}"/>
    <dgm:cxn modelId="{560E075F-DE69-4B5D-9D9E-4C2A1653A0C8}" type="presOf" srcId="{BDD70B36-7DF3-4025-A120-A8E167F589C9}" destId="{1F1111FB-9F23-42BD-B1AB-2EDE3C7066E9}" srcOrd="0" destOrd="0" presId="urn:microsoft.com/office/officeart/2005/8/layout/vList2"/>
    <dgm:cxn modelId="{33131F58-7678-4A5C-B2AE-70BC670377AA}" type="presOf" srcId="{D7DF9FB5-8547-43CF-81A1-AF5458A8A71B}" destId="{6B0A8FA6-54F5-474E-831A-FC25C87326BA}" srcOrd="0" destOrd="0" presId="urn:microsoft.com/office/officeart/2005/8/layout/vList2"/>
    <dgm:cxn modelId="{0FB90979-79C7-4AD8-B838-D90A514B8105}" srcId="{BDD70B36-7DF3-4025-A120-A8E167F589C9}" destId="{AFE27332-BBE5-4713-A937-53C90511476D}" srcOrd="4" destOrd="0" parTransId="{AEFB2DC9-B49B-4AC6-AD3C-0806624A9BD3}" sibTransId="{B2ABD72E-2F87-41B3-90A9-57D1AE85DE29}"/>
    <dgm:cxn modelId="{39CE5879-7A76-4428-823D-63139D0C7451}" type="presOf" srcId="{0CC22F94-5483-4B5B-A3F3-56E704A4C246}" destId="{F973E3B3-2BCD-40C8-876C-1C80E6D002BE}" srcOrd="0" destOrd="3" presId="urn:microsoft.com/office/officeart/2005/8/layout/vList2"/>
    <dgm:cxn modelId="{2411C97D-B8C5-4744-AABA-98D579645619}" srcId="{BDD70B36-7DF3-4025-A120-A8E167F589C9}" destId="{0CC22F94-5483-4B5B-A3F3-56E704A4C246}" srcOrd="3" destOrd="0" parTransId="{CA5384A2-67E3-42A5-BEC0-34E6BA3FB7BE}" sibTransId="{5D726D2B-3F27-4FA6-86F8-4C5C90B4B52D}"/>
    <dgm:cxn modelId="{0945728A-0CA1-4BD5-A686-6CDA52FD3674}" type="presOf" srcId="{7774DCB5-4548-4037-8ABB-02458F22367A}" destId="{F973E3B3-2BCD-40C8-876C-1C80E6D002BE}" srcOrd="0" destOrd="1" presId="urn:microsoft.com/office/officeart/2005/8/layout/vList2"/>
    <dgm:cxn modelId="{FFB5388E-5CC5-418F-BADB-D4F729A46953}" srcId="{BDD70B36-7DF3-4025-A120-A8E167F589C9}" destId="{371C9A30-46B2-4A05-BD2E-4B5343A8B462}" srcOrd="2" destOrd="0" parTransId="{3765A155-D3F2-4079-BEF6-F148D0A811BB}" sibTransId="{86C525F5-08FE-4483-BA3C-ACD7B7719D57}"/>
    <dgm:cxn modelId="{953504A3-DBC2-4E9E-A74A-964A40A9F856}" type="presOf" srcId="{A2888C01-B378-4964-9A9E-1E2875C5C982}" destId="{F973E3B3-2BCD-40C8-876C-1C80E6D002BE}" srcOrd="0" destOrd="0" presId="urn:microsoft.com/office/officeart/2005/8/layout/vList2"/>
    <dgm:cxn modelId="{BFFB5CAD-59BE-4BBB-BEB3-54D7DD99209D}" srcId="{D7DF9FB5-8547-43CF-81A1-AF5458A8A71B}" destId="{BDD70B36-7DF3-4025-A120-A8E167F589C9}" srcOrd="0" destOrd="0" parTransId="{BE53C7CF-7571-425A-925C-4DBF6A46F16F}" sibTransId="{FEE56E43-8380-406B-B147-8AED42ED3F38}"/>
    <dgm:cxn modelId="{81D962C9-7BD9-4B5D-8A56-7F4E28231ABE}" type="presOf" srcId="{AFE27332-BBE5-4713-A937-53C90511476D}" destId="{F973E3B3-2BCD-40C8-876C-1C80E6D002BE}" srcOrd="0" destOrd="4" presId="urn:microsoft.com/office/officeart/2005/8/layout/vList2"/>
    <dgm:cxn modelId="{353458F9-C5F0-415E-96CB-5B937B05CDD7}" srcId="{BDD70B36-7DF3-4025-A120-A8E167F589C9}" destId="{7774DCB5-4548-4037-8ABB-02458F22367A}" srcOrd="1" destOrd="0" parTransId="{320A627D-EA75-407E-A703-BF0E152E9C66}" sibTransId="{99B67C4A-18AB-4C16-8974-BFBDEF8C32A1}"/>
    <dgm:cxn modelId="{2E6FD1F7-0258-400E-AE8F-5453FCE2DEFB}" type="presParOf" srcId="{6B0A8FA6-54F5-474E-831A-FC25C87326BA}" destId="{1F1111FB-9F23-42BD-B1AB-2EDE3C7066E9}" srcOrd="0" destOrd="0" presId="urn:microsoft.com/office/officeart/2005/8/layout/vList2"/>
    <dgm:cxn modelId="{4864E948-4FA2-41BC-B758-5894231C2DFE}" type="presParOf" srcId="{6B0A8FA6-54F5-474E-831A-FC25C87326BA}" destId="{F973E3B3-2BCD-40C8-876C-1C80E6D002BE}" srcOrd="1"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FA0C935-AAC7-432D-9D1E-57B76128DE57}"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PK"/>
        </a:p>
      </dgm:t>
    </dgm:pt>
    <dgm:pt modelId="{02690033-07A4-4FFD-8E37-9A5B7D9C168A}">
      <dgm:prSet/>
      <dgm:spPr/>
      <dgm:t>
        <a:bodyPr/>
        <a:lstStyle/>
        <a:p>
          <a:r>
            <a:rPr lang="en-US" dirty="0"/>
            <a:t>Characteristics of a Memory Hierarchy can be inferred from the previous figure:</a:t>
          </a:r>
          <a:endParaRPr lang="en-PK" dirty="0"/>
        </a:p>
      </dgm:t>
    </dgm:pt>
    <dgm:pt modelId="{BB562E69-684B-4F82-955E-66622041D7D7}" type="parTrans" cxnId="{B7DAB412-C6A9-49A2-8FB1-8B552C5C3A82}">
      <dgm:prSet/>
      <dgm:spPr/>
      <dgm:t>
        <a:bodyPr/>
        <a:lstStyle/>
        <a:p>
          <a:endParaRPr lang="en-PK"/>
        </a:p>
      </dgm:t>
    </dgm:pt>
    <dgm:pt modelId="{8A72851D-41F6-4656-8AD2-B53DA215078B}" type="sibTrans" cxnId="{B7DAB412-C6A9-49A2-8FB1-8B552C5C3A82}">
      <dgm:prSet/>
      <dgm:spPr/>
      <dgm:t>
        <a:bodyPr/>
        <a:lstStyle/>
        <a:p>
          <a:endParaRPr lang="en-PK"/>
        </a:p>
      </dgm:t>
    </dgm:pt>
    <dgm:pt modelId="{5F17ADC4-1705-4D73-98B4-1F14A8139B15}">
      <dgm:prSet/>
      <dgm:spPr/>
      <dgm:t>
        <a:bodyPr/>
        <a:lstStyle/>
        <a:p>
          <a:r>
            <a:rPr lang="en-US" b="1" dirty="0">
              <a:latin typeface="Arial" panose="020B0604020202020204" pitchFamily="34" charset="0"/>
              <a:cs typeface="Arial" panose="020B0604020202020204" pitchFamily="34" charset="0"/>
            </a:rPr>
            <a:t>Capacity: </a:t>
          </a:r>
          <a:r>
            <a:rPr lang="en-US" dirty="0">
              <a:latin typeface="Arial" panose="020B0604020202020204" pitchFamily="34" charset="0"/>
              <a:cs typeface="Arial" panose="020B0604020202020204" pitchFamily="34" charset="0"/>
            </a:rPr>
            <a:t>It refers to the total volume of data that a system’s memory can store. The capacity increases moving from the top to the bottom in the Memory Hierarchy.</a:t>
          </a:r>
          <a:endParaRPr lang="en-PK" dirty="0">
            <a:latin typeface="Arial" panose="020B0604020202020204" pitchFamily="34" charset="0"/>
            <a:cs typeface="Arial" panose="020B0604020202020204" pitchFamily="34" charset="0"/>
          </a:endParaRPr>
        </a:p>
      </dgm:t>
    </dgm:pt>
    <dgm:pt modelId="{F131EEF1-4510-4FC4-A5F0-030890F698F2}" type="parTrans" cxnId="{B2FB4206-CD5C-4768-8BB9-589C64F0A062}">
      <dgm:prSet/>
      <dgm:spPr/>
      <dgm:t>
        <a:bodyPr/>
        <a:lstStyle/>
        <a:p>
          <a:endParaRPr lang="en-PK"/>
        </a:p>
      </dgm:t>
    </dgm:pt>
    <dgm:pt modelId="{23157C83-16FE-421F-ABD4-AE3866099E1D}" type="sibTrans" cxnId="{B2FB4206-CD5C-4768-8BB9-589C64F0A062}">
      <dgm:prSet/>
      <dgm:spPr/>
      <dgm:t>
        <a:bodyPr/>
        <a:lstStyle/>
        <a:p>
          <a:endParaRPr lang="en-PK"/>
        </a:p>
      </dgm:t>
    </dgm:pt>
    <dgm:pt modelId="{563C035A-95F5-4138-ACB1-800089A02310}">
      <dgm:prSet/>
      <dgm:spPr/>
      <dgm:t>
        <a:bodyPr/>
        <a:lstStyle/>
        <a:p>
          <a:r>
            <a:rPr lang="en-US" b="1" dirty="0">
              <a:latin typeface="Arial" panose="020B0604020202020204" pitchFamily="34" charset="0"/>
              <a:cs typeface="Arial" panose="020B0604020202020204" pitchFamily="34" charset="0"/>
            </a:rPr>
            <a:t>Access Time: </a:t>
          </a:r>
          <a:r>
            <a:rPr lang="en-US" dirty="0">
              <a:latin typeface="Arial" panose="020B0604020202020204" pitchFamily="34" charset="0"/>
              <a:cs typeface="Arial" panose="020B0604020202020204" pitchFamily="34" charset="0"/>
            </a:rPr>
            <a:t>It refers to the time interval present between the request for read/write and the data availability. The access time increases as we move from the top to the bottom in the Memory Hierarchy.</a:t>
          </a:r>
          <a:endParaRPr lang="en-PK" dirty="0">
            <a:latin typeface="Arial" panose="020B0604020202020204" pitchFamily="34" charset="0"/>
            <a:cs typeface="Arial" panose="020B0604020202020204" pitchFamily="34" charset="0"/>
          </a:endParaRPr>
        </a:p>
      </dgm:t>
    </dgm:pt>
    <dgm:pt modelId="{84148070-1F6C-451B-A459-3A41E4881426}" type="parTrans" cxnId="{8FFC04FA-E522-498B-BA80-BFCBC7493F06}">
      <dgm:prSet/>
      <dgm:spPr/>
      <dgm:t>
        <a:bodyPr/>
        <a:lstStyle/>
        <a:p>
          <a:endParaRPr lang="en-PK"/>
        </a:p>
      </dgm:t>
    </dgm:pt>
    <dgm:pt modelId="{CD483019-58E2-486A-B1BA-C563E2F142BA}" type="sibTrans" cxnId="{8FFC04FA-E522-498B-BA80-BFCBC7493F06}">
      <dgm:prSet/>
      <dgm:spPr/>
      <dgm:t>
        <a:bodyPr/>
        <a:lstStyle/>
        <a:p>
          <a:endParaRPr lang="en-PK"/>
        </a:p>
      </dgm:t>
    </dgm:pt>
    <dgm:pt modelId="{01BCE89C-F556-4D45-A57D-178D7D4AE3EA}" type="pres">
      <dgm:prSet presAssocID="{CFA0C935-AAC7-432D-9D1E-57B76128DE57}" presName="Name0" presStyleCnt="0">
        <dgm:presLayoutVars>
          <dgm:dir/>
          <dgm:animLvl val="lvl"/>
          <dgm:resizeHandles val="exact"/>
        </dgm:presLayoutVars>
      </dgm:prSet>
      <dgm:spPr/>
    </dgm:pt>
    <dgm:pt modelId="{121098B3-DD8D-40A0-AA8A-F37555DA3470}" type="pres">
      <dgm:prSet presAssocID="{02690033-07A4-4FFD-8E37-9A5B7D9C168A}" presName="linNode" presStyleCnt="0"/>
      <dgm:spPr/>
    </dgm:pt>
    <dgm:pt modelId="{7BB8FD88-148C-4C41-8187-C7F9F547C467}" type="pres">
      <dgm:prSet presAssocID="{02690033-07A4-4FFD-8E37-9A5B7D9C168A}" presName="parentText" presStyleLbl="node1" presStyleIdx="0" presStyleCnt="1">
        <dgm:presLayoutVars>
          <dgm:chMax val="1"/>
          <dgm:bulletEnabled val="1"/>
        </dgm:presLayoutVars>
      </dgm:prSet>
      <dgm:spPr/>
    </dgm:pt>
    <dgm:pt modelId="{259B3ED3-97E8-4B3B-AC16-294D4361D06F}" type="pres">
      <dgm:prSet presAssocID="{02690033-07A4-4FFD-8E37-9A5B7D9C168A}" presName="descendantText" presStyleLbl="alignAccFollowNode1" presStyleIdx="0" presStyleCnt="1">
        <dgm:presLayoutVars>
          <dgm:bulletEnabled val="1"/>
        </dgm:presLayoutVars>
      </dgm:prSet>
      <dgm:spPr/>
    </dgm:pt>
  </dgm:ptLst>
  <dgm:cxnLst>
    <dgm:cxn modelId="{B2FB4206-CD5C-4768-8BB9-589C64F0A062}" srcId="{02690033-07A4-4FFD-8E37-9A5B7D9C168A}" destId="{5F17ADC4-1705-4D73-98B4-1F14A8139B15}" srcOrd="0" destOrd="0" parTransId="{F131EEF1-4510-4FC4-A5F0-030890F698F2}" sibTransId="{23157C83-16FE-421F-ABD4-AE3866099E1D}"/>
    <dgm:cxn modelId="{B7DAB412-C6A9-49A2-8FB1-8B552C5C3A82}" srcId="{CFA0C935-AAC7-432D-9D1E-57B76128DE57}" destId="{02690033-07A4-4FFD-8E37-9A5B7D9C168A}" srcOrd="0" destOrd="0" parTransId="{BB562E69-684B-4F82-955E-66622041D7D7}" sibTransId="{8A72851D-41F6-4656-8AD2-B53DA215078B}"/>
    <dgm:cxn modelId="{5A40A03B-C137-4E15-AA8A-97E7497DABBE}" type="presOf" srcId="{5F17ADC4-1705-4D73-98B4-1F14A8139B15}" destId="{259B3ED3-97E8-4B3B-AC16-294D4361D06F}" srcOrd="0" destOrd="0" presId="urn:microsoft.com/office/officeart/2005/8/layout/vList5"/>
    <dgm:cxn modelId="{83C2AF50-6EC7-48AF-B53E-8DA33E793E47}" type="presOf" srcId="{563C035A-95F5-4138-ACB1-800089A02310}" destId="{259B3ED3-97E8-4B3B-AC16-294D4361D06F}" srcOrd="0" destOrd="1" presId="urn:microsoft.com/office/officeart/2005/8/layout/vList5"/>
    <dgm:cxn modelId="{732E8984-CC33-467E-A230-B5D7AE350E13}" type="presOf" srcId="{02690033-07A4-4FFD-8E37-9A5B7D9C168A}" destId="{7BB8FD88-148C-4C41-8187-C7F9F547C467}" srcOrd="0" destOrd="0" presId="urn:microsoft.com/office/officeart/2005/8/layout/vList5"/>
    <dgm:cxn modelId="{8FFC04FA-E522-498B-BA80-BFCBC7493F06}" srcId="{02690033-07A4-4FFD-8E37-9A5B7D9C168A}" destId="{563C035A-95F5-4138-ACB1-800089A02310}" srcOrd="1" destOrd="0" parTransId="{84148070-1F6C-451B-A459-3A41E4881426}" sibTransId="{CD483019-58E2-486A-B1BA-C563E2F142BA}"/>
    <dgm:cxn modelId="{B78387FC-5E56-4F07-85F4-895528367568}" type="presOf" srcId="{CFA0C935-AAC7-432D-9D1E-57B76128DE57}" destId="{01BCE89C-F556-4D45-A57D-178D7D4AE3EA}" srcOrd="0" destOrd="0" presId="urn:microsoft.com/office/officeart/2005/8/layout/vList5"/>
    <dgm:cxn modelId="{DDD57E2E-D8F5-4748-A425-C98E9BC9044E}" type="presParOf" srcId="{01BCE89C-F556-4D45-A57D-178D7D4AE3EA}" destId="{121098B3-DD8D-40A0-AA8A-F37555DA3470}" srcOrd="0" destOrd="0" presId="urn:microsoft.com/office/officeart/2005/8/layout/vList5"/>
    <dgm:cxn modelId="{C7690FD0-EC2C-4595-BDE6-0A1E946A5D9B}" type="presParOf" srcId="{121098B3-DD8D-40A0-AA8A-F37555DA3470}" destId="{7BB8FD88-148C-4C41-8187-C7F9F547C467}" srcOrd="0" destOrd="0" presId="urn:microsoft.com/office/officeart/2005/8/layout/vList5"/>
    <dgm:cxn modelId="{5D7A0AAD-F775-4F1D-83EC-33B26ABC9158}" type="presParOf" srcId="{121098B3-DD8D-40A0-AA8A-F37555DA3470}" destId="{259B3ED3-97E8-4B3B-AC16-294D4361D06F}"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FA0C935-AAC7-432D-9D1E-57B76128DE5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PK"/>
        </a:p>
      </dgm:t>
    </dgm:pt>
    <dgm:pt modelId="{02690033-07A4-4FFD-8E37-9A5B7D9C168A}">
      <dgm:prSet/>
      <dgm:spPr/>
      <dgm:t>
        <a:bodyPr/>
        <a:lstStyle/>
        <a:p>
          <a:r>
            <a:rPr lang="en-US" dirty="0"/>
            <a:t>Characteristics of a Memory Hierarchy can be inferred from the previous figure:</a:t>
          </a:r>
          <a:endParaRPr lang="en-PK" dirty="0"/>
        </a:p>
      </dgm:t>
    </dgm:pt>
    <dgm:pt modelId="{BB562E69-684B-4F82-955E-66622041D7D7}" type="parTrans" cxnId="{B7DAB412-C6A9-49A2-8FB1-8B552C5C3A82}">
      <dgm:prSet/>
      <dgm:spPr/>
      <dgm:t>
        <a:bodyPr/>
        <a:lstStyle/>
        <a:p>
          <a:endParaRPr lang="en-PK"/>
        </a:p>
      </dgm:t>
    </dgm:pt>
    <dgm:pt modelId="{8A72851D-41F6-4656-8AD2-B53DA215078B}" type="sibTrans" cxnId="{B7DAB412-C6A9-49A2-8FB1-8B552C5C3A82}">
      <dgm:prSet/>
      <dgm:spPr/>
      <dgm:t>
        <a:bodyPr/>
        <a:lstStyle/>
        <a:p>
          <a:endParaRPr lang="en-PK"/>
        </a:p>
      </dgm:t>
    </dgm:pt>
    <dgm:pt modelId="{5F17ADC4-1705-4D73-98B4-1F14A8139B15}">
      <dgm:prSet/>
      <dgm:spPr/>
      <dgm:t>
        <a:bodyPr/>
        <a:lstStyle/>
        <a:p>
          <a:r>
            <a:rPr lang="en-US" b="1" dirty="0">
              <a:latin typeface="Arial" panose="020B0604020202020204" pitchFamily="34" charset="0"/>
              <a:cs typeface="Arial" panose="020B0604020202020204" pitchFamily="34" charset="0"/>
            </a:rPr>
            <a:t>Performance: </a:t>
          </a:r>
          <a:r>
            <a:rPr lang="en-US" dirty="0">
              <a:latin typeface="Arial" panose="020B0604020202020204" pitchFamily="34" charset="0"/>
              <a:cs typeface="Arial" panose="020B0604020202020204" pitchFamily="34" charset="0"/>
            </a:rPr>
            <a:t>When a computer system was designed earlier without the Memory Hierarchy Design, the gap in speed increased between the given CPU registers and the Main Memory due to a large difference in the system’s access time. It ultimately resulted in the system’s lower performance, and thus, enhancement was required. Such a kind of enhancement was introduced in the form of Memory Hierarchy Design, and because of this, the system’s performance increased. One of the primary ways to increase the performance of a system is minimizing how much a memory hierarchy has to be done to manipulate data.</a:t>
          </a:r>
          <a:endParaRPr lang="en-PK" dirty="0">
            <a:latin typeface="Arial" panose="020B0604020202020204" pitchFamily="34" charset="0"/>
            <a:cs typeface="Arial" panose="020B0604020202020204" pitchFamily="34" charset="0"/>
          </a:endParaRPr>
        </a:p>
      </dgm:t>
    </dgm:pt>
    <dgm:pt modelId="{F131EEF1-4510-4FC4-A5F0-030890F698F2}" type="parTrans" cxnId="{B2FB4206-CD5C-4768-8BB9-589C64F0A062}">
      <dgm:prSet/>
      <dgm:spPr/>
      <dgm:t>
        <a:bodyPr/>
        <a:lstStyle/>
        <a:p>
          <a:endParaRPr lang="en-PK"/>
        </a:p>
      </dgm:t>
    </dgm:pt>
    <dgm:pt modelId="{23157C83-16FE-421F-ABD4-AE3866099E1D}" type="sibTrans" cxnId="{B2FB4206-CD5C-4768-8BB9-589C64F0A062}">
      <dgm:prSet/>
      <dgm:spPr/>
      <dgm:t>
        <a:bodyPr/>
        <a:lstStyle/>
        <a:p>
          <a:endParaRPr lang="en-PK"/>
        </a:p>
      </dgm:t>
    </dgm:pt>
    <dgm:pt modelId="{613345F9-9DE2-4CAD-B41E-7B21EDB846EB}">
      <dgm:prSet/>
      <dgm:spPr/>
      <dgm:t>
        <a:bodyPr/>
        <a:lstStyle/>
        <a:p>
          <a:r>
            <a:rPr lang="en-US" b="1" dirty="0">
              <a:latin typeface="Arial" panose="020B0604020202020204" pitchFamily="34" charset="0"/>
              <a:cs typeface="Arial" panose="020B0604020202020204" pitchFamily="34" charset="0"/>
            </a:rPr>
            <a:t>Cost per bit: </a:t>
          </a:r>
          <a:r>
            <a:rPr lang="en-US" dirty="0">
              <a:latin typeface="Arial" panose="020B0604020202020204" pitchFamily="34" charset="0"/>
              <a:cs typeface="Arial" panose="020B0604020202020204" pitchFamily="34" charset="0"/>
            </a:rPr>
            <a:t>The cost per bit increases as one moves from the bottom to the top in the Memory Hierarchy, i.e. External Memory is cheaper than Internal Memory.</a:t>
          </a:r>
          <a:endParaRPr lang="en-PK" dirty="0">
            <a:latin typeface="Arial" panose="020B0604020202020204" pitchFamily="34" charset="0"/>
            <a:cs typeface="Arial" panose="020B0604020202020204" pitchFamily="34" charset="0"/>
          </a:endParaRPr>
        </a:p>
      </dgm:t>
    </dgm:pt>
    <dgm:pt modelId="{7C7E4FB3-8953-4400-83BE-DFB719F384E8}" type="parTrans" cxnId="{565F72DC-C698-4BB1-B703-389DB6995448}">
      <dgm:prSet/>
      <dgm:spPr/>
      <dgm:t>
        <a:bodyPr/>
        <a:lstStyle/>
        <a:p>
          <a:endParaRPr lang="en-PK"/>
        </a:p>
      </dgm:t>
    </dgm:pt>
    <dgm:pt modelId="{922D9C68-4507-49C4-AC9F-67312DECA414}" type="sibTrans" cxnId="{565F72DC-C698-4BB1-B703-389DB6995448}">
      <dgm:prSet/>
      <dgm:spPr/>
      <dgm:t>
        <a:bodyPr/>
        <a:lstStyle/>
        <a:p>
          <a:endParaRPr lang="en-PK"/>
        </a:p>
      </dgm:t>
    </dgm:pt>
    <dgm:pt modelId="{01BCE89C-F556-4D45-A57D-178D7D4AE3EA}" type="pres">
      <dgm:prSet presAssocID="{CFA0C935-AAC7-432D-9D1E-57B76128DE57}" presName="Name0" presStyleCnt="0">
        <dgm:presLayoutVars>
          <dgm:dir/>
          <dgm:animLvl val="lvl"/>
          <dgm:resizeHandles val="exact"/>
        </dgm:presLayoutVars>
      </dgm:prSet>
      <dgm:spPr/>
    </dgm:pt>
    <dgm:pt modelId="{121098B3-DD8D-40A0-AA8A-F37555DA3470}" type="pres">
      <dgm:prSet presAssocID="{02690033-07A4-4FFD-8E37-9A5B7D9C168A}" presName="linNode" presStyleCnt="0"/>
      <dgm:spPr/>
    </dgm:pt>
    <dgm:pt modelId="{7BB8FD88-148C-4C41-8187-C7F9F547C467}" type="pres">
      <dgm:prSet presAssocID="{02690033-07A4-4FFD-8E37-9A5B7D9C168A}" presName="parentText" presStyleLbl="node1" presStyleIdx="0" presStyleCnt="1">
        <dgm:presLayoutVars>
          <dgm:chMax val="1"/>
          <dgm:bulletEnabled val="1"/>
        </dgm:presLayoutVars>
      </dgm:prSet>
      <dgm:spPr/>
    </dgm:pt>
    <dgm:pt modelId="{259B3ED3-97E8-4B3B-AC16-294D4361D06F}" type="pres">
      <dgm:prSet presAssocID="{02690033-07A4-4FFD-8E37-9A5B7D9C168A}" presName="descendantText" presStyleLbl="alignAccFollowNode1" presStyleIdx="0" presStyleCnt="1">
        <dgm:presLayoutVars>
          <dgm:bulletEnabled val="1"/>
        </dgm:presLayoutVars>
      </dgm:prSet>
      <dgm:spPr/>
    </dgm:pt>
  </dgm:ptLst>
  <dgm:cxnLst>
    <dgm:cxn modelId="{B2FB4206-CD5C-4768-8BB9-589C64F0A062}" srcId="{02690033-07A4-4FFD-8E37-9A5B7D9C168A}" destId="{5F17ADC4-1705-4D73-98B4-1F14A8139B15}" srcOrd="0" destOrd="0" parTransId="{F131EEF1-4510-4FC4-A5F0-030890F698F2}" sibTransId="{23157C83-16FE-421F-ABD4-AE3866099E1D}"/>
    <dgm:cxn modelId="{B7DAB412-C6A9-49A2-8FB1-8B552C5C3A82}" srcId="{CFA0C935-AAC7-432D-9D1E-57B76128DE57}" destId="{02690033-07A4-4FFD-8E37-9A5B7D9C168A}" srcOrd="0" destOrd="0" parTransId="{BB562E69-684B-4F82-955E-66622041D7D7}" sibTransId="{8A72851D-41F6-4656-8AD2-B53DA215078B}"/>
    <dgm:cxn modelId="{5A40A03B-C137-4E15-AA8A-97E7497DABBE}" type="presOf" srcId="{5F17ADC4-1705-4D73-98B4-1F14A8139B15}" destId="{259B3ED3-97E8-4B3B-AC16-294D4361D06F}" srcOrd="0" destOrd="0" presId="urn:microsoft.com/office/officeart/2005/8/layout/vList5"/>
    <dgm:cxn modelId="{DCB46D59-7C2B-4984-ABD4-5084CC2A076B}" type="presOf" srcId="{613345F9-9DE2-4CAD-B41E-7B21EDB846EB}" destId="{259B3ED3-97E8-4B3B-AC16-294D4361D06F}" srcOrd="0" destOrd="1" presId="urn:microsoft.com/office/officeart/2005/8/layout/vList5"/>
    <dgm:cxn modelId="{732E8984-CC33-467E-A230-B5D7AE350E13}" type="presOf" srcId="{02690033-07A4-4FFD-8E37-9A5B7D9C168A}" destId="{7BB8FD88-148C-4C41-8187-C7F9F547C467}" srcOrd="0" destOrd="0" presId="urn:microsoft.com/office/officeart/2005/8/layout/vList5"/>
    <dgm:cxn modelId="{565F72DC-C698-4BB1-B703-389DB6995448}" srcId="{02690033-07A4-4FFD-8E37-9A5B7D9C168A}" destId="{613345F9-9DE2-4CAD-B41E-7B21EDB846EB}" srcOrd="1" destOrd="0" parTransId="{7C7E4FB3-8953-4400-83BE-DFB719F384E8}" sibTransId="{922D9C68-4507-49C4-AC9F-67312DECA414}"/>
    <dgm:cxn modelId="{B78387FC-5E56-4F07-85F4-895528367568}" type="presOf" srcId="{CFA0C935-AAC7-432D-9D1E-57B76128DE57}" destId="{01BCE89C-F556-4D45-A57D-178D7D4AE3EA}" srcOrd="0" destOrd="0" presId="urn:microsoft.com/office/officeart/2005/8/layout/vList5"/>
    <dgm:cxn modelId="{DDD57E2E-D8F5-4748-A425-C98E9BC9044E}" type="presParOf" srcId="{01BCE89C-F556-4D45-A57D-178D7D4AE3EA}" destId="{121098B3-DD8D-40A0-AA8A-F37555DA3470}" srcOrd="0" destOrd="0" presId="urn:microsoft.com/office/officeart/2005/8/layout/vList5"/>
    <dgm:cxn modelId="{C7690FD0-EC2C-4595-BDE6-0A1E946A5D9B}" type="presParOf" srcId="{121098B3-DD8D-40A0-AA8A-F37555DA3470}" destId="{7BB8FD88-148C-4C41-8187-C7F9F547C467}" srcOrd="0" destOrd="0" presId="urn:microsoft.com/office/officeart/2005/8/layout/vList5"/>
    <dgm:cxn modelId="{5D7A0AAD-F775-4F1D-83EC-33B26ABC9158}" type="presParOf" srcId="{121098B3-DD8D-40A0-AA8A-F37555DA3470}" destId="{259B3ED3-97E8-4B3B-AC16-294D4361D06F}"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Understanding of Limitations of Memory System Performance.</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Memory Latency Example.</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custLinFactNeighborX="-4446"/>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D3F20A87-7F5D-48F3-BC8E-0207380F3CFD}"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E0B0EAC2-3873-434F-87A5-EEF9161D8D63}">
      <dgm:prSet/>
      <dgm:spPr/>
      <dgm:t>
        <a:bodyPr/>
        <a:lstStyle/>
        <a:p>
          <a:r>
            <a:rPr lang="en-US"/>
            <a:t>Memory system, and not processor speed, is often the bottleneck for many applications. </a:t>
          </a:r>
        </a:p>
      </dgm:t>
    </dgm:pt>
    <dgm:pt modelId="{2DA8DCC6-D5D2-430B-A4EE-A3CFAA13EDCC}" type="parTrans" cxnId="{8ACC5CF3-9ACC-4600-AE7A-422992AA6003}">
      <dgm:prSet/>
      <dgm:spPr/>
      <dgm:t>
        <a:bodyPr/>
        <a:lstStyle/>
        <a:p>
          <a:endParaRPr lang="en-US"/>
        </a:p>
      </dgm:t>
    </dgm:pt>
    <dgm:pt modelId="{E1875D38-5119-4CEB-8168-E796993F62CF}" type="sibTrans" cxnId="{8ACC5CF3-9ACC-4600-AE7A-422992AA6003}">
      <dgm:prSet/>
      <dgm:spPr/>
      <dgm:t>
        <a:bodyPr/>
        <a:lstStyle/>
        <a:p>
          <a:endParaRPr lang="en-US"/>
        </a:p>
      </dgm:t>
    </dgm:pt>
    <dgm:pt modelId="{13287F0A-CC75-40F2-8BE0-37F1785C7450}">
      <dgm:prSet/>
      <dgm:spPr/>
      <dgm:t>
        <a:bodyPr/>
        <a:lstStyle/>
        <a:p>
          <a:r>
            <a:rPr lang="en-US" dirty="0"/>
            <a:t>Memory system performance is largely captured by two parameters, latency and bandwidth. </a:t>
          </a:r>
        </a:p>
      </dgm:t>
    </dgm:pt>
    <dgm:pt modelId="{AA46058D-F51A-4EA2-81BF-9843D9CFDE29}" type="parTrans" cxnId="{287F5C07-5B07-4C84-9C7E-C17911C4E10D}">
      <dgm:prSet/>
      <dgm:spPr/>
      <dgm:t>
        <a:bodyPr/>
        <a:lstStyle/>
        <a:p>
          <a:endParaRPr lang="en-US"/>
        </a:p>
      </dgm:t>
    </dgm:pt>
    <dgm:pt modelId="{A842ECED-5FDB-4137-99C6-7C6790B4E8F9}" type="sibTrans" cxnId="{287F5C07-5B07-4C84-9C7E-C17911C4E10D}">
      <dgm:prSet/>
      <dgm:spPr/>
      <dgm:t>
        <a:bodyPr/>
        <a:lstStyle/>
        <a:p>
          <a:endParaRPr lang="en-US"/>
        </a:p>
      </dgm:t>
    </dgm:pt>
    <dgm:pt modelId="{48E8CE36-88F7-4B16-ADCD-F6BB9B9DF814}">
      <dgm:prSet/>
      <dgm:spPr/>
      <dgm:t>
        <a:bodyPr/>
        <a:lstStyle/>
        <a:p>
          <a:r>
            <a:rPr lang="en-US" b="1" dirty="0"/>
            <a:t>Latency: </a:t>
          </a:r>
          <a:r>
            <a:rPr lang="en-US" dirty="0"/>
            <a:t>Is the time from the issue of a memory request to the time the data is available at the processor. </a:t>
          </a:r>
        </a:p>
      </dgm:t>
    </dgm:pt>
    <dgm:pt modelId="{D6ECD4C8-5877-48FB-847E-94543BA436E9}" type="parTrans" cxnId="{EFD5512D-4976-4D16-8E06-88D1FEB4095A}">
      <dgm:prSet/>
      <dgm:spPr/>
      <dgm:t>
        <a:bodyPr/>
        <a:lstStyle/>
        <a:p>
          <a:endParaRPr lang="en-US"/>
        </a:p>
      </dgm:t>
    </dgm:pt>
    <dgm:pt modelId="{68CB2FFD-DC09-46CB-876A-5F20E2C773B9}" type="sibTrans" cxnId="{EFD5512D-4976-4D16-8E06-88D1FEB4095A}">
      <dgm:prSet/>
      <dgm:spPr/>
      <dgm:t>
        <a:bodyPr/>
        <a:lstStyle/>
        <a:p>
          <a:endParaRPr lang="en-US"/>
        </a:p>
      </dgm:t>
    </dgm:pt>
    <dgm:pt modelId="{4B36DBA3-2FFE-4911-A906-5F90ACA4A56D}">
      <dgm:prSet/>
      <dgm:spPr/>
      <dgm:t>
        <a:bodyPr/>
        <a:lstStyle/>
        <a:p>
          <a:r>
            <a:rPr lang="en-US" b="1" dirty="0"/>
            <a:t>Bandwidth: </a:t>
          </a:r>
          <a:r>
            <a:rPr lang="en-US" dirty="0"/>
            <a:t>Is the rate at which data can be pumped to the processor by the memory system. </a:t>
          </a:r>
        </a:p>
      </dgm:t>
    </dgm:pt>
    <dgm:pt modelId="{E8E734CD-F565-426E-9C73-F8BC26FC5727}" type="parTrans" cxnId="{633A6751-58CD-497F-97E5-73C20B20F523}">
      <dgm:prSet/>
      <dgm:spPr/>
      <dgm:t>
        <a:bodyPr/>
        <a:lstStyle/>
        <a:p>
          <a:endParaRPr lang="en-US"/>
        </a:p>
      </dgm:t>
    </dgm:pt>
    <dgm:pt modelId="{044757C7-7DE6-4236-B092-3907339DBF01}" type="sibTrans" cxnId="{633A6751-58CD-497F-97E5-73C20B20F523}">
      <dgm:prSet/>
      <dgm:spPr/>
      <dgm:t>
        <a:bodyPr/>
        <a:lstStyle/>
        <a:p>
          <a:endParaRPr lang="en-US"/>
        </a:p>
      </dgm:t>
    </dgm:pt>
    <dgm:pt modelId="{6EC14E8B-85C9-4DB9-8B72-D363256492CD}" type="pres">
      <dgm:prSet presAssocID="{D3F20A87-7F5D-48F3-BC8E-0207380F3CFD}" presName="Name0" presStyleCnt="0">
        <dgm:presLayoutVars>
          <dgm:dir/>
          <dgm:animLvl val="lvl"/>
          <dgm:resizeHandles val="exact"/>
        </dgm:presLayoutVars>
      </dgm:prSet>
      <dgm:spPr/>
    </dgm:pt>
    <dgm:pt modelId="{2CA0FBE6-0BE2-4026-89CF-8CEF36C17059}" type="pres">
      <dgm:prSet presAssocID="{13287F0A-CC75-40F2-8BE0-37F1785C7450}" presName="boxAndChildren" presStyleCnt="0"/>
      <dgm:spPr/>
    </dgm:pt>
    <dgm:pt modelId="{8C346928-8F7A-413C-BECF-F048007820CC}" type="pres">
      <dgm:prSet presAssocID="{13287F0A-CC75-40F2-8BE0-37F1785C7450}" presName="parentTextBox" presStyleLbl="node1" presStyleIdx="0" presStyleCnt="2"/>
      <dgm:spPr/>
    </dgm:pt>
    <dgm:pt modelId="{F2C2136E-A7E7-4355-9361-2C173ADB59F1}" type="pres">
      <dgm:prSet presAssocID="{13287F0A-CC75-40F2-8BE0-37F1785C7450}" presName="entireBox" presStyleLbl="node1" presStyleIdx="0" presStyleCnt="2"/>
      <dgm:spPr/>
    </dgm:pt>
    <dgm:pt modelId="{90D76827-E5B0-4F38-922E-69EB329F7B4F}" type="pres">
      <dgm:prSet presAssocID="{13287F0A-CC75-40F2-8BE0-37F1785C7450}" presName="descendantBox" presStyleCnt="0"/>
      <dgm:spPr/>
    </dgm:pt>
    <dgm:pt modelId="{D78DC9EA-EC43-4DF4-AC2A-DDFA9EB3E75E}" type="pres">
      <dgm:prSet presAssocID="{48E8CE36-88F7-4B16-ADCD-F6BB9B9DF814}" presName="childTextBox" presStyleLbl="fgAccFollowNode1" presStyleIdx="0" presStyleCnt="2">
        <dgm:presLayoutVars>
          <dgm:bulletEnabled val="1"/>
        </dgm:presLayoutVars>
      </dgm:prSet>
      <dgm:spPr/>
    </dgm:pt>
    <dgm:pt modelId="{4492BF36-D5DD-46F9-BA85-2916D5C8A933}" type="pres">
      <dgm:prSet presAssocID="{4B36DBA3-2FFE-4911-A906-5F90ACA4A56D}" presName="childTextBox" presStyleLbl="fgAccFollowNode1" presStyleIdx="1" presStyleCnt="2">
        <dgm:presLayoutVars>
          <dgm:bulletEnabled val="1"/>
        </dgm:presLayoutVars>
      </dgm:prSet>
      <dgm:spPr/>
    </dgm:pt>
    <dgm:pt modelId="{B5773548-2643-4782-9EB9-C1D6DCDE4691}" type="pres">
      <dgm:prSet presAssocID="{E1875D38-5119-4CEB-8168-E796993F62CF}" presName="sp" presStyleCnt="0"/>
      <dgm:spPr/>
    </dgm:pt>
    <dgm:pt modelId="{25AB7CCB-0ECE-4803-BE51-9586B663083B}" type="pres">
      <dgm:prSet presAssocID="{E0B0EAC2-3873-434F-87A5-EEF9161D8D63}" presName="arrowAndChildren" presStyleCnt="0"/>
      <dgm:spPr/>
    </dgm:pt>
    <dgm:pt modelId="{092CABE3-9986-4A46-8299-7316A99065D5}" type="pres">
      <dgm:prSet presAssocID="{E0B0EAC2-3873-434F-87A5-EEF9161D8D63}" presName="parentTextArrow" presStyleLbl="node1" presStyleIdx="1" presStyleCnt="2"/>
      <dgm:spPr/>
    </dgm:pt>
  </dgm:ptLst>
  <dgm:cxnLst>
    <dgm:cxn modelId="{287F5C07-5B07-4C84-9C7E-C17911C4E10D}" srcId="{D3F20A87-7F5D-48F3-BC8E-0207380F3CFD}" destId="{13287F0A-CC75-40F2-8BE0-37F1785C7450}" srcOrd="1" destOrd="0" parTransId="{AA46058D-F51A-4EA2-81BF-9843D9CFDE29}" sibTransId="{A842ECED-5FDB-4137-99C6-7C6790B4E8F9}"/>
    <dgm:cxn modelId="{F2425815-715C-4C1E-8EF7-35D0F6925F1B}" type="presOf" srcId="{13287F0A-CC75-40F2-8BE0-37F1785C7450}" destId="{F2C2136E-A7E7-4355-9361-2C173ADB59F1}" srcOrd="1" destOrd="0" presId="urn:microsoft.com/office/officeart/2005/8/layout/process4"/>
    <dgm:cxn modelId="{EFD5512D-4976-4D16-8E06-88D1FEB4095A}" srcId="{13287F0A-CC75-40F2-8BE0-37F1785C7450}" destId="{48E8CE36-88F7-4B16-ADCD-F6BB9B9DF814}" srcOrd="0" destOrd="0" parTransId="{D6ECD4C8-5877-48FB-847E-94543BA436E9}" sibTransId="{68CB2FFD-DC09-46CB-876A-5F20E2C773B9}"/>
    <dgm:cxn modelId="{E060BF43-48AA-42AA-AEFD-FFD0B8784F3E}" type="presOf" srcId="{E0B0EAC2-3873-434F-87A5-EEF9161D8D63}" destId="{092CABE3-9986-4A46-8299-7316A99065D5}" srcOrd="0" destOrd="0" presId="urn:microsoft.com/office/officeart/2005/8/layout/process4"/>
    <dgm:cxn modelId="{1906616A-2156-42C1-B4AD-FD1674FA8BBD}" type="presOf" srcId="{4B36DBA3-2FFE-4911-A906-5F90ACA4A56D}" destId="{4492BF36-D5DD-46F9-BA85-2916D5C8A933}" srcOrd="0" destOrd="0" presId="urn:microsoft.com/office/officeart/2005/8/layout/process4"/>
    <dgm:cxn modelId="{633A6751-58CD-497F-97E5-73C20B20F523}" srcId="{13287F0A-CC75-40F2-8BE0-37F1785C7450}" destId="{4B36DBA3-2FFE-4911-A906-5F90ACA4A56D}" srcOrd="1" destOrd="0" parTransId="{E8E734CD-F565-426E-9C73-F8BC26FC5727}" sibTransId="{044757C7-7DE6-4236-B092-3907339DBF01}"/>
    <dgm:cxn modelId="{92FC5D54-5BDE-45BB-BF9B-3A56D6B1FB9F}" type="presOf" srcId="{48E8CE36-88F7-4B16-ADCD-F6BB9B9DF814}" destId="{D78DC9EA-EC43-4DF4-AC2A-DDFA9EB3E75E}" srcOrd="0" destOrd="0" presId="urn:microsoft.com/office/officeart/2005/8/layout/process4"/>
    <dgm:cxn modelId="{A113B6AB-BA63-4635-A7A2-860F98EB65A1}" type="presOf" srcId="{D3F20A87-7F5D-48F3-BC8E-0207380F3CFD}" destId="{6EC14E8B-85C9-4DB9-8B72-D363256492CD}" srcOrd="0" destOrd="0" presId="urn:microsoft.com/office/officeart/2005/8/layout/process4"/>
    <dgm:cxn modelId="{3C359CB2-7795-4C2E-8C03-2AF72FCC04DF}" type="presOf" srcId="{13287F0A-CC75-40F2-8BE0-37F1785C7450}" destId="{8C346928-8F7A-413C-BECF-F048007820CC}" srcOrd="0" destOrd="0" presId="urn:microsoft.com/office/officeart/2005/8/layout/process4"/>
    <dgm:cxn modelId="{8ACC5CF3-9ACC-4600-AE7A-422992AA6003}" srcId="{D3F20A87-7F5D-48F3-BC8E-0207380F3CFD}" destId="{E0B0EAC2-3873-434F-87A5-EEF9161D8D63}" srcOrd="0" destOrd="0" parTransId="{2DA8DCC6-D5D2-430B-A4EE-A3CFAA13EDCC}" sibTransId="{E1875D38-5119-4CEB-8168-E796993F62CF}"/>
    <dgm:cxn modelId="{7810E196-D640-4D83-AE54-7E97C5B7A90E}" type="presParOf" srcId="{6EC14E8B-85C9-4DB9-8B72-D363256492CD}" destId="{2CA0FBE6-0BE2-4026-89CF-8CEF36C17059}" srcOrd="0" destOrd="0" presId="urn:microsoft.com/office/officeart/2005/8/layout/process4"/>
    <dgm:cxn modelId="{5A27E8BA-3987-40B9-8232-94855BD377A6}" type="presParOf" srcId="{2CA0FBE6-0BE2-4026-89CF-8CEF36C17059}" destId="{8C346928-8F7A-413C-BECF-F048007820CC}" srcOrd="0" destOrd="0" presId="urn:microsoft.com/office/officeart/2005/8/layout/process4"/>
    <dgm:cxn modelId="{AE507B5A-91A9-4AA5-984D-5CC5D29108FC}" type="presParOf" srcId="{2CA0FBE6-0BE2-4026-89CF-8CEF36C17059}" destId="{F2C2136E-A7E7-4355-9361-2C173ADB59F1}" srcOrd="1" destOrd="0" presId="urn:microsoft.com/office/officeart/2005/8/layout/process4"/>
    <dgm:cxn modelId="{97C7D7A0-61A9-47AD-A778-8F2F5E6CA5BF}" type="presParOf" srcId="{2CA0FBE6-0BE2-4026-89CF-8CEF36C17059}" destId="{90D76827-E5B0-4F38-922E-69EB329F7B4F}" srcOrd="2" destOrd="0" presId="urn:microsoft.com/office/officeart/2005/8/layout/process4"/>
    <dgm:cxn modelId="{7517F3AF-CDA7-455A-8319-826E7ECC3AD4}" type="presParOf" srcId="{90D76827-E5B0-4F38-922E-69EB329F7B4F}" destId="{D78DC9EA-EC43-4DF4-AC2A-DDFA9EB3E75E}" srcOrd="0" destOrd="0" presId="urn:microsoft.com/office/officeart/2005/8/layout/process4"/>
    <dgm:cxn modelId="{05FBF93D-0FCB-4AD2-A3F2-BD32B359CF54}" type="presParOf" srcId="{90D76827-E5B0-4F38-922E-69EB329F7B4F}" destId="{4492BF36-D5DD-46F9-BA85-2916D5C8A933}" srcOrd="1" destOrd="0" presId="urn:microsoft.com/office/officeart/2005/8/layout/process4"/>
    <dgm:cxn modelId="{FA9BBC7C-53E0-4263-BDE7-1D73BDA71367}" type="presParOf" srcId="{6EC14E8B-85C9-4DB9-8B72-D363256492CD}" destId="{B5773548-2643-4782-9EB9-C1D6DCDE4691}" srcOrd="1" destOrd="0" presId="urn:microsoft.com/office/officeart/2005/8/layout/process4"/>
    <dgm:cxn modelId="{497EE296-B5B8-4B09-B9BC-8C997BD31D33}" type="presParOf" srcId="{6EC14E8B-85C9-4DB9-8B72-D363256492CD}" destId="{25AB7CCB-0ECE-4803-BE51-9586B663083B}" srcOrd="2" destOrd="0" presId="urn:microsoft.com/office/officeart/2005/8/layout/process4"/>
    <dgm:cxn modelId="{BF78A04A-C3CC-4092-8430-FB379FA98737}" type="presParOf" srcId="{25AB7CCB-0ECE-4803-BE51-9586B663083B}" destId="{092CABE3-9986-4A46-8299-7316A99065D5}"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A7AA08A-A5C6-4CD5-97A3-D6366A934DE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56C0801-A39E-4F68-84C5-4E50B3B2A4DF}">
      <dgm:prSet/>
      <dgm:spPr/>
      <dgm:t>
        <a:bodyPr/>
        <a:lstStyle/>
        <a:p>
          <a:r>
            <a:rPr lang="en-US"/>
            <a:t>It is very important to understand the difference between latency and bandwidth. </a:t>
          </a:r>
        </a:p>
      </dgm:t>
    </dgm:pt>
    <dgm:pt modelId="{6382FED2-52FF-417E-AFA6-747A85ACA68A}" type="parTrans" cxnId="{DCAE0511-73BA-404D-A54D-72F9B25EAD0B}">
      <dgm:prSet/>
      <dgm:spPr/>
      <dgm:t>
        <a:bodyPr/>
        <a:lstStyle/>
        <a:p>
          <a:endParaRPr lang="en-US"/>
        </a:p>
      </dgm:t>
    </dgm:pt>
    <dgm:pt modelId="{351CFC50-62A7-4517-B169-53D7E70AC90C}" type="sibTrans" cxnId="{DCAE0511-73BA-404D-A54D-72F9B25EAD0B}">
      <dgm:prSet/>
      <dgm:spPr/>
      <dgm:t>
        <a:bodyPr/>
        <a:lstStyle/>
        <a:p>
          <a:endParaRPr lang="en-US"/>
        </a:p>
      </dgm:t>
    </dgm:pt>
    <dgm:pt modelId="{0B050A23-C03B-411A-AEB1-B3A88DBFBD00}">
      <dgm:prSet/>
      <dgm:spPr/>
      <dgm:t>
        <a:bodyPr/>
        <a:lstStyle/>
        <a:p>
          <a:r>
            <a:rPr lang="en-US" dirty="0"/>
            <a:t>Consider the example of a fire-hose. If the water comes out of the hose two seconds after the hydrant is turned on, the latency of the system is two seconds. </a:t>
          </a:r>
        </a:p>
      </dgm:t>
    </dgm:pt>
    <dgm:pt modelId="{DA89016D-D9E2-45F3-9717-4F9F6C8DA50F}" type="parTrans" cxnId="{27D1513F-9F91-4C9C-B074-91A7CB7C6D7E}">
      <dgm:prSet/>
      <dgm:spPr/>
      <dgm:t>
        <a:bodyPr/>
        <a:lstStyle/>
        <a:p>
          <a:endParaRPr lang="en-US"/>
        </a:p>
      </dgm:t>
    </dgm:pt>
    <dgm:pt modelId="{DEDA9D0D-10A9-4931-94D9-DE831D740413}" type="sibTrans" cxnId="{27D1513F-9F91-4C9C-B074-91A7CB7C6D7E}">
      <dgm:prSet/>
      <dgm:spPr/>
      <dgm:t>
        <a:bodyPr/>
        <a:lstStyle/>
        <a:p>
          <a:endParaRPr lang="en-US"/>
        </a:p>
      </dgm:t>
    </dgm:pt>
    <dgm:pt modelId="{04468DC7-456A-4B4C-A5C9-CA41795B8DD4}">
      <dgm:prSet/>
      <dgm:spPr/>
      <dgm:t>
        <a:bodyPr/>
        <a:lstStyle/>
        <a:p>
          <a:r>
            <a:rPr lang="en-US"/>
            <a:t>Once the water starts flowing, if the hydrant delivers water at the rate of 5 gallons/second, the bandwidth of the system is 5 gallons/second. </a:t>
          </a:r>
        </a:p>
      </dgm:t>
    </dgm:pt>
    <dgm:pt modelId="{E0813FBB-E505-4463-949B-658CAFEBCAB9}" type="parTrans" cxnId="{2241605D-F81F-48F7-94B4-CA32660A8148}">
      <dgm:prSet/>
      <dgm:spPr/>
      <dgm:t>
        <a:bodyPr/>
        <a:lstStyle/>
        <a:p>
          <a:endParaRPr lang="en-US"/>
        </a:p>
      </dgm:t>
    </dgm:pt>
    <dgm:pt modelId="{97D54F66-035A-4882-BFFC-8DA34844FE97}" type="sibTrans" cxnId="{2241605D-F81F-48F7-94B4-CA32660A8148}">
      <dgm:prSet/>
      <dgm:spPr/>
      <dgm:t>
        <a:bodyPr/>
        <a:lstStyle/>
        <a:p>
          <a:endParaRPr lang="en-US"/>
        </a:p>
      </dgm:t>
    </dgm:pt>
    <dgm:pt modelId="{B90845DD-82DE-4C95-B24E-31CFA41965BB}">
      <dgm:prSet/>
      <dgm:spPr/>
      <dgm:t>
        <a:bodyPr/>
        <a:lstStyle/>
        <a:p>
          <a:r>
            <a:rPr lang="en-US"/>
            <a:t>If you want immediate response from the hydrant, it is important to reduce latency. </a:t>
          </a:r>
        </a:p>
      </dgm:t>
    </dgm:pt>
    <dgm:pt modelId="{C3E0ADD9-67F6-4023-8348-BB617442DDD5}" type="parTrans" cxnId="{18C5FA1C-1D40-4F55-B016-7E29F7823EA1}">
      <dgm:prSet/>
      <dgm:spPr/>
      <dgm:t>
        <a:bodyPr/>
        <a:lstStyle/>
        <a:p>
          <a:endParaRPr lang="en-US"/>
        </a:p>
      </dgm:t>
    </dgm:pt>
    <dgm:pt modelId="{9DB7C541-473F-4F39-9F98-C05F4122D40D}" type="sibTrans" cxnId="{18C5FA1C-1D40-4F55-B016-7E29F7823EA1}">
      <dgm:prSet/>
      <dgm:spPr/>
      <dgm:t>
        <a:bodyPr/>
        <a:lstStyle/>
        <a:p>
          <a:endParaRPr lang="en-US"/>
        </a:p>
      </dgm:t>
    </dgm:pt>
    <dgm:pt modelId="{17AD5096-8A3D-4493-B0BF-F525DDD86DBE}">
      <dgm:prSet/>
      <dgm:spPr/>
      <dgm:t>
        <a:bodyPr/>
        <a:lstStyle/>
        <a:p>
          <a:r>
            <a:rPr lang="en-US"/>
            <a:t>If you want to fight big fires, you want high bandwidth. </a:t>
          </a:r>
        </a:p>
      </dgm:t>
    </dgm:pt>
    <dgm:pt modelId="{D6FFF37B-43A0-47A2-AF7B-891532B56E7B}" type="parTrans" cxnId="{75C397F9-8FDC-4DA0-96ED-00E59D18F60E}">
      <dgm:prSet/>
      <dgm:spPr/>
      <dgm:t>
        <a:bodyPr/>
        <a:lstStyle/>
        <a:p>
          <a:endParaRPr lang="en-US"/>
        </a:p>
      </dgm:t>
    </dgm:pt>
    <dgm:pt modelId="{1F4D6EBF-8766-4FBF-B1E1-D219FB372FEC}" type="sibTrans" cxnId="{75C397F9-8FDC-4DA0-96ED-00E59D18F60E}">
      <dgm:prSet/>
      <dgm:spPr/>
      <dgm:t>
        <a:bodyPr/>
        <a:lstStyle/>
        <a:p>
          <a:endParaRPr lang="en-US"/>
        </a:p>
      </dgm:t>
    </dgm:pt>
    <dgm:pt modelId="{29EE05E4-B958-40FA-B08B-EA992C5835C1}" type="pres">
      <dgm:prSet presAssocID="{AA7AA08A-A5C6-4CD5-97A3-D6366A934DE6}" presName="linear" presStyleCnt="0">
        <dgm:presLayoutVars>
          <dgm:animLvl val="lvl"/>
          <dgm:resizeHandles val="exact"/>
        </dgm:presLayoutVars>
      </dgm:prSet>
      <dgm:spPr/>
    </dgm:pt>
    <dgm:pt modelId="{9B0EC2CB-91EB-427A-9081-BE299D30B1FF}" type="pres">
      <dgm:prSet presAssocID="{156C0801-A39E-4F68-84C5-4E50B3B2A4DF}" presName="parentText" presStyleLbl="node1" presStyleIdx="0" presStyleCnt="2">
        <dgm:presLayoutVars>
          <dgm:chMax val="0"/>
          <dgm:bulletEnabled val="1"/>
        </dgm:presLayoutVars>
      </dgm:prSet>
      <dgm:spPr/>
    </dgm:pt>
    <dgm:pt modelId="{9DAA2C01-DB0F-4F9F-BEDF-1F6CCAD55F89}" type="pres">
      <dgm:prSet presAssocID="{351CFC50-62A7-4517-B169-53D7E70AC90C}" presName="spacer" presStyleCnt="0"/>
      <dgm:spPr/>
    </dgm:pt>
    <dgm:pt modelId="{EC062F53-DC9B-4406-AA94-4AFEC917A9CA}" type="pres">
      <dgm:prSet presAssocID="{0B050A23-C03B-411A-AEB1-B3A88DBFBD00}" presName="parentText" presStyleLbl="node1" presStyleIdx="1" presStyleCnt="2">
        <dgm:presLayoutVars>
          <dgm:chMax val="0"/>
          <dgm:bulletEnabled val="1"/>
        </dgm:presLayoutVars>
      </dgm:prSet>
      <dgm:spPr/>
    </dgm:pt>
    <dgm:pt modelId="{54AA4018-270C-4BDE-876C-D63FF8FE08FC}" type="pres">
      <dgm:prSet presAssocID="{0B050A23-C03B-411A-AEB1-B3A88DBFBD00}" presName="childText" presStyleLbl="revTx" presStyleIdx="0" presStyleCnt="1">
        <dgm:presLayoutVars>
          <dgm:bulletEnabled val="1"/>
        </dgm:presLayoutVars>
      </dgm:prSet>
      <dgm:spPr/>
    </dgm:pt>
  </dgm:ptLst>
  <dgm:cxnLst>
    <dgm:cxn modelId="{DCAE0511-73BA-404D-A54D-72F9B25EAD0B}" srcId="{AA7AA08A-A5C6-4CD5-97A3-D6366A934DE6}" destId="{156C0801-A39E-4F68-84C5-4E50B3B2A4DF}" srcOrd="0" destOrd="0" parTransId="{6382FED2-52FF-417E-AFA6-747A85ACA68A}" sibTransId="{351CFC50-62A7-4517-B169-53D7E70AC90C}"/>
    <dgm:cxn modelId="{534C2C1C-207F-4948-8B5B-D3B900FE8EBE}" type="presOf" srcId="{0B050A23-C03B-411A-AEB1-B3A88DBFBD00}" destId="{EC062F53-DC9B-4406-AA94-4AFEC917A9CA}" srcOrd="0" destOrd="0" presId="urn:microsoft.com/office/officeart/2005/8/layout/vList2"/>
    <dgm:cxn modelId="{18C5FA1C-1D40-4F55-B016-7E29F7823EA1}" srcId="{0B050A23-C03B-411A-AEB1-B3A88DBFBD00}" destId="{B90845DD-82DE-4C95-B24E-31CFA41965BB}" srcOrd="1" destOrd="0" parTransId="{C3E0ADD9-67F6-4023-8348-BB617442DDD5}" sibTransId="{9DB7C541-473F-4F39-9F98-C05F4122D40D}"/>
    <dgm:cxn modelId="{27D1513F-9F91-4C9C-B074-91A7CB7C6D7E}" srcId="{AA7AA08A-A5C6-4CD5-97A3-D6366A934DE6}" destId="{0B050A23-C03B-411A-AEB1-B3A88DBFBD00}" srcOrd="1" destOrd="0" parTransId="{DA89016D-D9E2-45F3-9717-4F9F6C8DA50F}" sibTransId="{DEDA9D0D-10A9-4931-94D9-DE831D740413}"/>
    <dgm:cxn modelId="{2241605D-F81F-48F7-94B4-CA32660A8148}" srcId="{0B050A23-C03B-411A-AEB1-B3A88DBFBD00}" destId="{04468DC7-456A-4B4C-A5C9-CA41795B8DD4}" srcOrd="0" destOrd="0" parTransId="{E0813FBB-E505-4463-949B-658CAFEBCAB9}" sibTransId="{97D54F66-035A-4882-BFFC-8DA34844FE97}"/>
    <dgm:cxn modelId="{47DAF441-5184-4228-B57A-7E4D27249E15}" type="presOf" srcId="{17AD5096-8A3D-4493-B0BF-F525DDD86DBE}" destId="{54AA4018-270C-4BDE-876C-D63FF8FE08FC}" srcOrd="0" destOrd="2" presId="urn:microsoft.com/office/officeart/2005/8/layout/vList2"/>
    <dgm:cxn modelId="{8D124181-53DB-43E2-9468-20274F81F050}" type="presOf" srcId="{156C0801-A39E-4F68-84C5-4E50B3B2A4DF}" destId="{9B0EC2CB-91EB-427A-9081-BE299D30B1FF}" srcOrd="0" destOrd="0" presId="urn:microsoft.com/office/officeart/2005/8/layout/vList2"/>
    <dgm:cxn modelId="{B2B80FCF-6A30-407B-A3E4-AB978F2311CD}" type="presOf" srcId="{04468DC7-456A-4B4C-A5C9-CA41795B8DD4}" destId="{54AA4018-270C-4BDE-876C-D63FF8FE08FC}" srcOrd="0" destOrd="0" presId="urn:microsoft.com/office/officeart/2005/8/layout/vList2"/>
    <dgm:cxn modelId="{A2EB80DE-FA2B-456C-A5EC-D951D8D5DED6}" type="presOf" srcId="{B90845DD-82DE-4C95-B24E-31CFA41965BB}" destId="{54AA4018-270C-4BDE-876C-D63FF8FE08FC}" srcOrd="0" destOrd="1" presId="urn:microsoft.com/office/officeart/2005/8/layout/vList2"/>
    <dgm:cxn modelId="{F2D91EE7-497E-446C-8DFC-E3C662F50A8E}" type="presOf" srcId="{AA7AA08A-A5C6-4CD5-97A3-D6366A934DE6}" destId="{29EE05E4-B958-40FA-B08B-EA992C5835C1}" srcOrd="0" destOrd="0" presId="urn:microsoft.com/office/officeart/2005/8/layout/vList2"/>
    <dgm:cxn modelId="{75C397F9-8FDC-4DA0-96ED-00E59D18F60E}" srcId="{0B050A23-C03B-411A-AEB1-B3A88DBFBD00}" destId="{17AD5096-8A3D-4493-B0BF-F525DDD86DBE}" srcOrd="2" destOrd="0" parTransId="{D6FFF37B-43A0-47A2-AF7B-891532B56E7B}" sibTransId="{1F4D6EBF-8766-4FBF-B1E1-D219FB372FEC}"/>
    <dgm:cxn modelId="{DFC65E0E-EF85-4163-9A16-65BD5F4A41F2}" type="presParOf" srcId="{29EE05E4-B958-40FA-B08B-EA992C5835C1}" destId="{9B0EC2CB-91EB-427A-9081-BE299D30B1FF}" srcOrd="0" destOrd="0" presId="urn:microsoft.com/office/officeart/2005/8/layout/vList2"/>
    <dgm:cxn modelId="{4F051C64-F01B-4EE8-B3D9-BB55D9D97B60}" type="presParOf" srcId="{29EE05E4-B958-40FA-B08B-EA992C5835C1}" destId="{9DAA2C01-DB0F-4F9F-BEDF-1F6CCAD55F89}" srcOrd="1" destOrd="0" presId="urn:microsoft.com/office/officeart/2005/8/layout/vList2"/>
    <dgm:cxn modelId="{6E1F353E-A2D7-4328-9219-E3A2E22A19FD}" type="presParOf" srcId="{29EE05E4-B958-40FA-B08B-EA992C5835C1}" destId="{EC062F53-DC9B-4406-AA94-4AFEC917A9CA}" srcOrd="2" destOrd="0" presId="urn:microsoft.com/office/officeart/2005/8/layout/vList2"/>
    <dgm:cxn modelId="{57C81BEA-F51C-4641-A678-45C6DFA3D721}" type="presParOf" srcId="{29EE05E4-B958-40FA-B08B-EA992C5835C1}" destId="{54AA4018-270C-4BDE-876C-D63FF8FE08FC}"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Effect of Cache.</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Effect of Cache with Example.</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custLinFactNeighborX="-4446"/>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EC720F5-3B9E-40D8-A7B6-61D0B812E9AC}"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32805438-94D0-4A5B-B9FD-8D51FFDD563A}">
      <dgm:prSet/>
      <dgm:spPr/>
      <dgm:t>
        <a:bodyPr/>
        <a:lstStyle/>
        <a:p>
          <a:r>
            <a:rPr lang="en-US"/>
            <a:t>Caches are small and fast memory elements between the processor and DRAM. </a:t>
          </a:r>
        </a:p>
      </dgm:t>
    </dgm:pt>
    <dgm:pt modelId="{D9217CB8-6AB0-4647-B842-C0EA6B482CB3}" type="parTrans" cxnId="{0F413C84-91AA-4F43-A5C8-899CB7963BD5}">
      <dgm:prSet/>
      <dgm:spPr/>
      <dgm:t>
        <a:bodyPr/>
        <a:lstStyle/>
        <a:p>
          <a:endParaRPr lang="en-US"/>
        </a:p>
      </dgm:t>
    </dgm:pt>
    <dgm:pt modelId="{C5E87CDF-2F62-47C3-A9FD-DC8E0307DEF2}" type="sibTrans" cxnId="{0F413C84-91AA-4F43-A5C8-899CB7963BD5}">
      <dgm:prSet/>
      <dgm:spPr/>
      <dgm:t>
        <a:bodyPr/>
        <a:lstStyle/>
        <a:p>
          <a:endParaRPr lang="en-US"/>
        </a:p>
      </dgm:t>
    </dgm:pt>
    <dgm:pt modelId="{6D264345-88A2-43A7-8AC2-2A4034D79A2C}">
      <dgm:prSet/>
      <dgm:spPr/>
      <dgm:t>
        <a:bodyPr/>
        <a:lstStyle/>
        <a:p>
          <a:r>
            <a:rPr lang="en-US"/>
            <a:t>This memory acts as a low-latency high-bandwidth storage. </a:t>
          </a:r>
        </a:p>
      </dgm:t>
    </dgm:pt>
    <dgm:pt modelId="{64813D15-75D8-44C0-99A1-31192C3A303B}" type="parTrans" cxnId="{3036170D-DCD7-4618-9994-224CC26E8349}">
      <dgm:prSet/>
      <dgm:spPr/>
      <dgm:t>
        <a:bodyPr/>
        <a:lstStyle/>
        <a:p>
          <a:endParaRPr lang="en-US"/>
        </a:p>
      </dgm:t>
    </dgm:pt>
    <dgm:pt modelId="{625A984B-5B40-4905-87A8-1D2EB6687FCE}" type="sibTrans" cxnId="{3036170D-DCD7-4618-9994-224CC26E8349}">
      <dgm:prSet/>
      <dgm:spPr/>
      <dgm:t>
        <a:bodyPr/>
        <a:lstStyle/>
        <a:p>
          <a:endParaRPr lang="en-US"/>
        </a:p>
      </dgm:t>
    </dgm:pt>
    <dgm:pt modelId="{979D90D8-6F7E-4A7E-A046-D898E2EA7033}">
      <dgm:prSet/>
      <dgm:spPr/>
      <dgm:t>
        <a:bodyPr/>
        <a:lstStyle/>
        <a:p>
          <a:r>
            <a:rPr lang="en-US"/>
            <a:t>If a piece of data is repeatedly used, the effective latency of this memory system can be reduced by the cache. </a:t>
          </a:r>
        </a:p>
      </dgm:t>
    </dgm:pt>
    <dgm:pt modelId="{ABE2FD80-F305-448A-ACB8-697E37558DD6}" type="parTrans" cxnId="{CE5FBEA8-E208-4153-A56E-2064A2C564B7}">
      <dgm:prSet/>
      <dgm:spPr/>
      <dgm:t>
        <a:bodyPr/>
        <a:lstStyle/>
        <a:p>
          <a:endParaRPr lang="en-US"/>
        </a:p>
      </dgm:t>
    </dgm:pt>
    <dgm:pt modelId="{C26BC426-67E9-49F0-A5DC-AAFEFC864134}" type="sibTrans" cxnId="{CE5FBEA8-E208-4153-A56E-2064A2C564B7}">
      <dgm:prSet/>
      <dgm:spPr/>
      <dgm:t>
        <a:bodyPr/>
        <a:lstStyle/>
        <a:p>
          <a:endParaRPr lang="en-US"/>
        </a:p>
      </dgm:t>
    </dgm:pt>
    <dgm:pt modelId="{630E848C-26B9-4147-A100-55E60DE84977}">
      <dgm:prSet/>
      <dgm:spPr/>
      <dgm:t>
        <a:bodyPr/>
        <a:lstStyle/>
        <a:p>
          <a:r>
            <a:rPr lang="en-US"/>
            <a:t>The fraction of data references satisfied by the cache is called the cache hit ratio of the computation on the system. </a:t>
          </a:r>
        </a:p>
      </dgm:t>
    </dgm:pt>
    <dgm:pt modelId="{F27B35A1-5F3D-436C-B7BF-1EE2686128A9}" type="parTrans" cxnId="{CE5C08B4-18DD-4A07-AA44-5CB47245104A}">
      <dgm:prSet/>
      <dgm:spPr/>
      <dgm:t>
        <a:bodyPr/>
        <a:lstStyle/>
        <a:p>
          <a:endParaRPr lang="en-US"/>
        </a:p>
      </dgm:t>
    </dgm:pt>
    <dgm:pt modelId="{C239066D-3DA3-4474-8D72-E7FEE7001E9F}" type="sibTrans" cxnId="{CE5C08B4-18DD-4A07-AA44-5CB47245104A}">
      <dgm:prSet/>
      <dgm:spPr/>
      <dgm:t>
        <a:bodyPr/>
        <a:lstStyle/>
        <a:p>
          <a:endParaRPr lang="en-US"/>
        </a:p>
      </dgm:t>
    </dgm:pt>
    <dgm:pt modelId="{2B9287D3-CFCE-4FCE-9855-1218FE22112A}">
      <dgm:prSet/>
      <dgm:spPr/>
      <dgm:t>
        <a:bodyPr/>
        <a:lstStyle/>
        <a:p>
          <a:r>
            <a:rPr lang="en-US"/>
            <a:t>Cache hit ratio achieved by a code on a memory system often determines its performance. </a:t>
          </a:r>
        </a:p>
      </dgm:t>
    </dgm:pt>
    <dgm:pt modelId="{A7830414-C2C8-42A4-AD13-ECE270AF3023}" type="parTrans" cxnId="{EEEBBA3A-AC75-477A-99A7-BF53825268E9}">
      <dgm:prSet/>
      <dgm:spPr/>
      <dgm:t>
        <a:bodyPr/>
        <a:lstStyle/>
        <a:p>
          <a:endParaRPr lang="en-US"/>
        </a:p>
      </dgm:t>
    </dgm:pt>
    <dgm:pt modelId="{5829E6F9-E592-4DE7-A04D-8C179A8E37AA}" type="sibTrans" cxnId="{EEEBBA3A-AC75-477A-99A7-BF53825268E9}">
      <dgm:prSet/>
      <dgm:spPr/>
      <dgm:t>
        <a:bodyPr/>
        <a:lstStyle/>
        <a:p>
          <a:endParaRPr lang="en-US"/>
        </a:p>
      </dgm:t>
    </dgm:pt>
    <dgm:pt modelId="{B813518A-CD94-4032-9A00-F97887A258AD}" type="pres">
      <dgm:prSet presAssocID="{BEC720F5-3B9E-40D8-A7B6-61D0B812E9AC}" presName="outerComposite" presStyleCnt="0">
        <dgm:presLayoutVars>
          <dgm:chMax val="5"/>
          <dgm:dir/>
          <dgm:resizeHandles val="exact"/>
        </dgm:presLayoutVars>
      </dgm:prSet>
      <dgm:spPr/>
    </dgm:pt>
    <dgm:pt modelId="{16C8C64F-05E0-496A-9EEE-5F09C4779A63}" type="pres">
      <dgm:prSet presAssocID="{BEC720F5-3B9E-40D8-A7B6-61D0B812E9AC}" presName="dummyMaxCanvas" presStyleCnt="0">
        <dgm:presLayoutVars/>
      </dgm:prSet>
      <dgm:spPr/>
    </dgm:pt>
    <dgm:pt modelId="{67D0A11E-659C-491A-B650-A0C1EED604CE}" type="pres">
      <dgm:prSet presAssocID="{BEC720F5-3B9E-40D8-A7B6-61D0B812E9AC}" presName="FiveNodes_1" presStyleLbl="node1" presStyleIdx="0" presStyleCnt="5">
        <dgm:presLayoutVars>
          <dgm:bulletEnabled val="1"/>
        </dgm:presLayoutVars>
      </dgm:prSet>
      <dgm:spPr/>
    </dgm:pt>
    <dgm:pt modelId="{7BFEB0F6-CD62-4D67-A2ED-C72A1B468AF8}" type="pres">
      <dgm:prSet presAssocID="{BEC720F5-3B9E-40D8-A7B6-61D0B812E9AC}" presName="FiveNodes_2" presStyleLbl="node1" presStyleIdx="1" presStyleCnt="5">
        <dgm:presLayoutVars>
          <dgm:bulletEnabled val="1"/>
        </dgm:presLayoutVars>
      </dgm:prSet>
      <dgm:spPr/>
    </dgm:pt>
    <dgm:pt modelId="{3C8117AF-23A9-451E-9223-FA4A0A867CF6}" type="pres">
      <dgm:prSet presAssocID="{BEC720F5-3B9E-40D8-A7B6-61D0B812E9AC}" presName="FiveNodes_3" presStyleLbl="node1" presStyleIdx="2" presStyleCnt="5">
        <dgm:presLayoutVars>
          <dgm:bulletEnabled val="1"/>
        </dgm:presLayoutVars>
      </dgm:prSet>
      <dgm:spPr/>
    </dgm:pt>
    <dgm:pt modelId="{7D1E5EBB-ACD3-42FE-AF4B-E6AAD903A6BB}" type="pres">
      <dgm:prSet presAssocID="{BEC720F5-3B9E-40D8-A7B6-61D0B812E9AC}" presName="FiveNodes_4" presStyleLbl="node1" presStyleIdx="3" presStyleCnt="5">
        <dgm:presLayoutVars>
          <dgm:bulletEnabled val="1"/>
        </dgm:presLayoutVars>
      </dgm:prSet>
      <dgm:spPr/>
    </dgm:pt>
    <dgm:pt modelId="{AF8991CF-6DA0-4163-B42C-56843D390FBB}" type="pres">
      <dgm:prSet presAssocID="{BEC720F5-3B9E-40D8-A7B6-61D0B812E9AC}" presName="FiveNodes_5" presStyleLbl="node1" presStyleIdx="4" presStyleCnt="5">
        <dgm:presLayoutVars>
          <dgm:bulletEnabled val="1"/>
        </dgm:presLayoutVars>
      </dgm:prSet>
      <dgm:spPr/>
    </dgm:pt>
    <dgm:pt modelId="{79339218-E955-45E4-A922-D033E22190F4}" type="pres">
      <dgm:prSet presAssocID="{BEC720F5-3B9E-40D8-A7B6-61D0B812E9AC}" presName="FiveConn_1-2" presStyleLbl="fgAccFollowNode1" presStyleIdx="0" presStyleCnt="4">
        <dgm:presLayoutVars>
          <dgm:bulletEnabled val="1"/>
        </dgm:presLayoutVars>
      </dgm:prSet>
      <dgm:spPr/>
    </dgm:pt>
    <dgm:pt modelId="{CA00E5B3-0339-40EB-9BF1-D8BE2DED119D}" type="pres">
      <dgm:prSet presAssocID="{BEC720F5-3B9E-40D8-A7B6-61D0B812E9AC}" presName="FiveConn_2-3" presStyleLbl="fgAccFollowNode1" presStyleIdx="1" presStyleCnt="4">
        <dgm:presLayoutVars>
          <dgm:bulletEnabled val="1"/>
        </dgm:presLayoutVars>
      </dgm:prSet>
      <dgm:spPr/>
    </dgm:pt>
    <dgm:pt modelId="{A6F357B8-145C-4EBC-8416-38AAB8B1A3C1}" type="pres">
      <dgm:prSet presAssocID="{BEC720F5-3B9E-40D8-A7B6-61D0B812E9AC}" presName="FiveConn_3-4" presStyleLbl="fgAccFollowNode1" presStyleIdx="2" presStyleCnt="4">
        <dgm:presLayoutVars>
          <dgm:bulletEnabled val="1"/>
        </dgm:presLayoutVars>
      </dgm:prSet>
      <dgm:spPr/>
    </dgm:pt>
    <dgm:pt modelId="{BD3646BE-452E-4AEA-9F56-79CD490F38F4}" type="pres">
      <dgm:prSet presAssocID="{BEC720F5-3B9E-40D8-A7B6-61D0B812E9AC}" presName="FiveConn_4-5" presStyleLbl="fgAccFollowNode1" presStyleIdx="3" presStyleCnt="4">
        <dgm:presLayoutVars>
          <dgm:bulletEnabled val="1"/>
        </dgm:presLayoutVars>
      </dgm:prSet>
      <dgm:spPr/>
    </dgm:pt>
    <dgm:pt modelId="{573ED1A6-199B-4A64-9FA7-17272101A523}" type="pres">
      <dgm:prSet presAssocID="{BEC720F5-3B9E-40D8-A7B6-61D0B812E9AC}" presName="FiveNodes_1_text" presStyleLbl="node1" presStyleIdx="4" presStyleCnt="5">
        <dgm:presLayoutVars>
          <dgm:bulletEnabled val="1"/>
        </dgm:presLayoutVars>
      </dgm:prSet>
      <dgm:spPr/>
    </dgm:pt>
    <dgm:pt modelId="{11A06AB5-BB53-47DC-9A08-1391F5EB03A4}" type="pres">
      <dgm:prSet presAssocID="{BEC720F5-3B9E-40D8-A7B6-61D0B812E9AC}" presName="FiveNodes_2_text" presStyleLbl="node1" presStyleIdx="4" presStyleCnt="5">
        <dgm:presLayoutVars>
          <dgm:bulletEnabled val="1"/>
        </dgm:presLayoutVars>
      </dgm:prSet>
      <dgm:spPr/>
    </dgm:pt>
    <dgm:pt modelId="{58FE9D14-CC45-46BB-8A95-43AEDBD043A1}" type="pres">
      <dgm:prSet presAssocID="{BEC720F5-3B9E-40D8-A7B6-61D0B812E9AC}" presName="FiveNodes_3_text" presStyleLbl="node1" presStyleIdx="4" presStyleCnt="5">
        <dgm:presLayoutVars>
          <dgm:bulletEnabled val="1"/>
        </dgm:presLayoutVars>
      </dgm:prSet>
      <dgm:spPr/>
    </dgm:pt>
    <dgm:pt modelId="{756AD7F8-FA60-4342-8977-4800632363A3}" type="pres">
      <dgm:prSet presAssocID="{BEC720F5-3B9E-40D8-A7B6-61D0B812E9AC}" presName="FiveNodes_4_text" presStyleLbl="node1" presStyleIdx="4" presStyleCnt="5">
        <dgm:presLayoutVars>
          <dgm:bulletEnabled val="1"/>
        </dgm:presLayoutVars>
      </dgm:prSet>
      <dgm:spPr/>
    </dgm:pt>
    <dgm:pt modelId="{2114088A-CD61-451D-8B5B-97F4E142CE3B}" type="pres">
      <dgm:prSet presAssocID="{BEC720F5-3B9E-40D8-A7B6-61D0B812E9AC}" presName="FiveNodes_5_text" presStyleLbl="node1" presStyleIdx="4" presStyleCnt="5">
        <dgm:presLayoutVars>
          <dgm:bulletEnabled val="1"/>
        </dgm:presLayoutVars>
      </dgm:prSet>
      <dgm:spPr/>
    </dgm:pt>
  </dgm:ptLst>
  <dgm:cxnLst>
    <dgm:cxn modelId="{3036170D-DCD7-4618-9994-224CC26E8349}" srcId="{BEC720F5-3B9E-40D8-A7B6-61D0B812E9AC}" destId="{6D264345-88A2-43A7-8AC2-2A4034D79A2C}" srcOrd="1" destOrd="0" parTransId="{64813D15-75D8-44C0-99A1-31192C3A303B}" sibTransId="{625A984B-5B40-4905-87A8-1D2EB6687FCE}"/>
    <dgm:cxn modelId="{CBC6251B-8B8F-4FC1-B7FE-2A4BBDE1548B}" type="presOf" srcId="{C5E87CDF-2F62-47C3-A9FD-DC8E0307DEF2}" destId="{79339218-E955-45E4-A922-D033E22190F4}" srcOrd="0" destOrd="0" presId="urn:microsoft.com/office/officeart/2005/8/layout/vProcess5"/>
    <dgm:cxn modelId="{43663C26-A5C7-4C2E-9EC5-BBB1F9D19DF6}" type="presOf" srcId="{BEC720F5-3B9E-40D8-A7B6-61D0B812E9AC}" destId="{B813518A-CD94-4032-9A00-F97887A258AD}" srcOrd="0" destOrd="0" presId="urn:microsoft.com/office/officeart/2005/8/layout/vProcess5"/>
    <dgm:cxn modelId="{EEEBBA3A-AC75-477A-99A7-BF53825268E9}" srcId="{BEC720F5-3B9E-40D8-A7B6-61D0B812E9AC}" destId="{2B9287D3-CFCE-4FCE-9855-1218FE22112A}" srcOrd="4" destOrd="0" parTransId="{A7830414-C2C8-42A4-AD13-ECE270AF3023}" sibTransId="{5829E6F9-E592-4DE7-A04D-8C179A8E37AA}"/>
    <dgm:cxn modelId="{D415024A-2AAE-4BB2-A5CA-81CF25FA3512}" type="presOf" srcId="{6D264345-88A2-43A7-8AC2-2A4034D79A2C}" destId="{11A06AB5-BB53-47DC-9A08-1391F5EB03A4}" srcOrd="1" destOrd="0" presId="urn:microsoft.com/office/officeart/2005/8/layout/vProcess5"/>
    <dgm:cxn modelId="{8E520D6D-6ABC-4A08-A339-7135579CCA9B}" type="presOf" srcId="{C26BC426-67E9-49F0-A5DC-AAFEFC864134}" destId="{A6F357B8-145C-4EBC-8416-38AAB8B1A3C1}" srcOrd="0" destOrd="0" presId="urn:microsoft.com/office/officeart/2005/8/layout/vProcess5"/>
    <dgm:cxn modelId="{EFD1EA4E-646F-4426-8B29-5467B638FB36}" type="presOf" srcId="{C239066D-3DA3-4474-8D72-E7FEE7001E9F}" destId="{BD3646BE-452E-4AEA-9F56-79CD490F38F4}" srcOrd="0" destOrd="0" presId="urn:microsoft.com/office/officeart/2005/8/layout/vProcess5"/>
    <dgm:cxn modelId="{2B01B34F-E319-4340-8908-CB15BBEC7B95}" type="presOf" srcId="{2B9287D3-CFCE-4FCE-9855-1218FE22112A}" destId="{AF8991CF-6DA0-4163-B42C-56843D390FBB}" srcOrd="0" destOrd="0" presId="urn:microsoft.com/office/officeart/2005/8/layout/vProcess5"/>
    <dgm:cxn modelId="{20504874-A7EF-4BF5-9E3E-DCFD00E53C7D}" type="presOf" srcId="{979D90D8-6F7E-4A7E-A046-D898E2EA7033}" destId="{3C8117AF-23A9-451E-9223-FA4A0A867CF6}" srcOrd="0" destOrd="0" presId="urn:microsoft.com/office/officeart/2005/8/layout/vProcess5"/>
    <dgm:cxn modelId="{14938D74-0FA7-49D6-9087-23B13D5FC518}" type="presOf" srcId="{6D264345-88A2-43A7-8AC2-2A4034D79A2C}" destId="{7BFEB0F6-CD62-4D67-A2ED-C72A1B468AF8}" srcOrd="0" destOrd="0" presId="urn:microsoft.com/office/officeart/2005/8/layout/vProcess5"/>
    <dgm:cxn modelId="{6A4F3882-2E06-46C5-9B61-9F3F4D2646AF}" type="presOf" srcId="{2B9287D3-CFCE-4FCE-9855-1218FE22112A}" destId="{2114088A-CD61-451D-8B5B-97F4E142CE3B}" srcOrd="1" destOrd="0" presId="urn:microsoft.com/office/officeart/2005/8/layout/vProcess5"/>
    <dgm:cxn modelId="{0F413C84-91AA-4F43-A5C8-899CB7963BD5}" srcId="{BEC720F5-3B9E-40D8-A7B6-61D0B812E9AC}" destId="{32805438-94D0-4A5B-B9FD-8D51FFDD563A}" srcOrd="0" destOrd="0" parTransId="{D9217CB8-6AB0-4647-B842-C0EA6B482CB3}" sibTransId="{C5E87CDF-2F62-47C3-A9FD-DC8E0307DEF2}"/>
    <dgm:cxn modelId="{5853BA84-E6F3-40DD-A90C-E4E1BBC28184}" type="presOf" srcId="{630E848C-26B9-4147-A100-55E60DE84977}" destId="{756AD7F8-FA60-4342-8977-4800632363A3}" srcOrd="1" destOrd="0" presId="urn:microsoft.com/office/officeart/2005/8/layout/vProcess5"/>
    <dgm:cxn modelId="{9642BB99-228B-4A7E-B8B0-B3C711B91325}" type="presOf" srcId="{32805438-94D0-4A5B-B9FD-8D51FFDD563A}" destId="{573ED1A6-199B-4A64-9FA7-17272101A523}" srcOrd="1" destOrd="0" presId="urn:microsoft.com/office/officeart/2005/8/layout/vProcess5"/>
    <dgm:cxn modelId="{CE5FBEA8-E208-4153-A56E-2064A2C564B7}" srcId="{BEC720F5-3B9E-40D8-A7B6-61D0B812E9AC}" destId="{979D90D8-6F7E-4A7E-A046-D898E2EA7033}" srcOrd="2" destOrd="0" parTransId="{ABE2FD80-F305-448A-ACB8-697E37558DD6}" sibTransId="{C26BC426-67E9-49F0-A5DC-AAFEFC864134}"/>
    <dgm:cxn modelId="{5C596FAC-44B2-41B2-ACF0-A7D0FB488205}" type="presOf" srcId="{630E848C-26B9-4147-A100-55E60DE84977}" destId="{7D1E5EBB-ACD3-42FE-AF4B-E6AAD903A6BB}" srcOrd="0" destOrd="0" presId="urn:microsoft.com/office/officeart/2005/8/layout/vProcess5"/>
    <dgm:cxn modelId="{E98A2EAD-B73C-4F3E-84FD-98D660E4E9B9}" type="presOf" srcId="{625A984B-5B40-4905-87A8-1D2EB6687FCE}" destId="{CA00E5B3-0339-40EB-9BF1-D8BE2DED119D}" srcOrd="0" destOrd="0" presId="urn:microsoft.com/office/officeart/2005/8/layout/vProcess5"/>
    <dgm:cxn modelId="{CE5C08B4-18DD-4A07-AA44-5CB47245104A}" srcId="{BEC720F5-3B9E-40D8-A7B6-61D0B812E9AC}" destId="{630E848C-26B9-4147-A100-55E60DE84977}" srcOrd="3" destOrd="0" parTransId="{F27B35A1-5F3D-436C-B7BF-1EE2686128A9}" sibTransId="{C239066D-3DA3-4474-8D72-E7FEE7001E9F}"/>
    <dgm:cxn modelId="{5FFA3CB4-213B-4B5E-8166-285C1C18FFAB}" type="presOf" srcId="{979D90D8-6F7E-4A7E-A046-D898E2EA7033}" destId="{58FE9D14-CC45-46BB-8A95-43AEDBD043A1}" srcOrd="1" destOrd="0" presId="urn:microsoft.com/office/officeart/2005/8/layout/vProcess5"/>
    <dgm:cxn modelId="{FFD6C6DB-1198-4881-A8C4-570656E8FE8D}" type="presOf" srcId="{32805438-94D0-4A5B-B9FD-8D51FFDD563A}" destId="{67D0A11E-659C-491A-B650-A0C1EED604CE}" srcOrd="0" destOrd="0" presId="urn:microsoft.com/office/officeart/2005/8/layout/vProcess5"/>
    <dgm:cxn modelId="{ACB7667A-8365-4B02-A177-BF1BDA1C6741}" type="presParOf" srcId="{B813518A-CD94-4032-9A00-F97887A258AD}" destId="{16C8C64F-05E0-496A-9EEE-5F09C4779A63}" srcOrd="0" destOrd="0" presId="urn:microsoft.com/office/officeart/2005/8/layout/vProcess5"/>
    <dgm:cxn modelId="{E3159C80-C321-4D79-BA39-4D264B49653D}" type="presParOf" srcId="{B813518A-CD94-4032-9A00-F97887A258AD}" destId="{67D0A11E-659C-491A-B650-A0C1EED604CE}" srcOrd="1" destOrd="0" presId="urn:microsoft.com/office/officeart/2005/8/layout/vProcess5"/>
    <dgm:cxn modelId="{89C47BB8-3ABC-4B58-9A69-24C780902A04}" type="presParOf" srcId="{B813518A-CD94-4032-9A00-F97887A258AD}" destId="{7BFEB0F6-CD62-4D67-A2ED-C72A1B468AF8}" srcOrd="2" destOrd="0" presId="urn:microsoft.com/office/officeart/2005/8/layout/vProcess5"/>
    <dgm:cxn modelId="{4A6C4C45-EF21-4B3B-BC61-3A26378E4EF6}" type="presParOf" srcId="{B813518A-CD94-4032-9A00-F97887A258AD}" destId="{3C8117AF-23A9-451E-9223-FA4A0A867CF6}" srcOrd="3" destOrd="0" presId="urn:microsoft.com/office/officeart/2005/8/layout/vProcess5"/>
    <dgm:cxn modelId="{FB0CF705-694C-4AC0-BF86-3F7C7DE5F166}" type="presParOf" srcId="{B813518A-CD94-4032-9A00-F97887A258AD}" destId="{7D1E5EBB-ACD3-42FE-AF4B-E6AAD903A6BB}" srcOrd="4" destOrd="0" presId="urn:microsoft.com/office/officeart/2005/8/layout/vProcess5"/>
    <dgm:cxn modelId="{4A072A1E-9F5D-413F-AE3A-7CA659D6A42B}" type="presParOf" srcId="{B813518A-CD94-4032-9A00-F97887A258AD}" destId="{AF8991CF-6DA0-4163-B42C-56843D390FBB}" srcOrd="5" destOrd="0" presId="urn:microsoft.com/office/officeart/2005/8/layout/vProcess5"/>
    <dgm:cxn modelId="{1F4FE1D5-F43C-4C9F-A457-8B4E141C38F0}" type="presParOf" srcId="{B813518A-CD94-4032-9A00-F97887A258AD}" destId="{79339218-E955-45E4-A922-D033E22190F4}" srcOrd="6" destOrd="0" presId="urn:microsoft.com/office/officeart/2005/8/layout/vProcess5"/>
    <dgm:cxn modelId="{353B634F-1E3F-40B6-BA3E-1A1975370EFD}" type="presParOf" srcId="{B813518A-CD94-4032-9A00-F97887A258AD}" destId="{CA00E5B3-0339-40EB-9BF1-D8BE2DED119D}" srcOrd="7" destOrd="0" presId="urn:microsoft.com/office/officeart/2005/8/layout/vProcess5"/>
    <dgm:cxn modelId="{B9CEACB3-5C97-41CF-AFD1-037052FA343F}" type="presParOf" srcId="{B813518A-CD94-4032-9A00-F97887A258AD}" destId="{A6F357B8-145C-4EBC-8416-38AAB8B1A3C1}" srcOrd="8" destOrd="0" presId="urn:microsoft.com/office/officeart/2005/8/layout/vProcess5"/>
    <dgm:cxn modelId="{2DBE7CD3-9A91-4E70-96A7-A334DF2ECDBA}" type="presParOf" srcId="{B813518A-CD94-4032-9A00-F97887A258AD}" destId="{BD3646BE-452E-4AEA-9F56-79CD490F38F4}" srcOrd="9" destOrd="0" presId="urn:microsoft.com/office/officeart/2005/8/layout/vProcess5"/>
    <dgm:cxn modelId="{2D65A0A6-4ED6-4101-BE9E-D3A2753462E6}" type="presParOf" srcId="{B813518A-CD94-4032-9A00-F97887A258AD}" destId="{573ED1A6-199B-4A64-9FA7-17272101A523}" srcOrd="10" destOrd="0" presId="urn:microsoft.com/office/officeart/2005/8/layout/vProcess5"/>
    <dgm:cxn modelId="{C02C1F0F-69F4-4CEF-AE66-A49E991BBE80}" type="presParOf" srcId="{B813518A-CD94-4032-9A00-F97887A258AD}" destId="{11A06AB5-BB53-47DC-9A08-1391F5EB03A4}" srcOrd="11" destOrd="0" presId="urn:microsoft.com/office/officeart/2005/8/layout/vProcess5"/>
    <dgm:cxn modelId="{5D61A1ED-2DA2-443F-9418-478C0009CE12}" type="presParOf" srcId="{B813518A-CD94-4032-9A00-F97887A258AD}" destId="{58FE9D14-CC45-46BB-8A95-43AEDBD043A1}" srcOrd="12" destOrd="0" presId="urn:microsoft.com/office/officeart/2005/8/layout/vProcess5"/>
    <dgm:cxn modelId="{52A5F656-7F1B-40F5-8E6C-1FAE3940BC5B}" type="presParOf" srcId="{B813518A-CD94-4032-9A00-F97887A258AD}" destId="{756AD7F8-FA60-4342-8977-4800632363A3}" srcOrd="13" destOrd="0" presId="urn:microsoft.com/office/officeart/2005/8/layout/vProcess5"/>
    <dgm:cxn modelId="{DC5464D5-E976-43FD-8457-8E65B2F4245E}" type="presParOf" srcId="{B813518A-CD94-4032-9A00-F97887A258AD}" destId="{2114088A-CD61-451D-8B5B-97F4E142CE3B}"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5A81BADD-A03A-4849-AE5B-0F58ADA3B47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DEE3E8AD-1D3F-4DB7-903A-7FA6C59EF57F}">
      <dgm:prSet/>
      <dgm:spPr/>
      <dgm:t>
        <a:bodyPr/>
        <a:lstStyle/>
        <a:p>
          <a:r>
            <a:rPr lang="en-US" dirty="0">
              <a:latin typeface="Arial" panose="020B0604020202020204" pitchFamily="34" charset="0"/>
              <a:cs typeface="Arial" panose="020B0604020202020204" pitchFamily="34" charset="0"/>
            </a:rPr>
            <a:t>Repeated references to the same data item correspond to temporal locality.</a:t>
          </a:r>
        </a:p>
      </dgm:t>
    </dgm:pt>
    <dgm:pt modelId="{DEC1C042-BEE9-46DA-BC9F-C8C3E9B08417}" type="parTrans" cxnId="{4FB676D1-90AF-4D84-8F7B-16E778415B94}">
      <dgm:prSet/>
      <dgm:spPr/>
      <dgm:t>
        <a:bodyPr/>
        <a:lstStyle/>
        <a:p>
          <a:endParaRPr lang="en-US"/>
        </a:p>
      </dgm:t>
    </dgm:pt>
    <dgm:pt modelId="{89FECE01-E995-4454-94DB-DD743B64AB9A}" type="sibTrans" cxnId="{4FB676D1-90AF-4D84-8F7B-16E778415B94}">
      <dgm:prSet/>
      <dgm:spPr/>
      <dgm:t>
        <a:bodyPr/>
        <a:lstStyle/>
        <a:p>
          <a:endParaRPr lang="en-US"/>
        </a:p>
      </dgm:t>
    </dgm:pt>
    <dgm:pt modelId="{5DD666B9-FADD-499B-B587-7A1054BE472A}">
      <dgm:prSet/>
      <dgm:spPr/>
      <dgm:t>
        <a:bodyPr/>
        <a:lstStyle/>
        <a:p>
          <a:r>
            <a:rPr lang="en-US" dirty="0">
              <a:latin typeface="Arial" panose="020B0604020202020204" pitchFamily="34" charset="0"/>
              <a:cs typeface="Arial" panose="020B0604020202020204" pitchFamily="34" charset="0"/>
            </a:rPr>
            <a:t>In our example, we had O(n2) data accesses and O(n3) computation. This asymptotic difference makes the above example particularly desirable for caches.</a:t>
          </a:r>
        </a:p>
      </dgm:t>
    </dgm:pt>
    <dgm:pt modelId="{3C558398-A1F9-45DD-8959-1A2EC4EB3788}" type="parTrans" cxnId="{237EB8BA-3794-4FEA-8750-7E7A767B6111}">
      <dgm:prSet/>
      <dgm:spPr/>
      <dgm:t>
        <a:bodyPr/>
        <a:lstStyle/>
        <a:p>
          <a:endParaRPr lang="en-US"/>
        </a:p>
      </dgm:t>
    </dgm:pt>
    <dgm:pt modelId="{4667576D-A7CE-4F67-8247-6C02A7F3B828}" type="sibTrans" cxnId="{237EB8BA-3794-4FEA-8750-7E7A767B6111}">
      <dgm:prSet/>
      <dgm:spPr/>
      <dgm:t>
        <a:bodyPr/>
        <a:lstStyle/>
        <a:p>
          <a:endParaRPr lang="en-US"/>
        </a:p>
      </dgm:t>
    </dgm:pt>
    <dgm:pt modelId="{CED259C3-CCE2-4D36-AC47-0A54344910DD}">
      <dgm:prSet/>
      <dgm:spPr/>
      <dgm:t>
        <a:bodyPr/>
        <a:lstStyle/>
        <a:p>
          <a:r>
            <a:rPr lang="en-US" dirty="0">
              <a:latin typeface="Arial" panose="020B0604020202020204" pitchFamily="34" charset="0"/>
              <a:cs typeface="Arial" panose="020B0604020202020204" pitchFamily="34" charset="0"/>
            </a:rPr>
            <a:t>Reduce network congestion and improve overall performance. </a:t>
          </a:r>
          <a:endParaRPr lang="en-PK" dirty="0">
            <a:latin typeface="Arial" panose="020B0604020202020204" pitchFamily="34" charset="0"/>
            <a:cs typeface="Arial" panose="020B0604020202020204" pitchFamily="34" charset="0"/>
          </a:endParaRPr>
        </a:p>
      </dgm:t>
    </dgm:pt>
    <dgm:pt modelId="{66223DF7-2205-47F6-85DF-62321E2B52F5}" type="parTrans" cxnId="{B937739C-CC78-4B8B-9D2D-7F8043B35D21}">
      <dgm:prSet/>
      <dgm:spPr/>
      <dgm:t>
        <a:bodyPr/>
        <a:lstStyle/>
        <a:p>
          <a:endParaRPr lang="en-PK"/>
        </a:p>
      </dgm:t>
    </dgm:pt>
    <dgm:pt modelId="{2D2839DC-4790-4797-8E99-9515EB1E182D}" type="sibTrans" cxnId="{B937739C-CC78-4B8B-9D2D-7F8043B35D21}">
      <dgm:prSet/>
      <dgm:spPr/>
      <dgm:t>
        <a:bodyPr/>
        <a:lstStyle/>
        <a:p>
          <a:endParaRPr lang="en-PK"/>
        </a:p>
      </dgm:t>
    </dgm:pt>
    <dgm:pt modelId="{6EC63C10-9C90-4503-80F1-E92D48DBAC97}" type="pres">
      <dgm:prSet presAssocID="{5A81BADD-A03A-4849-AE5B-0F58ADA3B474}" presName="hierChild1" presStyleCnt="0">
        <dgm:presLayoutVars>
          <dgm:chPref val="1"/>
          <dgm:dir/>
          <dgm:animOne val="branch"/>
          <dgm:animLvl val="lvl"/>
          <dgm:resizeHandles/>
        </dgm:presLayoutVars>
      </dgm:prSet>
      <dgm:spPr/>
    </dgm:pt>
    <dgm:pt modelId="{47EECF85-A9A2-491C-875E-5DB70BDFAEA2}" type="pres">
      <dgm:prSet presAssocID="{DEE3E8AD-1D3F-4DB7-903A-7FA6C59EF57F}" presName="hierRoot1" presStyleCnt="0"/>
      <dgm:spPr/>
    </dgm:pt>
    <dgm:pt modelId="{37549E66-4DBF-4AC8-B95A-7A218AB2AA74}" type="pres">
      <dgm:prSet presAssocID="{DEE3E8AD-1D3F-4DB7-903A-7FA6C59EF57F}" presName="composite" presStyleCnt="0"/>
      <dgm:spPr/>
    </dgm:pt>
    <dgm:pt modelId="{3035F8CD-4094-428D-90AE-71DDDEB1B62D}" type="pres">
      <dgm:prSet presAssocID="{DEE3E8AD-1D3F-4DB7-903A-7FA6C59EF57F}" presName="background" presStyleLbl="node0" presStyleIdx="0" presStyleCnt="3"/>
      <dgm:spPr/>
    </dgm:pt>
    <dgm:pt modelId="{9DB1D036-E611-454A-9B6B-970A151C8EBB}" type="pres">
      <dgm:prSet presAssocID="{DEE3E8AD-1D3F-4DB7-903A-7FA6C59EF57F}" presName="text" presStyleLbl="fgAcc0" presStyleIdx="0" presStyleCnt="3">
        <dgm:presLayoutVars>
          <dgm:chPref val="3"/>
        </dgm:presLayoutVars>
      </dgm:prSet>
      <dgm:spPr/>
    </dgm:pt>
    <dgm:pt modelId="{86389D15-9E77-418F-A35C-25C59878E68D}" type="pres">
      <dgm:prSet presAssocID="{DEE3E8AD-1D3F-4DB7-903A-7FA6C59EF57F}" presName="hierChild2" presStyleCnt="0"/>
      <dgm:spPr/>
    </dgm:pt>
    <dgm:pt modelId="{3434F1B1-2C68-4B93-BBBF-5965190CDD02}" type="pres">
      <dgm:prSet presAssocID="{5DD666B9-FADD-499B-B587-7A1054BE472A}" presName="hierRoot1" presStyleCnt="0"/>
      <dgm:spPr/>
    </dgm:pt>
    <dgm:pt modelId="{BD361D2E-89FF-4A75-AD73-58B1C7D90641}" type="pres">
      <dgm:prSet presAssocID="{5DD666B9-FADD-499B-B587-7A1054BE472A}" presName="composite" presStyleCnt="0"/>
      <dgm:spPr/>
    </dgm:pt>
    <dgm:pt modelId="{209E302B-859D-4795-B2FE-01EA7CA54FC2}" type="pres">
      <dgm:prSet presAssocID="{5DD666B9-FADD-499B-B587-7A1054BE472A}" presName="background" presStyleLbl="node0" presStyleIdx="1" presStyleCnt="3"/>
      <dgm:spPr/>
    </dgm:pt>
    <dgm:pt modelId="{38CEA9DA-1DD5-485E-A4DB-B97274B4C6C0}" type="pres">
      <dgm:prSet presAssocID="{5DD666B9-FADD-499B-B587-7A1054BE472A}" presName="text" presStyleLbl="fgAcc0" presStyleIdx="1" presStyleCnt="3">
        <dgm:presLayoutVars>
          <dgm:chPref val="3"/>
        </dgm:presLayoutVars>
      </dgm:prSet>
      <dgm:spPr/>
    </dgm:pt>
    <dgm:pt modelId="{4FD52B97-F72D-43A8-8DEF-16891FA7D729}" type="pres">
      <dgm:prSet presAssocID="{5DD666B9-FADD-499B-B587-7A1054BE472A}" presName="hierChild2" presStyleCnt="0"/>
      <dgm:spPr/>
    </dgm:pt>
    <dgm:pt modelId="{8DF8D7CB-FBF3-47AD-84BD-0A2CAD656CFB}" type="pres">
      <dgm:prSet presAssocID="{CED259C3-CCE2-4D36-AC47-0A54344910DD}" presName="hierRoot1" presStyleCnt="0"/>
      <dgm:spPr/>
    </dgm:pt>
    <dgm:pt modelId="{5E712E1C-9788-45DD-89DE-31BCC8E80C3E}" type="pres">
      <dgm:prSet presAssocID="{CED259C3-CCE2-4D36-AC47-0A54344910DD}" presName="composite" presStyleCnt="0"/>
      <dgm:spPr/>
    </dgm:pt>
    <dgm:pt modelId="{81CDA805-A4F9-4C98-BE78-0CD4674E21B7}" type="pres">
      <dgm:prSet presAssocID="{CED259C3-CCE2-4D36-AC47-0A54344910DD}" presName="background" presStyleLbl="node0" presStyleIdx="2" presStyleCnt="3"/>
      <dgm:spPr/>
    </dgm:pt>
    <dgm:pt modelId="{A2C45649-A0B0-48EA-8652-073002D92B87}" type="pres">
      <dgm:prSet presAssocID="{CED259C3-CCE2-4D36-AC47-0A54344910DD}" presName="text" presStyleLbl="fgAcc0" presStyleIdx="2" presStyleCnt="3">
        <dgm:presLayoutVars>
          <dgm:chPref val="3"/>
        </dgm:presLayoutVars>
      </dgm:prSet>
      <dgm:spPr/>
    </dgm:pt>
    <dgm:pt modelId="{312A0244-4F99-45A0-9BFD-ED3B3A6E88A8}" type="pres">
      <dgm:prSet presAssocID="{CED259C3-CCE2-4D36-AC47-0A54344910DD}" presName="hierChild2" presStyleCnt="0"/>
      <dgm:spPr/>
    </dgm:pt>
  </dgm:ptLst>
  <dgm:cxnLst>
    <dgm:cxn modelId="{6B612342-BFE2-4A8D-9AD7-E943A9C1274F}" type="presOf" srcId="{5DD666B9-FADD-499B-B587-7A1054BE472A}" destId="{38CEA9DA-1DD5-485E-A4DB-B97274B4C6C0}" srcOrd="0" destOrd="0" presId="urn:microsoft.com/office/officeart/2005/8/layout/hierarchy1"/>
    <dgm:cxn modelId="{7BECDA6C-84ED-423F-A3EA-2182FE3BBE66}" type="presOf" srcId="{CED259C3-CCE2-4D36-AC47-0A54344910DD}" destId="{A2C45649-A0B0-48EA-8652-073002D92B87}" srcOrd="0" destOrd="0" presId="urn:microsoft.com/office/officeart/2005/8/layout/hierarchy1"/>
    <dgm:cxn modelId="{B937739C-CC78-4B8B-9D2D-7F8043B35D21}" srcId="{5A81BADD-A03A-4849-AE5B-0F58ADA3B474}" destId="{CED259C3-CCE2-4D36-AC47-0A54344910DD}" srcOrd="2" destOrd="0" parTransId="{66223DF7-2205-47F6-85DF-62321E2B52F5}" sibTransId="{2D2839DC-4790-4797-8E99-9515EB1E182D}"/>
    <dgm:cxn modelId="{EEDFBCB9-A0E9-4422-B1AB-F06888B706E3}" type="presOf" srcId="{5A81BADD-A03A-4849-AE5B-0F58ADA3B474}" destId="{6EC63C10-9C90-4503-80F1-E92D48DBAC97}" srcOrd="0" destOrd="0" presId="urn:microsoft.com/office/officeart/2005/8/layout/hierarchy1"/>
    <dgm:cxn modelId="{237EB8BA-3794-4FEA-8750-7E7A767B6111}" srcId="{5A81BADD-A03A-4849-AE5B-0F58ADA3B474}" destId="{5DD666B9-FADD-499B-B587-7A1054BE472A}" srcOrd="1" destOrd="0" parTransId="{3C558398-A1F9-45DD-8959-1A2EC4EB3788}" sibTransId="{4667576D-A7CE-4F67-8247-6C02A7F3B828}"/>
    <dgm:cxn modelId="{4FB676D1-90AF-4D84-8F7B-16E778415B94}" srcId="{5A81BADD-A03A-4849-AE5B-0F58ADA3B474}" destId="{DEE3E8AD-1D3F-4DB7-903A-7FA6C59EF57F}" srcOrd="0" destOrd="0" parTransId="{DEC1C042-BEE9-46DA-BC9F-C8C3E9B08417}" sibTransId="{89FECE01-E995-4454-94DB-DD743B64AB9A}"/>
    <dgm:cxn modelId="{50DA85EC-5C35-4322-B9B6-AA0A2D2514A9}" type="presOf" srcId="{DEE3E8AD-1D3F-4DB7-903A-7FA6C59EF57F}" destId="{9DB1D036-E611-454A-9B6B-970A151C8EBB}" srcOrd="0" destOrd="0" presId="urn:microsoft.com/office/officeart/2005/8/layout/hierarchy1"/>
    <dgm:cxn modelId="{B5B59A59-EE66-4D24-A0BE-A7DB5146BCF9}" type="presParOf" srcId="{6EC63C10-9C90-4503-80F1-E92D48DBAC97}" destId="{47EECF85-A9A2-491C-875E-5DB70BDFAEA2}" srcOrd="0" destOrd="0" presId="urn:microsoft.com/office/officeart/2005/8/layout/hierarchy1"/>
    <dgm:cxn modelId="{FDB5CAC8-ACB4-4B05-ABBA-8D9ABF2030C4}" type="presParOf" srcId="{47EECF85-A9A2-491C-875E-5DB70BDFAEA2}" destId="{37549E66-4DBF-4AC8-B95A-7A218AB2AA74}" srcOrd="0" destOrd="0" presId="urn:microsoft.com/office/officeart/2005/8/layout/hierarchy1"/>
    <dgm:cxn modelId="{FC9325D6-B1F1-46A0-9084-4988693F206C}" type="presParOf" srcId="{37549E66-4DBF-4AC8-B95A-7A218AB2AA74}" destId="{3035F8CD-4094-428D-90AE-71DDDEB1B62D}" srcOrd="0" destOrd="0" presId="urn:microsoft.com/office/officeart/2005/8/layout/hierarchy1"/>
    <dgm:cxn modelId="{3986340B-DCC6-4088-9703-FBB6DBEE76B7}" type="presParOf" srcId="{37549E66-4DBF-4AC8-B95A-7A218AB2AA74}" destId="{9DB1D036-E611-454A-9B6B-970A151C8EBB}" srcOrd="1" destOrd="0" presId="urn:microsoft.com/office/officeart/2005/8/layout/hierarchy1"/>
    <dgm:cxn modelId="{68029647-A7EC-4C93-AC77-D43B4ECCF55C}" type="presParOf" srcId="{47EECF85-A9A2-491C-875E-5DB70BDFAEA2}" destId="{86389D15-9E77-418F-A35C-25C59878E68D}" srcOrd="1" destOrd="0" presId="urn:microsoft.com/office/officeart/2005/8/layout/hierarchy1"/>
    <dgm:cxn modelId="{888A7AF7-738A-4D78-865A-26BE2AC72CF2}" type="presParOf" srcId="{6EC63C10-9C90-4503-80F1-E92D48DBAC97}" destId="{3434F1B1-2C68-4B93-BBBF-5965190CDD02}" srcOrd="1" destOrd="0" presId="urn:microsoft.com/office/officeart/2005/8/layout/hierarchy1"/>
    <dgm:cxn modelId="{953231A0-106D-4A98-AFC6-9C6BE01A6499}" type="presParOf" srcId="{3434F1B1-2C68-4B93-BBBF-5965190CDD02}" destId="{BD361D2E-89FF-4A75-AD73-58B1C7D90641}" srcOrd="0" destOrd="0" presId="urn:microsoft.com/office/officeart/2005/8/layout/hierarchy1"/>
    <dgm:cxn modelId="{EF1FD6B0-B686-414E-91D9-3727DC592BFF}" type="presParOf" srcId="{BD361D2E-89FF-4A75-AD73-58B1C7D90641}" destId="{209E302B-859D-4795-B2FE-01EA7CA54FC2}" srcOrd="0" destOrd="0" presId="urn:microsoft.com/office/officeart/2005/8/layout/hierarchy1"/>
    <dgm:cxn modelId="{05B514D1-1D3C-4A4C-9A5C-79957068B05D}" type="presParOf" srcId="{BD361D2E-89FF-4A75-AD73-58B1C7D90641}" destId="{38CEA9DA-1DD5-485E-A4DB-B97274B4C6C0}" srcOrd="1" destOrd="0" presId="urn:microsoft.com/office/officeart/2005/8/layout/hierarchy1"/>
    <dgm:cxn modelId="{91096B3F-FD31-4952-94E0-F07D296E0657}" type="presParOf" srcId="{3434F1B1-2C68-4B93-BBBF-5965190CDD02}" destId="{4FD52B97-F72D-43A8-8DEF-16891FA7D729}" srcOrd="1" destOrd="0" presId="urn:microsoft.com/office/officeart/2005/8/layout/hierarchy1"/>
    <dgm:cxn modelId="{48744A91-69E8-4960-93AC-D8EDFFE96864}" type="presParOf" srcId="{6EC63C10-9C90-4503-80F1-E92D48DBAC97}" destId="{8DF8D7CB-FBF3-47AD-84BD-0A2CAD656CFB}" srcOrd="2" destOrd="0" presId="urn:microsoft.com/office/officeart/2005/8/layout/hierarchy1"/>
    <dgm:cxn modelId="{4C11A9C0-2AFA-4DC5-91AA-3583FE943B31}" type="presParOf" srcId="{8DF8D7CB-FBF3-47AD-84BD-0A2CAD656CFB}" destId="{5E712E1C-9788-45DD-89DE-31BCC8E80C3E}" srcOrd="0" destOrd="0" presId="urn:microsoft.com/office/officeart/2005/8/layout/hierarchy1"/>
    <dgm:cxn modelId="{C889D931-662B-470D-B52D-57BEC24830B3}" type="presParOf" srcId="{5E712E1C-9788-45DD-89DE-31BCC8E80C3E}" destId="{81CDA805-A4F9-4C98-BE78-0CD4674E21B7}" srcOrd="0" destOrd="0" presId="urn:microsoft.com/office/officeart/2005/8/layout/hierarchy1"/>
    <dgm:cxn modelId="{B130A657-8972-4369-9EB5-CF04E7836F59}" type="presParOf" srcId="{5E712E1C-9788-45DD-89DE-31BCC8E80C3E}" destId="{A2C45649-A0B0-48EA-8652-073002D92B87}" srcOrd="1" destOrd="0" presId="urn:microsoft.com/office/officeart/2005/8/layout/hierarchy1"/>
    <dgm:cxn modelId="{5B3B406B-F0C2-47C5-9E86-5FD14765A5E0}" type="presParOf" srcId="{8DF8D7CB-FBF3-47AD-84BD-0A2CAD656CFB}" destId="{312A0244-4F99-45A0-9BFD-ED3B3A6E88A8}"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0A946CED-613F-479D-A7C5-94B1F2C6C3B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PK"/>
        </a:p>
      </dgm:t>
    </dgm:pt>
    <dgm:pt modelId="{BE83551E-B146-4885-B93D-6B48D1D0D85C}">
      <dgm:prSet/>
      <dgm:spPr/>
      <dgm:t>
        <a:bodyPr/>
        <a:lstStyle/>
        <a:p>
          <a:r>
            <a:rPr lang="en-US" dirty="0">
              <a:latin typeface="Arial" panose="020B0604020202020204" pitchFamily="34" charset="0"/>
              <a:cs typeface="Arial" panose="020B0604020202020204" pitchFamily="34" charset="0"/>
            </a:rPr>
            <a:t>The following observations can be made about the problem:</a:t>
          </a:r>
          <a:endParaRPr lang="en-PK" dirty="0">
            <a:latin typeface="Arial" panose="020B0604020202020204" pitchFamily="34" charset="0"/>
            <a:cs typeface="Arial" panose="020B0604020202020204" pitchFamily="34" charset="0"/>
          </a:endParaRPr>
        </a:p>
      </dgm:t>
    </dgm:pt>
    <dgm:pt modelId="{8CAC8E6D-4F80-4988-856D-9DF67F9BA2FF}" type="parTrans" cxnId="{5B3D862D-08DA-4302-AA5C-FA048F4AB11E}">
      <dgm:prSet/>
      <dgm:spPr/>
      <dgm:t>
        <a:bodyPr/>
        <a:lstStyle/>
        <a:p>
          <a:endParaRPr lang="en-PK"/>
        </a:p>
      </dgm:t>
    </dgm:pt>
    <dgm:pt modelId="{6487D328-D832-4E3A-BEB9-8271BA0F0257}" type="sibTrans" cxnId="{5B3D862D-08DA-4302-AA5C-FA048F4AB11E}">
      <dgm:prSet/>
      <dgm:spPr/>
      <dgm:t>
        <a:bodyPr/>
        <a:lstStyle/>
        <a:p>
          <a:endParaRPr lang="en-PK"/>
        </a:p>
      </dgm:t>
    </dgm:pt>
    <dgm:pt modelId="{93E8ECDB-2ED8-4018-85AD-C9BDCC075597}">
      <dgm:prSet/>
      <dgm:spPr/>
      <dgm:t>
        <a:bodyPr/>
        <a:lstStyle/>
        <a:p>
          <a:r>
            <a:rPr lang="en-US" dirty="0">
              <a:latin typeface="Arial" panose="020B0604020202020204" pitchFamily="34" charset="0"/>
              <a:cs typeface="Arial" panose="020B0604020202020204" pitchFamily="34" charset="0"/>
            </a:rPr>
            <a:t>Fetching the two matrices into the cache corresponds to fetching 2K words, which takes approximately 200 µs.</a:t>
          </a:r>
          <a:endParaRPr lang="en-PK" dirty="0">
            <a:latin typeface="Arial" panose="020B0604020202020204" pitchFamily="34" charset="0"/>
            <a:cs typeface="Arial" panose="020B0604020202020204" pitchFamily="34" charset="0"/>
          </a:endParaRPr>
        </a:p>
      </dgm:t>
    </dgm:pt>
    <dgm:pt modelId="{3BC5D2D1-6788-4974-8FB7-7BE09B27F3BA}" type="parTrans" cxnId="{AB1A2770-9EA2-4978-8091-AFAEC4E08C5D}">
      <dgm:prSet/>
      <dgm:spPr/>
      <dgm:t>
        <a:bodyPr/>
        <a:lstStyle/>
        <a:p>
          <a:endParaRPr lang="en-PK"/>
        </a:p>
      </dgm:t>
    </dgm:pt>
    <dgm:pt modelId="{45B2B10C-6427-4B5A-A2A1-CB07182BC8BE}" type="sibTrans" cxnId="{AB1A2770-9EA2-4978-8091-AFAEC4E08C5D}">
      <dgm:prSet/>
      <dgm:spPr/>
      <dgm:t>
        <a:bodyPr/>
        <a:lstStyle/>
        <a:p>
          <a:endParaRPr lang="en-PK"/>
        </a:p>
      </dgm:t>
    </dgm:pt>
    <dgm:pt modelId="{F4F25640-AC05-4E7F-9A17-3F024B234AA1}">
      <dgm:prSet/>
      <dgm:spPr/>
      <dgm:t>
        <a:bodyPr/>
        <a:lstStyle/>
        <a:p>
          <a:r>
            <a:rPr lang="en-US" dirty="0">
              <a:latin typeface="Arial" panose="020B0604020202020204" pitchFamily="34" charset="0"/>
              <a:cs typeface="Arial" panose="020B0604020202020204" pitchFamily="34" charset="0"/>
            </a:rPr>
            <a:t>Multiplying two n × n matrices takes 2n3 operations. For our problem, this corresponds to 64K operations, which can be performed in 16K cycles (or 16 µs) at four instructions per cycle.</a:t>
          </a:r>
          <a:endParaRPr lang="en-PK" dirty="0">
            <a:latin typeface="Arial" panose="020B0604020202020204" pitchFamily="34" charset="0"/>
            <a:cs typeface="Arial" panose="020B0604020202020204" pitchFamily="34" charset="0"/>
          </a:endParaRPr>
        </a:p>
      </dgm:t>
    </dgm:pt>
    <dgm:pt modelId="{615D168E-E6C1-4FF6-9951-ED7CAFB07CAD}" type="parTrans" cxnId="{DB1B9A54-1F82-4FFC-8073-06149A6CF9E0}">
      <dgm:prSet/>
      <dgm:spPr/>
      <dgm:t>
        <a:bodyPr/>
        <a:lstStyle/>
        <a:p>
          <a:endParaRPr lang="en-PK"/>
        </a:p>
      </dgm:t>
    </dgm:pt>
    <dgm:pt modelId="{32FAEF3F-9286-454B-BAAD-5D2485A512E8}" type="sibTrans" cxnId="{DB1B9A54-1F82-4FFC-8073-06149A6CF9E0}">
      <dgm:prSet/>
      <dgm:spPr/>
      <dgm:t>
        <a:bodyPr/>
        <a:lstStyle/>
        <a:p>
          <a:endParaRPr lang="en-PK"/>
        </a:p>
      </dgm:t>
    </dgm:pt>
    <dgm:pt modelId="{DF2AFA19-094A-485A-A5C1-089F9DEA299B}">
      <dgm:prSet/>
      <dgm:spPr/>
      <dgm:t>
        <a:bodyPr/>
        <a:lstStyle/>
        <a:p>
          <a:r>
            <a:rPr lang="en-US" dirty="0">
              <a:latin typeface="Arial" panose="020B0604020202020204" pitchFamily="34" charset="0"/>
              <a:cs typeface="Arial" panose="020B0604020202020204" pitchFamily="34" charset="0"/>
            </a:rPr>
            <a:t>The total time for the computation is therefore approximately the sum of time for load/store operations and the time for the computation itself, i.e., 200 + 16 µs.</a:t>
          </a:r>
          <a:endParaRPr lang="en-PK" dirty="0">
            <a:latin typeface="Arial" panose="020B0604020202020204" pitchFamily="34" charset="0"/>
            <a:cs typeface="Arial" panose="020B0604020202020204" pitchFamily="34" charset="0"/>
          </a:endParaRPr>
        </a:p>
      </dgm:t>
    </dgm:pt>
    <dgm:pt modelId="{11B7F8C6-8EEE-4B35-93B6-4C49213FBC2A}" type="parTrans" cxnId="{54D4DB9A-CDD6-46F6-8856-E6326824E33E}">
      <dgm:prSet/>
      <dgm:spPr/>
      <dgm:t>
        <a:bodyPr/>
        <a:lstStyle/>
        <a:p>
          <a:endParaRPr lang="en-PK"/>
        </a:p>
      </dgm:t>
    </dgm:pt>
    <dgm:pt modelId="{7D4747EA-155B-4DA8-9266-1EED55B21179}" type="sibTrans" cxnId="{54D4DB9A-CDD6-46F6-8856-E6326824E33E}">
      <dgm:prSet/>
      <dgm:spPr/>
      <dgm:t>
        <a:bodyPr/>
        <a:lstStyle/>
        <a:p>
          <a:endParaRPr lang="en-PK"/>
        </a:p>
      </dgm:t>
    </dgm:pt>
    <dgm:pt modelId="{C1D3CC17-A565-450E-92EE-FBAFE74524E5}">
      <dgm:prSet/>
      <dgm:spPr/>
      <dgm:t>
        <a:bodyPr/>
        <a:lstStyle/>
        <a:p>
          <a:r>
            <a:rPr lang="en-US" dirty="0">
              <a:latin typeface="Arial" panose="020B0604020202020204" pitchFamily="34" charset="0"/>
              <a:cs typeface="Arial" panose="020B0604020202020204" pitchFamily="34" charset="0"/>
            </a:rPr>
            <a:t>This corresponds to a peak computation rate of 64K/216 or 303 MFLOPS</a:t>
          </a:r>
          <a:r>
            <a:rPr lang="en-US" dirty="0"/>
            <a:t>.</a:t>
          </a:r>
          <a:endParaRPr lang="en-PK" dirty="0"/>
        </a:p>
      </dgm:t>
    </dgm:pt>
    <dgm:pt modelId="{D02229B9-C1B8-41F2-8898-942A991A94B8}" type="parTrans" cxnId="{1384D81E-B982-43F5-8872-5A78F45A514E}">
      <dgm:prSet/>
      <dgm:spPr/>
      <dgm:t>
        <a:bodyPr/>
        <a:lstStyle/>
        <a:p>
          <a:endParaRPr lang="en-PK"/>
        </a:p>
      </dgm:t>
    </dgm:pt>
    <dgm:pt modelId="{E2438ABF-270F-43F4-AA71-C3F1054C5E03}" type="sibTrans" cxnId="{1384D81E-B982-43F5-8872-5A78F45A514E}">
      <dgm:prSet/>
      <dgm:spPr/>
      <dgm:t>
        <a:bodyPr/>
        <a:lstStyle/>
        <a:p>
          <a:endParaRPr lang="en-PK"/>
        </a:p>
      </dgm:t>
    </dgm:pt>
    <dgm:pt modelId="{51D7F794-B75F-4807-B7C2-B089534CA020}" type="pres">
      <dgm:prSet presAssocID="{0A946CED-613F-479D-A7C5-94B1F2C6C3B2}" presName="linear" presStyleCnt="0">
        <dgm:presLayoutVars>
          <dgm:animLvl val="lvl"/>
          <dgm:resizeHandles val="exact"/>
        </dgm:presLayoutVars>
      </dgm:prSet>
      <dgm:spPr/>
    </dgm:pt>
    <dgm:pt modelId="{83A5A079-0DC7-4B01-A09B-2EBE651FF9B5}" type="pres">
      <dgm:prSet presAssocID="{BE83551E-B146-4885-B93D-6B48D1D0D85C}" presName="parentText" presStyleLbl="node1" presStyleIdx="0" presStyleCnt="1">
        <dgm:presLayoutVars>
          <dgm:chMax val="0"/>
          <dgm:bulletEnabled val="1"/>
        </dgm:presLayoutVars>
      </dgm:prSet>
      <dgm:spPr/>
    </dgm:pt>
    <dgm:pt modelId="{43024692-7FA6-46A9-A919-5987B5D7C3D0}" type="pres">
      <dgm:prSet presAssocID="{BE83551E-B146-4885-B93D-6B48D1D0D85C}" presName="childText" presStyleLbl="revTx" presStyleIdx="0" presStyleCnt="1">
        <dgm:presLayoutVars>
          <dgm:bulletEnabled val="1"/>
        </dgm:presLayoutVars>
      </dgm:prSet>
      <dgm:spPr/>
    </dgm:pt>
  </dgm:ptLst>
  <dgm:cxnLst>
    <dgm:cxn modelId="{1384D81E-B982-43F5-8872-5A78F45A514E}" srcId="{BE83551E-B146-4885-B93D-6B48D1D0D85C}" destId="{C1D3CC17-A565-450E-92EE-FBAFE74524E5}" srcOrd="3" destOrd="0" parTransId="{D02229B9-C1B8-41F2-8898-942A991A94B8}" sibTransId="{E2438ABF-270F-43F4-AA71-C3F1054C5E03}"/>
    <dgm:cxn modelId="{5B3D862D-08DA-4302-AA5C-FA048F4AB11E}" srcId="{0A946CED-613F-479D-A7C5-94B1F2C6C3B2}" destId="{BE83551E-B146-4885-B93D-6B48D1D0D85C}" srcOrd="0" destOrd="0" parTransId="{8CAC8E6D-4F80-4988-856D-9DF67F9BA2FF}" sibTransId="{6487D328-D832-4E3A-BEB9-8271BA0F0257}"/>
    <dgm:cxn modelId="{03E8622E-E977-47A4-9D45-367614305D4B}" type="presOf" srcId="{C1D3CC17-A565-450E-92EE-FBAFE74524E5}" destId="{43024692-7FA6-46A9-A919-5987B5D7C3D0}" srcOrd="0" destOrd="3" presId="urn:microsoft.com/office/officeart/2005/8/layout/vList2"/>
    <dgm:cxn modelId="{2DA0716E-04F3-4E06-A054-094836BB4706}" type="presOf" srcId="{DF2AFA19-094A-485A-A5C1-089F9DEA299B}" destId="{43024692-7FA6-46A9-A919-5987B5D7C3D0}" srcOrd="0" destOrd="2" presId="urn:microsoft.com/office/officeart/2005/8/layout/vList2"/>
    <dgm:cxn modelId="{AB1A2770-9EA2-4978-8091-AFAEC4E08C5D}" srcId="{BE83551E-B146-4885-B93D-6B48D1D0D85C}" destId="{93E8ECDB-2ED8-4018-85AD-C9BDCC075597}" srcOrd="0" destOrd="0" parTransId="{3BC5D2D1-6788-4974-8FB7-7BE09B27F3BA}" sibTransId="{45B2B10C-6427-4B5A-A2A1-CB07182BC8BE}"/>
    <dgm:cxn modelId="{DB1B9A54-1F82-4FFC-8073-06149A6CF9E0}" srcId="{BE83551E-B146-4885-B93D-6B48D1D0D85C}" destId="{F4F25640-AC05-4E7F-9A17-3F024B234AA1}" srcOrd="1" destOrd="0" parTransId="{615D168E-E6C1-4FF6-9951-ED7CAFB07CAD}" sibTransId="{32FAEF3F-9286-454B-BAAD-5D2485A512E8}"/>
    <dgm:cxn modelId="{1EFEEC85-AE19-437D-AE17-CA1882B04B6E}" type="presOf" srcId="{93E8ECDB-2ED8-4018-85AD-C9BDCC075597}" destId="{43024692-7FA6-46A9-A919-5987B5D7C3D0}" srcOrd="0" destOrd="0" presId="urn:microsoft.com/office/officeart/2005/8/layout/vList2"/>
    <dgm:cxn modelId="{54D4DB9A-CDD6-46F6-8856-E6326824E33E}" srcId="{BE83551E-B146-4885-B93D-6B48D1D0D85C}" destId="{DF2AFA19-094A-485A-A5C1-089F9DEA299B}" srcOrd="2" destOrd="0" parTransId="{11B7F8C6-8EEE-4B35-93B6-4C49213FBC2A}" sibTransId="{7D4747EA-155B-4DA8-9266-1EED55B21179}"/>
    <dgm:cxn modelId="{1C109ACE-064E-4D6C-AFC3-5CA292EC231C}" type="presOf" srcId="{F4F25640-AC05-4E7F-9A17-3F024B234AA1}" destId="{43024692-7FA6-46A9-A919-5987B5D7C3D0}" srcOrd="0" destOrd="1" presId="urn:microsoft.com/office/officeart/2005/8/layout/vList2"/>
    <dgm:cxn modelId="{1ECE01DE-D768-4636-9FF3-B876F1E3D2F8}" type="presOf" srcId="{BE83551E-B146-4885-B93D-6B48D1D0D85C}" destId="{83A5A079-0DC7-4B01-A09B-2EBE651FF9B5}" srcOrd="0" destOrd="0" presId="urn:microsoft.com/office/officeart/2005/8/layout/vList2"/>
    <dgm:cxn modelId="{2B9E9CDF-2419-43DF-A2E7-3A4097CF432A}" type="presOf" srcId="{0A946CED-613F-479D-A7C5-94B1F2C6C3B2}" destId="{51D7F794-B75F-4807-B7C2-B089534CA020}" srcOrd="0" destOrd="0" presId="urn:microsoft.com/office/officeart/2005/8/layout/vList2"/>
    <dgm:cxn modelId="{6E5149D9-B95F-474E-B0F9-D81FF65EE3A5}" type="presParOf" srcId="{51D7F794-B75F-4807-B7C2-B089534CA020}" destId="{83A5A079-0DC7-4B01-A09B-2EBE651FF9B5}" srcOrd="0" destOrd="0" presId="urn:microsoft.com/office/officeart/2005/8/layout/vList2"/>
    <dgm:cxn modelId="{21FF2A9A-6474-4758-84CF-4DE082609363}" type="presParOf" srcId="{51D7F794-B75F-4807-B7C2-B089534CA020}" destId="{43024692-7FA6-46A9-A919-5987B5D7C3D0}" srcOrd="1"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dirty="0">
              <a:latin typeface="Arial" panose="020B0604020202020204" pitchFamily="34" charset="0"/>
              <a:cs typeface="Arial" panose="020B0604020202020204" pitchFamily="34" charset="0"/>
            </a:rPr>
            <a:t>Effect of Memory Bandwidth.</a:t>
          </a:r>
          <a:endParaRPr lang="en-PK" dirty="0">
            <a:latin typeface="Arial" panose="020B0604020202020204" pitchFamily="34" charset="0"/>
            <a:cs typeface="Arial" panose="020B0604020202020204" pitchFamily="34" charset="0"/>
          </a:endParaRPr>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Effect of Memory Bandwidth Example.</a:t>
          </a:r>
          <a:endParaRPr lang="en-PK" altLang="en-PK" dirty="0">
            <a:latin typeface="Arial" panose="020B0604020202020204" pitchFamily="34" charset="0"/>
            <a:ea typeface="ＭＳ Ｐゴシック" panose="020B0600070205080204" pitchFamily="34" charset="-128"/>
            <a:cs typeface="Arial" panose="020B0604020202020204" pitchFamily="34" charset="0"/>
          </a:endParaRPr>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2"/>
      <dgm:spPr/>
    </dgm:pt>
    <dgm:pt modelId="{D881F5EF-E907-4B70-B27C-A1BEE31A375E}" type="pres">
      <dgm:prSet presAssocID="{AD97C7EA-A52E-4807-91FC-7F73ACA10AE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2">
        <dgm:presLayoutVars>
          <dgm:chMax val="0"/>
          <dgm:chPref val="0"/>
        </dgm:presLayoutVars>
      </dgm:prSet>
      <dgm:spPr/>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2"/>
      <dgm:spPr/>
    </dgm:pt>
    <dgm:pt modelId="{506C0FB1-07FE-4287-8822-A312BB62CC32}" type="pres">
      <dgm:prSet presAssocID="{13132748-EF84-4804-85DC-B5D259AD20F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2">
        <dgm:presLayoutVars>
          <dgm:chMax val="0"/>
          <dgm:chPref val="0"/>
        </dgm:presLayoutVars>
      </dgm:prSet>
      <dgm:spPr/>
    </dgm:pt>
  </dgm:ptLst>
  <dgm:cxnLst>
    <dgm:cxn modelId="{1D5F7927-FA0D-46D1-8C91-FF5F26216785}" srcId="{33284D22-5FBB-4E6B-B09D-FBF016189D2A}" destId="{AD97C7EA-A52E-4807-91FC-7F73ACA10AEF}" srcOrd="0" destOrd="0" parTransId="{C71A38FA-4936-49B3-A787-599066C56025}" sibTransId="{21989FB5-9492-48A8-96CF-3AC5D9A84B6B}"/>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CF82DB58-2589-448B-9037-11AE1F1DD836}"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PK"/>
        </a:p>
      </dgm:t>
    </dgm:pt>
    <dgm:pt modelId="{E78CCF57-C08D-45E6-A160-99055E3FFFAB}">
      <dgm:prSet/>
      <dgm:spPr/>
      <dgm:t>
        <a:bodyPr/>
        <a:lstStyle/>
        <a:p>
          <a:r>
            <a:rPr lang="en-US" dirty="0"/>
            <a:t>Memory bandwidth is determined by the bandwidth of the memory bus as well as the memory units.</a:t>
          </a:r>
          <a:endParaRPr lang="en-PK" dirty="0"/>
        </a:p>
      </dgm:t>
    </dgm:pt>
    <dgm:pt modelId="{2554562B-1760-436F-89DF-5A13B99DD063}" type="parTrans" cxnId="{9B8A5660-AEF6-460F-964A-6E55CC612265}">
      <dgm:prSet/>
      <dgm:spPr/>
      <dgm:t>
        <a:bodyPr/>
        <a:lstStyle/>
        <a:p>
          <a:endParaRPr lang="en-PK"/>
        </a:p>
      </dgm:t>
    </dgm:pt>
    <dgm:pt modelId="{2BF7F6F9-FF64-4D4D-9C40-12D5E2568F13}" type="sibTrans" cxnId="{9B8A5660-AEF6-460F-964A-6E55CC612265}">
      <dgm:prSet/>
      <dgm:spPr/>
      <dgm:t>
        <a:bodyPr/>
        <a:lstStyle/>
        <a:p>
          <a:endParaRPr lang="en-PK"/>
        </a:p>
      </dgm:t>
    </dgm:pt>
    <dgm:pt modelId="{FC70CEB7-887E-49AC-8790-A6285CA94FE7}">
      <dgm:prSet/>
      <dgm:spPr/>
      <dgm:t>
        <a:bodyPr/>
        <a:lstStyle/>
        <a:p>
          <a:r>
            <a:rPr lang="en-US" dirty="0"/>
            <a:t>Memory bandwidth can be improved by increasing the size of memory blocks.</a:t>
          </a:r>
          <a:endParaRPr lang="en-PK" dirty="0"/>
        </a:p>
      </dgm:t>
    </dgm:pt>
    <dgm:pt modelId="{36A8509D-E1AD-45D8-AEBA-E8B1CC1FF114}" type="parTrans" cxnId="{BF6383EF-20D1-4044-8B3F-689DA5043933}">
      <dgm:prSet/>
      <dgm:spPr/>
      <dgm:t>
        <a:bodyPr/>
        <a:lstStyle/>
        <a:p>
          <a:endParaRPr lang="en-PK"/>
        </a:p>
      </dgm:t>
    </dgm:pt>
    <dgm:pt modelId="{E2B4DED3-79E0-4D9B-A70C-65F53E128F67}" type="sibTrans" cxnId="{BF6383EF-20D1-4044-8B3F-689DA5043933}">
      <dgm:prSet/>
      <dgm:spPr/>
      <dgm:t>
        <a:bodyPr/>
        <a:lstStyle/>
        <a:p>
          <a:endParaRPr lang="en-PK"/>
        </a:p>
      </dgm:t>
    </dgm:pt>
    <dgm:pt modelId="{3ACA2E1D-FAA9-474D-8718-A94239C52321}">
      <dgm:prSet/>
      <dgm:spPr/>
      <dgm:t>
        <a:bodyPr/>
        <a:lstStyle/>
        <a:p>
          <a:r>
            <a:rPr lang="en-US" dirty="0"/>
            <a:t>The performance of the CPU or GPU can also impact memory bandwidth.</a:t>
          </a:r>
          <a:endParaRPr lang="en-PK" dirty="0"/>
        </a:p>
      </dgm:t>
    </dgm:pt>
    <dgm:pt modelId="{7C859147-8FA5-4C9B-AA78-18494F0918D4}" type="parTrans" cxnId="{064D0302-5060-42F7-BBA0-136D3B3D7A70}">
      <dgm:prSet/>
      <dgm:spPr/>
      <dgm:t>
        <a:bodyPr/>
        <a:lstStyle/>
        <a:p>
          <a:endParaRPr lang="en-PK"/>
        </a:p>
      </dgm:t>
    </dgm:pt>
    <dgm:pt modelId="{EDCB838F-0652-472F-AD3C-1525AF0EDC1F}" type="sibTrans" cxnId="{064D0302-5060-42F7-BBA0-136D3B3D7A70}">
      <dgm:prSet/>
      <dgm:spPr/>
      <dgm:t>
        <a:bodyPr/>
        <a:lstStyle/>
        <a:p>
          <a:endParaRPr lang="en-PK"/>
        </a:p>
      </dgm:t>
    </dgm:pt>
    <dgm:pt modelId="{1BA0BD65-1A26-43F1-8E5A-DB42A37F1DFD}" type="pres">
      <dgm:prSet presAssocID="{CF82DB58-2589-448B-9037-11AE1F1DD836}" presName="outerComposite" presStyleCnt="0">
        <dgm:presLayoutVars>
          <dgm:chMax val="5"/>
          <dgm:dir/>
          <dgm:resizeHandles val="exact"/>
        </dgm:presLayoutVars>
      </dgm:prSet>
      <dgm:spPr/>
    </dgm:pt>
    <dgm:pt modelId="{4348EA74-0BAD-482D-8523-6475C53964B2}" type="pres">
      <dgm:prSet presAssocID="{CF82DB58-2589-448B-9037-11AE1F1DD836}" presName="dummyMaxCanvas" presStyleCnt="0">
        <dgm:presLayoutVars/>
      </dgm:prSet>
      <dgm:spPr/>
    </dgm:pt>
    <dgm:pt modelId="{684C14A6-9DF4-4B70-8160-028B018F68FC}" type="pres">
      <dgm:prSet presAssocID="{CF82DB58-2589-448B-9037-11AE1F1DD836}" presName="ThreeNodes_1" presStyleLbl="node1" presStyleIdx="0" presStyleCnt="3">
        <dgm:presLayoutVars>
          <dgm:bulletEnabled val="1"/>
        </dgm:presLayoutVars>
      </dgm:prSet>
      <dgm:spPr/>
    </dgm:pt>
    <dgm:pt modelId="{F3E99993-4F74-4C65-9C56-F4F397A7C0B1}" type="pres">
      <dgm:prSet presAssocID="{CF82DB58-2589-448B-9037-11AE1F1DD836}" presName="ThreeNodes_2" presStyleLbl="node1" presStyleIdx="1" presStyleCnt="3">
        <dgm:presLayoutVars>
          <dgm:bulletEnabled val="1"/>
        </dgm:presLayoutVars>
      </dgm:prSet>
      <dgm:spPr/>
    </dgm:pt>
    <dgm:pt modelId="{30350560-818A-453B-881D-9AFEF1A0DBFF}" type="pres">
      <dgm:prSet presAssocID="{CF82DB58-2589-448B-9037-11AE1F1DD836}" presName="ThreeNodes_3" presStyleLbl="node1" presStyleIdx="2" presStyleCnt="3">
        <dgm:presLayoutVars>
          <dgm:bulletEnabled val="1"/>
        </dgm:presLayoutVars>
      </dgm:prSet>
      <dgm:spPr/>
    </dgm:pt>
    <dgm:pt modelId="{D0A01581-301C-4E1B-A924-6E73DBE5AC6C}" type="pres">
      <dgm:prSet presAssocID="{CF82DB58-2589-448B-9037-11AE1F1DD836}" presName="ThreeConn_1-2" presStyleLbl="fgAccFollowNode1" presStyleIdx="0" presStyleCnt="2">
        <dgm:presLayoutVars>
          <dgm:bulletEnabled val="1"/>
        </dgm:presLayoutVars>
      </dgm:prSet>
      <dgm:spPr/>
    </dgm:pt>
    <dgm:pt modelId="{F9AAD86B-6795-422A-8814-3DA59CE1F380}" type="pres">
      <dgm:prSet presAssocID="{CF82DB58-2589-448B-9037-11AE1F1DD836}" presName="ThreeConn_2-3" presStyleLbl="fgAccFollowNode1" presStyleIdx="1" presStyleCnt="2">
        <dgm:presLayoutVars>
          <dgm:bulletEnabled val="1"/>
        </dgm:presLayoutVars>
      </dgm:prSet>
      <dgm:spPr/>
    </dgm:pt>
    <dgm:pt modelId="{B3E3885F-03B4-44CB-BED7-FE91692CE020}" type="pres">
      <dgm:prSet presAssocID="{CF82DB58-2589-448B-9037-11AE1F1DD836}" presName="ThreeNodes_1_text" presStyleLbl="node1" presStyleIdx="2" presStyleCnt="3">
        <dgm:presLayoutVars>
          <dgm:bulletEnabled val="1"/>
        </dgm:presLayoutVars>
      </dgm:prSet>
      <dgm:spPr/>
    </dgm:pt>
    <dgm:pt modelId="{B6554518-725D-4EA3-9A64-32933AB35AB8}" type="pres">
      <dgm:prSet presAssocID="{CF82DB58-2589-448B-9037-11AE1F1DD836}" presName="ThreeNodes_2_text" presStyleLbl="node1" presStyleIdx="2" presStyleCnt="3">
        <dgm:presLayoutVars>
          <dgm:bulletEnabled val="1"/>
        </dgm:presLayoutVars>
      </dgm:prSet>
      <dgm:spPr/>
    </dgm:pt>
    <dgm:pt modelId="{C822C9A3-B2F1-4269-A5CD-5A82E97BC5A1}" type="pres">
      <dgm:prSet presAssocID="{CF82DB58-2589-448B-9037-11AE1F1DD836}" presName="ThreeNodes_3_text" presStyleLbl="node1" presStyleIdx="2" presStyleCnt="3">
        <dgm:presLayoutVars>
          <dgm:bulletEnabled val="1"/>
        </dgm:presLayoutVars>
      </dgm:prSet>
      <dgm:spPr/>
    </dgm:pt>
  </dgm:ptLst>
  <dgm:cxnLst>
    <dgm:cxn modelId="{064D0302-5060-42F7-BBA0-136D3B3D7A70}" srcId="{CF82DB58-2589-448B-9037-11AE1F1DD836}" destId="{3ACA2E1D-FAA9-474D-8718-A94239C52321}" srcOrd="2" destOrd="0" parTransId="{7C859147-8FA5-4C9B-AA78-18494F0918D4}" sibTransId="{EDCB838F-0652-472F-AD3C-1525AF0EDC1F}"/>
    <dgm:cxn modelId="{13A6381E-548C-40A5-BD97-8B7F602165A7}" type="presOf" srcId="{3ACA2E1D-FAA9-474D-8718-A94239C52321}" destId="{30350560-818A-453B-881D-9AFEF1A0DBFF}" srcOrd="0" destOrd="0" presId="urn:microsoft.com/office/officeart/2005/8/layout/vProcess5"/>
    <dgm:cxn modelId="{76A91A27-B313-4D93-8C8E-F7FBA03406F0}" type="presOf" srcId="{FC70CEB7-887E-49AC-8790-A6285CA94FE7}" destId="{B6554518-725D-4EA3-9A64-32933AB35AB8}" srcOrd="1" destOrd="0" presId="urn:microsoft.com/office/officeart/2005/8/layout/vProcess5"/>
    <dgm:cxn modelId="{9B8A5660-AEF6-460F-964A-6E55CC612265}" srcId="{CF82DB58-2589-448B-9037-11AE1F1DD836}" destId="{E78CCF57-C08D-45E6-A160-99055E3FFFAB}" srcOrd="0" destOrd="0" parTransId="{2554562B-1760-436F-89DF-5A13B99DD063}" sibTransId="{2BF7F6F9-FF64-4D4D-9C40-12D5E2568F13}"/>
    <dgm:cxn modelId="{7000E865-8424-4814-8CC8-A4F764D8007B}" type="presOf" srcId="{E78CCF57-C08D-45E6-A160-99055E3FFFAB}" destId="{B3E3885F-03B4-44CB-BED7-FE91692CE020}" srcOrd="1" destOrd="0" presId="urn:microsoft.com/office/officeart/2005/8/layout/vProcess5"/>
    <dgm:cxn modelId="{8043FE72-F2E7-492B-A93D-520A60D55176}" type="presOf" srcId="{FC70CEB7-887E-49AC-8790-A6285CA94FE7}" destId="{F3E99993-4F74-4C65-9C56-F4F397A7C0B1}" srcOrd="0" destOrd="0" presId="urn:microsoft.com/office/officeart/2005/8/layout/vProcess5"/>
    <dgm:cxn modelId="{AE512690-9358-4CCB-91D8-CCCA4F48AABE}" type="presOf" srcId="{E2B4DED3-79E0-4D9B-A70C-65F53E128F67}" destId="{F9AAD86B-6795-422A-8814-3DA59CE1F380}" srcOrd="0" destOrd="0" presId="urn:microsoft.com/office/officeart/2005/8/layout/vProcess5"/>
    <dgm:cxn modelId="{B504ADA8-D596-476E-946B-C4303003B3CE}" type="presOf" srcId="{CF82DB58-2589-448B-9037-11AE1F1DD836}" destId="{1BA0BD65-1A26-43F1-8E5A-DB42A37F1DFD}" srcOrd="0" destOrd="0" presId="urn:microsoft.com/office/officeart/2005/8/layout/vProcess5"/>
    <dgm:cxn modelId="{ED4C2FB8-4FDC-4143-9AC0-D60D66D1D209}" type="presOf" srcId="{2BF7F6F9-FF64-4D4D-9C40-12D5E2568F13}" destId="{D0A01581-301C-4E1B-A924-6E73DBE5AC6C}" srcOrd="0" destOrd="0" presId="urn:microsoft.com/office/officeart/2005/8/layout/vProcess5"/>
    <dgm:cxn modelId="{259680D9-6893-4F82-BF33-EC5C464BA774}" type="presOf" srcId="{3ACA2E1D-FAA9-474D-8718-A94239C52321}" destId="{C822C9A3-B2F1-4269-A5CD-5A82E97BC5A1}" srcOrd="1" destOrd="0" presId="urn:microsoft.com/office/officeart/2005/8/layout/vProcess5"/>
    <dgm:cxn modelId="{9EF8FBE3-3F4C-4967-AEDC-89201C569006}" type="presOf" srcId="{E78CCF57-C08D-45E6-A160-99055E3FFFAB}" destId="{684C14A6-9DF4-4B70-8160-028B018F68FC}" srcOrd="0" destOrd="0" presId="urn:microsoft.com/office/officeart/2005/8/layout/vProcess5"/>
    <dgm:cxn modelId="{BF6383EF-20D1-4044-8B3F-689DA5043933}" srcId="{CF82DB58-2589-448B-9037-11AE1F1DD836}" destId="{FC70CEB7-887E-49AC-8790-A6285CA94FE7}" srcOrd="1" destOrd="0" parTransId="{36A8509D-E1AD-45D8-AEBA-E8B1CC1FF114}" sibTransId="{E2B4DED3-79E0-4D9B-A70C-65F53E128F67}"/>
    <dgm:cxn modelId="{2DDAEF0D-DE79-4638-86B9-F29F5830C40C}" type="presParOf" srcId="{1BA0BD65-1A26-43F1-8E5A-DB42A37F1DFD}" destId="{4348EA74-0BAD-482D-8523-6475C53964B2}" srcOrd="0" destOrd="0" presId="urn:microsoft.com/office/officeart/2005/8/layout/vProcess5"/>
    <dgm:cxn modelId="{8CBF81CC-E13E-48A8-B46A-B5C698823612}" type="presParOf" srcId="{1BA0BD65-1A26-43F1-8E5A-DB42A37F1DFD}" destId="{684C14A6-9DF4-4B70-8160-028B018F68FC}" srcOrd="1" destOrd="0" presId="urn:microsoft.com/office/officeart/2005/8/layout/vProcess5"/>
    <dgm:cxn modelId="{49AC49A4-193D-4272-B3BF-79042E7623FB}" type="presParOf" srcId="{1BA0BD65-1A26-43F1-8E5A-DB42A37F1DFD}" destId="{F3E99993-4F74-4C65-9C56-F4F397A7C0B1}" srcOrd="2" destOrd="0" presId="urn:microsoft.com/office/officeart/2005/8/layout/vProcess5"/>
    <dgm:cxn modelId="{F0BEBAC2-1D8D-46AC-BAB7-B922ACBFD94C}" type="presParOf" srcId="{1BA0BD65-1A26-43F1-8E5A-DB42A37F1DFD}" destId="{30350560-818A-453B-881D-9AFEF1A0DBFF}" srcOrd="3" destOrd="0" presId="urn:microsoft.com/office/officeart/2005/8/layout/vProcess5"/>
    <dgm:cxn modelId="{FB0D5317-44FC-42BE-BF60-F95FD0D87D7F}" type="presParOf" srcId="{1BA0BD65-1A26-43F1-8E5A-DB42A37F1DFD}" destId="{D0A01581-301C-4E1B-A924-6E73DBE5AC6C}" srcOrd="4" destOrd="0" presId="urn:microsoft.com/office/officeart/2005/8/layout/vProcess5"/>
    <dgm:cxn modelId="{77E0B3CF-142B-40FA-8A78-7BFA062924A9}" type="presParOf" srcId="{1BA0BD65-1A26-43F1-8E5A-DB42A37F1DFD}" destId="{F9AAD86B-6795-422A-8814-3DA59CE1F380}" srcOrd="5" destOrd="0" presId="urn:microsoft.com/office/officeart/2005/8/layout/vProcess5"/>
    <dgm:cxn modelId="{1701957B-592B-4724-BC2C-7AAB80C71DD2}" type="presParOf" srcId="{1BA0BD65-1A26-43F1-8E5A-DB42A37F1DFD}" destId="{B3E3885F-03B4-44CB-BED7-FE91692CE020}" srcOrd="6" destOrd="0" presId="urn:microsoft.com/office/officeart/2005/8/layout/vProcess5"/>
    <dgm:cxn modelId="{F72BF7A3-7265-43F1-92C9-0428EAFF52C2}" type="presParOf" srcId="{1BA0BD65-1A26-43F1-8E5A-DB42A37F1DFD}" destId="{B6554518-725D-4EA3-9A64-32933AB35AB8}" srcOrd="7" destOrd="0" presId="urn:microsoft.com/office/officeart/2005/8/layout/vProcess5"/>
    <dgm:cxn modelId="{F5D93B7C-50CC-49C4-B92D-FDFB7DB73066}" type="presParOf" srcId="{1BA0BD65-1A26-43F1-8E5A-DB42A37F1DFD}" destId="{C822C9A3-B2F1-4269-A5CD-5A82E97BC5A1}"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1C1EC4C1-0BAD-4AA0-976B-814BCBA8141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PK"/>
        </a:p>
      </dgm:t>
    </dgm:pt>
    <dgm:pt modelId="{4F7B5473-1C67-4B3E-A8B2-04B41226DB92}">
      <dgm:prSet/>
      <dgm:spPr/>
      <dgm:t>
        <a:bodyPr/>
        <a:lstStyle/>
        <a:p>
          <a:r>
            <a:rPr lang="en-US" dirty="0"/>
            <a:t>Consider the same setup as in previous topic, except in this case, the block size is 4 words instead of 1 word. We repeat the dot-product computation in this scenario:</a:t>
          </a:r>
          <a:endParaRPr lang="en-PK" dirty="0"/>
        </a:p>
      </dgm:t>
    </dgm:pt>
    <dgm:pt modelId="{B267A976-DFB6-440E-92E9-63E8353A1EFF}" type="parTrans" cxnId="{B151DAEC-9C93-43C2-8C04-149B56EBA7DD}">
      <dgm:prSet/>
      <dgm:spPr/>
      <dgm:t>
        <a:bodyPr/>
        <a:lstStyle/>
        <a:p>
          <a:endParaRPr lang="en-PK"/>
        </a:p>
      </dgm:t>
    </dgm:pt>
    <dgm:pt modelId="{4989316A-0ABF-444A-AC7B-49701182E300}" type="sibTrans" cxnId="{B151DAEC-9C93-43C2-8C04-149B56EBA7DD}">
      <dgm:prSet/>
      <dgm:spPr/>
      <dgm:t>
        <a:bodyPr/>
        <a:lstStyle/>
        <a:p>
          <a:endParaRPr lang="en-PK"/>
        </a:p>
      </dgm:t>
    </dgm:pt>
    <dgm:pt modelId="{D8EF2D75-5679-4875-A05F-5AD81EFEF919}">
      <dgm:prSet/>
      <dgm:spPr/>
      <dgm:t>
        <a:bodyPr/>
        <a:lstStyle/>
        <a:p>
          <a:r>
            <a:rPr lang="en-US" dirty="0"/>
            <a:t>Assuming that the vectors are laid out linearly in memory, eight FLOPs (four multiply-adds) can be performed in 200 cycles.</a:t>
          </a:r>
          <a:endParaRPr lang="en-PK" dirty="0"/>
        </a:p>
      </dgm:t>
    </dgm:pt>
    <dgm:pt modelId="{672D8B03-68CD-4530-ABC0-E7C277EB2F5F}" type="parTrans" cxnId="{9DFA7DEC-5B44-4CE0-BE64-F2AE60106EBC}">
      <dgm:prSet/>
      <dgm:spPr/>
      <dgm:t>
        <a:bodyPr/>
        <a:lstStyle/>
        <a:p>
          <a:endParaRPr lang="en-PK"/>
        </a:p>
      </dgm:t>
    </dgm:pt>
    <dgm:pt modelId="{C9B06620-7A12-428C-97B0-A3297319CF65}" type="sibTrans" cxnId="{9DFA7DEC-5B44-4CE0-BE64-F2AE60106EBC}">
      <dgm:prSet/>
      <dgm:spPr/>
      <dgm:t>
        <a:bodyPr/>
        <a:lstStyle/>
        <a:p>
          <a:endParaRPr lang="en-PK"/>
        </a:p>
      </dgm:t>
    </dgm:pt>
    <dgm:pt modelId="{E9A49AC7-EF82-4277-8EAB-5BA217FBD35D}">
      <dgm:prSet/>
      <dgm:spPr/>
      <dgm:t>
        <a:bodyPr/>
        <a:lstStyle/>
        <a:p>
          <a:r>
            <a:rPr lang="en-US" dirty="0"/>
            <a:t>This is because a single memory access fetches four consecutive words in the vector.</a:t>
          </a:r>
          <a:endParaRPr lang="en-PK" dirty="0"/>
        </a:p>
      </dgm:t>
    </dgm:pt>
    <dgm:pt modelId="{3A66B4EC-1D9B-4C2D-A248-1E99DF50C5AC}" type="parTrans" cxnId="{5B3954EC-E319-4A54-817F-2CEBC55BE4DB}">
      <dgm:prSet/>
      <dgm:spPr/>
      <dgm:t>
        <a:bodyPr/>
        <a:lstStyle/>
        <a:p>
          <a:endParaRPr lang="en-PK"/>
        </a:p>
      </dgm:t>
    </dgm:pt>
    <dgm:pt modelId="{6451BC9A-EE85-453A-94AD-AB0A4E774C92}" type="sibTrans" cxnId="{5B3954EC-E319-4A54-817F-2CEBC55BE4DB}">
      <dgm:prSet/>
      <dgm:spPr/>
      <dgm:t>
        <a:bodyPr/>
        <a:lstStyle/>
        <a:p>
          <a:endParaRPr lang="en-PK"/>
        </a:p>
      </dgm:t>
    </dgm:pt>
    <dgm:pt modelId="{878A9FDC-3579-481D-9529-640CFCB64B1B}">
      <dgm:prSet/>
      <dgm:spPr/>
      <dgm:t>
        <a:bodyPr/>
        <a:lstStyle/>
        <a:p>
          <a:r>
            <a:rPr lang="en-US" dirty="0"/>
            <a:t>Therefore, two accesses can fetch four elements of each of the vectors. This corresponds to a FLOP every 25 ns, for a peak speed of 40 MFLOPS.</a:t>
          </a:r>
          <a:endParaRPr lang="en-PK" dirty="0"/>
        </a:p>
      </dgm:t>
    </dgm:pt>
    <dgm:pt modelId="{9B6E71A2-8C6B-403D-948A-A91FB895E56A}" type="parTrans" cxnId="{F395B9E9-1BE4-464A-8B5C-A386B79076A6}">
      <dgm:prSet/>
      <dgm:spPr/>
      <dgm:t>
        <a:bodyPr/>
        <a:lstStyle/>
        <a:p>
          <a:endParaRPr lang="en-PK"/>
        </a:p>
      </dgm:t>
    </dgm:pt>
    <dgm:pt modelId="{073F8548-7C9C-4DC1-859A-CE74B390D2CA}" type="sibTrans" cxnId="{F395B9E9-1BE4-464A-8B5C-A386B79076A6}">
      <dgm:prSet/>
      <dgm:spPr/>
      <dgm:t>
        <a:bodyPr/>
        <a:lstStyle/>
        <a:p>
          <a:endParaRPr lang="en-PK"/>
        </a:p>
      </dgm:t>
    </dgm:pt>
    <dgm:pt modelId="{FE00953B-3A5E-45E2-B461-AD80F0C5CDB6}" type="pres">
      <dgm:prSet presAssocID="{1C1EC4C1-0BAD-4AA0-976B-814BCBA81410}" presName="linear" presStyleCnt="0">
        <dgm:presLayoutVars>
          <dgm:animLvl val="lvl"/>
          <dgm:resizeHandles val="exact"/>
        </dgm:presLayoutVars>
      </dgm:prSet>
      <dgm:spPr/>
    </dgm:pt>
    <dgm:pt modelId="{3E253877-BE63-4C3D-AB23-7898089F1910}" type="pres">
      <dgm:prSet presAssocID="{4F7B5473-1C67-4B3E-A8B2-04B41226DB92}" presName="parentText" presStyleLbl="node1" presStyleIdx="0" presStyleCnt="1">
        <dgm:presLayoutVars>
          <dgm:chMax val="0"/>
          <dgm:bulletEnabled val="1"/>
        </dgm:presLayoutVars>
      </dgm:prSet>
      <dgm:spPr/>
    </dgm:pt>
    <dgm:pt modelId="{5DEB120B-C723-497C-B4CB-A630DE97A791}" type="pres">
      <dgm:prSet presAssocID="{4F7B5473-1C67-4B3E-A8B2-04B41226DB92}" presName="childText" presStyleLbl="revTx" presStyleIdx="0" presStyleCnt="1">
        <dgm:presLayoutVars>
          <dgm:bulletEnabled val="1"/>
        </dgm:presLayoutVars>
      </dgm:prSet>
      <dgm:spPr/>
    </dgm:pt>
  </dgm:ptLst>
  <dgm:cxnLst>
    <dgm:cxn modelId="{BB584316-68AE-4FA2-9960-3C339B4FE526}" type="presOf" srcId="{4F7B5473-1C67-4B3E-A8B2-04B41226DB92}" destId="{3E253877-BE63-4C3D-AB23-7898089F1910}" srcOrd="0" destOrd="0" presId="urn:microsoft.com/office/officeart/2005/8/layout/vList2"/>
    <dgm:cxn modelId="{8A5B562B-6517-4E35-A5AC-781EEFD6C899}" type="presOf" srcId="{D8EF2D75-5679-4875-A05F-5AD81EFEF919}" destId="{5DEB120B-C723-497C-B4CB-A630DE97A791}" srcOrd="0" destOrd="0" presId="urn:microsoft.com/office/officeart/2005/8/layout/vList2"/>
    <dgm:cxn modelId="{B6AF7C38-5599-4E6E-91EA-43BC7B8D6948}" type="presOf" srcId="{878A9FDC-3579-481D-9529-640CFCB64B1B}" destId="{5DEB120B-C723-497C-B4CB-A630DE97A791}" srcOrd="0" destOrd="2" presId="urn:microsoft.com/office/officeart/2005/8/layout/vList2"/>
    <dgm:cxn modelId="{D88A9F47-741D-46F4-9FF0-06E7D6139C6F}" type="presOf" srcId="{1C1EC4C1-0BAD-4AA0-976B-814BCBA81410}" destId="{FE00953B-3A5E-45E2-B461-AD80F0C5CDB6}" srcOrd="0" destOrd="0" presId="urn:microsoft.com/office/officeart/2005/8/layout/vList2"/>
    <dgm:cxn modelId="{DCA5676D-6A5F-46B2-A2B0-2A92D973A01F}" type="presOf" srcId="{E9A49AC7-EF82-4277-8EAB-5BA217FBD35D}" destId="{5DEB120B-C723-497C-B4CB-A630DE97A791}" srcOrd="0" destOrd="1" presId="urn:microsoft.com/office/officeart/2005/8/layout/vList2"/>
    <dgm:cxn modelId="{F395B9E9-1BE4-464A-8B5C-A386B79076A6}" srcId="{4F7B5473-1C67-4B3E-A8B2-04B41226DB92}" destId="{878A9FDC-3579-481D-9529-640CFCB64B1B}" srcOrd="2" destOrd="0" parTransId="{9B6E71A2-8C6B-403D-948A-A91FB895E56A}" sibTransId="{073F8548-7C9C-4DC1-859A-CE74B390D2CA}"/>
    <dgm:cxn modelId="{5B3954EC-E319-4A54-817F-2CEBC55BE4DB}" srcId="{4F7B5473-1C67-4B3E-A8B2-04B41226DB92}" destId="{E9A49AC7-EF82-4277-8EAB-5BA217FBD35D}" srcOrd="1" destOrd="0" parTransId="{3A66B4EC-1D9B-4C2D-A248-1E99DF50C5AC}" sibTransId="{6451BC9A-EE85-453A-94AD-AB0A4E774C92}"/>
    <dgm:cxn modelId="{9DFA7DEC-5B44-4CE0-BE64-F2AE60106EBC}" srcId="{4F7B5473-1C67-4B3E-A8B2-04B41226DB92}" destId="{D8EF2D75-5679-4875-A05F-5AD81EFEF919}" srcOrd="0" destOrd="0" parTransId="{672D8B03-68CD-4530-ABC0-E7C277EB2F5F}" sibTransId="{C9B06620-7A12-428C-97B0-A3297319CF65}"/>
    <dgm:cxn modelId="{B151DAEC-9C93-43C2-8C04-149B56EBA7DD}" srcId="{1C1EC4C1-0BAD-4AA0-976B-814BCBA81410}" destId="{4F7B5473-1C67-4B3E-A8B2-04B41226DB92}" srcOrd="0" destOrd="0" parTransId="{B267A976-DFB6-440E-92E9-63E8353A1EFF}" sibTransId="{4989316A-0ABF-444A-AC7B-49701182E300}"/>
    <dgm:cxn modelId="{7C0DB5B3-0387-4078-A479-251B6EE13ECC}" type="presParOf" srcId="{FE00953B-3A5E-45E2-B461-AD80F0C5CDB6}" destId="{3E253877-BE63-4C3D-AB23-7898089F1910}" srcOrd="0" destOrd="0" presId="urn:microsoft.com/office/officeart/2005/8/layout/vList2"/>
    <dgm:cxn modelId="{07E91646-65FE-454F-BA1C-480684ED5FD4}" type="presParOf" srcId="{FE00953B-3A5E-45E2-B461-AD80F0C5CDB6}" destId="{5DEB120B-C723-497C-B4CB-A630DE97A791}" srcOrd="1"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D7353EC2-AD5D-44D2-B985-930F4C3BAFA7}"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DB663387-9FD9-4425-BF23-56B121C1F998}">
      <dgm:prSet/>
      <dgm:spPr/>
      <dgm:t>
        <a:bodyPr/>
        <a:lstStyle/>
        <a:p>
          <a:r>
            <a:rPr lang="en-US"/>
            <a:t>It is important to note that increasing block size does not change latency of the system. </a:t>
          </a:r>
        </a:p>
      </dgm:t>
    </dgm:pt>
    <dgm:pt modelId="{67DBB9EF-C3A0-4BAD-9A29-FF429B6BB08B}" type="parTrans" cxnId="{649FABBB-5C67-4D17-A766-66F0FE55230B}">
      <dgm:prSet/>
      <dgm:spPr/>
      <dgm:t>
        <a:bodyPr/>
        <a:lstStyle/>
        <a:p>
          <a:endParaRPr lang="en-US"/>
        </a:p>
      </dgm:t>
    </dgm:pt>
    <dgm:pt modelId="{B83C1E23-1555-47DD-B841-AFFA2AAA9F62}" type="sibTrans" cxnId="{649FABBB-5C67-4D17-A766-66F0FE55230B}">
      <dgm:prSet/>
      <dgm:spPr/>
      <dgm:t>
        <a:bodyPr/>
        <a:lstStyle/>
        <a:p>
          <a:endParaRPr lang="en-US"/>
        </a:p>
      </dgm:t>
    </dgm:pt>
    <dgm:pt modelId="{EE333B1A-9810-4A77-9A25-6BD77682AB07}">
      <dgm:prSet/>
      <dgm:spPr/>
      <dgm:t>
        <a:bodyPr/>
        <a:lstStyle/>
        <a:p>
          <a:r>
            <a:rPr lang="en-US"/>
            <a:t>Physically, the scenario illustrated here can be viewed as a wide data bus (4 words or 128 bits) connected to multiple memory banks. </a:t>
          </a:r>
        </a:p>
      </dgm:t>
    </dgm:pt>
    <dgm:pt modelId="{F1DD86AC-7E6E-4F1C-87C1-6F856A6772DD}" type="parTrans" cxnId="{ABA80D10-E0FE-41F9-871F-8EE3C02C6BC1}">
      <dgm:prSet/>
      <dgm:spPr/>
      <dgm:t>
        <a:bodyPr/>
        <a:lstStyle/>
        <a:p>
          <a:endParaRPr lang="en-US"/>
        </a:p>
      </dgm:t>
    </dgm:pt>
    <dgm:pt modelId="{41B46826-CAD6-4B6E-96B6-0671FDA54F75}" type="sibTrans" cxnId="{ABA80D10-E0FE-41F9-871F-8EE3C02C6BC1}">
      <dgm:prSet/>
      <dgm:spPr/>
      <dgm:t>
        <a:bodyPr/>
        <a:lstStyle/>
        <a:p>
          <a:endParaRPr lang="en-US"/>
        </a:p>
      </dgm:t>
    </dgm:pt>
    <dgm:pt modelId="{D6A21CDB-C5E9-426B-979A-9CBAD0CD724F}">
      <dgm:prSet/>
      <dgm:spPr/>
      <dgm:t>
        <a:bodyPr/>
        <a:lstStyle/>
        <a:p>
          <a:r>
            <a:rPr lang="en-US"/>
            <a:t>In practice, such wide buses are expensive to construct. </a:t>
          </a:r>
        </a:p>
      </dgm:t>
    </dgm:pt>
    <dgm:pt modelId="{24C5CC4C-71B8-40D1-AEE3-E8DE64ACA0E8}" type="parTrans" cxnId="{3127A4B7-2E22-49EC-8270-80FC097BDA63}">
      <dgm:prSet/>
      <dgm:spPr/>
      <dgm:t>
        <a:bodyPr/>
        <a:lstStyle/>
        <a:p>
          <a:endParaRPr lang="en-US"/>
        </a:p>
      </dgm:t>
    </dgm:pt>
    <dgm:pt modelId="{095BE321-2E9B-4596-A079-BE2C6E2E85CB}" type="sibTrans" cxnId="{3127A4B7-2E22-49EC-8270-80FC097BDA63}">
      <dgm:prSet/>
      <dgm:spPr/>
      <dgm:t>
        <a:bodyPr/>
        <a:lstStyle/>
        <a:p>
          <a:endParaRPr lang="en-US"/>
        </a:p>
      </dgm:t>
    </dgm:pt>
    <dgm:pt modelId="{4A9A7151-9220-4270-B0BC-C24FEEDB94BD}">
      <dgm:prSet/>
      <dgm:spPr/>
      <dgm:t>
        <a:bodyPr/>
        <a:lstStyle/>
        <a:p>
          <a:r>
            <a:rPr lang="en-US"/>
            <a:t>In a more practical system, consecutive words are sent on the memory bus on subsequent bus cycles after the first word is retrieved. </a:t>
          </a:r>
        </a:p>
      </dgm:t>
    </dgm:pt>
    <dgm:pt modelId="{75A5F52B-AB9F-4DDE-9B4C-1406A1531C4B}" type="parTrans" cxnId="{68E9C9AD-8A7B-4004-ACF8-209DA2F70CE4}">
      <dgm:prSet/>
      <dgm:spPr/>
      <dgm:t>
        <a:bodyPr/>
        <a:lstStyle/>
        <a:p>
          <a:endParaRPr lang="en-US"/>
        </a:p>
      </dgm:t>
    </dgm:pt>
    <dgm:pt modelId="{420C4D9B-2A66-4EA1-9D72-33B17283C946}" type="sibTrans" cxnId="{68E9C9AD-8A7B-4004-ACF8-209DA2F70CE4}">
      <dgm:prSet/>
      <dgm:spPr/>
      <dgm:t>
        <a:bodyPr/>
        <a:lstStyle/>
        <a:p>
          <a:endParaRPr lang="en-US"/>
        </a:p>
      </dgm:t>
    </dgm:pt>
    <dgm:pt modelId="{53E68101-A3EA-4981-8F2B-A75B935680F9}" type="pres">
      <dgm:prSet presAssocID="{D7353EC2-AD5D-44D2-B985-930F4C3BAFA7}" presName="outerComposite" presStyleCnt="0">
        <dgm:presLayoutVars>
          <dgm:chMax val="5"/>
          <dgm:dir/>
          <dgm:resizeHandles val="exact"/>
        </dgm:presLayoutVars>
      </dgm:prSet>
      <dgm:spPr/>
    </dgm:pt>
    <dgm:pt modelId="{7AE65070-3B3D-403B-B854-237CE6440D66}" type="pres">
      <dgm:prSet presAssocID="{D7353EC2-AD5D-44D2-B985-930F4C3BAFA7}" presName="dummyMaxCanvas" presStyleCnt="0">
        <dgm:presLayoutVars/>
      </dgm:prSet>
      <dgm:spPr/>
    </dgm:pt>
    <dgm:pt modelId="{D2CB4EDE-D881-476E-8A1A-10B7A22414D6}" type="pres">
      <dgm:prSet presAssocID="{D7353EC2-AD5D-44D2-B985-930F4C3BAFA7}" presName="FourNodes_1" presStyleLbl="node1" presStyleIdx="0" presStyleCnt="4">
        <dgm:presLayoutVars>
          <dgm:bulletEnabled val="1"/>
        </dgm:presLayoutVars>
      </dgm:prSet>
      <dgm:spPr/>
    </dgm:pt>
    <dgm:pt modelId="{EEAF8AFC-A174-4443-A41C-E6943D73D32F}" type="pres">
      <dgm:prSet presAssocID="{D7353EC2-AD5D-44D2-B985-930F4C3BAFA7}" presName="FourNodes_2" presStyleLbl="node1" presStyleIdx="1" presStyleCnt="4">
        <dgm:presLayoutVars>
          <dgm:bulletEnabled val="1"/>
        </dgm:presLayoutVars>
      </dgm:prSet>
      <dgm:spPr/>
    </dgm:pt>
    <dgm:pt modelId="{DD31CC04-F5F0-4F58-BF35-D5A842EB5179}" type="pres">
      <dgm:prSet presAssocID="{D7353EC2-AD5D-44D2-B985-930F4C3BAFA7}" presName="FourNodes_3" presStyleLbl="node1" presStyleIdx="2" presStyleCnt="4">
        <dgm:presLayoutVars>
          <dgm:bulletEnabled val="1"/>
        </dgm:presLayoutVars>
      </dgm:prSet>
      <dgm:spPr/>
    </dgm:pt>
    <dgm:pt modelId="{4768B327-4AAF-4666-9AB9-DB8CA322E27D}" type="pres">
      <dgm:prSet presAssocID="{D7353EC2-AD5D-44D2-B985-930F4C3BAFA7}" presName="FourNodes_4" presStyleLbl="node1" presStyleIdx="3" presStyleCnt="4">
        <dgm:presLayoutVars>
          <dgm:bulletEnabled val="1"/>
        </dgm:presLayoutVars>
      </dgm:prSet>
      <dgm:spPr/>
    </dgm:pt>
    <dgm:pt modelId="{05341CA8-CDE5-485E-89ED-7C4D855A9206}" type="pres">
      <dgm:prSet presAssocID="{D7353EC2-AD5D-44D2-B985-930F4C3BAFA7}" presName="FourConn_1-2" presStyleLbl="fgAccFollowNode1" presStyleIdx="0" presStyleCnt="3">
        <dgm:presLayoutVars>
          <dgm:bulletEnabled val="1"/>
        </dgm:presLayoutVars>
      </dgm:prSet>
      <dgm:spPr/>
    </dgm:pt>
    <dgm:pt modelId="{8DFD8EF0-0744-442C-B4B5-7B16899801B2}" type="pres">
      <dgm:prSet presAssocID="{D7353EC2-AD5D-44D2-B985-930F4C3BAFA7}" presName="FourConn_2-3" presStyleLbl="fgAccFollowNode1" presStyleIdx="1" presStyleCnt="3">
        <dgm:presLayoutVars>
          <dgm:bulletEnabled val="1"/>
        </dgm:presLayoutVars>
      </dgm:prSet>
      <dgm:spPr/>
    </dgm:pt>
    <dgm:pt modelId="{6CF2DBBD-D154-469F-8799-64D253922FE4}" type="pres">
      <dgm:prSet presAssocID="{D7353EC2-AD5D-44D2-B985-930F4C3BAFA7}" presName="FourConn_3-4" presStyleLbl="fgAccFollowNode1" presStyleIdx="2" presStyleCnt="3">
        <dgm:presLayoutVars>
          <dgm:bulletEnabled val="1"/>
        </dgm:presLayoutVars>
      </dgm:prSet>
      <dgm:spPr/>
    </dgm:pt>
    <dgm:pt modelId="{F951C348-2C29-4EE0-B66C-62E3E54D5E35}" type="pres">
      <dgm:prSet presAssocID="{D7353EC2-AD5D-44D2-B985-930F4C3BAFA7}" presName="FourNodes_1_text" presStyleLbl="node1" presStyleIdx="3" presStyleCnt="4">
        <dgm:presLayoutVars>
          <dgm:bulletEnabled val="1"/>
        </dgm:presLayoutVars>
      </dgm:prSet>
      <dgm:spPr/>
    </dgm:pt>
    <dgm:pt modelId="{ED7C300B-9C37-415F-AE34-6457AF5F1279}" type="pres">
      <dgm:prSet presAssocID="{D7353EC2-AD5D-44D2-B985-930F4C3BAFA7}" presName="FourNodes_2_text" presStyleLbl="node1" presStyleIdx="3" presStyleCnt="4">
        <dgm:presLayoutVars>
          <dgm:bulletEnabled val="1"/>
        </dgm:presLayoutVars>
      </dgm:prSet>
      <dgm:spPr/>
    </dgm:pt>
    <dgm:pt modelId="{5D3BA516-1F9F-445C-B1C3-C28457F69433}" type="pres">
      <dgm:prSet presAssocID="{D7353EC2-AD5D-44D2-B985-930F4C3BAFA7}" presName="FourNodes_3_text" presStyleLbl="node1" presStyleIdx="3" presStyleCnt="4">
        <dgm:presLayoutVars>
          <dgm:bulletEnabled val="1"/>
        </dgm:presLayoutVars>
      </dgm:prSet>
      <dgm:spPr/>
    </dgm:pt>
    <dgm:pt modelId="{43916C70-3CF2-4032-87CF-C4F7D812931E}" type="pres">
      <dgm:prSet presAssocID="{D7353EC2-AD5D-44D2-B985-930F4C3BAFA7}" presName="FourNodes_4_text" presStyleLbl="node1" presStyleIdx="3" presStyleCnt="4">
        <dgm:presLayoutVars>
          <dgm:bulletEnabled val="1"/>
        </dgm:presLayoutVars>
      </dgm:prSet>
      <dgm:spPr/>
    </dgm:pt>
  </dgm:ptLst>
  <dgm:cxnLst>
    <dgm:cxn modelId="{ABA80D10-E0FE-41F9-871F-8EE3C02C6BC1}" srcId="{D7353EC2-AD5D-44D2-B985-930F4C3BAFA7}" destId="{EE333B1A-9810-4A77-9A25-6BD77682AB07}" srcOrd="1" destOrd="0" parTransId="{F1DD86AC-7E6E-4F1C-87C1-6F856A6772DD}" sibTransId="{41B46826-CAD6-4B6E-96B6-0671FDA54F75}"/>
    <dgm:cxn modelId="{F5B29A2A-8806-4329-B8A1-69F2992470A5}" type="presOf" srcId="{B83C1E23-1555-47DD-B841-AFFA2AAA9F62}" destId="{05341CA8-CDE5-485E-89ED-7C4D855A9206}" srcOrd="0" destOrd="0" presId="urn:microsoft.com/office/officeart/2005/8/layout/vProcess5"/>
    <dgm:cxn modelId="{DDA21335-A634-4515-9040-0D29D5F2EDA0}" type="presOf" srcId="{EE333B1A-9810-4A77-9A25-6BD77682AB07}" destId="{ED7C300B-9C37-415F-AE34-6457AF5F1279}" srcOrd="1" destOrd="0" presId="urn:microsoft.com/office/officeart/2005/8/layout/vProcess5"/>
    <dgm:cxn modelId="{82334836-B289-4B7D-A359-131E7F24C852}" type="presOf" srcId="{4A9A7151-9220-4270-B0BC-C24FEEDB94BD}" destId="{43916C70-3CF2-4032-87CF-C4F7D812931E}" srcOrd="1" destOrd="0" presId="urn:microsoft.com/office/officeart/2005/8/layout/vProcess5"/>
    <dgm:cxn modelId="{94B95F39-4447-45A8-B12A-56CACCEBFD93}" type="presOf" srcId="{D6A21CDB-C5E9-426B-979A-9CBAD0CD724F}" destId="{5D3BA516-1F9F-445C-B1C3-C28457F69433}" srcOrd="1" destOrd="0" presId="urn:microsoft.com/office/officeart/2005/8/layout/vProcess5"/>
    <dgm:cxn modelId="{BAF6173B-222D-4797-9328-E87FE498D70A}" type="presOf" srcId="{DB663387-9FD9-4425-BF23-56B121C1F998}" destId="{D2CB4EDE-D881-476E-8A1A-10B7A22414D6}" srcOrd="0" destOrd="0" presId="urn:microsoft.com/office/officeart/2005/8/layout/vProcess5"/>
    <dgm:cxn modelId="{A197FF5D-23FC-44CE-9CBE-CF8AB612A9E3}" type="presOf" srcId="{4A9A7151-9220-4270-B0BC-C24FEEDB94BD}" destId="{4768B327-4AAF-4666-9AB9-DB8CA322E27D}" srcOrd="0" destOrd="0" presId="urn:microsoft.com/office/officeart/2005/8/layout/vProcess5"/>
    <dgm:cxn modelId="{AB0C7660-1DC6-4550-955D-54E08E2E7B25}" type="presOf" srcId="{D7353EC2-AD5D-44D2-B985-930F4C3BAFA7}" destId="{53E68101-A3EA-4981-8F2B-A75B935680F9}" srcOrd="0" destOrd="0" presId="urn:microsoft.com/office/officeart/2005/8/layout/vProcess5"/>
    <dgm:cxn modelId="{68E9C9AD-8A7B-4004-ACF8-209DA2F70CE4}" srcId="{D7353EC2-AD5D-44D2-B985-930F4C3BAFA7}" destId="{4A9A7151-9220-4270-B0BC-C24FEEDB94BD}" srcOrd="3" destOrd="0" parTransId="{75A5F52B-AB9F-4DDE-9B4C-1406A1531C4B}" sibTransId="{420C4D9B-2A66-4EA1-9D72-33B17283C946}"/>
    <dgm:cxn modelId="{CF427BAE-6BBA-42D8-8EA3-DD4D30A48FE6}" type="presOf" srcId="{095BE321-2E9B-4596-A079-BE2C6E2E85CB}" destId="{6CF2DBBD-D154-469F-8799-64D253922FE4}" srcOrd="0" destOrd="0" presId="urn:microsoft.com/office/officeart/2005/8/layout/vProcess5"/>
    <dgm:cxn modelId="{3127A4B7-2E22-49EC-8270-80FC097BDA63}" srcId="{D7353EC2-AD5D-44D2-B985-930F4C3BAFA7}" destId="{D6A21CDB-C5E9-426B-979A-9CBAD0CD724F}" srcOrd="2" destOrd="0" parTransId="{24C5CC4C-71B8-40D1-AEE3-E8DE64ACA0E8}" sibTransId="{095BE321-2E9B-4596-A079-BE2C6E2E85CB}"/>
    <dgm:cxn modelId="{649FABBB-5C67-4D17-A766-66F0FE55230B}" srcId="{D7353EC2-AD5D-44D2-B985-930F4C3BAFA7}" destId="{DB663387-9FD9-4425-BF23-56B121C1F998}" srcOrd="0" destOrd="0" parTransId="{67DBB9EF-C3A0-4BAD-9A29-FF429B6BB08B}" sibTransId="{B83C1E23-1555-47DD-B841-AFFA2AAA9F62}"/>
    <dgm:cxn modelId="{6D62A2C4-71EF-4CA2-A6F3-96B78B173145}" type="presOf" srcId="{41B46826-CAD6-4B6E-96B6-0671FDA54F75}" destId="{8DFD8EF0-0744-442C-B4B5-7B16899801B2}" srcOrd="0" destOrd="0" presId="urn:microsoft.com/office/officeart/2005/8/layout/vProcess5"/>
    <dgm:cxn modelId="{B69F73CB-1A0E-48B4-AEE7-715FE441A219}" type="presOf" srcId="{D6A21CDB-C5E9-426B-979A-9CBAD0CD724F}" destId="{DD31CC04-F5F0-4F58-BF35-D5A842EB5179}" srcOrd="0" destOrd="0" presId="urn:microsoft.com/office/officeart/2005/8/layout/vProcess5"/>
    <dgm:cxn modelId="{F9445FD1-2F69-412A-90FE-74D453C57872}" type="presOf" srcId="{DB663387-9FD9-4425-BF23-56B121C1F998}" destId="{F951C348-2C29-4EE0-B66C-62E3E54D5E35}" srcOrd="1" destOrd="0" presId="urn:microsoft.com/office/officeart/2005/8/layout/vProcess5"/>
    <dgm:cxn modelId="{4089B9FB-6C87-4998-81A7-24EFE470DADB}" type="presOf" srcId="{EE333B1A-9810-4A77-9A25-6BD77682AB07}" destId="{EEAF8AFC-A174-4443-A41C-E6943D73D32F}" srcOrd="0" destOrd="0" presId="urn:microsoft.com/office/officeart/2005/8/layout/vProcess5"/>
    <dgm:cxn modelId="{1E26C287-13C9-45C0-8AC1-33619070E852}" type="presParOf" srcId="{53E68101-A3EA-4981-8F2B-A75B935680F9}" destId="{7AE65070-3B3D-403B-B854-237CE6440D66}" srcOrd="0" destOrd="0" presId="urn:microsoft.com/office/officeart/2005/8/layout/vProcess5"/>
    <dgm:cxn modelId="{4B7615BC-ECFC-4BF4-B83D-F3C08363168C}" type="presParOf" srcId="{53E68101-A3EA-4981-8F2B-A75B935680F9}" destId="{D2CB4EDE-D881-476E-8A1A-10B7A22414D6}" srcOrd="1" destOrd="0" presId="urn:microsoft.com/office/officeart/2005/8/layout/vProcess5"/>
    <dgm:cxn modelId="{5DC2CF27-3361-430E-82FA-4656763605E9}" type="presParOf" srcId="{53E68101-A3EA-4981-8F2B-A75B935680F9}" destId="{EEAF8AFC-A174-4443-A41C-E6943D73D32F}" srcOrd="2" destOrd="0" presId="urn:microsoft.com/office/officeart/2005/8/layout/vProcess5"/>
    <dgm:cxn modelId="{F37BE9C3-8AD1-4A48-8939-5F6F48C78C7E}" type="presParOf" srcId="{53E68101-A3EA-4981-8F2B-A75B935680F9}" destId="{DD31CC04-F5F0-4F58-BF35-D5A842EB5179}" srcOrd="3" destOrd="0" presId="urn:microsoft.com/office/officeart/2005/8/layout/vProcess5"/>
    <dgm:cxn modelId="{5FE2E5CD-6A19-40C9-850D-78B9CEF64E2E}" type="presParOf" srcId="{53E68101-A3EA-4981-8F2B-A75B935680F9}" destId="{4768B327-4AAF-4666-9AB9-DB8CA322E27D}" srcOrd="4" destOrd="0" presId="urn:microsoft.com/office/officeart/2005/8/layout/vProcess5"/>
    <dgm:cxn modelId="{09FC1DF9-DDF4-4249-8154-B1A0A3580E1F}" type="presParOf" srcId="{53E68101-A3EA-4981-8F2B-A75B935680F9}" destId="{05341CA8-CDE5-485E-89ED-7C4D855A9206}" srcOrd="5" destOrd="0" presId="urn:microsoft.com/office/officeart/2005/8/layout/vProcess5"/>
    <dgm:cxn modelId="{AB9939AF-C1BF-4C49-B819-DA5ECB4B9E7B}" type="presParOf" srcId="{53E68101-A3EA-4981-8F2B-A75B935680F9}" destId="{8DFD8EF0-0744-442C-B4B5-7B16899801B2}" srcOrd="6" destOrd="0" presId="urn:microsoft.com/office/officeart/2005/8/layout/vProcess5"/>
    <dgm:cxn modelId="{253B232D-7249-484D-BBD1-C0A0DC890991}" type="presParOf" srcId="{53E68101-A3EA-4981-8F2B-A75B935680F9}" destId="{6CF2DBBD-D154-469F-8799-64D253922FE4}" srcOrd="7" destOrd="0" presId="urn:microsoft.com/office/officeart/2005/8/layout/vProcess5"/>
    <dgm:cxn modelId="{1E3E78E4-AE66-490E-8B86-F954936E77E8}" type="presParOf" srcId="{53E68101-A3EA-4981-8F2B-A75B935680F9}" destId="{F951C348-2C29-4EE0-B66C-62E3E54D5E35}" srcOrd="8" destOrd="0" presId="urn:microsoft.com/office/officeart/2005/8/layout/vProcess5"/>
    <dgm:cxn modelId="{8B829EFF-7CDB-44F9-8A38-A02E69312D94}" type="presParOf" srcId="{53E68101-A3EA-4981-8F2B-A75B935680F9}" destId="{ED7C300B-9C37-415F-AE34-6457AF5F1279}" srcOrd="9" destOrd="0" presId="urn:microsoft.com/office/officeart/2005/8/layout/vProcess5"/>
    <dgm:cxn modelId="{60EC0F66-2ECD-430F-9555-2DC6BEDF2D01}" type="presParOf" srcId="{53E68101-A3EA-4981-8F2B-A75B935680F9}" destId="{5D3BA516-1F9F-445C-B1C3-C28457F69433}" srcOrd="10" destOrd="0" presId="urn:microsoft.com/office/officeart/2005/8/layout/vProcess5"/>
    <dgm:cxn modelId="{1C993F23-D78C-4288-9F4C-260DC4AF0E42}" type="presParOf" srcId="{53E68101-A3EA-4981-8F2B-A75B935680F9}" destId="{43916C70-3CF2-4032-87CF-C4F7D812931E}" srcOrd="11"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D7353EC2-AD5D-44D2-B985-930F4C3BAFA7}"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DB663387-9FD9-4425-BF23-56B121C1F998}">
      <dgm:prSet/>
      <dgm:spPr/>
      <dgm:t>
        <a:bodyPr/>
        <a:lstStyle/>
        <a:p>
          <a:r>
            <a:rPr lang="en-US" dirty="0"/>
            <a:t>The above examples clearly illustrate how increased bandwidth results in higher peak computation rates. </a:t>
          </a:r>
        </a:p>
      </dgm:t>
    </dgm:pt>
    <dgm:pt modelId="{67DBB9EF-C3A0-4BAD-9A29-FF429B6BB08B}" type="parTrans" cxnId="{649FABBB-5C67-4D17-A766-66F0FE55230B}">
      <dgm:prSet/>
      <dgm:spPr/>
      <dgm:t>
        <a:bodyPr/>
        <a:lstStyle/>
        <a:p>
          <a:endParaRPr lang="en-US"/>
        </a:p>
      </dgm:t>
    </dgm:pt>
    <dgm:pt modelId="{B83C1E23-1555-47DD-B841-AFFA2AAA9F62}" type="sibTrans" cxnId="{649FABBB-5C67-4D17-A766-66F0FE55230B}">
      <dgm:prSet/>
      <dgm:spPr/>
      <dgm:t>
        <a:bodyPr/>
        <a:lstStyle/>
        <a:p>
          <a:endParaRPr lang="en-US"/>
        </a:p>
      </dgm:t>
    </dgm:pt>
    <dgm:pt modelId="{EE333B1A-9810-4A77-9A25-6BD77682AB07}">
      <dgm:prSet/>
      <dgm:spPr/>
      <dgm:t>
        <a:bodyPr/>
        <a:lstStyle/>
        <a:p>
          <a:r>
            <a:rPr lang="en-US" dirty="0"/>
            <a:t>The data layouts were assumed to be such that consecutive data words in memory were used by successive instructions (spatial locality of reference). </a:t>
          </a:r>
        </a:p>
      </dgm:t>
    </dgm:pt>
    <dgm:pt modelId="{F1DD86AC-7E6E-4F1C-87C1-6F856A6772DD}" type="parTrans" cxnId="{ABA80D10-E0FE-41F9-871F-8EE3C02C6BC1}">
      <dgm:prSet/>
      <dgm:spPr/>
      <dgm:t>
        <a:bodyPr/>
        <a:lstStyle/>
        <a:p>
          <a:endParaRPr lang="en-US"/>
        </a:p>
      </dgm:t>
    </dgm:pt>
    <dgm:pt modelId="{41B46826-CAD6-4B6E-96B6-0671FDA54F75}" type="sibTrans" cxnId="{ABA80D10-E0FE-41F9-871F-8EE3C02C6BC1}">
      <dgm:prSet/>
      <dgm:spPr/>
      <dgm:t>
        <a:bodyPr/>
        <a:lstStyle/>
        <a:p>
          <a:endParaRPr lang="en-US"/>
        </a:p>
      </dgm:t>
    </dgm:pt>
    <dgm:pt modelId="{D6A21CDB-C5E9-426B-979A-9CBAD0CD724F}">
      <dgm:prSet/>
      <dgm:spPr/>
      <dgm:t>
        <a:bodyPr/>
        <a:lstStyle/>
        <a:p>
          <a:r>
            <a:rPr lang="en-US" dirty="0"/>
            <a:t>If we take a data-layout centric view, computations must be reordered to enhance spatial locality of reference. </a:t>
          </a:r>
        </a:p>
      </dgm:t>
    </dgm:pt>
    <dgm:pt modelId="{24C5CC4C-71B8-40D1-AEE3-E8DE64ACA0E8}" type="parTrans" cxnId="{3127A4B7-2E22-49EC-8270-80FC097BDA63}">
      <dgm:prSet/>
      <dgm:spPr/>
      <dgm:t>
        <a:bodyPr/>
        <a:lstStyle/>
        <a:p>
          <a:endParaRPr lang="en-US"/>
        </a:p>
      </dgm:t>
    </dgm:pt>
    <dgm:pt modelId="{095BE321-2E9B-4596-A079-BE2C6E2E85CB}" type="sibTrans" cxnId="{3127A4B7-2E22-49EC-8270-80FC097BDA63}">
      <dgm:prSet/>
      <dgm:spPr/>
      <dgm:t>
        <a:bodyPr/>
        <a:lstStyle/>
        <a:p>
          <a:endParaRPr lang="en-US"/>
        </a:p>
      </dgm:t>
    </dgm:pt>
    <dgm:pt modelId="{53E68101-A3EA-4981-8F2B-A75B935680F9}" type="pres">
      <dgm:prSet presAssocID="{D7353EC2-AD5D-44D2-B985-930F4C3BAFA7}" presName="outerComposite" presStyleCnt="0">
        <dgm:presLayoutVars>
          <dgm:chMax val="5"/>
          <dgm:dir/>
          <dgm:resizeHandles val="exact"/>
        </dgm:presLayoutVars>
      </dgm:prSet>
      <dgm:spPr/>
    </dgm:pt>
    <dgm:pt modelId="{7AE65070-3B3D-403B-B854-237CE6440D66}" type="pres">
      <dgm:prSet presAssocID="{D7353EC2-AD5D-44D2-B985-930F4C3BAFA7}" presName="dummyMaxCanvas" presStyleCnt="0">
        <dgm:presLayoutVars/>
      </dgm:prSet>
      <dgm:spPr/>
    </dgm:pt>
    <dgm:pt modelId="{A9081A61-B8E7-4B55-AB65-881175D6DC4F}" type="pres">
      <dgm:prSet presAssocID="{D7353EC2-AD5D-44D2-B985-930F4C3BAFA7}" presName="ThreeNodes_1" presStyleLbl="node1" presStyleIdx="0" presStyleCnt="3">
        <dgm:presLayoutVars>
          <dgm:bulletEnabled val="1"/>
        </dgm:presLayoutVars>
      </dgm:prSet>
      <dgm:spPr/>
    </dgm:pt>
    <dgm:pt modelId="{92DEF767-9656-4781-A471-56E7823DA73C}" type="pres">
      <dgm:prSet presAssocID="{D7353EC2-AD5D-44D2-B985-930F4C3BAFA7}" presName="ThreeNodes_2" presStyleLbl="node1" presStyleIdx="1" presStyleCnt="3">
        <dgm:presLayoutVars>
          <dgm:bulletEnabled val="1"/>
        </dgm:presLayoutVars>
      </dgm:prSet>
      <dgm:spPr/>
    </dgm:pt>
    <dgm:pt modelId="{FC132C9E-3000-4F70-AA48-AEBE41AB6DE1}" type="pres">
      <dgm:prSet presAssocID="{D7353EC2-AD5D-44D2-B985-930F4C3BAFA7}" presName="ThreeNodes_3" presStyleLbl="node1" presStyleIdx="2" presStyleCnt="3">
        <dgm:presLayoutVars>
          <dgm:bulletEnabled val="1"/>
        </dgm:presLayoutVars>
      </dgm:prSet>
      <dgm:spPr/>
    </dgm:pt>
    <dgm:pt modelId="{EE623862-CBBD-464E-A3B9-B16D9A9A7449}" type="pres">
      <dgm:prSet presAssocID="{D7353EC2-AD5D-44D2-B985-930F4C3BAFA7}" presName="ThreeConn_1-2" presStyleLbl="fgAccFollowNode1" presStyleIdx="0" presStyleCnt="2">
        <dgm:presLayoutVars>
          <dgm:bulletEnabled val="1"/>
        </dgm:presLayoutVars>
      </dgm:prSet>
      <dgm:spPr/>
    </dgm:pt>
    <dgm:pt modelId="{72776BA7-0B09-45D2-AB5B-F89BA735F032}" type="pres">
      <dgm:prSet presAssocID="{D7353EC2-AD5D-44D2-B985-930F4C3BAFA7}" presName="ThreeConn_2-3" presStyleLbl="fgAccFollowNode1" presStyleIdx="1" presStyleCnt="2">
        <dgm:presLayoutVars>
          <dgm:bulletEnabled val="1"/>
        </dgm:presLayoutVars>
      </dgm:prSet>
      <dgm:spPr/>
    </dgm:pt>
    <dgm:pt modelId="{2D82FBD6-D4EA-4EE1-B6A2-01BCAE444E20}" type="pres">
      <dgm:prSet presAssocID="{D7353EC2-AD5D-44D2-B985-930F4C3BAFA7}" presName="ThreeNodes_1_text" presStyleLbl="node1" presStyleIdx="2" presStyleCnt="3">
        <dgm:presLayoutVars>
          <dgm:bulletEnabled val="1"/>
        </dgm:presLayoutVars>
      </dgm:prSet>
      <dgm:spPr/>
    </dgm:pt>
    <dgm:pt modelId="{6F766362-5CA8-4AE3-9770-9871105C8F81}" type="pres">
      <dgm:prSet presAssocID="{D7353EC2-AD5D-44D2-B985-930F4C3BAFA7}" presName="ThreeNodes_2_text" presStyleLbl="node1" presStyleIdx="2" presStyleCnt="3">
        <dgm:presLayoutVars>
          <dgm:bulletEnabled val="1"/>
        </dgm:presLayoutVars>
      </dgm:prSet>
      <dgm:spPr/>
    </dgm:pt>
    <dgm:pt modelId="{8A742F45-BDCE-4984-ADA1-F625C55800E8}" type="pres">
      <dgm:prSet presAssocID="{D7353EC2-AD5D-44D2-B985-930F4C3BAFA7}" presName="ThreeNodes_3_text" presStyleLbl="node1" presStyleIdx="2" presStyleCnt="3">
        <dgm:presLayoutVars>
          <dgm:bulletEnabled val="1"/>
        </dgm:presLayoutVars>
      </dgm:prSet>
      <dgm:spPr/>
    </dgm:pt>
  </dgm:ptLst>
  <dgm:cxnLst>
    <dgm:cxn modelId="{ABA80D10-E0FE-41F9-871F-8EE3C02C6BC1}" srcId="{D7353EC2-AD5D-44D2-B985-930F4C3BAFA7}" destId="{EE333B1A-9810-4A77-9A25-6BD77682AB07}" srcOrd="1" destOrd="0" parTransId="{F1DD86AC-7E6E-4F1C-87C1-6F856A6772DD}" sibTransId="{41B46826-CAD6-4B6E-96B6-0671FDA54F75}"/>
    <dgm:cxn modelId="{DEC2A02A-9C24-4E12-8076-57A2B1ACD875}" type="presOf" srcId="{EE333B1A-9810-4A77-9A25-6BD77682AB07}" destId="{6F766362-5CA8-4AE3-9770-9871105C8F81}" srcOrd="1" destOrd="0" presId="urn:microsoft.com/office/officeart/2005/8/layout/vProcess5"/>
    <dgm:cxn modelId="{7B475640-3F31-481C-A64B-AF5094E48B21}" type="presOf" srcId="{DB663387-9FD9-4425-BF23-56B121C1F998}" destId="{A9081A61-B8E7-4B55-AB65-881175D6DC4F}" srcOrd="0" destOrd="0" presId="urn:microsoft.com/office/officeart/2005/8/layout/vProcess5"/>
    <dgm:cxn modelId="{AB0C7660-1DC6-4550-955D-54E08E2E7B25}" type="presOf" srcId="{D7353EC2-AD5D-44D2-B985-930F4C3BAFA7}" destId="{53E68101-A3EA-4981-8F2B-A75B935680F9}" srcOrd="0" destOrd="0" presId="urn:microsoft.com/office/officeart/2005/8/layout/vProcess5"/>
    <dgm:cxn modelId="{3A1DF743-7567-4FBD-A76C-751540774579}" type="presOf" srcId="{41B46826-CAD6-4B6E-96B6-0671FDA54F75}" destId="{72776BA7-0B09-45D2-AB5B-F89BA735F032}" srcOrd="0" destOrd="0" presId="urn:microsoft.com/office/officeart/2005/8/layout/vProcess5"/>
    <dgm:cxn modelId="{E694086E-B19F-4C5D-8878-B6E3E74EFB68}" type="presOf" srcId="{EE333B1A-9810-4A77-9A25-6BD77682AB07}" destId="{92DEF767-9656-4781-A471-56E7823DA73C}" srcOrd="0" destOrd="0" presId="urn:microsoft.com/office/officeart/2005/8/layout/vProcess5"/>
    <dgm:cxn modelId="{ABA4BC8E-740F-4F9D-A16E-1D532D940EC2}" type="presOf" srcId="{D6A21CDB-C5E9-426B-979A-9CBAD0CD724F}" destId="{8A742F45-BDCE-4984-ADA1-F625C55800E8}" srcOrd="1" destOrd="0" presId="urn:microsoft.com/office/officeart/2005/8/layout/vProcess5"/>
    <dgm:cxn modelId="{C9EFB49D-EE34-4E10-BA1D-4581BB80A934}" type="presOf" srcId="{B83C1E23-1555-47DD-B841-AFFA2AAA9F62}" destId="{EE623862-CBBD-464E-A3B9-B16D9A9A7449}" srcOrd="0" destOrd="0" presId="urn:microsoft.com/office/officeart/2005/8/layout/vProcess5"/>
    <dgm:cxn modelId="{564EFAA2-95E8-4EB3-906E-0E53D9D84183}" type="presOf" srcId="{D6A21CDB-C5E9-426B-979A-9CBAD0CD724F}" destId="{FC132C9E-3000-4F70-AA48-AEBE41AB6DE1}" srcOrd="0" destOrd="0" presId="urn:microsoft.com/office/officeart/2005/8/layout/vProcess5"/>
    <dgm:cxn modelId="{3127A4B7-2E22-49EC-8270-80FC097BDA63}" srcId="{D7353EC2-AD5D-44D2-B985-930F4C3BAFA7}" destId="{D6A21CDB-C5E9-426B-979A-9CBAD0CD724F}" srcOrd="2" destOrd="0" parTransId="{24C5CC4C-71B8-40D1-AEE3-E8DE64ACA0E8}" sibTransId="{095BE321-2E9B-4596-A079-BE2C6E2E85CB}"/>
    <dgm:cxn modelId="{649FABBB-5C67-4D17-A766-66F0FE55230B}" srcId="{D7353EC2-AD5D-44D2-B985-930F4C3BAFA7}" destId="{DB663387-9FD9-4425-BF23-56B121C1F998}" srcOrd="0" destOrd="0" parTransId="{67DBB9EF-C3A0-4BAD-9A29-FF429B6BB08B}" sibTransId="{B83C1E23-1555-47DD-B841-AFFA2AAA9F62}"/>
    <dgm:cxn modelId="{E7B264F3-C217-4D86-8066-DB44485798D3}" type="presOf" srcId="{DB663387-9FD9-4425-BF23-56B121C1F998}" destId="{2D82FBD6-D4EA-4EE1-B6A2-01BCAE444E20}" srcOrd="1" destOrd="0" presId="urn:microsoft.com/office/officeart/2005/8/layout/vProcess5"/>
    <dgm:cxn modelId="{1E26C287-13C9-45C0-8AC1-33619070E852}" type="presParOf" srcId="{53E68101-A3EA-4981-8F2B-A75B935680F9}" destId="{7AE65070-3B3D-403B-B854-237CE6440D66}" srcOrd="0" destOrd="0" presId="urn:microsoft.com/office/officeart/2005/8/layout/vProcess5"/>
    <dgm:cxn modelId="{6E8A0043-0E17-415E-842A-D75326565199}" type="presParOf" srcId="{53E68101-A3EA-4981-8F2B-A75B935680F9}" destId="{A9081A61-B8E7-4B55-AB65-881175D6DC4F}" srcOrd="1" destOrd="0" presId="urn:microsoft.com/office/officeart/2005/8/layout/vProcess5"/>
    <dgm:cxn modelId="{5AE7F8A5-1782-4EA6-88D9-05F19F22CC05}" type="presParOf" srcId="{53E68101-A3EA-4981-8F2B-A75B935680F9}" destId="{92DEF767-9656-4781-A471-56E7823DA73C}" srcOrd="2" destOrd="0" presId="urn:microsoft.com/office/officeart/2005/8/layout/vProcess5"/>
    <dgm:cxn modelId="{4C4C2F40-C682-4B16-A31B-6086E4CC1532}" type="presParOf" srcId="{53E68101-A3EA-4981-8F2B-A75B935680F9}" destId="{FC132C9E-3000-4F70-AA48-AEBE41AB6DE1}" srcOrd="3" destOrd="0" presId="urn:microsoft.com/office/officeart/2005/8/layout/vProcess5"/>
    <dgm:cxn modelId="{1A9EF7CD-9DB2-4CF0-8DB9-51F811B9DE24}" type="presParOf" srcId="{53E68101-A3EA-4981-8F2B-A75B935680F9}" destId="{EE623862-CBBD-464E-A3B9-B16D9A9A7449}" srcOrd="4" destOrd="0" presId="urn:microsoft.com/office/officeart/2005/8/layout/vProcess5"/>
    <dgm:cxn modelId="{B852460B-AF09-4B62-84BB-1E2632BBA5DB}" type="presParOf" srcId="{53E68101-A3EA-4981-8F2B-A75B935680F9}" destId="{72776BA7-0B09-45D2-AB5B-F89BA735F032}" srcOrd="5" destOrd="0" presId="urn:microsoft.com/office/officeart/2005/8/layout/vProcess5"/>
    <dgm:cxn modelId="{33CD25C7-800F-4A70-BF29-58E0F11F99F4}" type="presParOf" srcId="{53E68101-A3EA-4981-8F2B-A75B935680F9}" destId="{2D82FBD6-D4EA-4EE1-B6A2-01BCAE444E20}" srcOrd="6" destOrd="0" presId="urn:microsoft.com/office/officeart/2005/8/layout/vProcess5"/>
    <dgm:cxn modelId="{17E3EBE8-B6D1-48D2-9D82-5545E5DE0F5F}" type="presParOf" srcId="{53E68101-A3EA-4981-8F2B-A75B935680F9}" destId="{6F766362-5CA8-4AE3-9770-9871105C8F81}" srcOrd="7" destOrd="0" presId="urn:microsoft.com/office/officeart/2005/8/layout/vProcess5"/>
    <dgm:cxn modelId="{ECDE16B3-6247-47E0-9F56-67ADDE0AEFB4}" type="presParOf" srcId="{53E68101-A3EA-4981-8F2B-A75B935680F9}" destId="{8A742F45-BDCE-4984-ADA1-F625C55800E8}" srcOrd="8"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What is Concurrency?</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Mechanisms for Concurrency Control.</a:t>
          </a:r>
        </a:p>
      </dsp:txBody>
      <dsp:txXfrm>
        <a:off x="2024809" y="3140937"/>
        <a:ext cx="4978967" cy="17530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3F42A9-D355-4514-A8B3-B56F692DFBFA}">
      <dsp:nvSpPr>
        <dsp:cNvPr id="0" name=""/>
        <dsp:cNvSpPr/>
      </dsp:nvSpPr>
      <dsp:spPr>
        <a:xfrm>
          <a:off x="0" y="2761037"/>
          <a:ext cx="10515600" cy="18115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a:t>Concurrent tasks can execute in a single or multiprocessing environment.</a:t>
          </a:r>
        </a:p>
      </dsp:txBody>
      <dsp:txXfrm>
        <a:off x="0" y="2761037"/>
        <a:ext cx="10515600" cy="978231"/>
      </dsp:txXfrm>
    </dsp:sp>
    <dsp:sp modelId="{B41B6A33-14F6-4658-BE27-02FDDB57FED5}">
      <dsp:nvSpPr>
        <dsp:cNvPr id="0" name=""/>
        <dsp:cNvSpPr/>
      </dsp:nvSpPr>
      <dsp:spPr>
        <a:xfrm>
          <a:off x="0" y="3703038"/>
          <a:ext cx="5257799" cy="83330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In a single processing environment, concurrent tasks exist at the same time and execute within the same time period by context switching.</a:t>
          </a:r>
        </a:p>
      </dsp:txBody>
      <dsp:txXfrm>
        <a:off x="0" y="3703038"/>
        <a:ext cx="5257799" cy="833308"/>
      </dsp:txXfrm>
    </dsp:sp>
    <dsp:sp modelId="{F8E4B9DA-0AB3-41E8-9FEA-5444EEA0BC96}">
      <dsp:nvSpPr>
        <dsp:cNvPr id="0" name=""/>
        <dsp:cNvSpPr/>
      </dsp:nvSpPr>
      <dsp:spPr>
        <a:xfrm>
          <a:off x="5257800" y="3703038"/>
          <a:ext cx="5257799" cy="83330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In a multiprocessor environment, if enough processors are free, concurrent tasks may execute at the same instant over the same time period. The determining factor for what makes an acceptable time period for concurrency is relative to the application. </a:t>
          </a:r>
        </a:p>
      </dsp:txBody>
      <dsp:txXfrm>
        <a:off x="5257800" y="3703038"/>
        <a:ext cx="5257799" cy="833308"/>
      </dsp:txXfrm>
    </dsp:sp>
    <dsp:sp modelId="{506A5A6A-473B-47EA-85E9-E4F7CFCBA44E}">
      <dsp:nvSpPr>
        <dsp:cNvPr id="0" name=""/>
        <dsp:cNvSpPr/>
      </dsp:nvSpPr>
      <dsp:spPr>
        <a:xfrm rot="10800000">
          <a:off x="0" y="2062"/>
          <a:ext cx="10515600" cy="2786147"/>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Concurrent doesn't necessarily mean at the same exact instant. For example, two tasks may occur concurrently within the same second but with each task executing within different fractions of the second. </a:t>
          </a:r>
        </a:p>
      </dsp:txBody>
      <dsp:txXfrm rot="10800000">
        <a:off x="0" y="2062"/>
        <a:ext cx="10515600" cy="18103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E3935F-79F1-40F7-B988-C5D0B802B791}">
      <dsp:nvSpPr>
        <dsp:cNvPr id="0" name=""/>
        <dsp:cNvSpPr/>
      </dsp:nvSpPr>
      <dsp:spPr>
        <a:xfrm rot="5400000">
          <a:off x="5608871" y="-1356595"/>
          <a:ext cx="3291900" cy="6828067"/>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n-US" sz="2700" kern="1200" dirty="0"/>
            <a:t>Synchronization is a mechanism that controls access on shared resources between multiple activities. It enforces exclusiveness and ordered access on the resource by different activities.</a:t>
          </a:r>
          <a:endParaRPr lang="en-PK" sz="2700" kern="1200" dirty="0"/>
        </a:p>
        <a:p>
          <a:pPr marL="228600" lvl="1" indent="-228600" algn="l" defTabSz="1200150">
            <a:lnSpc>
              <a:spcPct val="90000"/>
            </a:lnSpc>
            <a:spcBef>
              <a:spcPct val="0"/>
            </a:spcBef>
            <a:spcAft>
              <a:spcPct val="15000"/>
            </a:spcAft>
            <a:buChar char="•"/>
          </a:pPr>
          <a:r>
            <a:rPr lang="en-US" sz="2700" kern="1200" dirty="0"/>
            <a:t> Coordination aims at the orchestration of collaborating activities.</a:t>
          </a:r>
          <a:endParaRPr lang="en-PK" sz="2700" kern="1200" dirty="0"/>
        </a:p>
      </dsp:txBody>
      <dsp:txXfrm rot="-5400000">
        <a:off x="3840788" y="572185"/>
        <a:ext cx="6667370" cy="2970506"/>
      </dsp:txXfrm>
    </dsp:sp>
    <dsp:sp modelId="{AC9D75FF-6572-4EFF-B5A9-AE7663C8D0E5}">
      <dsp:nvSpPr>
        <dsp:cNvPr id="0" name=""/>
        <dsp:cNvSpPr/>
      </dsp:nvSpPr>
      <dsp:spPr>
        <a:xfrm>
          <a:off x="0" y="0"/>
          <a:ext cx="3840788" cy="41148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Synchronization and Coordination are two basic approaches to tackle this challenge: </a:t>
          </a:r>
          <a:endParaRPr lang="en-PK" sz="3400" kern="1200" dirty="0"/>
        </a:p>
      </dsp:txBody>
      <dsp:txXfrm>
        <a:off x="187492" y="187492"/>
        <a:ext cx="3465804" cy="37398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AE544D-FB57-4DF1-BDA4-C47E218C789E}">
      <dsp:nvSpPr>
        <dsp:cNvPr id="0" name=""/>
        <dsp:cNvSpPr/>
      </dsp:nvSpPr>
      <dsp:spPr>
        <a:xfrm>
          <a:off x="0" y="137922"/>
          <a:ext cx="7003777" cy="8751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overall time to perform the series of tasks is reduced.</a:t>
          </a:r>
        </a:p>
      </dsp:txBody>
      <dsp:txXfrm>
        <a:off x="42722" y="180644"/>
        <a:ext cx="6918333" cy="789716"/>
      </dsp:txXfrm>
    </dsp:sp>
    <dsp:sp modelId="{9631F185-9B52-4EED-BB63-A5EABE53A3B8}">
      <dsp:nvSpPr>
        <dsp:cNvPr id="0" name=""/>
        <dsp:cNvSpPr/>
      </dsp:nvSpPr>
      <dsp:spPr>
        <a:xfrm>
          <a:off x="0" y="1076442"/>
          <a:ext cx="7003777" cy="875160"/>
        </a:xfrm>
        <a:prstGeom prst="roundRect">
          <a:avLst/>
        </a:prstGeom>
        <a:solidFill>
          <a:schemeClr val="accent2">
            <a:hueOff val="-301071"/>
            <a:satOff val="-1269"/>
            <a:lumOff val="62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Concurrent processes can reduce duplication in code.</a:t>
          </a:r>
        </a:p>
      </dsp:txBody>
      <dsp:txXfrm>
        <a:off x="42722" y="1119164"/>
        <a:ext cx="6918333" cy="789716"/>
      </dsp:txXfrm>
    </dsp:sp>
    <dsp:sp modelId="{31B39887-6BF5-422E-BA2F-2E16454709D3}">
      <dsp:nvSpPr>
        <dsp:cNvPr id="0" name=""/>
        <dsp:cNvSpPr/>
      </dsp:nvSpPr>
      <dsp:spPr>
        <a:xfrm>
          <a:off x="0" y="2014962"/>
          <a:ext cx="7003777" cy="875160"/>
        </a:xfrm>
        <a:prstGeom prst="roundRect">
          <a:avLst/>
        </a:prstGeom>
        <a:solidFill>
          <a:schemeClr val="accent2">
            <a:hueOff val="-602141"/>
            <a:satOff val="-2539"/>
            <a:lumOff val="1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overall runtime of the algorithm can be significantly reduced.</a:t>
          </a:r>
        </a:p>
      </dsp:txBody>
      <dsp:txXfrm>
        <a:off x="42722" y="2057684"/>
        <a:ext cx="6918333" cy="789716"/>
      </dsp:txXfrm>
    </dsp:sp>
    <dsp:sp modelId="{0EC3A3EA-5102-463A-A270-49D2E67C3061}">
      <dsp:nvSpPr>
        <dsp:cNvPr id="0" name=""/>
        <dsp:cNvSpPr/>
      </dsp:nvSpPr>
      <dsp:spPr>
        <a:xfrm>
          <a:off x="0" y="2953482"/>
          <a:ext cx="7003777" cy="875160"/>
        </a:xfrm>
        <a:prstGeom prst="roundRect">
          <a:avLst/>
        </a:prstGeom>
        <a:solidFill>
          <a:schemeClr val="accent2">
            <a:hueOff val="-903212"/>
            <a:satOff val="-3808"/>
            <a:lumOff val="1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Concurrency control can also increase the scalability of parallel and distributed computing systems</a:t>
          </a:r>
        </a:p>
      </dsp:txBody>
      <dsp:txXfrm>
        <a:off x="42722" y="2996204"/>
        <a:ext cx="6918333" cy="789716"/>
      </dsp:txXfrm>
    </dsp:sp>
    <dsp:sp modelId="{68439191-5AA3-43D4-A0CD-276804D11512}">
      <dsp:nvSpPr>
        <dsp:cNvPr id="0" name=""/>
        <dsp:cNvSpPr/>
      </dsp:nvSpPr>
      <dsp:spPr>
        <a:xfrm>
          <a:off x="0" y="3892002"/>
          <a:ext cx="7003777" cy="875160"/>
        </a:xfrm>
        <a:prstGeom prst="roundRect">
          <a:avLst/>
        </a:prstGeom>
        <a:solidFill>
          <a:schemeClr val="accent2">
            <a:hueOff val="-1204282"/>
            <a:satOff val="-5078"/>
            <a:lumOff val="2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Redundancy can make systems more reliable.</a:t>
          </a:r>
        </a:p>
      </dsp:txBody>
      <dsp:txXfrm>
        <a:off x="42722" y="3934724"/>
        <a:ext cx="6918333" cy="789716"/>
      </dsp:txXfrm>
    </dsp:sp>
    <dsp:sp modelId="{B8258E16-C081-4678-9287-2F3F2E5BD971}">
      <dsp:nvSpPr>
        <dsp:cNvPr id="0" name=""/>
        <dsp:cNvSpPr/>
      </dsp:nvSpPr>
      <dsp:spPr>
        <a:xfrm>
          <a:off x="0" y="4830522"/>
          <a:ext cx="7003777" cy="875160"/>
        </a:xfrm>
        <a:prstGeom prst="roundRec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More real-world problems can be solved than with sequential algorithms alone.</a:t>
          </a:r>
        </a:p>
      </dsp:txBody>
      <dsp:txXfrm>
        <a:off x="42722" y="4873244"/>
        <a:ext cx="6918333" cy="7897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53264" y="9262"/>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450188" y="383732"/>
          <a:ext cx="915369" cy="9153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1869011" y="9262"/>
          <a:ext cx="5077740"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Concurrency Control.</a:t>
          </a:r>
        </a:p>
      </dsp:txBody>
      <dsp:txXfrm>
        <a:off x="1869011" y="9262"/>
        <a:ext cx="5077740" cy="1664308"/>
      </dsp:txXfrm>
    </dsp:sp>
    <dsp:sp modelId="{D75562AD-F78D-4876-92B4-3DD0643FB177}">
      <dsp:nvSpPr>
        <dsp:cNvPr id="0" name=""/>
        <dsp:cNvSpPr/>
      </dsp:nvSpPr>
      <dsp:spPr>
        <a:xfrm>
          <a:off x="-53264" y="2089648"/>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450188" y="2464117"/>
          <a:ext cx="915369" cy="9153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1758723" y="2089648"/>
          <a:ext cx="5298317"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Parallel Programming Technique.</a:t>
          </a:r>
        </a:p>
      </dsp:txBody>
      <dsp:txXfrm>
        <a:off x="1758723" y="2089648"/>
        <a:ext cx="5298317" cy="1664308"/>
      </dsp:txXfrm>
    </dsp:sp>
    <dsp:sp modelId="{7DD2B69A-2536-4F76-8CDC-6A7C4DAF803D}">
      <dsp:nvSpPr>
        <dsp:cNvPr id="0" name=""/>
        <dsp:cNvSpPr/>
      </dsp:nvSpPr>
      <dsp:spPr>
        <a:xfrm>
          <a:off x="-53264" y="4170033"/>
          <a:ext cx="7003777" cy="166430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774C3F-0C0C-4B26-A07B-2E5BF451D730}">
      <dsp:nvSpPr>
        <dsp:cNvPr id="0" name=""/>
        <dsp:cNvSpPr/>
      </dsp:nvSpPr>
      <dsp:spPr>
        <a:xfrm>
          <a:off x="450188" y="4544503"/>
          <a:ext cx="915369" cy="915369"/>
        </a:xfrm>
        <a:prstGeom prst="rect">
          <a:avLst/>
        </a:prstGeom>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41D294-5806-4DF3-88ED-21C36CB0B748}">
      <dsp:nvSpPr>
        <dsp:cNvPr id="0" name=""/>
        <dsp:cNvSpPr/>
      </dsp:nvSpPr>
      <dsp:spPr>
        <a:xfrm>
          <a:off x="1836260" y="4170033"/>
          <a:ext cx="5143243" cy="1664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139" tIns="176139" rIns="176139" bIns="176139"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Distributed Programming Technique.</a:t>
          </a:r>
        </a:p>
      </dsp:txBody>
      <dsp:txXfrm>
        <a:off x="1836260" y="4170033"/>
        <a:ext cx="5143243" cy="166430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E3935F-79F1-40F7-B988-C5D0B802B791}">
      <dsp:nvSpPr>
        <dsp:cNvPr id="0" name=""/>
        <dsp:cNvSpPr/>
      </dsp:nvSpPr>
      <dsp:spPr>
        <a:xfrm rot="5400000">
          <a:off x="5608871" y="-1356595"/>
          <a:ext cx="3291900" cy="6828067"/>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a:t>Parallel programming techniques assign the work a program has do to two or more processors within a single physical or a single virtual computer.</a:t>
          </a:r>
          <a:endParaRPr lang="en-PK" sz="2400" kern="1200"/>
        </a:p>
        <a:p>
          <a:pPr marL="228600" lvl="1" indent="-228600" algn="l" defTabSz="1066800">
            <a:lnSpc>
              <a:spcPct val="90000"/>
            </a:lnSpc>
            <a:spcBef>
              <a:spcPct val="0"/>
            </a:spcBef>
            <a:spcAft>
              <a:spcPct val="15000"/>
            </a:spcAft>
            <a:buChar char="•"/>
          </a:pPr>
          <a:r>
            <a:rPr lang="en-US" sz="2400" kern="1200"/>
            <a:t>Distributed programming techniques assign the work a program has to do to two or more processes where the processes may or may not exist on the same computer.</a:t>
          </a:r>
          <a:endParaRPr lang="en-PK" sz="2400" kern="1200"/>
        </a:p>
      </dsp:txBody>
      <dsp:txXfrm rot="-5400000">
        <a:off x="3840788" y="572185"/>
        <a:ext cx="6667370" cy="2970506"/>
      </dsp:txXfrm>
    </dsp:sp>
    <dsp:sp modelId="{AC9D75FF-6572-4EFF-B5A9-AE7663C8D0E5}">
      <dsp:nvSpPr>
        <dsp:cNvPr id="0" name=""/>
        <dsp:cNvSpPr/>
      </dsp:nvSpPr>
      <dsp:spPr>
        <a:xfrm>
          <a:off x="0" y="0"/>
          <a:ext cx="3840788" cy="41148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dirty="0"/>
            <a:t>Parallel programming and distributed programming are two basic approaches for achieving concurrency: </a:t>
          </a:r>
          <a:endParaRPr lang="en-PK" sz="3200" kern="1200" dirty="0"/>
        </a:p>
      </dsp:txBody>
      <dsp:txXfrm>
        <a:off x="187492" y="187492"/>
        <a:ext cx="3465804" cy="373989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Models of Programming Concurrency.</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Van Roy Approaches for Programming Concurrency.</a:t>
          </a:r>
        </a:p>
      </dsp:txBody>
      <dsp:txXfrm>
        <a:off x="2024809" y="3140937"/>
        <a:ext cx="4978967" cy="17530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FDF00-DFCD-4ADC-99D9-C5B95FBA68D9}">
      <dsp:nvSpPr>
        <dsp:cNvPr id="0" name=""/>
        <dsp:cNvSpPr/>
      </dsp:nvSpPr>
      <dsp:spPr>
        <a:xfrm rot="5400000">
          <a:off x="5595704" y="-1692924"/>
          <a:ext cx="2412968" cy="640205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Char char="•"/>
          </a:pPr>
          <a:r>
            <a:rPr lang="en-US" sz="3100" b="0" i="0" kern="1200" dirty="0"/>
            <a:t>Sequential Programming.</a:t>
          </a:r>
          <a:endParaRPr lang="en-PK" sz="3100" kern="1200" dirty="0"/>
        </a:p>
        <a:p>
          <a:pPr marL="285750" lvl="1" indent="-285750" algn="l" defTabSz="1377950">
            <a:lnSpc>
              <a:spcPct val="90000"/>
            </a:lnSpc>
            <a:spcBef>
              <a:spcPct val="0"/>
            </a:spcBef>
            <a:spcAft>
              <a:spcPct val="15000"/>
            </a:spcAft>
            <a:buChar char="•"/>
          </a:pPr>
          <a:r>
            <a:rPr lang="en-US" sz="3100" b="0" i="0" kern="1200" dirty="0"/>
            <a:t>Declarative Concurrency.</a:t>
          </a:r>
          <a:endParaRPr lang="en-PK" sz="3100" kern="1200" dirty="0"/>
        </a:p>
        <a:p>
          <a:pPr marL="285750" lvl="1" indent="-285750" algn="l" defTabSz="1377950">
            <a:lnSpc>
              <a:spcPct val="90000"/>
            </a:lnSpc>
            <a:spcBef>
              <a:spcPct val="0"/>
            </a:spcBef>
            <a:spcAft>
              <a:spcPct val="15000"/>
            </a:spcAft>
            <a:buChar char="•"/>
          </a:pPr>
          <a:r>
            <a:rPr lang="en-US" sz="3100" b="0" i="0" kern="1200" dirty="0"/>
            <a:t>Message-passing Concurrency.</a:t>
          </a:r>
          <a:endParaRPr lang="en-PK" sz="3100" kern="1200" dirty="0"/>
        </a:p>
        <a:p>
          <a:pPr marL="285750" lvl="1" indent="-285750" algn="l" defTabSz="1377950">
            <a:lnSpc>
              <a:spcPct val="90000"/>
            </a:lnSpc>
            <a:spcBef>
              <a:spcPct val="0"/>
            </a:spcBef>
            <a:spcAft>
              <a:spcPct val="15000"/>
            </a:spcAft>
            <a:buChar char="•"/>
          </a:pPr>
          <a:r>
            <a:rPr lang="en-US" sz="3100" b="0" i="0" kern="1200" dirty="0"/>
            <a:t>Shared-state Concurrency.</a:t>
          </a:r>
          <a:endParaRPr lang="en-PK" sz="3100" kern="1200" dirty="0"/>
        </a:p>
      </dsp:txBody>
      <dsp:txXfrm rot="-5400000">
        <a:off x="3601159" y="419412"/>
        <a:ext cx="6284268" cy="2177386"/>
      </dsp:txXfrm>
    </dsp:sp>
    <dsp:sp modelId="{49137B24-550A-44A1-9124-BCD1E552C58B}">
      <dsp:nvSpPr>
        <dsp:cNvPr id="0" name=""/>
        <dsp:cNvSpPr/>
      </dsp:nvSpPr>
      <dsp:spPr>
        <a:xfrm>
          <a:off x="0" y="0"/>
          <a:ext cx="3601158" cy="30162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b="0" i="0" kern="1200" dirty="0"/>
            <a:t>Van Roy introduces four main approaches for programming concurrency:</a:t>
          </a:r>
          <a:endParaRPr lang="en-PK" sz="3100" kern="1200" dirty="0"/>
        </a:p>
      </dsp:txBody>
      <dsp:txXfrm>
        <a:off x="147239" y="147239"/>
        <a:ext cx="3306680" cy="272173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1FEEAD-0EC3-4197-A40F-ECE178D41B01}">
      <dsp:nvSpPr>
        <dsp:cNvPr id="0" name=""/>
        <dsp:cNvSpPr/>
      </dsp:nvSpPr>
      <dsp:spPr>
        <a:xfrm>
          <a:off x="0" y="59148"/>
          <a:ext cx="10092754" cy="37346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In this deterministic programming model, no concurrency is used at all. In its strongest form, there is a total order of all operations of the program. Weaker forms still keep the deterministic behavior. However, they either make no guarantees on the exact execution order to the programmer a priori. Or they provide mechanisms for explicit preemption of the task currently active, as co-routines do, for instance.</a:t>
          </a:r>
          <a:endParaRPr lang="en-PK" sz="2800" kern="1200" dirty="0"/>
        </a:p>
      </dsp:txBody>
      <dsp:txXfrm>
        <a:off x="182310" y="241458"/>
        <a:ext cx="9728134" cy="337002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B9EF1C-AE52-4543-AD3B-9FCCC5232F5C}">
      <dsp:nvSpPr>
        <dsp:cNvPr id="0" name=""/>
        <dsp:cNvSpPr/>
      </dsp:nvSpPr>
      <dsp:spPr>
        <a:xfrm>
          <a:off x="0" y="10008"/>
          <a:ext cx="10298237" cy="3832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Declarative programming is a programming model that favors implicit control flow of computations. Control flow is not described directly, it is rather a result of computational logic of the program. The declarative concurrency model extends the declarative programming model by allowing multiple flows of executions. It adds implicit concurrency that is based on a data-driven or a demand-driven approach. While this introduces some form of nondeterminism at runtime, the nondeterminism is generally not observable from the outside.</a:t>
          </a:r>
          <a:endParaRPr lang="en-PK" sz="2600" kern="1200"/>
        </a:p>
      </dsp:txBody>
      <dsp:txXfrm>
        <a:off x="187108" y="197116"/>
        <a:ext cx="9924021" cy="345870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25D90-8525-458D-BAAB-D79B0AE8E472}">
      <dsp:nvSpPr>
        <dsp:cNvPr id="0" name=""/>
        <dsp:cNvSpPr/>
      </dsp:nvSpPr>
      <dsp:spPr>
        <a:xfrm>
          <a:off x="0" y="171468"/>
          <a:ext cx="10133851" cy="3510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This model is a programming style that allows concurrent activities to communicate via messages. Generally, this is the only allowed form of interaction between activities which are otherwise completely isolated. Message passing can be either synchronous or asynchronous resulting in different mechanisms and patterns for synchronization and coordination.</a:t>
          </a:r>
          <a:endParaRPr lang="en-PK" sz="3000" kern="1200"/>
        </a:p>
      </dsp:txBody>
      <dsp:txXfrm>
        <a:off x="171344" y="342812"/>
        <a:ext cx="9791163" cy="316731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E5111-9177-4CE1-95FB-9A112A8D5891}">
      <dsp:nvSpPr>
        <dsp:cNvPr id="0" name=""/>
        <dsp:cNvSpPr/>
      </dsp:nvSpPr>
      <dsp:spPr>
        <a:xfrm>
          <a:off x="0" y="59148"/>
          <a:ext cx="10585913" cy="37346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Shared-state concurrency is an extended programming model where multiple activities are allowed to access contended resources and states. Sharing the exact same resources and states among different activities requires dedicated mechanisms for synchronization of access and coordination between activities. The general nondeterminism and missing invariants of this model would otherwise directly cause problems regarding consistency and state validity.</a:t>
          </a:r>
          <a:endParaRPr lang="en-PK" sz="2800" kern="1200"/>
        </a:p>
      </dsp:txBody>
      <dsp:txXfrm>
        <a:off x="182310" y="241458"/>
        <a:ext cx="10221293" cy="337002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168605" y="957278"/>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359633" y="1350183"/>
          <a:ext cx="960433" cy="9604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1507150" y="957278"/>
          <a:ext cx="5665231"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Introduction of Memory Hierarchy.</a:t>
          </a:r>
          <a:endParaRPr lang="en-PK" sz="2500" kern="1200" dirty="0">
            <a:latin typeface="Arial" panose="020B0604020202020204" pitchFamily="34" charset="0"/>
            <a:cs typeface="Arial" panose="020B0604020202020204" pitchFamily="34" charset="0"/>
          </a:endParaRPr>
        </a:p>
      </dsp:txBody>
      <dsp:txXfrm>
        <a:off x="1507150" y="957278"/>
        <a:ext cx="5665231" cy="1746243"/>
      </dsp:txXfrm>
    </dsp:sp>
    <dsp:sp modelId="{86AFC238-F655-46AB-B4B9-6CFAB4EEE339}">
      <dsp:nvSpPr>
        <dsp:cNvPr id="0" name=""/>
        <dsp:cNvSpPr/>
      </dsp:nvSpPr>
      <dsp:spPr>
        <a:xfrm>
          <a:off x="-168605" y="3140082"/>
          <a:ext cx="7003777" cy="17462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359633" y="3532987"/>
          <a:ext cx="960433" cy="9604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1848305" y="3140082"/>
          <a:ext cx="4982920" cy="1746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811" tIns="184811" rIns="184811" bIns="184811"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Characteristics of Memory Hierarchy.</a:t>
          </a:r>
          <a:endParaRPr lang="en-PK" sz="2500" kern="1200" dirty="0"/>
        </a:p>
      </dsp:txBody>
      <dsp:txXfrm>
        <a:off x="1848305" y="3140082"/>
        <a:ext cx="4982920" cy="174624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1111FB-9F23-42BD-B1AB-2EDE3C7066E9}">
      <dsp:nvSpPr>
        <dsp:cNvPr id="0" name=""/>
        <dsp:cNvSpPr/>
      </dsp:nvSpPr>
      <dsp:spPr>
        <a:xfrm>
          <a:off x="0" y="148052"/>
          <a:ext cx="10515600" cy="5615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panose="020B0604020202020204" pitchFamily="34" charset="0"/>
              <a:cs typeface="Arial" panose="020B0604020202020204" pitchFamily="34" charset="0"/>
            </a:rPr>
            <a:t>We are concerned with five types of memory:</a:t>
          </a:r>
          <a:endParaRPr lang="en-PK" sz="2400" kern="1200" dirty="0">
            <a:latin typeface="Arial" panose="020B0604020202020204" pitchFamily="34" charset="0"/>
            <a:cs typeface="Arial" panose="020B0604020202020204" pitchFamily="34" charset="0"/>
          </a:endParaRPr>
        </a:p>
      </dsp:txBody>
      <dsp:txXfrm>
        <a:off x="27415" y="175467"/>
        <a:ext cx="10460770" cy="506769"/>
      </dsp:txXfrm>
    </dsp:sp>
    <dsp:sp modelId="{F973E3B3-2BCD-40C8-876C-1C80E6D002BE}">
      <dsp:nvSpPr>
        <dsp:cNvPr id="0" name=""/>
        <dsp:cNvSpPr/>
      </dsp:nvSpPr>
      <dsp:spPr>
        <a:xfrm>
          <a:off x="0" y="709652"/>
          <a:ext cx="10515600" cy="4371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1" kern="1200" dirty="0">
              <a:latin typeface="Arial" panose="020B0604020202020204" pitchFamily="34" charset="0"/>
              <a:cs typeface="Arial" panose="020B0604020202020204" pitchFamily="34" charset="0"/>
            </a:rPr>
            <a:t>Registers: </a:t>
          </a:r>
          <a:r>
            <a:rPr lang="en-US" sz="1900" kern="1200" dirty="0">
              <a:latin typeface="Arial" panose="020B0604020202020204" pitchFamily="34" charset="0"/>
              <a:cs typeface="Arial" panose="020B0604020202020204" pitchFamily="34" charset="0"/>
            </a:rPr>
            <a:t>are the fastest type of memory, which are located internal to a processor. These elements are primarily used for temporary storage of operands, small partitions of memory, etc., and are assumed to be one word (32 bits) in length in the MIPS architecture.</a:t>
          </a:r>
          <a:endParaRPr lang="en-PK" sz="1900" kern="1200" dirty="0">
            <a:latin typeface="Arial" panose="020B0604020202020204" pitchFamily="34" charset="0"/>
            <a:cs typeface="Arial" panose="020B0604020202020204" pitchFamily="34" charset="0"/>
          </a:endParaRPr>
        </a:p>
        <a:p>
          <a:pPr marL="171450" lvl="1" indent="-171450" algn="l" defTabSz="844550">
            <a:lnSpc>
              <a:spcPct val="90000"/>
            </a:lnSpc>
            <a:spcBef>
              <a:spcPct val="0"/>
            </a:spcBef>
            <a:spcAft>
              <a:spcPct val="20000"/>
            </a:spcAft>
            <a:buChar char="•"/>
          </a:pPr>
          <a:r>
            <a:rPr lang="en-US" sz="1900" b="1" kern="1200" dirty="0">
              <a:latin typeface="Arial" panose="020B0604020202020204" pitchFamily="34" charset="0"/>
              <a:cs typeface="Arial" panose="020B0604020202020204" pitchFamily="34" charset="0"/>
            </a:rPr>
            <a:t>Cache: </a:t>
          </a:r>
          <a:r>
            <a:rPr lang="en-US" sz="1900" kern="1200" dirty="0">
              <a:latin typeface="Arial" panose="020B0604020202020204" pitchFamily="34" charset="0"/>
              <a:cs typeface="Arial" panose="020B0604020202020204" pitchFamily="34" charset="0"/>
            </a:rPr>
            <a:t>is a very fast type of memory that can be external or internal to a given processor. Cache is used for temporary storage of blocks of data obtained from main memory (read operation) or created by the processor and eventually written to main memory (write operation).</a:t>
          </a:r>
          <a:endParaRPr lang="en-PK" sz="1900" kern="1200" dirty="0">
            <a:latin typeface="Arial" panose="020B0604020202020204" pitchFamily="34" charset="0"/>
            <a:cs typeface="Arial" panose="020B0604020202020204" pitchFamily="34" charset="0"/>
          </a:endParaRPr>
        </a:p>
        <a:p>
          <a:pPr marL="171450" lvl="1" indent="-171450" algn="l" defTabSz="844550">
            <a:lnSpc>
              <a:spcPct val="90000"/>
            </a:lnSpc>
            <a:spcBef>
              <a:spcPct val="0"/>
            </a:spcBef>
            <a:spcAft>
              <a:spcPct val="20000"/>
            </a:spcAft>
            <a:buChar char="•"/>
          </a:pPr>
          <a:r>
            <a:rPr lang="en-US" sz="1900" b="1" kern="1200" dirty="0">
              <a:latin typeface="Arial" panose="020B0604020202020204" pitchFamily="34" charset="0"/>
              <a:cs typeface="Arial" panose="020B0604020202020204" pitchFamily="34" charset="0"/>
            </a:rPr>
            <a:t>Main Memory: </a:t>
          </a:r>
          <a:r>
            <a:rPr lang="en-US" sz="1900" kern="1200" dirty="0">
              <a:latin typeface="Arial" panose="020B0604020202020204" pitchFamily="34" charset="0"/>
              <a:cs typeface="Arial" panose="020B0604020202020204" pitchFamily="34" charset="0"/>
            </a:rPr>
            <a:t>is modelled as a large, linear array of storage elements that is partitioned into static and dynamic storage. Main memory is used primarily for storage of data that a program produces during its execution, as well as for instruction storage. </a:t>
          </a:r>
          <a:endParaRPr lang="en-PK" sz="1900" kern="1200" dirty="0">
            <a:latin typeface="Arial" panose="020B0604020202020204" pitchFamily="34" charset="0"/>
            <a:cs typeface="Arial" panose="020B0604020202020204" pitchFamily="34" charset="0"/>
          </a:endParaRPr>
        </a:p>
        <a:p>
          <a:pPr marL="171450" lvl="1" indent="-171450" algn="l" defTabSz="844550">
            <a:lnSpc>
              <a:spcPct val="90000"/>
            </a:lnSpc>
            <a:spcBef>
              <a:spcPct val="0"/>
            </a:spcBef>
            <a:spcAft>
              <a:spcPct val="20000"/>
            </a:spcAft>
            <a:buChar char="•"/>
          </a:pPr>
          <a:r>
            <a:rPr lang="en-US" sz="1900" b="1" kern="1200" dirty="0">
              <a:latin typeface="Arial" panose="020B0604020202020204" pitchFamily="34" charset="0"/>
              <a:cs typeface="Arial" panose="020B0604020202020204" pitchFamily="34" charset="0"/>
            </a:rPr>
            <a:t>Disk Storage: </a:t>
          </a:r>
          <a:r>
            <a:rPr lang="en-US" sz="1900" kern="1200" dirty="0">
              <a:latin typeface="Arial" panose="020B0604020202020204" pitchFamily="34" charset="0"/>
              <a:cs typeface="Arial" panose="020B0604020202020204" pitchFamily="34" charset="0"/>
            </a:rPr>
            <a:t>is much slower than main memory, but also has much higher capacity than the preceding three types of memory. </a:t>
          </a:r>
          <a:endParaRPr lang="en-PK" sz="1900" kern="1200" dirty="0">
            <a:latin typeface="Arial" panose="020B0604020202020204" pitchFamily="34" charset="0"/>
            <a:cs typeface="Arial" panose="020B0604020202020204" pitchFamily="34" charset="0"/>
          </a:endParaRPr>
        </a:p>
        <a:p>
          <a:pPr marL="171450" lvl="1" indent="-171450" algn="l" defTabSz="844550">
            <a:lnSpc>
              <a:spcPct val="90000"/>
            </a:lnSpc>
            <a:spcBef>
              <a:spcPct val="0"/>
            </a:spcBef>
            <a:spcAft>
              <a:spcPct val="20000"/>
            </a:spcAft>
            <a:buChar char="•"/>
          </a:pPr>
          <a:r>
            <a:rPr lang="en-US" sz="1900" b="1" kern="1200" dirty="0">
              <a:latin typeface="Arial" panose="020B0604020202020204" pitchFamily="34" charset="0"/>
              <a:cs typeface="Arial" panose="020B0604020202020204" pitchFamily="34" charset="0"/>
            </a:rPr>
            <a:t>Archival Storage: </a:t>
          </a:r>
          <a:r>
            <a:rPr lang="en-US" sz="1900" kern="1200" dirty="0">
              <a:latin typeface="Arial" panose="020B0604020202020204" pitchFamily="34" charset="0"/>
              <a:cs typeface="Arial" panose="020B0604020202020204" pitchFamily="34" charset="0"/>
            </a:rPr>
            <a:t>is offline storage such as a CD-ROM jukebox or (in former years) rooms filled with racks containing magnetic tapes. This type of storage has a very long access time, in comparison with disk storage, and is also designed to be much less volatile than disk data</a:t>
          </a:r>
          <a:r>
            <a:rPr lang="en-US" sz="1900" kern="1200" dirty="0"/>
            <a:t>.</a:t>
          </a:r>
          <a:endParaRPr lang="en-PK" sz="1900" kern="1200" dirty="0"/>
        </a:p>
      </dsp:txBody>
      <dsp:txXfrm>
        <a:off x="0" y="709652"/>
        <a:ext cx="10515600" cy="437184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B3ED3-97E8-4B3B-AC16-294D4361D06F}">
      <dsp:nvSpPr>
        <dsp:cNvPr id="0" name=""/>
        <dsp:cNvSpPr/>
      </dsp:nvSpPr>
      <dsp:spPr>
        <a:xfrm rot="5400000">
          <a:off x="5373689" y="-930665"/>
          <a:ext cx="4100860" cy="698740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49530" rIns="99060" bIns="49530" numCol="1" spcCol="1270" anchor="ctr" anchorCtr="0">
          <a:noAutofit/>
        </a:bodyPr>
        <a:lstStyle/>
        <a:p>
          <a:pPr marL="228600" lvl="1" indent="-228600" algn="l" defTabSz="1155700">
            <a:lnSpc>
              <a:spcPct val="90000"/>
            </a:lnSpc>
            <a:spcBef>
              <a:spcPct val="0"/>
            </a:spcBef>
            <a:spcAft>
              <a:spcPct val="15000"/>
            </a:spcAft>
            <a:buChar char="•"/>
          </a:pPr>
          <a:r>
            <a:rPr lang="en-US" sz="2600" b="1" kern="1200" dirty="0">
              <a:latin typeface="Arial" panose="020B0604020202020204" pitchFamily="34" charset="0"/>
              <a:cs typeface="Arial" panose="020B0604020202020204" pitchFamily="34" charset="0"/>
            </a:rPr>
            <a:t>Capacity: </a:t>
          </a:r>
          <a:r>
            <a:rPr lang="en-US" sz="2600" kern="1200" dirty="0">
              <a:latin typeface="Arial" panose="020B0604020202020204" pitchFamily="34" charset="0"/>
              <a:cs typeface="Arial" panose="020B0604020202020204" pitchFamily="34" charset="0"/>
            </a:rPr>
            <a:t>It refers to the total volume of data that a system’s memory can store. The capacity increases moving from the top to the bottom in the Memory Hierarchy.</a:t>
          </a:r>
          <a:endParaRPr lang="en-PK" sz="2600" kern="1200" dirty="0">
            <a:latin typeface="Arial" panose="020B0604020202020204" pitchFamily="34" charset="0"/>
            <a:cs typeface="Arial" panose="020B0604020202020204" pitchFamily="34" charset="0"/>
          </a:endParaRPr>
        </a:p>
        <a:p>
          <a:pPr marL="228600" lvl="1" indent="-228600" algn="l" defTabSz="1155700">
            <a:lnSpc>
              <a:spcPct val="90000"/>
            </a:lnSpc>
            <a:spcBef>
              <a:spcPct val="0"/>
            </a:spcBef>
            <a:spcAft>
              <a:spcPct val="15000"/>
            </a:spcAft>
            <a:buChar char="•"/>
          </a:pPr>
          <a:r>
            <a:rPr lang="en-US" sz="2600" b="1" kern="1200" dirty="0">
              <a:latin typeface="Arial" panose="020B0604020202020204" pitchFamily="34" charset="0"/>
              <a:cs typeface="Arial" panose="020B0604020202020204" pitchFamily="34" charset="0"/>
            </a:rPr>
            <a:t>Access Time: </a:t>
          </a:r>
          <a:r>
            <a:rPr lang="en-US" sz="2600" kern="1200" dirty="0">
              <a:latin typeface="Arial" panose="020B0604020202020204" pitchFamily="34" charset="0"/>
              <a:cs typeface="Arial" panose="020B0604020202020204" pitchFamily="34" charset="0"/>
            </a:rPr>
            <a:t>It refers to the time interval present between the request for read/write and the data availability. The access time increases as we move from the top to the bottom in the Memory Hierarchy.</a:t>
          </a:r>
          <a:endParaRPr lang="en-PK" sz="2600" kern="1200" dirty="0">
            <a:latin typeface="Arial" panose="020B0604020202020204" pitchFamily="34" charset="0"/>
            <a:cs typeface="Arial" panose="020B0604020202020204" pitchFamily="34" charset="0"/>
          </a:endParaRPr>
        </a:p>
      </dsp:txBody>
      <dsp:txXfrm rot="-5400000">
        <a:off x="3930417" y="712794"/>
        <a:ext cx="6787219" cy="3700486"/>
      </dsp:txXfrm>
    </dsp:sp>
    <dsp:sp modelId="{7BB8FD88-148C-4C41-8187-C7F9F547C467}">
      <dsp:nvSpPr>
        <dsp:cNvPr id="0" name=""/>
        <dsp:cNvSpPr/>
      </dsp:nvSpPr>
      <dsp:spPr>
        <a:xfrm>
          <a:off x="0" y="0"/>
          <a:ext cx="3930416" cy="51260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dirty="0"/>
            <a:t>Characteristics of a Memory Hierarchy can be inferred from the previous figure:</a:t>
          </a:r>
          <a:endParaRPr lang="en-PK" sz="3800" kern="1200" dirty="0"/>
        </a:p>
      </dsp:txBody>
      <dsp:txXfrm>
        <a:off x="191867" y="191867"/>
        <a:ext cx="3546682" cy="474234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B3ED3-97E8-4B3B-AC16-294D4361D06F}">
      <dsp:nvSpPr>
        <dsp:cNvPr id="0" name=""/>
        <dsp:cNvSpPr/>
      </dsp:nvSpPr>
      <dsp:spPr>
        <a:xfrm rot="5400000">
          <a:off x="5373689" y="-930665"/>
          <a:ext cx="4100860" cy="698740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US" sz="1900" b="1" kern="1200" dirty="0">
              <a:latin typeface="Arial" panose="020B0604020202020204" pitchFamily="34" charset="0"/>
              <a:cs typeface="Arial" panose="020B0604020202020204" pitchFamily="34" charset="0"/>
            </a:rPr>
            <a:t>Performance: </a:t>
          </a:r>
          <a:r>
            <a:rPr lang="en-US" sz="1900" kern="1200" dirty="0">
              <a:latin typeface="Arial" panose="020B0604020202020204" pitchFamily="34" charset="0"/>
              <a:cs typeface="Arial" panose="020B0604020202020204" pitchFamily="34" charset="0"/>
            </a:rPr>
            <a:t>When a computer system was designed earlier without the Memory Hierarchy Design, the gap in speed increased between the given CPU registers and the Main Memory due to a large difference in the system’s access time. It ultimately resulted in the system’s lower performance, and thus, enhancement was required. Such a kind of enhancement was introduced in the form of Memory Hierarchy Design, and because of this, the system’s performance increased. One of the primary ways to increase the performance of a system is minimizing how much a memory hierarchy has to be done to manipulate data.</a:t>
          </a:r>
          <a:endParaRPr lang="en-PK" sz="1900" kern="1200" dirty="0">
            <a:latin typeface="Arial" panose="020B0604020202020204" pitchFamily="34" charset="0"/>
            <a:cs typeface="Arial" panose="020B0604020202020204" pitchFamily="34" charset="0"/>
          </a:endParaRPr>
        </a:p>
        <a:p>
          <a:pPr marL="171450" lvl="1" indent="-171450" algn="l" defTabSz="844550">
            <a:lnSpc>
              <a:spcPct val="90000"/>
            </a:lnSpc>
            <a:spcBef>
              <a:spcPct val="0"/>
            </a:spcBef>
            <a:spcAft>
              <a:spcPct val="15000"/>
            </a:spcAft>
            <a:buChar char="•"/>
          </a:pPr>
          <a:r>
            <a:rPr lang="en-US" sz="1900" b="1" kern="1200" dirty="0">
              <a:latin typeface="Arial" panose="020B0604020202020204" pitchFamily="34" charset="0"/>
              <a:cs typeface="Arial" panose="020B0604020202020204" pitchFamily="34" charset="0"/>
            </a:rPr>
            <a:t>Cost per bit: </a:t>
          </a:r>
          <a:r>
            <a:rPr lang="en-US" sz="1900" kern="1200" dirty="0">
              <a:latin typeface="Arial" panose="020B0604020202020204" pitchFamily="34" charset="0"/>
              <a:cs typeface="Arial" panose="020B0604020202020204" pitchFamily="34" charset="0"/>
            </a:rPr>
            <a:t>The cost per bit increases as one moves from the bottom to the top in the Memory Hierarchy, i.e. External Memory is cheaper than Internal Memory.</a:t>
          </a:r>
          <a:endParaRPr lang="en-PK" sz="1900" kern="1200" dirty="0">
            <a:latin typeface="Arial" panose="020B0604020202020204" pitchFamily="34" charset="0"/>
            <a:cs typeface="Arial" panose="020B0604020202020204" pitchFamily="34" charset="0"/>
          </a:endParaRPr>
        </a:p>
      </dsp:txBody>
      <dsp:txXfrm rot="-5400000">
        <a:off x="3930417" y="712794"/>
        <a:ext cx="6787219" cy="3700486"/>
      </dsp:txXfrm>
    </dsp:sp>
    <dsp:sp modelId="{7BB8FD88-148C-4C41-8187-C7F9F547C467}">
      <dsp:nvSpPr>
        <dsp:cNvPr id="0" name=""/>
        <dsp:cNvSpPr/>
      </dsp:nvSpPr>
      <dsp:spPr>
        <a:xfrm>
          <a:off x="0" y="0"/>
          <a:ext cx="3930416" cy="51260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dirty="0"/>
            <a:t>Characteristics of a Memory Hierarchy can be inferred from the previous figure:</a:t>
          </a:r>
          <a:endParaRPr lang="en-PK" sz="3800" kern="1200" dirty="0"/>
        </a:p>
      </dsp:txBody>
      <dsp:txXfrm>
        <a:off x="191867" y="191867"/>
        <a:ext cx="3546682" cy="474234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Understanding of Limitations of Memory System Performance.</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Memory Latency Example.</a:t>
          </a:r>
        </a:p>
      </dsp:txBody>
      <dsp:txXfrm>
        <a:off x="2024809" y="3140937"/>
        <a:ext cx="4978967" cy="175308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C2136E-A7E7-4355-9361-2C173ADB59F1}">
      <dsp:nvSpPr>
        <dsp:cNvPr id="0" name=""/>
        <dsp:cNvSpPr/>
      </dsp:nvSpPr>
      <dsp:spPr>
        <a:xfrm>
          <a:off x="0" y="3526925"/>
          <a:ext cx="7003777" cy="231404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Memory system performance is largely captured by two parameters, latency and bandwidth. </a:t>
          </a:r>
        </a:p>
      </dsp:txBody>
      <dsp:txXfrm>
        <a:off x="0" y="3526925"/>
        <a:ext cx="7003777" cy="1249584"/>
      </dsp:txXfrm>
    </dsp:sp>
    <dsp:sp modelId="{D78DC9EA-EC43-4DF4-AC2A-DDFA9EB3E75E}">
      <dsp:nvSpPr>
        <dsp:cNvPr id="0" name=""/>
        <dsp:cNvSpPr/>
      </dsp:nvSpPr>
      <dsp:spPr>
        <a:xfrm>
          <a:off x="0" y="4730228"/>
          <a:ext cx="3501888" cy="106446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Latency: </a:t>
          </a:r>
          <a:r>
            <a:rPr lang="en-US" sz="1800" kern="1200" dirty="0"/>
            <a:t>Is the time from the issue of a memory request to the time the data is available at the processor. </a:t>
          </a:r>
        </a:p>
      </dsp:txBody>
      <dsp:txXfrm>
        <a:off x="0" y="4730228"/>
        <a:ext cx="3501888" cy="1064460"/>
      </dsp:txXfrm>
    </dsp:sp>
    <dsp:sp modelId="{4492BF36-D5DD-46F9-BA85-2916D5C8A933}">
      <dsp:nvSpPr>
        <dsp:cNvPr id="0" name=""/>
        <dsp:cNvSpPr/>
      </dsp:nvSpPr>
      <dsp:spPr>
        <a:xfrm>
          <a:off x="3501888" y="4730228"/>
          <a:ext cx="3501888" cy="106446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Bandwidth: </a:t>
          </a:r>
          <a:r>
            <a:rPr lang="en-US" sz="1800" kern="1200" dirty="0"/>
            <a:t>Is the rate at which data can be pumped to the processor by the memory system. </a:t>
          </a:r>
        </a:p>
      </dsp:txBody>
      <dsp:txXfrm>
        <a:off x="3501888" y="4730228"/>
        <a:ext cx="3501888" cy="1064460"/>
      </dsp:txXfrm>
    </dsp:sp>
    <dsp:sp modelId="{092CABE3-9986-4A46-8299-7316A99065D5}">
      <dsp:nvSpPr>
        <dsp:cNvPr id="0" name=""/>
        <dsp:cNvSpPr/>
      </dsp:nvSpPr>
      <dsp:spPr>
        <a:xfrm rot="10800000">
          <a:off x="0" y="2635"/>
          <a:ext cx="7003777" cy="3559000"/>
        </a:xfrm>
        <a:prstGeom prst="upArrowCallou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a:t>Memory system, and not processor speed, is often the bottleneck for many applications. </a:t>
          </a:r>
        </a:p>
      </dsp:txBody>
      <dsp:txXfrm rot="10800000">
        <a:off x="0" y="2635"/>
        <a:ext cx="7003777" cy="2312531"/>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0EC2CB-91EB-427A-9081-BE299D30B1FF}">
      <dsp:nvSpPr>
        <dsp:cNvPr id="0" name=""/>
        <dsp:cNvSpPr/>
      </dsp:nvSpPr>
      <dsp:spPr>
        <a:xfrm>
          <a:off x="0" y="100201"/>
          <a:ext cx="7003777" cy="184231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It is very important to understand the difference between latency and bandwidth. </a:t>
          </a:r>
        </a:p>
      </dsp:txBody>
      <dsp:txXfrm>
        <a:off x="89934" y="190135"/>
        <a:ext cx="6823909" cy="1662443"/>
      </dsp:txXfrm>
    </dsp:sp>
    <dsp:sp modelId="{EC062F53-DC9B-4406-AA94-4AFEC917A9CA}">
      <dsp:nvSpPr>
        <dsp:cNvPr id="0" name=""/>
        <dsp:cNvSpPr/>
      </dsp:nvSpPr>
      <dsp:spPr>
        <a:xfrm>
          <a:off x="0" y="2017392"/>
          <a:ext cx="7003777" cy="1842311"/>
        </a:xfrm>
        <a:prstGeom prst="roundRect">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Consider the example of a fire-hose. If the water comes out of the hose two seconds after the hydrant is turned on, the latency of the system is two seconds. </a:t>
          </a:r>
        </a:p>
      </dsp:txBody>
      <dsp:txXfrm>
        <a:off x="89934" y="2107326"/>
        <a:ext cx="6823909" cy="1662443"/>
      </dsp:txXfrm>
    </dsp:sp>
    <dsp:sp modelId="{54AA4018-270C-4BDE-876C-D63FF8FE08FC}">
      <dsp:nvSpPr>
        <dsp:cNvPr id="0" name=""/>
        <dsp:cNvSpPr/>
      </dsp:nvSpPr>
      <dsp:spPr>
        <a:xfrm>
          <a:off x="0" y="3859703"/>
          <a:ext cx="7003777" cy="1883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3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Once the water starts flowing, if the hydrant delivers water at the rate of 5 gallons/second, the bandwidth of the system is 5 gallons/second. </a:t>
          </a:r>
        </a:p>
        <a:p>
          <a:pPr marL="228600" lvl="1" indent="-228600" algn="l" defTabSz="889000">
            <a:lnSpc>
              <a:spcPct val="90000"/>
            </a:lnSpc>
            <a:spcBef>
              <a:spcPct val="0"/>
            </a:spcBef>
            <a:spcAft>
              <a:spcPct val="20000"/>
            </a:spcAft>
            <a:buChar char="•"/>
          </a:pPr>
          <a:r>
            <a:rPr lang="en-US" sz="2000" kern="1200"/>
            <a:t>If you want immediate response from the hydrant, it is important to reduce latency. </a:t>
          </a:r>
        </a:p>
        <a:p>
          <a:pPr marL="228600" lvl="1" indent="-228600" algn="l" defTabSz="889000">
            <a:lnSpc>
              <a:spcPct val="90000"/>
            </a:lnSpc>
            <a:spcBef>
              <a:spcPct val="0"/>
            </a:spcBef>
            <a:spcAft>
              <a:spcPct val="20000"/>
            </a:spcAft>
            <a:buChar char="•"/>
          </a:pPr>
          <a:r>
            <a:rPr lang="en-US" sz="2000" kern="1200"/>
            <a:t>If you want to fight big fires, you want high bandwidth. </a:t>
          </a:r>
        </a:p>
      </dsp:txBody>
      <dsp:txXfrm>
        <a:off x="0" y="3859703"/>
        <a:ext cx="7003777" cy="188370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Effect of Cache.</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Effect of Cache with Example.</a:t>
          </a:r>
        </a:p>
      </dsp:txBody>
      <dsp:txXfrm>
        <a:off x="2024809" y="3140937"/>
        <a:ext cx="4978967" cy="1753081"/>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D0A11E-659C-491A-B650-A0C1EED604CE}">
      <dsp:nvSpPr>
        <dsp:cNvPr id="0" name=""/>
        <dsp:cNvSpPr/>
      </dsp:nvSpPr>
      <dsp:spPr>
        <a:xfrm>
          <a:off x="0" y="0"/>
          <a:ext cx="8670566" cy="7146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Caches are small and fast memory elements between the processor and DRAM. </a:t>
          </a:r>
        </a:p>
      </dsp:txBody>
      <dsp:txXfrm>
        <a:off x="20930" y="20930"/>
        <a:ext cx="7815827" cy="672759"/>
      </dsp:txXfrm>
    </dsp:sp>
    <dsp:sp modelId="{7BFEB0F6-CD62-4D67-A2ED-C72A1B468AF8}">
      <dsp:nvSpPr>
        <dsp:cNvPr id="0" name=""/>
        <dsp:cNvSpPr/>
      </dsp:nvSpPr>
      <dsp:spPr>
        <a:xfrm>
          <a:off x="647477" y="813871"/>
          <a:ext cx="8670566" cy="7146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This memory acts as a low-latency high-bandwidth storage. </a:t>
          </a:r>
        </a:p>
      </dsp:txBody>
      <dsp:txXfrm>
        <a:off x="668407" y="834801"/>
        <a:ext cx="7516726" cy="672759"/>
      </dsp:txXfrm>
    </dsp:sp>
    <dsp:sp modelId="{3C8117AF-23A9-451E-9223-FA4A0A867CF6}">
      <dsp:nvSpPr>
        <dsp:cNvPr id="0" name=""/>
        <dsp:cNvSpPr/>
      </dsp:nvSpPr>
      <dsp:spPr>
        <a:xfrm>
          <a:off x="1294954" y="1627743"/>
          <a:ext cx="8670566" cy="7146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If a piece of data is repeatedly used, the effective latency of this memory system can be reduced by the cache. </a:t>
          </a:r>
        </a:p>
      </dsp:txBody>
      <dsp:txXfrm>
        <a:off x="1315884" y="1648673"/>
        <a:ext cx="7516726" cy="672759"/>
      </dsp:txXfrm>
    </dsp:sp>
    <dsp:sp modelId="{7D1E5EBB-ACD3-42FE-AF4B-E6AAD903A6BB}">
      <dsp:nvSpPr>
        <dsp:cNvPr id="0" name=""/>
        <dsp:cNvSpPr/>
      </dsp:nvSpPr>
      <dsp:spPr>
        <a:xfrm>
          <a:off x="1942432" y="2441615"/>
          <a:ext cx="8670566" cy="7146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The fraction of data references satisfied by the cache is called the cache hit ratio of the computation on the system. </a:t>
          </a:r>
        </a:p>
      </dsp:txBody>
      <dsp:txXfrm>
        <a:off x="1963362" y="2462545"/>
        <a:ext cx="7516726" cy="672759"/>
      </dsp:txXfrm>
    </dsp:sp>
    <dsp:sp modelId="{AF8991CF-6DA0-4163-B42C-56843D390FBB}">
      <dsp:nvSpPr>
        <dsp:cNvPr id="0" name=""/>
        <dsp:cNvSpPr/>
      </dsp:nvSpPr>
      <dsp:spPr>
        <a:xfrm>
          <a:off x="2589909" y="3255486"/>
          <a:ext cx="8670566" cy="7146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Cache hit ratio achieved by a code on a memory system often determines its performance. </a:t>
          </a:r>
        </a:p>
      </dsp:txBody>
      <dsp:txXfrm>
        <a:off x="2610839" y="3276416"/>
        <a:ext cx="7516726" cy="672759"/>
      </dsp:txXfrm>
    </dsp:sp>
    <dsp:sp modelId="{79339218-E955-45E4-A922-D033E22190F4}">
      <dsp:nvSpPr>
        <dsp:cNvPr id="0" name=""/>
        <dsp:cNvSpPr/>
      </dsp:nvSpPr>
      <dsp:spPr>
        <a:xfrm>
          <a:off x="8206064" y="522068"/>
          <a:ext cx="464502" cy="46450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310577" y="522068"/>
        <a:ext cx="255476" cy="349538"/>
      </dsp:txXfrm>
    </dsp:sp>
    <dsp:sp modelId="{CA00E5B3-0339-40EB-9BF1-D8BE2DED119D}">
      <dsp:nvSpPr>
        <dsp:cNvPr id="0" name=""/>
        <dsp:cNvSpPr/>
      </dsp:nvSpPr>
      <dsp:spPr>
        <a:xfrm>
          <a:off x="8853541" y="1335940"/>
          <a:ext cx="464502" cy="46450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958054" y="1335940"/>
        <a:ext cx="255476" cy="349538"/>
      </dsp:txXfrm>
    </dsp:sp>
    <dsp:sp modelId="{A6F357B8-145C-4EBC-8416-38AAB8B1A3C1}">
      <dsp:nvSpPr>
        <dsp:cNvPr id="0" name=""/>
        <dsp:cNvSpPr/>
      </dsp:nvSpPr>
      <dsp:spPr>
        <a:xfrm>
          <a:off x="9501018" y="2137902"/>
          <a:ext cx="464502" cy="46450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9605531" y="2137902"/>
        <a:ext cx="255476" cy="349538"/>
      </dsp:txXfrm>
    </dsp:sp>
    <dsp:sp modelId="{BD3646BE-452E-4AEA-9F56-79CD490F38F4}">
      <dsp:nvSpPr>
        <dsp:cNvPr id="0" name=""/>
        <dsp:cNvSpPr/>
      </dsp:nvSpPr>
      <dsp:spPr>
        <a:xfrm>
          <a:off x="10148496" y="2959714"/>
          <a:ext cx="464502" cy="46450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10253009" y="2959714"/>
        <a:ext cx="255476" cy="34953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35F8CD-4094-428D-90AE-71DDDEB1B62D}">
      <dsp:nvSpPr>
        <dsp:cNvPr id="0" name=""/>
        <dsp:cNvSpPr/>
      </dsp:nvSpPr>
      <dsp:spPr>
        <a:xfrm>
          <a:off x="0" y="1476177"/>
          <a:ext cx="2972704" cy="18876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B1D036-E611-454A-9B6B-970A151C8EBB}">
      <dsp:nvSpPr>
        <dsp:cNvPr id="0" name=""/>
        <dsp:cNvSpPr/>
      </dsp:nvSpPr>
      <dsp:spPr>
        <a:xfrm>
          <a:off x="330300" y="1789963"/>
          <a:ext cx="2972704" cy="188766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rial" panose="020B0604020202020204" pitchFamily="34" charset="0"/>
              <a:cs typeface="Arial" panose="020B0604020202020204" pitchFamily="34" charset="0"/>
            </a:rPr>
            <a:t>Repeated references to the same data item correspond to temporal locality.</a:t>
          </a:r>
        </a:p>
      </dsp:txBody>
      <dsp:txXfrm>
        <a:off x="385588" y="1845251"/>
        <a:ext cx="2862128" cy="1777091"/>
      </dsp:txXfrm>
    </dsp:sp>
    <dsp:sp modelId="{209E302B-859D-4795-B2FE-01EA7CA54FC2}">
      <dsp:nvSpPr>
        <dsp:cNvPr id="0" name=""/>
        <dsp:cNvSpPr/>
      </dsp:nvSpPr>
      <dsp:spPr>
        <a:xfrm>
          <a:off x="3633305" y="1476177"/>
          <a:ext cx="2972704" cy="18876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CEA9DA-1DD5-485E-A4DB-B97274B4C6C0}">
      <dsp:nvSpPr>
        <dsp:cNvPr id="0" name=""/>
        <dsp:cNvSpPr/>
      </dsp:nvSpPr>
      <dsp:spPr>
        <a:xfrm>
          <a:off x="3963606" y="1789963"/>
          <a:ext cx="2972704" cy="188766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rial" panose="020B0604020202020204" pitchFamily="34" charset="0"/>
              <a:cs typeface="Arial" panose="020B0604020202020204" pitchFamily="34" charset="0"/>
            </a:rPr>
            <a:t>In our example, we had O(n2) data accesses and O(n3) computation. This asymptotic difference makes the above example particularly desirable for caches.</a:t>
          </a:r>
        </a:p>
      </dsp:txBody>
      <dsp:txXfrm>
        <a:off x="4018894" y="1845251"/>
        <a:ext cx="2862128" cy="1777091"/>
      </dsp:txXfrm>
    </dsp:sp>
    <dsp:sp modelId="{81CDA805-A4F9-4C98-BE78-0CD4674E21B7}">
      <dsp:nvSpPr>
        <dsp:cNvPr id="0" name=""/>
        <dsp:cNvSpPr/>
      </dsp:nvSpPr>
      <dsp:spPr>
        <a:xfrm>
          <a:off x="7266611" y="1476177"/>
          <a:ext cx="2972704" cy="18876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C45649-A0B0-48EA-8652-073002D92B87}">
      <dsp:nvSpPr>
        <dsp:cNvPr id="0" name=""/>
        <dsp:cNvSpPr/>
      </dsp:nvSpPr>
      <dsp:spPr>
        <a:xfrm>
          <a:off x="7596911" y="1789963"/>
          <a:ext cx="2972704" cy="188766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Arial" panose="020B0604020202020204" pitchFamily="34" charset="0"/>
              <a:cs typeface="Arial" panose="020B0604020202020204" pitchFamily="34" charset="0"/>
            </a:rPr>
            <a:t>Reduce network congestion and improve overall performance. </a:t>
          </a:r>
          <a:endParaRPr lang="en-PK" sz="1700" kern="1200" dirty="0">
            <a:latin typeface="Arial" panose="020B0604020202020204" pitchFamily="34" charset="0"/>
            <a:cs typeface="Arial" panose="020B0604020202020204" pitchFamily="34" charset="0"/>
          </a:endParaRPr>
        </a:p>
      </dsp:txBody>
      <dsp:txXfrm>
        <a:off x="7652199" y="1845251"/>
        <a:ext cx="2862128" cy="1777091"/>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5A079-0DC7-4B01-A09B-2EBE651FF9B5}">
      <dsp:nvSpPr>
        <dsp:cNvPr id="0" name=""/>
        <dsp:cNvSpPr/>
      </dsp:nvSpPr>
      <dsp:spPr>
        <a:xfrm>
          <a:off x="0" y="430135"/>
          <a:ext cx="10515600" cy="702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latin typeface="Arial" panose="020B0604020202020204" pitchFamily="34" charset="0"/>
              <a:cs typeface="Arial" panose="020B0604020202020204" pitchFamily="34" charset="0"/>
            </a:rPr>
            <a:t>The following observations can be made about the problem:</a:t>
          </a:r>
          <a:endParaRPr lang="en-PK" sz="3000" kern="1200" dirty="0">
            <a:latin typeface="Arial" panose="020B0604020202020204" pitchFamily="34" charset="0"/>
            <a:cs typeface="Arial" panose="020B0604020202020204" pitchFamily="34" charset="0"/>
          </a:endParaRPr>
        </a:p>
      </dsp:txBody>
      <dsp:txXfrm>
        <a:off x="34269" y="464404"/>
        <a:ext cx="10447062" cy="633462"/>
      </dsp:txXfrm>
    </dsp:sp>
    <dsp:sp modelId="{43024692-7FA6-46A9-A919-5987B5D7C3D0}">
      <dsp:nvSpPr>
        <dsp:cNvPr id="0" name=""/>
        <dsp:cNvSpPr/>
      </dsp:nvSpPr>
      <dsp:spPr>
        <a:xfrm>
          <a:off x="0" y="1132136"/>
          <a:ext cx="10515600" cy="3042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dirty="0">
              <a:latin typeface="Arial" panose="020B0604020202020204" pitchFamily="34" charset="0"/>
              <a:cs typeface="Arial" panose="020B0604020202020204" pitchFamily="34" charset="0"/>
            </a:rPr>
            <a:t>Fetching the two matrices into the cache corresponds to fetching 2K words, which takes approximately 200 µs.</a:t>
          </a:r>
          <a:endParaRPr lang="en-PK" sz="2300" kern="1200" dirty="0">
            <a:latin typeface="Arial" panose="020B0604020202020204" pitchFamily="34" charset="0"/>
            <a:cs typeface="Arial" panose="020B0604020202020204" pitchFamily="34" charset="0"/>
          </a:endParaRPr>
        </a:p>
        <a:p>
          <a:pPr marL="228600" lvl="1" indent="-228600" algn="l" defTabSz="1022350">
            <a:lnSpc>
              <a:spcPct val="90000"/>
            </a:lnSpc>
            <a:spcBef>
              <a:spcPct val="0"/>
            </a:spcBef>
            <a:spcAft>
              <a:spcPct val="20000"/>
            </a:spcAft>
            <a:buChar char="•"/>
          </a:pPr>
          <a:r>
            <a:rPr lang="en-US" sz="2300" kern="1200" dirty="0">
              <a:latin typeface="Arial" panose="020B0604020202020204" pitchFamily="34" charset="0"/>
              <a:cs typeface="Arial" panose="020B0604020202020204" pitchFamily="34" charset="0"/>
            </a:rPr>
            <a:t>Multiplying two n × n matrices takes 2n3 operations. For our problem, this corresponds to 64K operations, which can be performed in 16K cycles (or 16 µs) at four instructions per cycle.</a:t>
          </a:r>
          <a:endParaRPr lang="en-PK" sz="2300" kern="1200" dirty="0">
            <a:latin typeface="Arial" panose="020B0604020202020204" pitchFamily="34" charset="0"/>
            <a:cs typeface="Arial" panose="020B0604020202020204" pitchFamily="34" charset="0"/>
          </a:endParaRPr>
        </a:p>
        <a:p>
          <a:pPr marL="228600" lvl="1" indent="-228600" algn="l" defTabSz="1022350">
            <a:lnSpc>
              <a:spcPct val="90000"/>
            </a:lnSpc>
            <a:spcBef>
              <a:spcPct val="0"/>
            </a:spcBef>
            <a:spcAft>
              <a:spcPct val="20000"/>
            </a:spcAft>
            <a:buChar char="•"/>
          </a:pPr>
          <a:r>
            <a:rPr lang="en-US" sz="2300" kern="1200" dirty="0">
              <a:latin typeface="Arial" panose="020B0604020202020204" pitchFamily="34" charset="0"/>
              <a:cs typeface="Arial" panose="020B0604020202020204" pitchFamily="34" charset="0"/>
            </a:rPr>
            <a:t>The total time for the computation is therefore approximately the sum of time for load/store operations and the time for the computation itself, i.e., 200 + 16 µs.</a:t>
          </a:r>
          <a:endParaRPr lang="en-PK" sz="2300" kern="1200" dirty="0">
            <a:latin typeface="Arial" panose="020B0604020202020204" pitchFamily="34" charset="0"/>
            <a:cs typeface="Arial" panose="020B0604020202020204" pitchFamily="34" charset="0"/>
          </a:endParaRPr>
        </a:p>
        <a:p>
          <a:pPr marL="228600" lvl="1" indent="-228600" algn="l" defTabSz="1022350">
            <a:lnSpc>
              <a:spcPct val="90000"/>
            </a:lnSpc>
            <a:spcBef>
              <a:spcPct val="0"/>
            </a:spcBef>
            <a:spcAft>
              <a:spcPct val="20000"/>
            </a:spcAft>
            <a:buChar char="•"/>
          </a:pPr>
          <a:r>
            <a:rPr lang="en-US" sz="2300" kern="1200" dirty="0">
              <a:latin typeface="Arial" panose="020B0604020202020204" pitchFamily="34" charset="0"/>
              <a:cs typeface="Arial" panose="020B0604020202020204" pitchFamily="34" charset="0"/>
            </a:rPr>
            <a:t>This corresponds to a peak computation rate of 64K/216 or 303 MFLOPS</a:t>
          </a:r>
          <a:r>
            <a:rPr lang="en-US" sz="2300" kern="1200" dirty="0"/>
            <a:t>.</a:t>
          </a:r>
          <a:endParaRPr lang="en-PK" sz="2300" kern="1200" dirty="0"/>
        </a:p>
      </dsp:txBody>
      <dsp:txXfrm>
        <a:off x="0" y="1132136"/>
        <a:ext cx="10515600" cy="304290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Effect of Memory Bandwidth.</a:t>
          </a:r>
          <a:endParaRPr lang="en-PK" sz="2500" kern="1200" dirty="0">
            <a:latin typeface="Arial" panose="020B0604020202020204" pitchFamily="34" charset="0"/>
            <a:cs typeface="Arial" panose="020B0604020202020204" pitchFamily="34" charset="0"/>
          </a:endParaRPr>
        </a:p>
      </dsp:txBody>
      <dsp:txXfrm>
        <a:off x="2024809" y="949585"/>
        <a:ext cx="4978967" cy="1753081"/>
      </dsp:txXfrm>
    </dsp:sp>
    <dsp:sp modelId="{86AFC238-F655-46AB-B4B9-6CFAB4EEE339}">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Effect of Memory Bandwidth Example.</a:t>
          </a:r>
          <a:endParaRPr lang="en-PK" altLang="en-PK" sz="2500" kern="1200" dirty="0">
            <a:latin typeface="Arial" panose="020B0604020202020204" pitchFamily="34" charset="0"/>
            <a:ea typeface="ＭＳ Ｐゴシック" panose="020B0600070205080204" pitchFamily="34" charset="-128"/>
            <a:cs typeface="Arial" panose="020B0604020202020204" pitchFamily="34" charset="0"/>
          </a:endParaRPr>
        </a:p>
      </dsp:txBody>
      <dsp:txXfrm>
        <a:off x="2024809" y="3140937"/>
        <a:ext cx="4978967" cy="1753081"/>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C14A6-9DF4-4B70-8160-028B018F68FC}">
      <dsp:nvSpPr>
        <dsp:cNvPr id="0" name=""/>
        <dsp:cNvSpPr/>
      </dsp:nvSpPr>
      <dsp:spPr>
        <a:xfrm>
          <a:off x="0" y="0"/>
          <a:ext cx="8938260" cy="109870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Memory bandwidth is determined by the bandwidth of the memory bus as well as the memory units.</a:t>
          </a:r>
          <a:endParaRPr lang="en-PK" sz="2500" kern="1200" dirty="0"/>
        </a:p>
      </dsp:txBody>
      <dsp:txXfrm>
        <a:off x="32180" y="32180"/>
        <a:ext cx="7752667" cy="1034348"/>
      </dsp:txXfrm>
    </dsp:sp>
    <dsp:sp modelId="{F3E99993-4F74-4C65-9C56-F4F397A7C0B1}">
      <dsp:nvSpPr>
        <dsp:cNvPr id="0" name=""/>
        <dsp:cNvSpPr/>
      </dsp:nvSpPr>
      <dsp:spPr>
        <a:xfrm>
          <a:off x="788669" y="1281827"/>
          <a:ext cx="8938260" cy="1098708"/>
        </a:xfrm>
        <a:prstGeom prst="roundRect">
          <a:avLst>
            <a:gd name="adj" fmla="val 10000"/>
          </a:avLst>
        </a:prstGeom>
        <a:solidFill>
          <a:schemeClr val="accent2">
            <a:hueOff val="-752677"/>
            <a:satOff val="-3174"/>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Memory bandwidth can be improved by increasing the size of memory blocks.</a:t>
          </a:r>
          <a:endParaRPr lang="en-PK" sz="2500" kern="1200" dirty="0"/>
        </a:p>
      </dsp:txBody>
      <dsp:txXfrm>
        <a:off x="820849" y="1314007"/>
        <a:ext cx="7371069" cy="1034348"/>
      </dsp:txXfrm>
    </dsp:sp>
    <dsp:sp modelId="{30350560-818A-453B-881D-9AFEF1A0DBFF}">
      <dsp:nvSpPr>
        <dsp:cNvPr id="0" name=""/>
        <dsp:cNvSpPr/>
      </dsp:nvSpPr>
      <dsp:spPr>
        <a:xfrm>
          <a:off x="1577339" y="2563654"/>
          <a:ext cx="8938260" cy="1098708"/>
        </a:xfrm>
        <a:prstGeom prst="roundRect">
          <a:avLst>
            <a:gd name="adj" fmla="val 10000"/>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The performance of the CPU or GPU can also impact memory bandwidth.</a:t>
          </a:r>
          <a:endParaRPr lang="en-PK" sz="2500" kern="1200" dirty="0"/>
        </a:p>
      </dsp:txBody>
      <dsp:txXfrm>
        <a:off x="1609519" y="2595834"/>
        <a:ext cx="7371069" cy="1034348"/>
      </dsp:txXfrm>
    </dsp:sp>
    <dsp:sp modelId="{D0A01581-301C-4E1B-A924-6E73DBE5AC6C}">
      <dsp:nvSpPr>
        <dsp:cNvPr id="0" name=""/>
        <dsp:cNvSpPr/>
      </dsp:nvSpPr>
      <dsp:spPr>
        <a:xfrm>
          <a:off x="8224099" y="833187"/>
          <a:ext cx="714160" cy="714160"/>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PK" sz="3200" kern="1200"/>
        </a:p>
      </dsp:txBody>
      <dsp:txXfrm>
        <a:off x="8384785" y="833187"/>
        <a:ext cx="392788" cy="537405"/>
      </dsp:txXfrm>
    </dsp:sp>
    <dsp:sp modelId="{F9AAD86B-6795-422A-8814-3DA59CE1F380}">
      <dsp:nvSpPr>
        <dsp:cNvPr id="0" name=""/>
        <dsp:cNvSpPr/>
      </dsp:nvSpPr>
      <dsp:spPr>
        <a:xfrm>
          <a:off x="9012769" y="2107689"/>
          <a:ext cx="714160" cy="714160"/>
        </a:xfrm>
        <a:prstGeom prst="downArrow">
          <a:avLst>
            <a:gd name="adj1" fmla="val 55000"/>
            <a:gd name="adj2" fmla="val 45000"/>
          </a:avLst>
        </a:prstGeom>
        <a:solidFill>
          <a:schemeClr val="accent2">
            <a:tint val="40000"/>
            <a:alpha val="90000"/>
            <a:hueOff val="-1138838"/>
            <a:satOff val="934"/>
            <a:lumOff val="451"/>
            <a:alphaOff val="0"/>
          </a:schemeClr>
        </a:solidFill>
        <a:ln w="12700" cap="flat" cmpd="sng" algn="ctr">
          <a:solidFill>
            <a:schemeClr val="accent2">
              <a:tint val="40000"/>
              <a:alpha val="90000"/>
              <a:hueOff val="-1138838"/>
              <a:satOff val="934"/>
              <a:lumOff val="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PK" sz="3200" kern="1200"/>
        </a:p>
      </dsp:txBody>
      <dsp:txXfrm>
        <a:off x="9173455" y="2107689"/>
        <a:ext cx="392788" cy="537405"/>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253877-BE63-4C3D-AB23-7898089F1910}">
      <dsp:nvSpPr>
        <dsp:cNvPr id="0" name=""/>
        <dsp:cNvSpPr/>
      </dsp:nvSpPr>
      <dsp:spPr>
        <a:xfrm>
          <a:off x="0" y="186281"/>
          <a:ext cx="10515600" cy="1649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Consider the same setup as in previous topic, except in this case, the block size is 4 words instead of 1 word. We repeat the dot-product computation in this scenario:</a:t>
          </a:r>
          <a:endParaRPr lang="en-PK" sz="3000" kern="1200" dirty="0"/>
        </a:p>
      </dsp:txBody>
      <dsp:txXfrm>
        <a:off x="80532" y="266813"/>
        <a:ext cx="10354536" cy="1488636"/>
      </dsp:txXfrm>
    </dsp:sp>
    <dsp:sp modelId="{5DEB120B-C723-497C-B4CB-A630DE97A791}">
      <dsp:nvSpPr>
        <dsp:cNvPr id="0" name=""/>
        <dsp:cNvSpPr/>
      </dsp:nvSpPr>
      <dsp:spPr>
        <a:xfrm>
          <a:off x="0" y="1835981"/>
          <a:ext cx="10515600" cy="2173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kern="1200" dirty="0"/>
            <a:t>Assuming that the vectors are laid out linearly in memory, eight FLOPs (four multiply-adds) can be performed in 200 cycles.</a:t>
          </a:r>
          <a:endParaRPr lang="en-PK" sz="2300" kern="1200" dirty="0"/>
        </a:p>
        <a:p>
          <a:pPr marL="228600" lvl="1" indent="-228600" algn="l" defTabSz="1022350">
            <a:lnSpc>
              <a:spcPct val="90000"/>
            </a:lnSpc>
            <a:spcBef>
              <a:spcPct val="0"/>
            </a:spcBef>
            <a:spcAft>
              <a:spcPct val="20000"/>
            </a:spcAft>
            <a:buChar char="•"/>
          </a:pPr>
          <a:r>
            <a:rPr lang="en-US" sz="2300" kern="1200" dirty="0"/>
            <a:t>This is because a single memory access fetches four consecutive words in the vector.</a:t>
          </a:r>
          <a:endParaRPr lang="en-PK" sz="2300" kern="1200" dirty="0"/>
        </a:p>
        <a:p>
          <a:pPr marL="228600" lvl="1" indent="-228600" algn="l" defTabSz="1022350">
            <a:lnSpc>
              <a:spcPct val="90000"/>
            </a:lnSpc>
            <a:spcBef>
              <a:spcPct val="0"/>
            </a:spcBef>
            <a:spcAft>
              <a:spcPct val="20000"/>
            </a:spcAft>
            <a:buChar char="•"/>
          </a:pPr>
          <a:r>
            <a:rPr lang="en-US" sz="2300" kern="1200" dirty="0"/>
            <a:t>Therefore, two accesses can fetch four elements of each of the vectors. This corresponds to a FLOP every 25 ns, for a peak speed of 40 MFLOPS.</a:t>
          </a:r>
          <a:endParaRPr lang="en-PK" sz="2300" kern="1200" dirty="0"/>
        </a:p>
      </dsp:txBody>
      <dsp:txXfrm>
        <a:off x="0" y="1835981"/>
        <a:ext cx="10515600" cy="217350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CB4EDE-D881-476E-8A1A-10B7A22414D6}">
      <dsp:nvSpPr>
        <dsp:cNvPr id="0" name=""/>
        <dsp:cNvSpPr/>
      </dsp:nvSpPr>
      <dsp:spPr>
        <a:xfrm>
          <a:off x="0" y="0"/>
          <a:ext cx="8125224" cy="99206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It is important to note that increasing block size does not change latency of the system. </a:t>
          </a:r>
        </a:p>
      </dsp:txBody>
      <dsp:txXfrm>
        <a:off x="29057" y="29057"/>
        <a:ext cx="6970878" cy="933951"/>
      </dsp:txXfrm>
    </dsp:sp>
    <dsp:sp modelId="{EEAF8AFC-A174-4443-A41C-E6943D73D32F}">
      <dsp:nvSpPr>
        <dsp:cNvPr id="0" name=""/>
        <dsp:cNvSpPr/>
      </dsp:nvSpPr>
      <dsp:spPr>
        <a:xfrm>
          <a:off x="680487" y="1172441"/>
          <a:ext cx="8125224" cy="992065"/>
        </a:xfrm>
        <a:prstGeom prst="roundRect">
          <a:avLst>
            <a:gd name="adj" fmla="val 10000"/>
          </a:avLst>
        </a:prstGeom>
        <a:solidFill>
          <a:schemeClr val="accent2">
            <a:hueOff val="-501784"/>
            <a:satOff val="-2116"/>
            <a:lumOff val="10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Physically, the scenario illustrated here can be viewed as a wide data bus (4 words or 128 bits) connected to multiple memory banks. </a:t>
          </a:r>
        </a:p>
      </dsp:txBody>
      <dsp:txXfrm>
        <a:off x="709544" y="1201498"/>
        <a:ext cx="6741780" cy="933951"/>
      </dsp:txXfrm>
    </dsp:sp>
    <dsp:sp modelId="{DD31CC04-F5F0-4F58-BF35-D5A842EB5179}">
      <dsp:nvSpPr>
        <dsp:cNvPr id="0" name=""/>
        <dsp:cNvSpPr/>
      </dsp:nvSpPr>
      <dsp:spPr>
        <a:xfrm>
          <a:off x="1350818" y="2344882"/>
          <a:ext cx="8125224" cy="992065"/>
        </a:xfrm>
        <a:prstGeom prst="roundRect">
          <a:avLst>
            <a:gd name="adj" fmla="val 10000"/>
          </a:avLst>
        </a:prstGeom>
        <a:solidFill>
          <a:schemeClr val="accent2">
            <a:hueOff val="-1003569"/>
            <a:satOff val="-4231"/>
            <a:lumOff val="20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In practice, such wide buses are expensive to construct. </a:t>
          </a:r>
        </a:p>
      </dsp:txBody>
      <dsp:txXfrm>
        <a:off x="1379875" y="2373939"/>
        <a:ext cx="6751936" cy="933951"/>
      </dsp:txXfrm>
    </dsp:sp>
    <dsp:sp modelId="{4768B327-4AAF-4666-9AB9-DB8CA322E27D}">
      <dsp:nvSpPr>
        <dsp:cNvPr id="0" name=""/>
        <dsp:cNvSpPr/>
      </dsp:nvSpPr>
      <dsp:spPr>
        <a:xfrm>
          <a:off x="2031306" y="3517324"/>
          <a:ext cx="8125224" cy="992065"/>
        </a:xfrm>
        <a:prstGeom prst="roundRect">
          <a:avLst>
            <a:gd name="adj" fmla="val 10000"/>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In a more practical system, consecutive words are sent on the memory bus on subsequent bus cycles after the first word is retrieved. </a:t>
          </a:r>
        </a:p>
      </dsp:txBody>
      <dsp:txXfrm>
        <a:off x="2060363" y="3546381"/>
        <a:ext cx="6741780" cy="933951"/>
      </dsp:txXfrm>
    </dsp:sp>
    <dsp:sp modelId="{05341CA8-CDE5-485E-89ED-7C4D855A9206}">
      <dsp:nvSpPr>
        <dsp:cNvPr id="0" name=""/>
        <dsp:cNvSpPr/>
      </dsp:nvSpPr>
      <dsp:spPr>
        <a:xfrm>
          <a:off x="7480382" y="759832"/>
          <a:ext cx="644842" cy="644842"/>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7625471" y="759832"/>
        <a:ext cx="354664" cy="485244"/>
      </dsp:txXfrm>
    </dsp:sp>
    <dsp:sp modelId="{8DFD8EF0-0744-442C-B4B5-7B16899801B2}">
      <dsp:nvSpPr>
        <dsp:cNvPr id="0" name=""/>
        <dsp:cNvSpPr/>
      </dsp:nvSpPr>
      <dsp:spPr>
        <a:xfrm>
          <a:off x="8160869" y="1932273"/>
          <a:ext cx="644842" cy="644842"/>
        </a:xfrm>
        <a:prstGeom prst="downArrow">
          <a:avLst>
            <a:gd name="adj1" fmla="val 55000"/>
            <a:gd name="adj2" fmla="val 45000"/>
          </a:avLst>
        </a:prstGeom>
        <a:solidFill>
          <a:schemeClr val="accent2">
            <a:tint val="40000"/>
            <a:alpha val="90000"/>
            <a:hueOff val="-569419"/>
            <a:satOff val="467"/>
            <a:lumOff val="225"/>
            <a:alphaOff val="0"/>
          </a:schemeClr>
        </a:solidFill>
        <a:ln w="12700" cap="flat" cmpd="sng" algn="ctr">
          <a:solidFill>
            <a:schemeClr val="accent2">
              <a:tint val="40000"/>
              <a:alpha val="90000"/>
              <a:hueOff val="-569419"/>
              <a:satOff val="467"/>
              <a:lumOff val="2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8305958" y="1932273"/>
        <a:ext cx="354664" cy="485244"/>
      </dsp:txXfrm>
    </dsp:sp>
    <dsp:sp modelId="{6CF2DBBD-D154-469F-8799-64D253922FE4}">
      <dsp:nvSpPr>
        <dsp:cNvPr id="0" name=""/>
        <dsp:cNvSpPr/>
      </dsp:nvSpPr>
      <dsp:spPr>
        <a:xfrm>
          <a:off x="8831200" y="3104715"/>
          <a:ext cx="644842" cy="644842"/>
        </a:xfrm>
        <a:prstGeom prst="downArrow">
          <a:avLst>
            <a:gd name="adj1" fmla="val 55000"/>
            <a:gd name="adj2" fmla="val 45000"/>
          </a:avLst>
        </a:prstGeom>
        <a:solidFill>
          <a:schemeClr val="accent2">
            <a:tint val="40000"/>
            <a:alpha val="90000"/>
            <a:hueOff val="-1138838"/>
            <a:satOff val="934"/>
            <a:lumOff val="451"/>
            <a:alphaOff val="0"/>
          </a:schemeClr>
        </a:solidFill>
        <a:ln w="12700" cap="flat" cmpd="sng" algn="ctr">
          <a:solidFill>
            <a:schemeClr val="accent2">
              <a:tint val="40000"/>
              <a:alpha val="90000"/>
              <a:hueOff val="-1138838"/>
              <a:satOff val="934"/>
              <a:lumOff val="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8976289" y="3104715"/>
        <a:ext cx="354664" cy="48524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081A61-B8E7-4B55-AB65-881175D6DC4F}">
      <dsp:nvSpPr>
        <dsp:cNvPr id="0" name=""/>
        <dsp:cNvSpPr/>
      </dsp:nvSpPr>
      <dsp:spPr>
        <a:xfrm>
          <a:off x="0" y="0"/>
          <a:ext cx="8633051" cy="136003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The above examples clearly illustrate how increased bandwidth results in higher peak computation rates. </a:t>
          </a:r>
        </a:p>
      </dsp:txBody>
      <dsp:txXfrm>
        <a:off x="39834" y="39834"/>
        <a:ext cx="7165466" cy="1280367"/>
      </dsp:txXfrm>
    </dsp:sp>
    <dsp:sp modelId="{92DEF767-9656-4781-A471-56E7823DA73C}">
      <dsp:nvSpPr>
        <dsp:cNvPr id="0" name=""/>
        <dsp:cNvSpPr/>
      </dsp:nvSpPr>
      <dsp:spPr>
        <a:xfrm>
          <a:off x="761739" y="1586708"/>
          <a:ext cx="8633051" cy="1360035"/>
        </a:xfrm>
        <a:prstGeom prst="roundRect">
          <a:avLst>
            <a:gd name="adj" fmla="val 10000"/>
          </a:avLst>
        </a:prstGeom>
        <a:solidFill>
          <a:schemeClr val="accent2">
            <a:hueOff val="-752677"/>
            <a:satOff val="-3174"/>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The data layouts were assumed to be such that consecutive data words in memory were used by successive instructions (spatial locality of reference). </a:t>
          </a:r>
        </a:p>
      </dsp:txBody>
      <dsp:txXfrm>
        <a:off x="801573" y="1626542"/>
        <a:ext cx="6907620" cy="1280367"/>
      </dsp:txXfrm>
    </dsp:sp>
    <dsp:sp modelId="{FC132C9E-3000-4F70-AA48-AEBE41AB6DE1}">
      <dsp:nvSpPr>
        <dsp:cNvPr id="0" name=""/>
        <dsp:cNvSpPr/>
      </dsp:nvSpPr>
      <dsp:spPr>
        <a:xfrm>
          <a:off x="1523479" y="3173417"/>
          <a:ext cx="8633051" cy="1360035"/>
        </a:xfrm>
        <a:prstGeom prst="roundRect">
          <a:avLst>
            <a:gd name="adj" fmla="val 10000"/>
          </a:avLst>
        </a:prstGeom>
        <a:solidFill>
          <a:schemeClr val="accent2">
            <a:hueOff val="-1505353"/>
            <a:satOff val="-6347"/>
            <a:lumOff val="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If we take a data-layout centric view, computations must be reordered to enhance spatial locality of reference. </a:t>
          </a:r>
        </a:p>
      </dsp:txBody>
      <dsp:txXfrm>
        <a:off x="1563313" y="3213251"/>
        <a:ext cx="6907620" cy="1280367"/>
      </dsp:txXfrm>
    </dsp:sp>
    <dsp:sp modelId="{EE623862-CBBD-464E-A3B9-B16D9A9A7449}">
      <dsp:nvSpPr>
        <dsp:cNvPr id="0" name=""/>
        <dsp:cNvSpPr/>
      </dsp:nvSpPr>
      <dsp:spPr>
        <a:xfrm>
          <a:off x="7749028" y="1031360"/>
          <a:ext cx="884023" cy="884023"/>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947933" y="1031360"/>
        <a:ext cx="486213" cy="665227"/>
      </dsp:txXfrm>
    </dsp:sp>
    <dsp:sp modelId="{72776BA7-0B09-45D2-AB5B-F89BA735F032}">
      <dsp:nvSpPr>
        <dsp:cNvPr id="0" name=""/>
        <dsp:cNvSpPr/>
      </dsp:nvSpPr>
      <dsp:spPr>
        <a:xfrm>
          <a:off x="8510767" y="2609002"/>
          <a:ext cx="884023" cy="884023"/>
        </a:xfrm>
        <a:prstGeom prst="downArrow">
          <a:avLst>
            <a:gd name="adj1" fmla="val 55000"/>
            <a:gd name="adj2" fmla="val 45000"/>
          </a:avLst>
        </a:prstGeom>
        <a:solidFill>
          <a:schemeClr val="accent2">
            <a:tint val="40000"/>
            <a:alpha val="90000"/>
            <a:hueOff val="-1138838"/>
            <a:satOff val="934"/>
            <a:lumOff val="451"/>
            <a:alphaOff val="0"/>
          </a:schemeClr>
        </a:solidFill>
        <a:ln w="12700" cap="flat" cmpd="sng" algn="ctr">
          <a:solidFill>
            <a:schemeClr val="accent2">
              <a:tint val="40000"/>
              <a:alpha val="90000"/>
              <a:hueOff val="-1138838"/>
              <a:satOff val="934"/>
              <a:lumOff val="4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709672" y="2609002"/>
        <a:ext cx="486213" cy="66522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40B9B-C9AE-4BE6-A302-3545C91AF698}" type="datetimeFigureOut">
              <a:rPr lang="en-PK" smtClean="0"/>
              <a:t>23/05/2023</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052EF2-9A63-441C-BEB0-04C32019A013}" type="slidenum">
              <a:rPr lang="en-PK" smtClean="0"/>
              <a:t>‹#›</a:t>
            </a:fld>
            <a:endParaRPr lang="en-PK"/>
          </a:p>
        </p:txBody>
      </p:sp>
    </p:spTree>
    <p:extLst>
      <p:ext uri="{BB962C8B-B14F-4D97-AF65-F5344CB8AC3E}">
        <p14:creationId xmlns:p14="http://schemas.microsoft.com/office/powerpoint/2010/main" val="820510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a:t>
            </a:fld>
            <a:endParaRPr lang="en-PK"/>
          </a:p>
        </p:txBody>
      </p:sp>
    </p:spTree>
    <p:extLst>
      <p:ext uri="{BB962C8B-B14F-4D97-AF65-F5344CB8AC3E}">
        <p14:creationId xmlns:p14="http://schemas.microsoft.com/office/powerpoint/2010/main" val="497197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5</a:t>
            </a:fld>
            <a:endParaRPr lang="en-PK"/>
          </a:p>
        </p:txBody>
      </p:sp>
    </p:spTree>
    <p:extLst>
      <p:ext uri="{BB962C8B-B14F-4D97-AF65-F5344CB8AC3E}">
        <p14:creationId xmlns:p14="http://schemas.microsoft.com/office/powerpoint/2010/main" val="878381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6</a:t>
            </a:fld>
            <a:endParaRPr lang="en-PK"/>
          </a:p>
        </p:txBody>
      </p:sp>
    </p:spTree>
    <p:extLst>
      <p:ext uri="{BB962C8B-B14F-4D97-AF65-F5344CB8AC3E}">
        <p14:creationId xmlns:p14="http://schemas.microsoft.com/office/powerpoint/2010/main" val="1057740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7</a:t>
            </a:fld>
            <a:endParaRPr lang="en-PK"/>
          </a:p>
        </p:txBody>
      </p:sp>
    </p:spTree>
    <p:extLst>
      <p:ext uri="{BB962C8B-B14F-4D97-AF65-F5344CB8AC3E}">
        <p14:creationId xmlns:p14="http://schemas.microsoft.com/office/powerpoint/2010/main" val="204894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b="0" i="0" dirty="0">
                <a:solidFill>
                  <a:srgbClr val="000000"/>
                </a:solidFill>
                <a:effectLst/>
                <a:latin typeface="Söhne"/>
              </a:rPr>
            </a:br>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8</a:t>
            </a:fld>
            <a:endParaRPr lang="en-PK"/>
          </a:p>
        </p:txBody>
      </p:sp>
    </p:spTree>
    <p:extLst>
      <p:ext uri="{BB962C8B-B14F-4D97-AF65-F5344CB8AC3E}">
        <p14:creationId xmlns:p14="http://schemas.microsoft.com/office/powerpoint/2010/main" val="662576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11</a:t>
            </a:fld>
            <a:endParaRPr lang="en-PK"/>
          </a:p>
        </p:txBody>
      </p:sp>
    </p:spTree>
    <p:extLst>
      <p:ext uri="{BB962C8B-B14F-4D97-AF65-F5344CB8AC3E}">
        <p14:creationId xmlns:p14="http://schemas.microsoft.com/office/powerpoint/2010/main" val="4172808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12</a:t>
            </a:fld>
            <a:endParaRPr lang="en-PK"/>
          </a:p>
        </p:txBody>
      </p:sp>
    </p:spTree>
    <p:extLst>
      <p:ext uri="{BB962C8B-B14F-4D97-AF65-F5344CB8AC3E}">
        <p14:creationId xmlns:p14="http://schemas.microsoft.com/office/powerpoint/2010/main" val="4073223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13</a:t>
            </a:fld>
            <a:endParaRPr lang="en-PK"/>
          </a:p>
        </p:txBody>
      </p:sp>
    </p:spTree>
    <p:extLst>
      <p:ext uri="{BB962C8B-B14F-4D97-AF65-F5344CB8AC3E}">
        <p14:creationId xmlns:p14="http://schemas.microsoft.com/office/powerpoint/2010/main" val="1932528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16</a:t>
            </a:fld>
            <a:endParaRPr lang="en-PK"/>
          </a:p>
        </p:txBody>
      </p:sp>
    </p:spTree>
    <p:extLst>
      <p:ext uri="{BB962C8B-B14F-4D97-AF65-F5344CB8AC3E}">
        <p14:creationId xmlns:p14="http://schemas.microsoft.com/office/powerpoint/2010/main" val="3018733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3330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2542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778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910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23</a:t>
            </a:fld>
            <a:endParaRPr lang="en-PK"/>
          </a:p>
        </p:txBody>
      </p:sp>
    </p:spTree>
    <p:extLst>
      <p:ext uri="{BB962C8B-B14F-4D97-AF65-F5344CB8AC3E}">
        <p14:creationId xmlns:p14="http://schemas.microsoft.com/office/powerpoint/2010/main" val="15713344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374151"/>
              </a:solidFill>
              <a:effectLst/>
              <a:latin typeface="Söhne"/>
            </a:endParaRPr>
          </a:p>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24</a:t>
            </a:fld>
            <a:endParaRPr lang="en-PK"/>
          </a:p>
        </p:txBody>
      </p:sp>
    </p:spTree>
    <p:extLst>
      <p:ext uri="{BB962C8B-B14F-4D97-AF65-F5344CB8AC3E}">
        <p14:creationId xmlns:p14="http://schemas.microsoft.com/office/powerpoint/2010/main" val="3694992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25</a:t>
            </a:fld>
            <a:endParaRPr lang="en-PK"/>
          </a:p>
        </p:txBody>
      </p:sp>
    </p:spTree>
    <p:extLst>
      <p:ext uri="{BB962C8B-B14F-4D97-AF65-F5344CB8AC3E}">
        <p14:creationId xmlns:p14="http://schemas.microsoft.com/office/powerpoint/2010/main" val="4191354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26</a:t>
            </a:fld>
            <a:endParaRPr lang="en-PK"/>
          </a:p>
        </p:txBody>
      </p:sp>
    </p:spTree>
    <p:extLst>
      <p:ext uri="{BB962C8B-B14F-4D97-AF65-F5344CB8AC3E}">
        <p14:creationId xmlns:p14="http://schemas.microsoft.com/office/powerpoint/2010/main" val="1706379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27</a:t>
            </a:fld>
            <a:endParaRPr lang="en-PK"/>
          </a:p>
        </p:txBody>
      </p:sp>
    </p:spTree>
    <p:extLst>
      <p:ext uri="{BB962C8B-B14F-4D97-AF65-F5344CB8AC3E}">
        <p14:creationId xmlns:p14="http://schemas.microsoft.com/office/powerpoint/2010/main" val="41599052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28</a:t>
            </a:fld>
            <a:endParaRPr lang="en-PK"/>
          </a:p>
        </p:txBody>
      </p:sp>
    </p:spTree>
    <p:extLst>
      <p:ext uri="{BB962C8B-B14F-4D97-AF65-F5344CB8AC3E}">
        <p14:creationId xmlns:p14="http://schemas.microsoft.com/office/powerpoint/2010/main" val="3485749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5010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53820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2976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35</a:t>
            </a:fld>
            <a:endParaRPr lang="en-PK"/>
          </a:p>
        </p:txBody>
      </p:sp>
    </p:spTree>
    <p:extLst>
      <p:ext uri="{BB962C8B-B14F-4D97-AF65-F5344CB8AC3E}">
        <p14:creationId xmlns:p14="http://schemas.microsoft.com/office/powerpoint/2010/main" val="35565790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36</a:t>
            </a:fld>
            <a:endParaRPr lang="en-PK"/>
          </a:p>
        </p:txBody>
      </p:sp>
    </p:spTree>
    <p:extLst>
      <p:ext uri="{BB962C8B-B14F-4D97-AF65-F5344CB8AC3E}">
        <p14:creationId xmlns:p14="http://schemas.microsoft.com/office/powerpoint/2010/main" val="4794352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37</a:t>
            </a:fld>
            <a:endParaRPr lang="en-PK"/>
          </a:p>
        </p:txBody>
      </p:sp>
    </p:spTree>
    <p:extLst>
      <p:ext uri="{BB962C8B-B14F-4D97-AF65-F5344CB8AC3E}">
        <p14:creationId xmlns:p14="http://schemas.microsoft.com/office/powerpoint/2010/main" val="23306944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b="0" i="0" dirty="0">
                <a:solidFill>
                  <a:srgbClr val="000000"/>
                </a:solidFill>
                <a:effectLst/>
                <a:latin typeface="Söhne"/>
              </a:rPr>
            </a:br>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38</a:t>
            </a:fld>
            <a:endParaRPr lang="en-PK"/>
          </a:p>
        </p:txBody>
      </p:sp>
    </p:spTree>
    <p:extLst>
      <p:ext uri="{BB962C8B-B14F-4D97-AF65-F5344CB8AC3E}">
        <p14:creationId xmlns:p14="http://schemas.microsoft.com/office/powerpoint/2010/main" val="29155597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41</a:t>
            </a:fld>
            <a:endParaRPr lang="en-PK"/>
          </a:p>
        </p:txBody>
      </p:sp>
    </p:spTree>
    <p:extLst>
      <p:ext uri="{BB962C8B-B14F-4D97-AF65-F5344CB8AC3E}">
        <p14:creationId xmlns:p14="http://schemas.microsoft.com/office/powerpoint/2010/main" val="16555149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42</a:t>
            </a:fld>
            <a:endParaRPr lang="en-PK"/>
          </a:p>
        </p:txBody>
      </p:sp>
    </p:spTree>
    <p:extLst>
      <p:ext uri="{BB962C8B-B14F-4D97-AF65-F5344CB8AC3E}">
        <p14:creationId xmlns:p14="http://schemas.microsoft.com/office/powerpoint/2010/main" val="34569849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43</a:t>
            </a:fld>
            <a:endParaRPr lang="en-PK"/>
          </a:p>
        </p:txBody>
      </p:sp>
    </p:spTree>
    <p:extLst>
      <p:ext uri="{BB962C8B-B14F-4D97-AF65-F5344CB8AC3E}">
        <p14:creationId xmlns:p14="http://schemas.microsoft.com/office/powerpoint/2010/main" val="39754072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44</a:t>
            </a:fld>
            <a:endParaRPr lang="en-PK"/>
          </a:p>
        </p:txBody>
      </p:sp>
    </p:spTree>
    <p:extLst>
      <p:ext uri="{BB962C8B-B14F-4D97-AF65-F5344CB8AC3E}">
        <p14:creationId xmlns:p14="http://schemas.microsoft.com/office/powerpoint/2010/main" val="648192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5/23/2023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580473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5/23/2023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20037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5/23/2023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80832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5/23/2023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37095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5/23/2023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839323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5/23/2023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98303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5/23/2023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848354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5/23/2023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31371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5/23/2023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52800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5/23/2023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15277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5/23/2023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03801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5/23/2023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99439962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691" r:id="rId3"/>
    <p:sldLayoutId id="2147483692" r:id="rId4"/>
    <p:sldLayoutId id="2147483693" r:id="rId5"/>
    <p:sldLayoutId id="2147483694" r:id="rId6"/>
    <p:sldLayoutId id="2147483695" r:id="rId7"/>
    <p:sldLayoutId id="2147483699" r:id="rId8"/>
    <p:sldLayoutId id="2147483696" r:id="rId9"/>
    <p:sldLayoutId id="2147483697" r:id="rId10"/>
    <p:sldLayoutId id="2147483698"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f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9.png"/><Relationship Id="rId7" Type="http://schemas.openxmlformats.org/officeDocument/2006/relationships/diagramQuickStyle" Target="../diagrams/quickStyle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0.png"/><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pn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png"/><Relationship Id="rId7" Type="http://schemas.openxmlformats.org/officeDocument/2006/relationships/diagramColors" Target="../diagrams/colors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png"/><Relationship Id="rId7" Type="http://schemas.openxmlformats.org/officeDocument/2006/relationships/diagramColors" Target="../diagrams/colors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7.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3.png"/><Relationship Id="rId7" Type="http://schemas.openxmlformats.org/officeDocument/2006/relationships/diagramColors" Target="../diagrams/colors9.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8.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3.png"/><Relationship Id="rId7" Type="http://schemas.openxmlformats.org/officeDocument/2006/relationships/diagramColors" Target="../diagrams/colors10.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9.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3.png"/><Relationship Id="rId7" Type="http://schemas.openxmlformats.org/officeDocument/2006/relationships/diagramColors" Target="../diagrams/colors1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20.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3.png"/><Relationship Id="rId7" Type="http://schemas.openxmlformats.org/officeDocument/2006/relationships/diagramColors" Target="../diagrams/colors1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14.xml"/><Relationship Id="rId3" Type="http://schemas.openxmlformats.org/officeDocument/2006/relationships/image" Target="../media/image9.png"/><Relationship Id="rId7" Type="http://schemas.openxmlformats.org/officeDocument/2006/relationships/diagramQuickStyle" Target="../diagrams/quickStyle1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Layout" Target="../diagrams/layout14.xml"/><Relationship Id="rId5" Type="http://schemas.openxmlformats.org/officeDocument/2006/relationships/diagramData" Target="../diagrams/data14.xml"/><Relationship Id="rId4" Type="http://schemas.openxmlformats.org/officeDocument/2006/relationships/image" Target="../media/image10.png"/><Relationship Id="rId9" Type="http://schemas.microsoft.com/office/2007/relationships/diagramDrawing" Target="../diagrams/drawing14.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8" Type="http://schemas.openxmlformats.org/officeDocument/2006/relationships/diagramColors" Target="../diagrams/colors15.xml"/><Relationship Id="rId3" Type="http://schemas.openxmlformats.org/officeDocument/2006/relationships/image" Target="../media/image9.png"/><Relationship Id="rId7" Type="http://schemas.openxmlformats.org/officeDocument/2006/relationships/diagramQuickStyle" Target="../diagrams/quickStyle1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Layout" Target="../diagrams/layout15.xml"/><Relationship Id="rId5" Type="http://schemas.openxmlformats.org/officeDocument/2006/relationships/diagramData" Target="../diagrams/data15.xml"/><Relationship Id="rId4" Type="http://schemas.openxmlformats.org/officeDocument/2006/relationships/image" Target="../media/image10.png"/><Relationship Id="rId9" Type="http://schemas.microsoft.com/office/2007/relationships/diagramDrawing" Target="../diagrams/drawing15.xml"/></Relationships>
</file>

<file path=ppt/slides/_rels/slide27.xml.rels><?xml version="1.0" encoding="UTF-8" standalone="yes"?>
<Relationships xmlns="http://schemas.openxmlformats.org/package/2006/relationships"><Relationship Id="rId8" Type="http://schemas.openxmlformats.org/officeDocument/2006/relationships/diagramColors" Target="../diagrams/colors16.xml"/><Relationship Id="rId3" Type="http://schemas.openxmlformats.org/officeDocument/2006/relationships/image" Target="../media/image9.png"/><Relationship Id="rId7" Type="http://schemas.openxmlformats.org/officeDocument/2006/relationships/diagramQuickStyle" Target="../diagrams/quickStyle1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Layout" Target="../diagrams/layout16.xml"/><Relationship Id="rId5" Type="http://schemas.openxmlformats.org/officeDocument/2006/relationships/diagramData" Target="../diagrams/data16.xml"/><Relationship Id="rId4" Type="http://schemas.openxmlformats.org/officeDocument/2006/relationships/image" Target="../media/image10.png"/><Relationship Id="rId9" Type="http://schemas.microsoft.com/office/2007/relationships/diagramDrawing" Target="../diagrams/drawing16.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0.xml.rels><?xml version="1.0" encoding="UTF-8" standalone="yes"?>
<Relationships xmlns="http://schemas.openxmlformats.org/package/2006/relationships"><Relationship Id="rId8" Type="http://schemas.microsoft.com/office/2007/relationships/diagramDrawing" Target="../diagrams/drawing18.xml"/><Relationship Id="rId3" Type="http://schemas.openxmlformats.org/officeDocument/2006/relationships/image" Target="../media/image3.png"/><Relationship Id="rId7" Type="http://schemas.openxmlformats.org/officeDocument/2006/relationships/diagramColors" Target="../diagrams/colors18.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s>
</file>

<file path=ppt/slides/_rels/slide31.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image" Target="../media/image3.png"/><Relationship Id="rId7" Type="http://schemas.openxmlformats.org/officeDocument/2006/relationships/diagramColors" Target="../diagrams/colors19.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35.xml.rels><?xml version="1.0" encoding="UTF-8" standalone="yes"?>
<Relationships xmlns="http://schemas.openxmlformats.org/package/2006/relationships"><Relationship Id="rId8" Type="http://schemas.microsoft.com/office/2007/relationships/diagramDrawing" Target="../diagrams/drawing21.xml"/><Relationship Id="rId3" Type="http://schemas.openxmlformats.org/officeDocument/2006/relationships/image" Target="../media/image3.png"/><Relationship Id="rId7" Type="http://schemas.openxmlformats.org/officeDocument/2006/relationships/diagramColors" Target="../diagrams/colors21.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s>
</file>

<file path=ppt/slides/_rels/slide36.xml.rels><?xml version="1.0" encoding="UTF-8" standalone="yes"?>
<Relationships xmlns="http://schemas.openxmlformats.org/package/2006/relationships"><Relationship Id="rId8" Type="http://schemas.openxmlformats.org/officeDocument/2006/relationships/diagramColors" Target="../diagrams/colors22.xml"/><Relationship Id="rId3" Type="http://schemas.openxmlformats.org/officeDocument/2006/relationships/image" Target="../media/image9.png"/><Relationship Id="rId7" Type="http://schemas.openxmlformats.org/officeDocument/2006/relationships/diagramQuickStyle" Target="../diagrams/quickStyle22.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Layout" Target="../diagrams/layout22.xml"/><Relationship Id="rId5" Type="http://schemas.openxmlformats.org/officeDocument/2006/relationships/diagramData" Target="../diagrams/data22.xml"/><Relationship Id="rId4" Type="http://schemas.openxmlformats.org/officeDocument/2006/relationships/image" Target="../media/image10.png"/><Relationship Id="rId9" Type="http://schemas.microsoft.com/office/2007/relationships/diagramDrawing" Target="../diagrams/drawing2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8" Type="http://schemas.openxmlformats.org/officeDocument/2006/relationships/diagramColors" Target="../diagrams/colors23.xml"/><Relationship Id="rId3" Type="http://schemas.openxmlformats.org/officeDocument/2006/relationships/image" Target="../media/image9.png"/><Relationship Id="rId7" Type="http://schemas.openxmlformats.org/officeDocument/2006/relationships/diagramQuickStyle" Target="../diagrams/quickStyle23.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Layout" Target="../diagrams/layout23.xml"/><Relationship Id="rId5" Type="http://schemas.openxmlformats.org/officeDocument/2006/relationships/diagramData" Target="../diagrams/data23.xml"/><Relationship Id="rId4" Type="http://schemas.openxmlformats.org/officeDocument/2006/relationships/image" Target="../media/image10.png"/><Relationship Id="rId9" Type="http://schemas.microsoft.com/office/2007/relationships/diagramDrawing" Target="../diagrams/drawing23.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41.xml.rels><?xml version="1.0" encoding="UTF-8" standalone="yes"?>
<Relationships xmlns="http://schemas.openxmlformats.org/package/2006/relationships"><Relationship Id="rId8" Type="http://schemas.microsoft.com/office/2007/relationships/diagramDrawing" Target="../diagrams/drawing25.xml"/><Relationship Id="rId3" Type="http://schemas.openxmlformats.org/officeDocument/2006/relationships/image" Target="../media/image3.png"/><Relationship Id="rId7" Type="http://schemas.openxmlformats.org/officeDocument/2006/relationships/diagramColors" Target="../diagrams/colors25.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QuickStyle" Target="../diagrams/quickStyle25.xml"/><Relationship Id="rId5" Type="http://schemas.openxmlformats.org/officeDocument/2006/relationships/diagramLayout" Target="../diagrams/layout25.xml"/><Relationship Id="rId4" Type="http://schemas.openxmlformats.org/officeDocument/2006/relationships/diagramData" Target="../diagrams/data25.xml"/></Relationships>
</file>

<file path=ppt/slides/_rels/slide42.xml.rels><?xml version="1.0" encoding="UTF-8" standalone="yes"?>
<Relationships xmlns="http://schemas.openxmlformats.org/package/2006/relationships"><Relationship Id="rId8" Type="http://schemas.openxmlformats.org/officeDocument/2006/relationships/diagramColors" Target="../diagrams/colors26.xml"/><Relationship Id="rId3" Type="http://schemas.openxmlformats.org/officeDocument/2006/relationships/image" Target="../media/image9.png"/><Relationship Id="rId7" Type="http://schemas.openxmlformats.org/officeDocument/2006/relationships/diagramQuickStyle" Target="../diagrams/quickStyle26.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Layout" Target="../diagrams/layout26.xml"/><Relationship Id="rId5" Type="http://schemas.openxmlformats.org/officeDocument/2006/relationships/diagramData" Target="../diagrams/data26.xml"/><Relationship Id="rId4" Type="http://schemas.openxmlformats.org/officeDocument/2006/relationships/image" Target="../media/image10.png"/><Relationship Id="rId9" Type="http://schemas.microsoft.com/office/2007/relationships/diagramDrawing" Target="../diagrams/drawing26.xml"/></Relationships>
</file>

<file path=ppt/slides/_rels/slide43.xml.rels><?xml version="1.0" encoding="UTF-8" standalone="yes"?>
<Relationships xmlns="http://schemas.openxmlformats.org/package/2006/relationships"><Relationship Id="rId8" Type="http://schemas.openxmlformats.org/officeDocument/2006/relationships/diagramColors" Target="../diagrams/colors27.xml"/><Relationship Id="rId3" Type="http://schemas.openxmlformats.org/officeDocument/2006/relationships/image" Target="../media/image9.png"/><Relationship Id="rId7" Type="http://schemas.openxmlformats.org/officeDocument/2006/relationships/diagramQuickStyle" Target="../diagrams/quickStyle27.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Layout" Target="../diagrams/layout27.xml"/><Relationship Id="rId5" Type="http://schemas.openxmlformats.org/officeDocument/2006/relationships/diagramData" Target="../diagrams/data27.xml"/><Relationship Id="rId4" Type="http://schemas.openxmlformats.org/officeDocument/2006/relationships/image" Target="../media/image10.png"/><Relationship Id="rId9" Type="http://schemas.microsoft.com/office/2007/relationships/diagramDrawing" Target="../diagrams/drawing27.xml"/></Relationships>
</file>

<file path=ppt/slides/_rels/slide44.xml.rels><?xml version="1.0" encoding="UTF-8" standalone="yes"?>
<Relationships xmlns="http://schemas.openxmlformats.org/package/2006/relationships"><Relationship Id="rId8" Type="http://schemas.openxmlformats.org/officeDocument/2006/relationships/diagramColors" Target="../diagrams/colors28.xml"/><Relationship Id="rId3" Type="http://schemas.openxmlformats.org/officeDocument/2006/relationships/image" Target="../media/image9.png"/><Relationship Id="rId7" Type="http://schemas.openxmlformats.org/officeDocument/2006/relationships/diagramQuickStyle" Target="../diagrams/quickStyle28.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Layout" Target="../diagrams/layout28.xml"/><Relationship Id="rId5" Type="http://schemas.openxmlformats.org/officeDocument/2006/relationships/diagramData" Target="../diagrams/data28.xml"/><Relationship Id="rId4" Type="http://schemas.openxmlformats.org/officeDocument/2006/relationships/image" Target="../media/image10.png"/><Relationship Id="rId9" Type="http://schemas.microsoft.com/office/2007/relationships/diagramDrawing" Target="../diagrams/drawing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5996628" y="-1308"/>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636998" y="5054884"/>
            <a:ext cx="10204420" cy="1520577"/>
          </a:xfrm>
        </p:spPr>
        <p:txBody>
          <a:bodyPr vert="horz" lIns="91440" tIns="45720" rIns="91440" bIns="45720" rtlCol="0" anchor="ctr">
            <a:normAutofit/>
          </a:bodyPr>
          <a:lstStyle/>
          <a:p>
            <a:pPr algn="l">
              <a:lnSpc>
                <a:spcPct val="90000"/>
              </a:lnSpc>
            </a:pPr>
            <a:r>
              <a:rPr lang="en-US" altLang="en-PK" sz="4100" dirty="0"/>
              <a:t>CS621 Parallel and Distributed Computing</a:t>
            </a:r>
            <a:endParaRPr lang="en-US" sz="4100" dirty="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0" y="-12211"/>
            <a:ext cx="5313452" cy="3935986"/>
          </a:xfrm>
        </p:spPr>
        <p:txBody>
          <a:bodyPr vert="horz" lIns="91440" tIns="45720" rIns="91440" bIns="45720" rtlCol="0" anchor="b">
            <a:normAutofit/>
          </a:bodyPr>
          <a:lstStyle/>
          <a:p>
            <a:pPr algn="just"/>
            <a:r>
              <a:rPr lang="en-US" altLang="en-PK" sz="2800" dirty="0">
                <a:solidFill>
                  <a:schemeClr val="tx2"/>
                </a:solidFill>
                <a:latin typeface="Arial" panose="020B0604020202020204" pitchFamily="34" charset="0"/>
                <a:cs typeface="Arial" panose="020B0604020202020204" pitchFamily="34" charset="0"/>
              </a:rPr>
              <a:t>Dr. Muhammad </a:t>
            </a:r>
            <a:r>
              <a:rPr lang="en-US" altLang="en-PK" sz="2800" dirty="0" err="1">
                <a:solidFill>
                  <a:schemeClr val="tx2"/>
                </a:solidFill>
                <a:latin typeface="Arial" panose="020B0604020202020204" pitchFamily="34" charset="0"/>
                <a:cs typeface="Arial" panose="020B0604020202020204" pitchFamily="34" charset="0"/>
              </a:rPr>
              <a:t>Anwaar</a:t>
            </a:r>
            <a:r>
              <a:rPr lang="en-US" altLang="en-PK" sz="2800" dirty="0">
                <a:solidFill>
                  <a:schemeClr val="tx2"/>
                </a:solidFill>
                <a:latin typeface="Arial" panose="020B0604020202020204" pitchFamily="34" charset="0"/>
                <a:cs typeface="Arial" panose="020B0604020202020204" pitchFamily="34" charset="0"/>
              </a:rPr>
              <a:t> Saeed</a:t>
            </a:r>
          </a:p>
          <a:p>
            <a:pPr algn="just"/>
            <a:r>
              <a:rPr lang="en-US" altLang="en-PK" sz="2800" dirty="0">
                <a:solidFill>
                  <a:schemeClr val="tx2"/>
                </a:solidFill>
                <a:latin typeface="Arial" panose="020B0604020202020204" pitchFamily="34" charset="0"/>
                <a:cs typeface="Arial" panose="020B0604020202020204" pitchFamily="34" charset="0"/>
              </a:rPr>
              <a:t>Dr. Said Nabi</a:t>
            </a:r>
          </a:p>
          <a:p>
            <a:pPr algn="just"/>
            <a:r>
              <a:rPr lang="en-US" altLang="en-PK" sz="2800" dirty="0">
                <a:solidFill>
                  <a:schemeClr val="tx2"/>
                </a:solidFill>
                <a:latin typeface="Arial" panose="020B0604020202020204" pitchFamily="34" charset="0"/>
                <a:cs typeface="Arial" panose="020B0604020202020204" pitchFamily="34" charset="0"/>
              </a:rPr>
              <a:t>Ms. Hina Ishaq</a:t>
            </a:r>
          </a:p>
          <a:p>
            <a:pPr indent="-228600" algn="l">
              <a:buFont typeface="Arial" panose="020B0604020202020204" pitchFamily="34" charset="0"/>
              <a:buChar char="•"/>
            </a:pPr>
            <a:endParaRPr lang="en-US" sz="1800" dirty="0">
              <a:solidFill>
                <a:schemeClr val="tx2"/>
              </a:solidFill>
            </a:endParaRPr>
          </a:p>
        </p:txBody>
      </p:sp>
      <p:pic>
        <p:nvPicPr>
          <p:cNvPr id="6" name="Picture 5" descr="Logo&#10;&#10;Description automatically generated">
            <a:extLst>
              <a:ext uri="{FF2B5EF4-FFF2-40B4-BE49-F238E27FC236}">
                <a16:creationId xmlns:a16="http://schemas.microsoft.com/office/drawing/2014/main" id="{694E1E48-9782-AD50-E256-2B5B4CE334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
            <a:ext cx="1773304" cy="1125608"/>
          </a:xfrm>
          <a:prstGeom prst="rect">
            <a:avLst/>
          </a:prstGeom>
        </p:spPr>
      </p:pic>
    </p:spTree>
    <p:extLst>
      <p:ext uri="{BB962C8B-B14F-4D97-AF65-F5344CB8AC3E}">
        <p14:creationId xmlns:p14="http://schemas.microsoft.com/office/powerpoint/2010/main" val="356019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Concurrency Control</a:t>
            </a:r>
          </a:p>
        </p:txBody>
      </p:sp>
    </p:spTree>
    <p:extLst>
      <p:ext uri="{BB962C8B-B14F-4D97-AF65-F5344CB8AC3E}">
        <p14:creationId xmlns:p14="http://schemas.microsoft.com/office/powerpoint/2010/main" val="476638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276025315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5973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685800" y="381000"/>
            <a:ext cx="10515600" cy="1600124"/>
          </a:xfrm>
        </p:spPr>
        <p:txBody>
          <a:bodyPr>
            <a:normAutofit/>
          </a:bodyPr>
          <a:lstStyle/>
          <a:p>
            <a:r>
              <a:rPr lang="en-US" dirty="0">
                <a:latin typeface="Arial" panose="020B0604020202020204" pitchFamily="34" charset="0"/>
                <a:cs typeface="Arial" panose="020B0604020202020204" pitchFamily="34" charset="0"/>
              </a:rPr>
              <a:t>Definition of Concurrency</a:t>
            </a:r>
            <a:endParaRPr lang="en-PK"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94583708-A02F-F031-8955-6A2B0FC16361}"/>
              </a:ext>
            </a:extLst>
          </p:cNvPr>
          <p:cNvSpPr>
            <a:spLocks noGrp="1"/>
          </p:cNvSpPr>
          <p:nvPr>
            <p:ph idx="1"/>
          </p:nvPr>
        </p:nvSpPr>
        <p:spPr>
          <a:xfrm>
            <a:off x="838200" y="1756882"/>
            <a:ext cx="10515600" cy="4388332"/>
          </a:xfrm>
        </p:spPr>
        <p:txBody>
          <a:bodyPr anchor="ctr"/>
          <a:lstStyle/>
          <a:p>
            <a:pPr marL="0" indent="0" algn="ctr">
              <a:buNone/>
            </a:pPr>
            <a:r>
              <a:rPr lang="en-US" dirty="0">
                <a:solidFill>
                  <a:schemeClr val="tx1"/>
                </a:solidFill>
                <a:latin typeface="Arial" panose="020B0604020202020204" pitchFamily="34" charset="0"/>
                <a:cs typeface="Arial" panose="020B0604020202020204" pitchFamily="34" charset="0"/>
              </a:rPr>
              <a:t>“</a:t>
            </a:r>
            <a:r>
              <a:rPr lang="en-US" dirty="0">
                <a:solidFill>
                  <a:schemeClr val="accent3">
                    <a:lumMod val="75000"/>
                  </a:schemeClr>
                </a:solidFill>
                <a:latin typeface="Arial" panose="020B0604020202020204" pitchFamily="34" charset="0"/>
                <a:cs typeface="Arial" panose="020B0604020202020204" pitchFamily="34" charset="0"/>
              </a:rPr>
              <a:t>Concurrency</a:t>
            </a:r>
            <a:r>
              <a:rPr lang="en-US" dirty="0">
                <a:solidFill>
                  <a:schemeClr val="tx1"/>
                </a:solidFill>
                <a:latin typeface="Arial" panose="020B0604020202020204" pitchFamily="34" charset="0"/>
                <a:cs typeface="Arial" panose="020B0604020202020204" pitchFamily="34" charset="0"/>
              </a:rPr>
              <a:t> is the task of running </a:t>
            </a:r>
            <a:r>
              <a:rPr lang="en-US" dirty="0">
                <a:solidFill>
                  <a:srgbClr val="0A25F0"/>
                </a:solidFill>
                <a:latin typeface="Arial" panose="020B0604020202020204" pitchFamily="34" charset="0"/>
                <a:cs typeface="Arial" panose="020B0604020202020204" pitchFamily="34" charset="0"/>
              </a:rPr>
              <a:t>two or more computations </a:t>
            </a:r>
            <a:r>
              <a:rPr lang="en-US" dirty="0">
                <a:solidFill>
                  <a:schemeClr val="tx1"/>
                </a:solidFill>
                <a:latin typeface="Arial" panose="020B0604020202020204" pitchFamily="34" charset="0"/>
                <a:cs typeface="Arial" panose="020B0604020202020204" pitchFamily="34" charset="0"/>
              </a:rPr>
              <a:t>over the same time interval. Two events are said to be concurrent if they occur within </a:t>
            </a:r>
            <a:r>
              <a:rPr lang="en-US" u="sng" dirty="0">
                <a:solidFill>
                  <a:srgbClr val="C00000"/>
                </a:solidFill>
                <a:latin typeface="Arial" panose="020B0604020202020204" pitchFamily="34" charset="0"/>
                <a:cs typeface="Arial" panose="020B0604020202020204" pitchFamily="34" charset="0"/>
              </a:rPr>
              <a:t>the same time interval</a:t>
            </a:r>
            <a:r>
              <a:rPr lang="en-US"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159013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8" name="Rectangle 67">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70" name="Picture 69">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r>
              <a:rPr lang="en-US" dirty="0">
                <a:solidFill>
                  <a:schemeClr val="tx2"/>
                </a:solidFill>
                <a:latin typeface="Arial" panose="020B0604020202020204" pitchFamily="34" charset="0"/>
                <a:cs typeface="Arial" panose="020B0604020202020204" pitchFamily="34" charset="0"/>
              </a:rPr>
              <a:t>What is Concurrency?</a:t>
            </a:r>
            <a:endParaRPr lang="en-PK" dirty="0">
              <a:solidFill>
                <a:schemeClr val="tx2"/>
              </a:solidFill>
              <a:latin typeface="Arial" panose="020B0604020202020204" pitchFamily="34" charset="0"/>
              <a:cs typeface="Arial" panose="020B0604020202020204" pitchFamily="34" charset="0"/>
            </a:endParaRPr>
          </a:p>
        </p:txBody>
      </p:sp>
      <p:pic>
        <p:nvPicPr>
          <p:cNvPr id="72" name="Picture 71">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86" name="Content Placeholder 4">
            <a:extLst>
              <a:ext uri="{FF2B5EF4-FFF2-40B4-BE49-F238E27FC236}">
                <a16:creationId xmlns:a16="http://schemas.microsoft.com/office/drawing/2014/main" id="{49EDB168-7085-7BEC-97D3-D5BB93FB6600}"/>
              </a:ext>
            </a:extLst>
          </p:cNvPr>
          <p:cNvGraphicFramePr>
            <a:graphicFrameLocks noGrp="1"/>
          </p:cNvGraphicFramePr>
          <p:nvPr>
            <p:ph idx="1"/>
          </p:nvPr>
        </p:nvGraphicFramePr>
        <p:xfrm>
          <a:off x="838200" y="1949450"/>
          <a:ext cx="10515600" cy="457464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32823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6">
                                            <p:graphicEl>
                                              <a:dgm id="{506A5A6A-473B-47EA-85E9-E4F7CFCBA44E}"/>
                                            </p:graphicEl>
                                          </p:spTgt>
                                        </p:tgtEl>
                                        <p:attrNameLst>
                                          <p:attrName>style.visibility</p:attrName>
                                        </p:attrNameLst>
                                      </p:cBhvr>
                                      <p:to>
                                        <p:strVal val="visible"/>
                                      </p:to>
                                    </p:set>
                                    <p:anim calcmode="lin" valueType="num">
                                      <p:cBhvr additive="base">
                                        <p:cTn id="7" dur="500" fill="hold"/>
                                        <p:tgtEl>
                                          <p:spTgt spid="86">
                                            <p:graphicEl>
                                              <a:dgm id="{506A5A6A-473B-47EA-85E9-E4F7CFCBA44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86">
                                            <p:graphicEl>
                                              <a:dgm id="{506A5A6A-473B-47EA-85E9-E4F7CFCBA44E}"/>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6">
                                            <p:graphicEl>
                                              <a:dgm id="{243F42A9-D355-4514-A8B3-B56F692DFBFA}"/>
                                            </p:graphicEl>
                                          </p:spTgt>
                                        </p:tgtEl>
                                        <p:attrNameLst>
                                          <p:attrName>style.visibility</p:attrName>
                                        </p:attrNameLst>
                                      </p:cBhvr>
                                      <p:to>
                                        <p:strVal val="visible"/>
                                      </p:to>
                                    </p:set>
                                    <p:anim calcmode="lin" valueType="num">
                                      <p:cBhvr additive="base">
                                        <p:cTn id="13" dur="500" fill="hold"/>
                                        <p:tgtEl>
                                          <p:spTgt spid="86">
                                            <p:graphicEl>
                                              <a:dgm id="{243F42A9-D355-4514-A8B3-B56F692DFBFA}"/>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86">
                                            <p:graphicEl>
                                              <a:dgm id="{243F42A9-D355-4514-A8B3-B56F692DFBFA}"/>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6">
                                            <p:graphicEl>
                                              <a:dgm id="{B41B6A33-14F6-4658-BE27-02FDDB57FED5}"/>
                                            </p:graphicEl>
                                          </p:spTgt>
                                        </p:tgtEl>
                                        <p:attrNameLst>
                                          <p:attrName>style.visibility</p:attrName>
                                        </p:attrNameLst>
                                      </p:cBhvr>
                                      <p:to>
                                        <p:strVal val="visible"/>
                                      </p:to>
                                    </p:set>
                                    <p:anim calcmode="lin" valueType="num">
                                      <p:cBhvr additive="base">
                                        <p:cTn id="19" dur="500" fill="hold"/>
                                        <p:tgtEl>
                                          <p:spTgt spid="86">
                                            <p:graphicEl>
                                              <a:dgm id="{B41B6A33-14F6-4658-BE27-02FDDB57FED5}"/>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86">
                                            <p:graphicEl>
                                              <a:dgm id="{B41B6A33-14F6-4658-BE27-02FDDB57FED5}"/>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6">
                                            <p:graphicEl>
                                              <a:dgm id="{F8E4B9DA-0AB3-41E8-9FEA-5444EEA0BC96}"/>
                                            </p:graphicEl>
                                          </p:spTgt>
                                        </p:tgtEl>
                                        <p:attrNameLst>
                                          <p:attrName>style.visibility</p:attrName>
                                        </p:attrNameLst>
                                      </p:cBhvr>
                                      <p:to>
                                        <p:strVal val="visible"/>
                                      </p:to>
                                    </p:set>
                                    <p:anim calcmode="lin" valueType="num">
                                      <p:cBhvr additive="base">
                                        <p:cTn id="25" dur="500" fill="hold"/>
                                        <p:tgtEl>
                                          <p:spTgt spid="86">
                                            <p:graphicEl>
                                              <a:dgm id="{F8E4B9DA-0AB3-41E8-9FEA-5444EEA0BC96}"/>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86">
                                            <p:graphicEl>
                                              <a:dgm id="{F8E4B9DA-0AB3-41E8-9FEA-5444EEA0BC96}"/>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6"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latin typeface="Arial" panose="020B0604020202020204" pitchFamily="34" charset="0"/>
                <a:cs typeface="Arial" panose="020B0604020202020204" pitchFamily="34" charset="0"/>
              </a:rPr>
              <a:t>Concurrency Control</a:t>
            </a:r>
            <a:endParaRPr lang="en-PK"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94583708-A02F-F031-8955-6A2B0FC16361}"/>
              </a:ext>
            </a:extLst>
          </p:cNvPr>
          <p:cNvSpPr>
            <a:spLocks noGrp="1"/>
          </p:cNvSpPr>
          <p:nvPr>
            <p:ph idx="1"/>
          </p:nvPr>
        </p:nvSpPr>
        <p:spPr>
          <a:xfrm>
            <a:off x="838200" y="2362124"/>
            <a:ext cx="10668856" cy="4114876"/>
          </a:xfrm>
        </p:spPr>
        <p:txBody>
          <a:bodyPr anchor="t">
            <a:normAutofit fontScale="92500" lnSpcReduction="10000"/>
          </a:bodyPr>
          <a:lstStyle/>
          <a:p>
            <a:pPr algn="just"/>
            <a:r>
              <a:rPr lang="en-US" dirty="0">
                <a:solidFill>
                  <a:schemeClr val="tx1"/>
                </a:solidFill>
                <a:latin typeface="Arial" panose="020B0604020202020204" pitchFamily="34" charset="0"/>
                <a:cs typeface="Arial" panose="020B0604020202020204" pitchFamily="34" charset="0"/>
              </a:rPr>
              <a:t>There must be an implicit or explicit control over concurrency. It is both hazardous and unsafe when multiple flows of executions simultaneously operate in the same address space without any kind of agreement on ordered access. Two or more activities might access the same data and thus induce data corruption as well as inconsistent or invalid application state. </a:t>
            </a:r>
          </a:p>
          <a:p>
            <a:pPr algn="just"/>
            <a:r>
              <a:rPr lang="en-US" dirty="0">
                <a:solidFill>
                  <a:schemeClr val="tx1"/>
                </a:solidFill>
                <a:latin typeface="Arial" panose="020B0604020202020204" pitchFamily="34" charset="0"/>
                <a:cs typeface="Arial" panose="020B0604020202020204" pitchFamily="34" charset="0"/>
              </a:rPr>
              <a:t>Multiple activities that work jointly on a problem need an agreement on their common progress. Both issues represent fundamental challenges of concurrency and concurrent programming.</a:t>
            </a:r>
          </a:p>
          <a:p>
            <a:pPr lvl="1" algn="just"/>
            <a:endParaRPr lang="en-US" dirty="0">
              <a:solidFill>
                <a:schemeClr val="tx1"/>
              </a:solidFill>
              <a:latin typeface="Arial" panose="020B0604020202020204" pitchFamily="34" charset="0"/>
              <a:cs typeface="Arial" panose="020B0604020202020204" pitchFamily="34" charset="0"/>
            </a:endParaRPr>
          </a:p>
          <a:p>
            <a:pPr marL="0" indent="0" algn="just">
              <a:buNone/>
            </a:pP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866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t>Concurrency Control </a:t>
            </a:r>
            <a:r>
              <a:rPr lang="en-US" dirty="0" err="1"/>
              <a:t>Cont</a:t>
            </a:r>
            <a:r>
              <a:rPr lang="en-US" dirty="0"/>
              <a:t>…</a:t>
            </a:r>
            <a:endParaRPr lang="en-PK" dirty="0">
              <a:latin typeface="Arial" panose="020B0604020202020204" pitchFamily="34" charset="0"/>
              <a:cs typeface="Arial" panose="020B0604020202020204" pitchFamily="34" charset="0"/>
            </a:endParaRPr>
          </a:p>
        </p:txBody>
      </p:sp>
      <p:graphicFrame>
        <p:nvGraphicFramePr>
          <p:cNvPr id="3" name="Content Placeholder 2">
            <a:extLst>
              <a:ext uri="{FF2B5EF4-FFF2-40B4-BE49-F238E27FC236}">
                <a16:creationId xmlns:a16="http://schemas.microsoft.com/office/drawing/2014/main" id="{A3FAB45B-BC7D-E7D2-41FE-C3DFC65239DD}"/>
              </a:ext>
            </a:extLst>
          </p:cNvPr>
          <p:cNvGraphicFramePr>
            <a:graphicFrameLocks noGrp="1"/>
          </p:cNvGraphicFramePr>
          <p:nvPr>
            <p:ph idx="1"/>
            <p:extLst>
              <p:ext uri="{D42A27DB-BD31-4B8C-83A1-F6EECF244321}">
                <p14:modId xmlns:p14="http://schemas.microsoft.com/office/powerpoint/2010/main" val="590978312"/>
              </p:ext>
            </p:extLst>
          </p:nvPr>
        </p:nvGraphicFramePr>
        <p:xfrm>
          <a:off x="838200" y="2362124"/>
          <a:ext cx="10668856" cy="41148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9883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AC9D75FF-6572-4EFF-B5A9-AE7663C8D0E5}"/>
                                            </p:graphicEl>
                                          </p:spTgt>
                                        </p:tgtEl>
                                        <p:attrNameLst>
                                          <p:attrName>style.visibility</p:attrName>
                                        </p:attrNameLst>
                                      </p:cBhvr>
                                      <p:to>
                                        <p:strVal val="visible"/>
                                      </p:to>
                                    </p:set>
                                    <p:anim calcmode="lin" valueType="num">
                                      <p:cBhvr additive="base">
                                        <p:cTn id="7" dur="500" fill="hold"/>
                                        <p:tgtEl>
                                          <p:spTgt spid="3">
                                            <p:graphicEl>
                                              <a:dgm id="{AC9D75FF-6572-4EFF-B5A9-AE7663C8D0E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AC9D75FF-6572-4EFF-B5A9-AE7663C8D0E5}"/>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76E3935F-79F1-40F7-B988-C5D0B802B791}"/>
                                            </p:graphicEl>
                                          </p:spTgt>
                                        </p:tgtEl>
                                        <p:attrNameLst>
                                          <p:attrName>style.visibility</p:attrName>
                                        </p:attrNameLst>
                                      </p:cBhvr>
                                      <p:to>
                                        <p:strVal val="visible"/>
                                      </p:to>
                                    </p:set>
                                    <p:anim calcmode="lin" valueType="num">
                                      <p:cBhvr additive="base">
                                        <p:cTn id="13" dur="500" fill="hold"/>
                                        <p:tgtEl>
                                          <p:spTgt spid="3">
                                            <p:graphicEl>
                                              <a:dgm id="{76E3935F-79F1-40F7-B988-C5D0B802B791}"/>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76E3935F-79F1-40F7-B988-C5D0B802B79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381000" y="559813"/>
            <a:ext cx="3685673" cy="5577934"/>
          </a:xfrm>
        </p:spPr>
        <p:txBody>
          <a:bodyPr>
            <a:normAutofit/>
          </a:bodyPr>
          <a:lstStyle/>
          <a:p>
            <a:r>
              <a:rPr lang="en-US" sz="3600" dirty="0">
                <a:latin typeface="Arial" panose="020B0604020202020204" pitchFamily="34" charset="0"/>
                <a:cs typeface="Arial" panose="020B0604020202020204" pitchFamily="34" charset="0"/>
              </a:rPr>
              <a:t>Benefits of Concurrency</a:t>
            </a:r>
            <a:endParaRPr lang="en-PK" sz="3600" dirty="0">
              <a:latin typeface="Arial" panose="020B0604020202020204" pitchFamily="34" charset="0"/>
              <a:cs typeface="Arial" panose="020B0604020202020204" pitchFamily="34" charset="0"/>
            </a:endParaRPr>
          </a:p>
        </p:txBody>
      </p:sp>
      <p:graphicFrame>
        <p:nvGraphicFramePr>
          <p:cNvPr id="36" name="Content Placeholder 4">
            <a:extLst>
              <a:ext uri="{FF2B5EF4-FFF2-40B4-BE49-F238E27FC236}">
                <a16:creationId xmlns:a16="http://schemas.microsoft.com/office/drawing/2014/main" id="{35D3F055-A00B-87CD-ED0E-C4EFA1105D1E}"/>
              </a:ext>
            </a:extLst>
          </p:cNvPr>
          <p:cNvGraphicFramePr>
            <a:graphicFrameLocks noGrp="1"/>
          </p:cNvGraphicFramePr>
          <p:nvPr>
            <p:ph idx="1"/>
            <p:extLst>
              <p:ext uri="{D42A27DB-BD31-4B8C-83A1-F6EECF244321}">
                <p14:modId xmlns:p14="http://schemas.microsoft.com/office/powerpoint/2010/main" val="2415634902"/>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7830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73AE544D-FB57-4DF1-BDA4-C47E218C789E}"/>
                                            </p:graphicEl>
                                          </p:spTgt>
                                        </p:tgtEl>
                                        <p:attrNameLst>
                                          <p:attrName>style.visibility</p:attrName>
                                        </p:attrNameLst>
                                      </p:cBhvr>
                                      <p:to>
                                        <p:strVal val="visible"/>
                                      </p:to>
                                    </p:set>
                                    <p:anim calcmode="lin" valueType="num">
                                      <p:cBhvr additive="base">
                                        <p:cTn id="7" dur="500" fill="hold"/>
                                        <p:tgtEl>
                                          <p:spTgt spid="36">
                                            <p:graphicEl>
                                              <a:dgm id="{73AE544D-FB57-4DF1-BDA4-C47E218C789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73AE544D-FB57-4DF1-BDA4-C47E218C789E}"/>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
                                            <p:graphicEl>
                                              <a:dgm id="{9631F185-9B52-4EED-BB63-A5EABE53A3B8}"/>
                                            </p:graphicEl>
                                          </p:spTgt>
                                        </p:tgtEl>
                                        <p:attrNameLst>
                                          <p:attrName>style.visibility</p:attrName>
                                        </p:attrNameLst>
                                      </p:cBhvr>
                                      <p:to>
                                        <p:strVal val="visible"/>
                                      </p:to>
                                    </p:set>
                                    <p:anim calcmode="lin" valueType="num">
                                      <p:cBhvr additive="base">
                                        <p:cTn id="13" dur="500" fill="hold"/>
                                        <p:tgtEl>
                                          <p:spTgt spid="36">
                                            <p:graphicEl>
                                              <a:dgm id="{9631F185-9B52-4EED-BB63-A5EABE53A3B8}"/>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
                                            <p:graphicEl>
                                              <a:dgm id="{9631F185-9B52-4EED-BB63-A5EABE53A3B8}"/>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
                                            <p:graphicEl>
                                              <a:dgm id="{31B39887-6BF5-422E-BA2F-2E16454709D3}"/>
                                            </p:graphicEl>
                                          </p:spTgt>
                                        </p:tgtEl>
                                        <p:attrNameLst>
                                          <p:attrName>style.visibility</p:attrName>
                                        </p:attrNameLst>
                                      </p:cBhvr>
                                      <p:to>
                                        <p:strVal val="visible"/>
                                      </p:to>
                                    </p:set>
                                    <p:anim calcmode="lin" valueType="num">
                                      <p:cBhvr additive="base">
                                        <p:cTn id="19" dur="500" fill="hold"/>
                                        <p:tgtEl>
                                          <p:spTgt spid="36">
                                            <p:graphicEl>
                                              <a:dgm id="{31B39887-6BF5-422E-BA2F-2E16454709D3}"/>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
                                            <p:graphicEl>
                                              <a:dgm id="{31B39887-6BF5-422E-BA2F-2E16454709D3}"/>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6">
                                            <p:graphicEl>
                                              <a:dgm id="{0EC3A3EA-5102-463A-A270-49D2E67C3061}"/>
                                            </p:graphicEl>
                                          </p:spTgt>
                                        </p:tgtEl>
                                        <p:attrNameLst>
                                          <p:attrName>style.visibility</p:attrName>
                                        </p:attrNameLst>
                                      </p:cBhvr>
                                      <p:to>
                                        <p:strVal val="visible"/>
                                      </p:to>
                                    </p:set>
                                    <p:anim calcmode="lin" valueType="num">
                                      <p:cBhvr additive="base">
                                        <p:cTn id="25" dur="500" fill="hold"/>
                                        <p:tgtEl>
                                          <p:spTgt spid="36">
                                            <p:graphicEl>
                                              <a:dgm id="{0EC3A3EA-5102-463A-A270-49D2E67C3061}"/>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
                                            <p:graphicEl>
                                              <a:dgm id="{0EC3A3EA-5102-463A-A270-49D2E67C3061}"/>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
                                            <p:graphicEl>
                                              <a:dgm id="{68439191-5AA3-43D4-A0CD-276804D11512}"/>
                                            </p:graphicEl>
                                          </p:spTgt>
                                        </p:tgtEl>
                                        <p:attrNameLst>
                                          <p:attrName>style.visibility</p:attrName>
                                        </p:attrNameLst>
                                      </p:cBhvr>
                                      <p:to>
                                        <p:strVal val="visible"/>
                                      </p:to>
                                    </p:set>
                                    <p:anim calcmode="lin" valueType="num">
                                      <p:cBhvr additive="base">
                                        <p:cTn id="31" dur="500" fill="hold"/>
                                        <p:tgtEl>
                                          <p:spTgt spid="36">
                                            <p:graphicEl>
                                              <a:dgm id="{68439191-5AA3-43D4-A0CD-276804D11512}"/>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68439191-5AA3-43D4-A0CD-276804D11512}"/>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6">
                                            <p:graphicEl>
                                              <a:dgm id="{B8258E16-C081-4678-9287-2F3F2E5BD971}"/>
                                            </p:graphicEl>
                                          </p:spTgt>
                                        </p:tgtEl>
                                        <p:attrNameLst>
                                          <p:attrName>style.visibility</p:attrName>
                                        </p:attrNameLst>
                                      </p:cBhvr>
                                      <p:to>
                                        <p:strVal val="visible"/>
                                      </p:to>
                                    </p:set>
                                    <p:anim calcmode="lin" valueType="num">
                                      <p:cBhvr additive="base">
                                        <p:cTn id="37" dur="500" fill="hold"/>
                                        <p:tgtEl>
                                          <p:spTgt spid="36">
                                            <p:graphicEl>
                                              <a:dgm id="{B8258E16-C081-4678-9287-2F3F2E5BD971}"/>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36">
                                            <p:graphicEl>
                                              <a:dgm id="{B8258E16-C081-4678-9287-2F3F2E5BD97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lvl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Concurrency Control: Basic Approaches to Achieving Concurrency </a:t>
            </a:r>
          </a:p>
        </p:txBody>
      </p:sp>
    </p:spTree>
    <p:extLst>
      <p:ext uri="{BB962C8B-B14F-4D97-AF65-F5344CB8AC3E}">
        <p14:creationId xmlns:p14="http://schemas.microsoft.com/office/powerpoint/2010/main" val="257602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2812733467"/>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3649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t>Achieving Concurrency</a:t>
            </a:r>
            <a:endParaRPr lang="en-PK" dirty="0">
              <a:latin typeface="Arial" panose="020B0604020202020204" pitchFamily="34" charset="0"/>
              <a:cs typeface="Arial" panose="020B0604020202020204" pitchFamily="34" charset="0"/>
            </a:endParaRPr>
          </a:p>
        </p:txBody>
      </p:sp>
      <p:graphicFrame>
        <p:nvGraphicFramePr>
          <p:cNvPr id="3" name="Content Placeholder 2">
            <a:extLst>
              <a:ext uri="{FF2B5EF4-FFF2-40B4-BE49-F238E27FC236}">
                <a16:creationId xmlns:a16="http://schemas.microsoft.com/office/drawing/2014/main" id="{A3FAB45B-BC7D-E7D2-41FE-C3DFC65239DD}"/>
              </a:ext>
            </a:extLst>
          </p:cNvPr>
          <p:cNvGraphicFramePr>
            <a:graphicFrameLocks noGrp="1"/>
          </p:cNvGraphicFramePr>
          <p:nvPr>
            <p:ph idx="1"/>
            <p:extLst>
              <p:ext uri="{D42A27DB-BD31-4B8C-83A1-F6EECF244321}">
                <p14:modId xmlns:p14="http://schemas.microsoft.com/office/powerpoint/2010/main" val="1987437716"/>
              </p:ext>
            </p:extLst>
          </p:nvPr>
        </p:nvGraphicFramePr>
        <p:xfrm>
          <a:off x="838200" y="2362124"/>
          <a:ext cx="10668856" cy="41148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2359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AC9D75FF-6572-4EFF-B5A9-AE7663C8D0E5}"/>
                                            </p:graphicEl>
                                          </p:spTgt>
                                        </p:tgtEl>
                                        <p:attrNameLst>
                                          <p:attrName>style.visibility</p:attrName>
                                        </p:attrNameLst>
                                      </p:cBhvr>
                                      <p:to>
                                        <p:strVal val="visible"/>
                                      </p:to>
                                    </p:set>
                                    <p:anim calcmode="lin" valueType="num">
                                      <p:cBhvr additive="base">
                                        <p:cTn id="7" dur="500" fill="hold"/>
                                        <p:tgtEl>
                                          <p:spTgt spid="3">
                                            <p:graphicEl>
                                              <a:dgm id="{AC9D75FF-6572-4EFF-B5A9-AE7663C8D0E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AC9D75FF-6572-4EFF-B5A9-AE7663C8D0E5}"/>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76E3935F-79F1-40F7-B988-C5D0B802B791}"/>
                                            </p:graphicEl>
                                          </p:spTgt>
                                        </p:tgtEl>
                                        <p:attrNameLst>
                                          <p:attrName>style.visibility</p:attrName>
                                        </p:attrNameLst>
                                      </p:cBhvr>
                                      <p:to>
                                        <p:strVal val="visible"/>
                                      </p:to>
                                    </p:set>
                                    <p:anim calcmode="lin" valueType="num">
                                      <p:cBhvr additive="base">
                                        <p:cTn id="13" dur="500" fill="hold"/>
                                        <p:tgtEl>
                                          <p:spTgt spid="3">
                                            <p:graphicEl>
                                              <a:dgm id="{76E3935F-79F1-40F7-B988-C5D0B802B791}"/>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76E3935F-79F1-40F7-B988-C5D0B802B79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6" name="Rectangle 75">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8" name="Rectangle 77">
            <a:extLst>
              <a:ext uri="{FF2B5EF4-FFF2-40B4-BE49-F238E27FC236}">
                <a16:creationId xmlns:a16="http://schemas.microsoft.com/office/drawing/2014/main" id="{3B6A4C79-62F0-4DFD-A156-0F1AB7D26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61" y="0"/>
            <a:ext cx="12191999"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7F7FF257-5D01-4829-AD0B-B2D6076B3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457" y="739600"/>
            <a:ext cx="10768226" cy="53909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42999" y="1066800"/>
            <a:ext cx="7250987" cy="1101047"/>
          </a:xfrm>
        </p:spPr>
        <p:txBody>
          <a:bodyPr>
            <a:normAutofit fontScale="90000"/>
          </a:bodyPr>
          <a:lstStyle/>
          <a:p>
            <a:r>
              <a:rPr lang="en-US" sz="3600" dirty="0">
                <a:solidFill>
                  <a:schemeClr val="tx2"/>
                </a:solidFill>
              </a:rPr>
              <a:t>Achieving Concurrency: </a:t>
            </a:r>
            <a:r>
              <a:rPr lang="en-US" sz="3600" dirty="0">
                <a:solidFill>
                  <a:schemeClr val="tx2"/>
                </a:solidFill>
                <a:latin typeface="Arial" panose="020B0604020202020204" pitchFamily="34" charset="0"/>
                <a:cs typeface="Arial" panose="020B0604020202020204" pitchFamily="34" charset="0"/>
              </a:rPr>
              <a:t>Parallel Programming Technique</a:t>
            </a:r>
            <a:endParaRPr lang="en-PK" sz="3600" dirty="0">
              <a:solidFill>
                <a:schemeClr val="tx2"/>
              </a:solidFill>
              <a:latin typeface="Arial" panose="020B0604020202020204" pitchFamily="34" charset="0"/>
              <a:cs typeface="Arial" panose="020B0604020202020204" pitchFamily="34" charset="0"/>
            </a:endParaRPr>
          </a:p>
        </p:txBody>
      </p:sp>
      <p:sp>
        <p:nvSpPr>
          <p:cNvPr id="71" name="Content Placeholder 70">
            <a:extLst>
              <a:ext uri="{FF2B5EF4-FFF2-40B4-BE49-F238E27FC236}">
                <a16:creationId xmlns:a16="http://schemas.microsoft.com/office/drawing/2014/main" id="{DC9B90D6-F0A1-9503-54CF-BFBCB6D9CEAF}"/>
              </a:ext>
            </a:extLst>
          </p:cNvPr>
          <p:cNvSpPr>
            <a:spLocks noGrp="1"/>
          </p:cNvSpPr>
          <p:nvPr>
            <p:ph idx="1"/>
          </p:nvPr>
        </p:nvSpPr>
        <p:spPr>
          <a:xfrm>
            <a:off x="971975" y="2495046"/>
            <a:ext cx="5654855" cy="3296153"/>
          </a:xfrm>
        </p:spPr>
        <p:txBody>
          <a:bodyPr>
            <a:normAutofit/>
          </a:bodyPr>
          <a:lstStyle/>
          <a:p>
            <a:pPr algn="just"/>
            <a:r>
              <a:rPr lang="en-US" sz="1800" dirty="0">
                <a:solidFill>
                  <a:schemeClr val="tx1"/>
                </a:solidFill>
                <a:latin typeface="Arial" panose="020B0604020202020204" pitchFamily="34" charset="0"/>
                <a:cs typeface="Arial" panose="020B0604020202020204" pitchFamily="34" charset="0"/>
              </a:rPr>
              <a:t>The parallel application consists of one program divided into four tasks. Each task executes on a separate processor; therefore, each task may execute simultaneously. The tasks can be implemented by either a process or a thread. </a:t>
            </a:r>
          </a:p>
        </p:txBody>
      </p:sp>
      <p:pic>
        <p:nvPicPr>
          <p:cNvPr id="7" name="Content Placeholder 6" descr="Diagram&#10;&#10;Description automatically generated">
            <a:extLst>
              <a:ext uri="{FF2B5EF4-FFF2-40B4-BE49-F238E27FC236}">
                <a16:creationId xmlns:a16="http://schemas.microsoft.com/office/drawing/2014/main" id="{6E564772-A765-7D8F-DD0A-7DBEE5ADF5D7}"/>
              </a:ext>
            </a:extLst>
          </p:cNvPr>
          <p:cNvPicPr>
            <a:picLocks noChangeAspect="1"/>
          </p:cNvPicPr>
          <p:nvPr/>
        </p:nvPicPr>
        <p:blipFill rotWithShape="1">
          <a:blip r:embed="rId4">
            <a:extLst>
              <a:ext uri="{28A0092B-C50C-407E-A947-70E740481C1C}">
                <a14:useLocalDpi xmlns:a14="http://schemas.microsoft.com/office/drawing/2010/main" val="0"/>
              </a:ext>
            </a:extLst>
          </a:blip>
          <a:srcRect b="41559"/>
          <a:stretch/>
        </p:blipFill>
        <p:spPr>
          <a:xfrm>
            <a:off x="7010400" y="2455168"/>
            <a:ext cx="4209625" cy="2294080"/>
          </a:xfrm>
          <a:prstGeom prst="rect">
            <a:avLst/>
          </a:prstGeom>
          <a:ln>
            <a:noFill/>
          </a:ln>
          <a:effectLst>
            <a:outerShdw blurRad="190500" algn="tl" rotWithShape="0">
              <a:srgbClr val="000000">
                <a:alpha val="70000"/>
              </a:srgbClr>
            </a:outerShdw>
          </a:effectLst>
        </p:spPr>
      </p:pic>
      <p:sp>
        <p:nvSpPr>
          <p:cNvPr id="9" name="TextBox 8">
            <a:extLst>
              <a:ext uri="{FF2B5EF4-FFF2-40B4-BE49-F238E27FC236}">
                <a16:creationId xmlns:a16="http://schemas.microsoft.com/office/drawing/2014/main" id="{12CE3CEF-78A2-414E-64F6-3B5104CE0C69}"/>
              </a:ext>
            </a:extLst>
          </p:cNvPr>
          <p:cNvSpPr txBox="1"/>
          <p:nvPr/>
        </p:nvSpPr>
        <p:spPr>
          <a:xfrm>
            <a:off x="7010400" y="5000273"/>
            <a:ext cx="3956417" cy="646331"/>
          </a:xfrm>
          <a:prstGeom prst="rect">
            <a:avLst/>
          </a:prstGeom>
          <a:noFill/>
        </p:spPr>
        <p:txBody>
          <a:bodyPr wrap="square">
            <a:spAutoFit/>
          </a:bodyPr>
          <a:lstStyle/>
          <a:p>
            <a:pPr algn="ctr"/>
            <a:r>
              <a:rPr lang="en-US" b="1" dirty="0"/>
              <a:t>Typical architecture for a parallel program.</a:t>
            </a:r>
            <a:endParaRPr lang="en-PK" b="1" dirty="0"/>
          </a:p>
        </p:txBody>
      </p:sp>
    </p:spTree>
    <p:extLst>
      <p:ext uri="{BB962C8B-B14F-4D97-AF65-F5344CB8AC3E}">
        <p14:creationId xmlns:p14="http://schemas.microsoft.com/office/powerpoint/2010/main" val="2534210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6" name="Rectangle 75">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8" name="Rectangle 77">
            <a:extLst>
              <a:ext uri="{FF2B5EF4-FFF2-40B4-BE49-F238E27FC236}">
                <a16:creationId xmlns:a16="http://schemas.microsoft.com/office/drawing/2014/main" id="{3B6A4C79-62F0-4DFD-A156-0F1AB7D26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61" y="0"/>
            <a:ext cx="12191999"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7F7FF257-5D01-4829-AD0B-B2D6076B3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457" y="739600"/>
            <a:ext cx="10768226" cy="53909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Content Placeholder 70">
            <a:extLst>
              <a:ext uri="{FF2B5EF4-FFF2-40B4-BE49-F238E27FC236}">
                <a16:creationId xmlns:a16="http://schemas.microsoft.com/office/drawing/2014/main" id="{DC9B90D6-F0A1-9503-54CF-BFBCB6D9CEAF}"/>
              </a:ext>
            </a:extLst>
          </p:cNvPr>
          <p:cNvSpPr>
            <a:spLocks noGrp="1"/>
          </p:cNvSpPr>
          <p:nvPr>
            <p:ph idx="1"/>
          </p:nvPr>
        </p:nvSpPr>
        <p:spPr>
          <a:xfrm>
            <a:off x="971975" y="2691828"/>
            <a:ext cx="5654855" cy="3099371"/>
          </a:xfrm>
        </p:spPr>
        <p:txBody>
          <a:bodyPr>
            <a:normAutofit/>
          </a:bodyPr>
          <a:lstStyle/>
          <a:p>
            <a:pPr algn="just"/>
            <a:r>
              <a:rPr lang="en-US" sz="1800" dirty="0">
                <a:solidFill>
                  <a:schemeClr val="tx1"/>
                </a:solidFill>
                <a:latin typeface="Arial" panose="020B0604020202020204" pitchFamily="34" charset="0"/>
                <a:cs typeface="Arial" panose="020B0604020202020204" pitchFamily="34" charset="0"/>
              </a:rPr>
              <a:t>The distributed application consists of three separate programs with each program executing on a separate computer. Program 3 consists of two separate parts that execute on the same computer. Although task A and D of Program 3 are on the same computer, they are distributed because they are implemented by two separate processes.</a:t>
            </a:r>
          </a:p>
        </p:txBody>
      </p:sp>
      <p:pic>
        <p:nvPicPr>
          <p:cNvPr id="7" name="Content Placeholder 6" descr="Diagram&#10;&#10;Description automatically generated">
            <a:extLst>
              <a:ext uri="{FF2B5EF4-FFF2-40B4-BE49-F238E27FC236}">
                <a16:creationId xmlns:a16="http://schemas.microsoft.com/office/drawing/2014/main" id="{6E564772-A765-7D8F-DD0A-7DBEE5ADF5D7}"/>
              </a:ext>
            </a:extLst>
          </p:cNvPr>
          <p:cNvPicPr>
            <a:picLocks noChangeAspect="1"/>
          </p:cNvPicPr>
          <p:nvPr/>
        </p:nvPicPr>
        <p:blipFill rotWithShape="1">
          <a:blip r:embed="rId4">
            <a:extLst>
              <a:ext uri="{28A0092B-C50C-407E-A947-70E740481C1C}">
                <a14:useLocalDpi xmlns:a14="http://schemas.microsoft.com/office/drawing/2010/main" val="0"/>
              </a:ext>
            </a:extLst>
          </a:blip>
          <a:srcRect t="56085"/>
          <a:stretch/>
        </p:blipFill>
        <p:spPr>
          <a:xfrm>
            <a:off x="6949444" y="2691829"/>
            <a:ext cx="4209625" cy="1723863"/>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12CE3CEF-78A2-414E-64F6-3B5104CE0C69}"/>
              </a:ext>
            </a:extLst>
          </p:cNvPr>
          <p:cNvSpPr txBox="1"/>
          <p:nvPr/>
        </p:nvSpPr>
        <p:spPr>
          <a:xfrm>
            <a:off x="7076048" y="4626794"/>
            <a:ext cx="3956417" cy="646331"/>
          </a:xfrm>
          <a:prstGeom prst="rect">
            <a:avLst/>
          </a:prstGeom>
          <a:noFill/>
        </p:spPr>
        <p:txBody>
          <a:bodyPr wrap="square">
            <a:spAutoFit/>
          </a:bodyPr>
          <a:lstStyle/>
          <a:p>
            <a:pPr algn="ctr"/>
            <a:r>
              <a:rPr lang="en-US" b="1" dirty="0"/>
              <a:t>Typical architecture for a parallel and distributed program.</a:t>
            </a:r>
            <a:endParaRPr lang="en-PK" b="1" dirty="0"/>
          </a:p>
        </p:txBody>
      </p:sp>
      <p:sp>
        <p:nvSpPr>
          <p:cNvPr id="3" name="Title 1">
            <a:extLst>
              <a:ext uri="{FF2B5EF4-FFF2-40B4-BE49-F238E27FC236}">
                <a16:creationId xmlns:a16="http://schemas.microsoft.com/office/drawing/2014/main" id="{50ACEECB-CA4E-3774-3652-37E2C1648273}"/>
              </a:ext>
            </a:extLst>
          </p:cNvPr>
          <p:cNvSpPr>
            <a:spLocks noGrp="1"/>
          </p:cNvSpPr>
          <p:nvPr>
            <p:ph type="title"/>
          </p:nvPr>
        </p:nvSpPr>
        <p:spPr>
          <a:xfrm>
            <a:off x="1142999" y="1066800"/>
            <a:ext cx="7682501" cy="1101725"/>
          </a:xfrm>
        </p:spPr>
        <p:txBody>
          <a:bodyPr>
            <a:normAutofit fontScale="90000"/>
          </a:bodyPr>
          <a:lstStyle/>
          <a:p>
            <a:r>
              <a:rPr lang="en-US" sz="3600" dirty="0">
                <a:solidFill>
                  <a:schemeClr val="tx2"/>
                </a:solidFill>
              </a:rPr>
              <a:t>Achieving Concurrency: </a:t>
            </a:r>
            <a:r>
              <a:rPr lang="en-US" sz="3600" dirty="0">
                <a:solidFill>
                  <a:schemeClr val="tx2"/>
                </a:solidFill>
                <a:latin typeface="Arial" panose="020B0604020202020204" pitchFamily="34" charset="0"/>
                <a:cs typeface="Arial" panose="020B0604020202020204" pitchFamily="34" charset="0"/>
              </a:rPr>
              <a:t>Distributed Programming Technique</a:t>
            </a:r>
            <a:endParaRPr lang="en-PK" sz="3600"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4219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Concurrency Control: Models for Programming Concurrency</a:t>
            </a:r>
          </a:p>
        </p:txBody>
      </p:sp>
    </p:spTree>
    <p:extLst>
      <p:ext uri="{BB962C8B-B14F-4D97-AF65-F5344CB8AC3E}">
        <p14:creationId xmlns:p14="http://schemas.microsoft.com/office/powerpoint/2010/main" val="1473708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1961429142"/>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8985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latin typeface="Arial" panose="020B0604020202020204" pitchFamily="34" charset="0"/>
                <a:cs typeface="Arial" panose="020B0604020202020204" pitchFamily="34" charset="0"/>
              </a:rPr>
              <a:t>Concurrency Control: Models for Programming Concurrency</a:t>
            </a:r>
            <a:endParaRPr lang="en-PK"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828675" y="2606674"/>
            <a:ext cx="10668107" cy="3691512"/>
          </a:xfrm>
        </p:spPr>
        <p:txBody>
          <a:bodyPr anchor="t">
            <a:normAutofit/>
          </a:bodyPr>
          <a:lstStyle/>
          <a:p>
            <a:pPr marL="0" indent="0">
              <a:lnSpc>
                <a:spcPct val="100000"/>
              </a:lnSpc>
              <a:buNone/>
            </a:pPr>
            <a:r>
              <a:rPr lang="en-US" dirty="0">
                <a:solidFill>
                  <a:schemeClr val="tx1">
                    <a:alpha val="80000"/>
                  </a:schemeClr>
                </a:solidFill>
                <a:latin typeface="Arial" panose="020B0604020202020204" pitchFamily="34" charset="0"/>
                <a:cs typeface="Arial" panose="020B0604020202020204" pitchFamily="34" charset="0"/>
              </a:rPr>
              <a:t>      </a:t>
            </a:r>
          </a:p>
        </p:txBody>
      </p:sp>
      <p:graphicFrame>
        <p:nvGraphicFramePr>
          <p:cNvPr id="5" name="Diagram 4">
            <a:extLst>
              <a:ext uri="{FF2B5EF4-FFF2-40B4-BE49-F238E27FC236}">
                <a16:creationId xmlns:a16="http://schemas.microsoft.com/office/drawing/2014/main" id="{8E5A2B42-D993-F509-4DE1-3C76164C5B16}"/>
              </a:ext>
            </a:extLst>
          </p:cNvPr>
          <p:cNvGraphicFramePr/>
          <p:nvPr/>
        </p:nvGraphicFramePr>
        <p:xfrm>
          <a:off x="1198182" y="2753474"/>
          <a:ext cx="10003218" cy="30162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4864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28675" y="381000"/>
            <a:ext cx="10372725" cy="1600124"/>
          </a:xfrm>
        </p:spPr>
        <p:txBody>
          <a:bodyPr>
            <a:normAutofit/>
          </a:bodyPr>
          <a:lstStyle/>
          <a:p>
            <a:r>
              <a:rPr lang="en-US" dirty="0">
                <a:latin typeface="Arial" panose="020B0604020202020204" pitchFamily="34" charset="0"/>
                <a:cs typeface="Arial" panose="020B0604020202020204" pitchFamily="34" charset="0"/>
              </a:rPr>
              <a:t>Sequential Programming</a:t>
            </a:r>
            <a:endParaRPr lang="en-PK" dirty="0">
              <a:latin typeface="Arial" panose="020B0604020202020204" pitchFamily="34" charset="0"/>
              <a:cs typeface="Arial" panose="020B0604020202020204" pitchFamily="34" charset="0"/>
            </a:endParaRPr>
          </a:p>
        </p:txBody>
      </p:sp>
      <p:graphicFrame>
        <p:nvGraphicFramePr>
          <p:cNvPr id="3" name="Content Placeholder 2">
            <a:extLst>
              <a:ext uri="{FF2B5EF4-FFF2-40B4-BE49-F238E27FC236}">
                <a16:creationId xmlns:a16="http://schemas.microsoft.com/office/drawing/2014/main" id="{1802C8E2-D212-E358-12E3-D3C8BA742F5A}"/>
              </a:ext>
            </a:extLst>
          </p:cNvPr>
          <p:cNvGraphicFramePr>
            <a:graphicFrameLocks noGrp="1"/>
          </p:cNvGraphicFramePr>
          <p:nvPr>
            <p:ph idx="1"/>
            <p:extLst>
              <p:ext uri="{D42A27DB-BD31-4B8C-83A1-F6EECF244321}">
                <p14:modId xmlns:p14="http://schemas.microsoft.com/office/powerpoint/2010/main" val="103966416"/>
              </p:ext>
            </p:extLst>
          </p:nvPr>
        </p:nvGraphicFramePr>
        <p:xfrm>
          <a:off x="1108646" y="2445249"/>
          <a:ext cx="10092754" cy="38529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74955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28675" y="381000"/>
            <a:ext cx="10372725" cy="1600124"/>
          </a:xfrm>
        </p:spPr>
        <p:txBody>
          <a:bodyPr>
            <a:normAutofit/>
          </a:bodyPr>
          <a:lstStyle/>
          <a:p>
            <a:r>
              <a:rPr lang="en-US" dirty="0">
                <a:latin typeface="Arial" panose="020B0604020202020204" pitchFamily="34" charset="0"/>
                <a:cs typeface="Arial" panose="020B0604020202020204" pitchFamily="34" charset="0"/>
              </a:rPr>
              <a:t>Declarative Concurrency</a:t>
            </a:r>
            <a:endParaRPr lang="en-PK" dirty="0">
              <a:latin typeface="Arial" panose="020B0604020202020204" pitchFamily="34" charset="0"/>
              <a:cs typeface="Arial" panose="020B0604020202020204" pitchFamily="34" charset="0"/>
            </a:endParaRPr>
          </a:p>
        </p:txBody>
      </p:sp>
      <p:graphicFrame>
        <p:nvGraphicFramePr>
          <p:cNvPr id="3" name="Content Placeholder 2">
            <a:extLst>
              <a:ext uri="{FF2B5EF4-FFF2-40B4-BE49-F238E27FC236}">
                <a16:creationId xmlns:a16="http://schemas.microsoft.com/office/drawing/2014/main" id="{357D2BDA-88F8-D712-7499-BAE3B0EC43E6}"/>
              </a:ext>
            </a:extLst>
          </p:cNvPr>
          <p:cNvGraphicFramePr>
            <a:graphicFrameLocks noGrp="1"/>
          </p:cNvGraphicFramePr>
          <p:nvPr>
            <p:ph idx="1"/>
            <p:extLst>
              <p:ext uri="{D42A27DB-BD31-4B8C-83A1-F6EECF244321}">
                <p14:modId xmlns:p14="http://schemas.microsoft.com/office/powerpoint/2010/main" val="4036524671"/>
              </p:ext>
            </p:extLst>
          </p:nvPr>
        </p:nvGraphicFramePr>
        <p:xfrm>
          <a:off x="828674" y="2445249"/>
          <a:ext cx="10298237" cy="38529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39019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28675" y="381000"/>
            <a:ext cx="10372725" cy="1600124"/>
          </a:xfrm>
        </p:spPr>
        <p:txBody>
          <a:bodyPr>
            <a:normAutofit/>
          </a:bodyPr>
          <a:lstStyle/>
          <a:p>
            <a:r>
              <a:rPr lang="en-US" dirty="0">
                <a:latin typeface="Arial" panose="020B0604020202020204" pitchFamily="34" charset="0"/>
                <a:cs typeface="Arial" panose="020B0604020202020204" pitchFamily="34" charset="0"/>
              </a:rPr>
              <a:t>Message-passing Concurrency</a:t>
            </a:r>
            <a:endParaRPr lang="en-PK" dirty="0">
              <a:latin typeface="Arial" panose="020B0604020202020204" pitchFamily="34" charset="0"/>
              <a:cs typeface="Arial" panose="020B0604020202020204" pitchFamily="34" charset="0"/>
            </a:endParaRPr>
          </a:p>
        </p:txBody>
      </p:sp>
      <p:graphicFrame>
        <p:nvGraphicFramePr>
          <p:cNvPr id="3" name="Content Placeholder 2">
            <a:extLst>
              <a:ext uri="{FF2B5EF4-FFF2-40B4-BE49-F238E27FC236}">
                <a16:creationId xmlns:a16="http://schemas.microsoft.com/office/drawing/2014/main" id="{A7BC980C-245A-9F8E-30AC-F2F5B6CF26C7}"/>
              </a:ext>
            </a:extLst>
          </p:cNvPr>
          <p:cNvGraphicFramePr>
            <a:graphicFrameLocks noGrp="1"/>
          </p:cNvGraphicFramePr>
          <p:nvPr>
            <p:ph idx="1"/>
            <p:extLst>
              <p:ext uri="{D42A27DB-BD31-4B8C-83A1-F6EECF244321}">
                <p14:modId xmlns:p14="http://schemas.microsoft.com/office/powerpoint/2010/main" val="3818114409"/>
              </p:ext>
            </p:extLst>
          </p:nvPr>
        </p:nvGraphicFramePr>
        <p:xfrm>
          <a:off x="828675" y="2445249"/>
          <a:ext cx="10133851" cy="38529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83289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28675" y="381000"/>
            <a:ext cx="10372725" cy="1600124"/>
          </a:xfrm>
        </p:spPr>
        <p:txBody>
          <a:bodyPr>
            <a:normAutofit/>
          </a:bodyPr>
          <a:lstStyle/>
          <a:p>
            <a:r>
              <a:rPr lang="en-US" dirty="0">
                <a:latin typeface="Arial" panose="020B0604020202020204" pitchFamily="34" charset="0"/>
                <a:cs typeface="Arial" panose="020B0604020202020204" pitchFamily="34" charset="0"/>
              </a:rPr>
              <a:t>Shared-state Concurrency</a:t>
            </a:r>
            <a:endParaRPr lang="en-PK" dirty="0">
              <a:latin typeface="Arial" panose="020B0604020202020204" pitchFamily="34" charset="0"/>
              <a:cs typeface="Arial" panose="020B0604020202020204" pitchFamily="34" charset="0"/>
            </a:endParaRPr>
          </a:p>
        </p:txBody>
      </p:sp>
      <p:graphicFrame>
        <p:nvGraphicFramePr>
          <p:cNvPr id="3" name="Content Placeholder 2">
            <a:extLst>
              <a:ext uri="{FF2B5EF4-FFF2-40B4-BE49-F238E27FC236}">
                <a16:creationId xmlns:a16="http://schemas.microsoft.com/office/drawing/2014/main" id="{0AE1B369-EF23-7778-367A-96F491F2698E}"/>
              </a:ext>
            </a:extLst>
          </p:cNvPr>
          <p:cNvGraphicFramePr>
            <a:graphicFrameLocks noGrp="1"/>
          </p:cNvGraphicFramePr>
          <p:nvPr>
            <p:ph idx="1"/>
            <p:extLst>
              <p:ext uri="{D42A27DB-BD31-4B8C-83A1-F6EECF244321}">
                <p14:modId xmlns:p14="http://schemas.microsoft.com/office/powerpoint/2010/main" val="851043385"/>
              </p:ext>
            </p:extLst>
          </p:nvPr>
        </p:nvGraphicFramePr>
        <p:xfrm>
          <a:off x="828675" y="2445249"/>
          <a:ext cx="10585914" cy="38529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74488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Memory Hierarchies</a:t>
            </a:r>
          </a:p>
        </p:txBody>
      </p:sp>
    </p:spTree>
    <p:extLst>
      <p:ext uri="{BB962C8B-B14F-4D97-AF65-F5344CB8AC3E}">
        <p14:creationId xmlns:p14="http://schemas.microsoft.com/office/powerpoint/2010/main" val="818615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3239770465"/>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8236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613611" y="381000"/>
            <a:ext cx="10587789" cy="1600124"/>
          </a:xfrm>
        </p:spPr>
        <p:txBody>
          <a:bodyPr>
            <a:normAutofit/>
          </a:bodyPr>
          <a:lstStyle/>
          <a:p>
            <a:r>
              <a:rPr lang="en-US" dirty="0">
                <a:latin typeface="Arial" panose="020B0604020202020204" pitchFamily="34" charset="0"/>
                <a:cs typeface="Arial" panose="020B0604020202020204" pitchFamily="34" charset="0"/>
              </a:rPr>
              <a:t>Memory Hierarchies </a:t>
            </a:r>
            <a:endParaRPr lang="en-PK"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805195" y="2225674"/>
            <a:ext cx="10003218" cy="4072512"/>
          </a:xfrm>
        </p:spPr>
        <p:txBody>
          <a:bodyPr anchor="ctr">
            <a:normAutofit/>
          </a:bodyPr>
          <a:lstStyle/>
          <a:p>
            <a:pPr marL="0" indent="0" algn="ctr">
              <a:buNone/>
            </a:pPr>
            <a:r>
              <a:rPr lang="en-US" dirty="0">
                <a:solidFill>
                  <a:schemeClr val="tx1">
                    <a:alpha val="80000"/>
                  </a:schemeClr>
                </a:solidFill>
                <a:latin typeface="Arial" panose="020B0604020202020204" pitchFamily="34" charset="0"/>
                <a:cs typeface="Arial" panose="020B0604020202020204" pitchFamily="34" charset="0"/>
              </a:rPr>
              <a:t>“Memory Hierarchy, in Computer System Design, is an enhancement that helps in organizing the memory so that it can minimize the access time. The development of the Memory Hierarchy occurred on a behavior of a program known as </a:t>
            </a:r>
            <a:r>
              <a:rPr lang="en-US" dirty="0">
                <a:solidFill>
                  <a:srgbClr val="FF0000">
                    <a:alpha val="80000"/>
                  </a:srgbClr>
                </a:solidFill>
                <a:latin typeface="Arial" panose="020B0604020202020204" pitchFamily="34" charset="0"/>
                <a:cs typeface="Arial" panose="020B0604020202020204" pitchFamily="34" charset="0"/>
              </a:rPr>
              <a:t>locality of references</a:t>
            </a:r>
            <a:r>
              <a:rPr lang="en-US" b="0" i="0" dirty="0">
                <a:solidFill>
                  <a:schemeClr val="tx1">
                    <a:alpha val="80000"/>
                  </a:schemeClr>
                </a:solidFill>
                <a:effectLst/>
                <a:latin typeface="Arial" panose="020B0604020202020204" pitchFamily="34" charset="0"/>
                <a:cs typeface="Arial" panose="020B0604020202020204" pitchFamily="34" charset="0"/>
              </a:rPr>
              <a:t>.</a:t>
            </a:r>
            <a:r>
              <a:rPr lang="en-US" dirty="0">
                <a:solidFill>
                  <a:schemeClr val="tx1">
                    <a:alpha val="80000"/>
                  </a:schemeClr>
                </a:solidFill>
                <a:latin typeface="Arial" panose="020B0604020202020204" pitchFamily="34" charset="0"/>
                <a:cs typeface="Arial" panose="020B0604020202020204" pitchFamily="34" charset="0"/>
              </a:rPr>
              <a:t>”</a:t>
            </a:r>
            <a:endParaRPr lang="en-PK" dirty="0">
              <a:solidFill>
                <a:schemeClr val="tx1">
                  <a:alpha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8997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359596"/>
            <a:ext cx="10309262" cy="1038417"/>
          </a:xfrm>
        </p:spPr>
        <p:txBody>
          <a:bodyPr>
            <a:normAutofit/>
          </a:bodyPr>
          <a:lstStyle/>
          <a:p>
            <a:pPr>
              <a:lnSpc>
                <a:spcPct val="90000"/>
              </a:lnSpc>
            </a:pPr>
            <a:r>
              <a:rPr lang="en-US" sz="4000">
                <a:solidFill>
                  <a:schemeClr val="tx1"/>
                </a:solidFill>
                <a:latin typeface="Arial" panose="020B0604020202020204" pitchFamily="34" charset="0"/>
                <a:cs typeface="Arial" panose="020B0604020202020204" pitchFamily="34" charset="0"/>
              </a:rPr>
              <a:t>Memory Hierarchies Cont…</a:t>
            </a:r>
            <a:endParaRPr lang="en-PK" sz="199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9" name="Content Placeholder 8">
            <a:extLst>
              <a:ext uri="{FF2B5EF4-FFF2-40B4-BE49-F238E27FC236}">
                <a16:creationId xmlns:a16="http://schemas.microsoft.com/office/drawing/2014/main" id="{587E62E1-067D-2F98-D526-286B2949C5EB}"/>
              </a:ext>
            </a:extLst>
          </p:cNvPr>
          <p:cNvGraphicFramePr>
            <a:graphicFrameLocks noGrp="1"/>
          </p:cNvGraphicFramePr>
          <p:nvPr>
            <p:ph idx="1"/>
            <p:extLst>
              <p:ext uri="{D42A27DB-BD31-4B8C-83A1-F6EECF244321}">
                <p14:modId xmlns:p14="http://schemas.microsoft.com/office/powerpoint/2010/main" val="3418962057"/>
              </p:ext>
            </p:extLst>
          </p:nvPr>
        </p:nvGraphicFramePr>
        <p:xfrm>
          <a:off x="838200" y="1520575"/>
          <a:ext cx="10515600" cy="522954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072434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10309262" cy="1053230"/>
          </a:xfrm>
        </p:spPr>
        <p:txBody>
          <a:bodyPr>
            <a:norm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Memory Hierarchies </a:t>
            </a:r>
            <a:r>
              <a:rPr lang="en-US" sz="4000" dirty="0" err="1">
                <a:solidFill>
                  <a:schemeClr val="tx1"/>
                </a:solidFill>
                <a:latin typeface="Arial" panose="020B0604020202020204" pitchFamily="34" charset="0"/>
                <a:cs typeface="Arial" panose="020B0604020202020204" pitchFamily="34" charset="0"/>
              </a:rPr>
              <a:t>Cont</a:t>
            </a:r>
            <a:r>
              <a:rPr lang="en-US" sz="4000" dirty="0">
                <a:solidFill>
                  <a:schemeClr val="tx1"/>
                </a:solidFill>
                <a:latin typeface="Arial" panose="020B0604020202020204" pitchFamily="34" charset="0"/>
                <a:cs typeface="Arial" panose="020B0604020202020204" pitchFamily="34" charset="0"/>
              </a:rPr>
              <a:t>…</a:t>
            </a:r>
            <a:endParaRPr lang="en-PK" sz="199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11" name="Content Placeholder 10">
            <a:extLst>
              <a:ext uri="{FF2B5EF4-FFF2-40B4-BE49-F238E27FC236}">
                <a16:creationId xmlns:a16="http://schemas.microsoft.com/office/drawing/2014/main" id="{AFFF8EA1-C93D-9680-185E-9EB556586CEC}"/>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3925778" y="1949450"/>
            <a:ext cx="4340444" cy="419576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24486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472611"/>
            <a:ext cx="10309262" cy="925402"/>
          </a:xfrm>
        </p:spPr>
        <p:txBody>
          <a:bodyPr>
            <a:no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Characteristics of Memory Hierarchy</a:t>
            </a:r>
            <a:endParaRPr lang="en-PK" sz="4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E1C318A7-32F0-E949-8894-1E8CB1D4448D}"/>
              </a:ext>
            </a:extLst>
          </p:cNvPr>
          <p:cNvGraphicFramePr>
            <a:graphicFrameLocks noGrp="1"/>
          </p:cNvGraphicFramePr>
          <p:nvPr>
            <p:ph idx="1"/>
            <p:extLst>
              <p:ext uri="{D42A27DB-BD31-4B8C-83A1-F6EECF244321}">
                <p14:modId xmlns:p14="http://schemas.microsoft.com/office/powerpoint/2010/main" val="4059636173"/>
              </p:ext>
            </p:extLst>
          </p:nvPr>
        </p:nvGraphicFramePr>
        <p:xfrm>
          <a:off x="606175" y="1398014"/>
          <a:ext cx="10917823" cy="512607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534031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603126" y="472611"/>
            <a:ext cx="11152895" cy="925402"/>
          </a:xfrm>
        </p:spPr>
        <p:txBody>
          <a:bodyPr>
            <a:no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Characteristics of Memory Hierarchy Cont..</a:t>
            </a:r>
            <a:endParaRPr lang="en-PK" sz="4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E1C318A7-32F0-E949-8894-1E8CB1D4448D}"/>
              </a:ext>
            </a:extLst>
          </p:cNvPr>
          <p:cNvGraphicFramePr>
            <a:graphicFrameLocks noGrp="1"/>
          </p:cNvGraphicFramePr>
          <p:nvPr>
            <p:ph idx="1"/>
            <p:extLst>
              <p:ext uri="{D42A27DB-BD31-4B8C-83A1-F6EECF244321}">
                <p14:modId xmlns:p14="http://schemas.microsoft.com/office/powerpoint/2010/main" val="3517073915"/>
              </p:ext>
            </p:extLst>
          </p:nvPr>
        </p:nvGraphicFramePr>
        <p:xfrm>
          <a:off x="606175" y="1398014"/>
          <a:ext cx="10917823" cy="512607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435131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4"/>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5">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Limitations of Memory System Performance</a:t>
            </a:r>
          </a:p>
        </p:txBody>
      </p:sp>
    </p:spTree>
    <p:extLst>
      <p:ext uri="{BB962C8B-B14F-4D97-AF65-F5344CB8AC3E}">
        <p14:creationId xmlns:p14="http://schemas.microsoft.com/office/powerpoint/2010/main" val="31199362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405629005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16557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4" name="Rectangle 63">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6" name="Rectangle 65">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100">
                <a:latin typeface="Arial" panose="020B0604020202020204" pitchFamily="34" charset="0"/>
                <a:cs typeface="Arial" panose="020B0604020202020204" pitchFamily="34" charset="0"/>
              </a:rPr>
              <a:t>Limitations of Memory System Performance</a:t>
            </a:r>
            <a:endParaRPr lang="en-PK" sz="3100">
              <a:latin typeface="Arial" panose="020B0604020202020204" pitchFamily="34" charset="0"/>
              <a:cs typeface="Arial" panose="020B0604020202020204" pitchFamily="34" charset="0"/>
            </a:endParaRPr>
          </a:p>
        </p:txBody>
      </p:sp>
      <p:graphicFrame>
        <p:nvGraphicFramePr>
          <p:cNvPr id="58" name="Content Placeholder 5">
            <a:extLst>
              <a:ext uri="{FF2B5EF4-FFF2-40B4-BE49-F238E27FC236}">
                <a16:creationId xmlns:a16="http://schemas.microsoft.com/office/drawing/2014/main" id="{B6205683-127D-7E15-711C-21B27714E8B0}"/>
              </a:ext>
            </a:extLst>
          </p:cNvPr>
          <p:cNvGraphicFramePr>
            <a:graphicFrameLocks noGrp="1"/>
          </p:cNvGraphicFramePr>
          <p:nvPr>
            <p:ph idx="1"/>
            <p:extLst>
              <p:ext uri="{D42A27DB-BD31-4B8C-83A1-F6EECF244321}">
                <p14:modId xmlns:p14="http://schemas.microsoft.com/office/powerpoint/2010/main" val="389495907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29735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
                                            <p:graphicEl>
                                              <a:dgm id="{092CABE3-9986-4A46-8299-7316A99065D5}"/>
                                            </p:graphicEl>
                                          </p:spTgt>
                                        </p:tgtEl>
                                        <p:attrNameLst>
                                          <p:attrName>style.visibility</p:attrName>
                                        </p:attrNameLst>
                                      </p:cBhvr>
                                      <p:to>
                                        <p:strVal val="visible"/>
                                      </p:to>
                                    </p:set>
                                    <p:anim calcmode="lin" valueType="num">
                                      <p:cBhvr additive="base">
                                        <p:cTn id="7" dur="500" fill="hold"/>
                                        <p:tgtEl>
                                          <p:spTgt spid="58">
                                            <p:graphicEl>
                                              <a:dgm id="{092CABE3-9986-4A46-8299-7316A99065D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8">
                                            <p:graphicEl>
                                              <a:dgm id="{092CABE3-9986-4A46-8299-7316A99065D5}"/>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
                                            <p:graphicEl>
                                              <a:dgm id="{F2C2136E-A7E7-4355-9361-2C173ADB59F1}"/>
                                            </p:graphicEl>
                                          </p:spTgt>
                                        </p:tgtEl>
                                        <p:attrNameLst>
                                          <p:attrName>style.visibility</p:attrName>
                                        </p:attrNameLst>
                                      </p:cBhvr>
                                      <p:to>
                                        <p:strVal val="visible"/>
                                      </p:to>
                                    </p:set>
                                    <p:anim calcmode="lin" valueType="num">
                                      <p:cBhvr additive="base">
                                        <p:cTn id="13" dur="500" fill="hold"/>
                                        <p:tgtEl>
                                          <p:spTgt spid="58">
                                            <p:graphicEl>
                                              <a:dgm id="{F2C2136E-A7E7-4355-9361-2C173ADB59F1}"/>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
                                            <p:graphicEl>
                                              <a:dgm id="{F2C2136E-A7E7-4355-9361-2C173ADB59F1}"/>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8">
                                            <p:graphicEl>
                                              <a:dgm id="{D78DC9EA-EC43-4DF4-AC2A-DDFA9EB3E75E}"/>
                                            </p:graphicEl>
                                          </p:spTgt>
                                        </p:tgtEl>
                                        <p:attrNameLst>
                                          <p:attrName>style.visibility</p:attrName>
                                        </p:attrNameLst>
                                      </p:cBhvr>
                                      <p:to>
                                        <p:strVal val="visible"/>
                                      </p:to>
                                    </p:set>
                                    <p:anim calcmode="lin" valueType="num">
                                      <p:cBhvr additive="base">
                                        <p:cTn id="19" dur="500" fill="hold"/>
                                        <p:tgtEl>
                                          <p:spTgt spid="58">
                                            <p:graphicEl>
                                              <a:dgm id="{D78DC9EA-EC43-4DF4-AC2A-DDFA9EB3E75E}"/>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8">
                                            <p:graphicEl>
                                              <a:dgm id="{D78DC9EA-EC43-4DF4-AC2A-DDFA9EB3E75E}"/>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8">
                                            <p:graphicEl>
                                              <a:dgm id="{4492BF36-D5DD-46F9-BA85-2916D5C8A933}"/>
                                            </p:graphicEl>
                                          </p:spTgt>
                                        </p:tgtEl>
                                        <p:attrNameLst>
                                          <p:attrName>style.visibility</p:attrName>
                                        </p:attrNameLst>
                                      </p:cBhvr>
                                      <p:to>
                                        <p:strVal val="visible"/>
                                      </p:to>
                                    </p:set>
                                    <p:anim calcmode="lin" valueType="num">
                                      <p:cBhvr additive="base">
                                        <p:cTn id="25" dur="500" fill="hold"/>
                                        <p:tgtEl>
                                          <p:spTgt spid="58">
                                            <p:graphicEl>
                                              <a:dgm id="{4492BF36-D5DD-46F9-BA85-2916D5C8A933}"/>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58">
                                            <p:graphicEl>
                                              <a:dgm id="{4492BF36-D5DD-46F9-BA85-2916D5C8A933}"/>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8" grpId="0">
        <p:bldSub>
          <a:bldDgm bld="lvlOne"/>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sz="3100">
                <a:latin typeface="Arial" panose="020B0604020202020204" pitchFamily="34" charset="0"/>
                <a:cs typeface="Arial" panose="020B0604020202020204" pitchFamily="34" charset="0"/>
              </a:rPr>
              <a:t>Limitations of Memory System Performance Cont…</a:t>
            </a:r>
            <a:endParaRPr lang="en-PK" sz="3100">
              <a:latin typeface="Arial" panose="020B0604020202020204" pitchFamily="34" charset="0"/>
              <a:cs typeface="Arial" panose="020B0604020202020204" pitchFamily="34" charset="0"/>
            </a:endParaRPr>
          </a:p>
        </p:txBody>
      </p:sp>
      <p:graphicFrame>
        <p:nvGraphicFramePr>
          <p:cNvPr id="47" name="Content Placeholder 3">
            <a:extLst>
              <a:ext uri="{FF2B5EF4-FFF2-40B4-BE49-F238E27FC236}">
                <a16:creationId xmlns:a16="http://schemas.microsoft.com/office/drawing/2014/main" id="{E61796A7-CDEA-F406-C438-85CFB0FB75BE}"/>
              </a:ext>
            </a:extLst>
          </p:cNvPr>
          <p:cNvGraphicFramePr>
            <a:graphicFrameLocks noGrp="1"/>
          </p:cNvGraphicFramePr>
          <p:nvPr>
            <p:ph idx="1"/>
            <p:extLst>
              <p:ext uri="{D42A27DB-BD31-4B8C-83A1-F6EECF244321}">
                <p14:modId xmlns:p14="http://schemas.microsoft.com/office/powerpoint/2010/main" val="3754189693"/>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47006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9B0EC2CB-91EB-427A-9081-BE299D30B1FF}"/>
                                            </p:graphicEl>
                                          </p:spTgt>
                                        </p:tgtEl>
                                        <p:attrNameLst>
                                          <p:attrName>style.visibility</p:attrName>
                                        </p:attrNameLst>
                                      </p:cBhvr>
                                      <p:to>
                                        <p:strVal val="visible"/>
                                      </p:to>
                                    </p:set>
                                    <p:anim calcmode="lin" valueType="num">
                                      <p:cBhvr additive="base">
                                        <p:cTn id="7" dur="500" fill="hold"/>
                                        <p:tgtEl>
                                          <p:spTgt spid="47">
                                            <p:graphicEl>
                                              <a:dgm id="{9B0EC2CB-91EB-427A-9081-BE299D30B1F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9B0EC2CB-91EB-427A-9081-BE299D30B1F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graphicEl>
                                              <a:dgm id="{EC062F53-DC9B-4406-AA94-4AFEC917A9CA}"/>
                                            </p:graphicEl>
                                          </p:spTgt>
                                        </p:tgtEl>
                                        <p:attrNameLst>
                                          <p:attrName>style.visibility</p:attrName>
                                        </p:attrNameLst>
                                      </p:cBhvr>
                                      <p:to>
                                        <p:strVal val="visible"/>
                                      </p:to>
                                    </p:set>
                                    <p:anim calcmode="lin" valueType="num">
                                      <p:cBhvr additive="base">
                                        <p:cTn id="13" dur="500" fill="hold"/>
                                        <p:tgtEl>
                                          <p:spTgt spid="47">
                                            <p:graphicEl>
                                              <a:dgm id="{EC062F53-DC9B-4406-AA94-4AFEC917A9CA}"/>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
                                            <p:graphicEl>
                                              <a:dgm id="{EC062F53-DC9B-4406-AA94-4AFEC917A9CA}"/>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
                                            <p:graphicEl>
                                              <a:dgm id="{54AA4018-270C-4BDE-876C-D63FF8FE08FC}"/>
                                            </p:graphicEl>
                                          </p:spTgt>
                                        </p:tgtEl>
                                        <p:attrNameLst>
                                          <p:attrName>style.visibility</p:attrName>
                                        </p:attrNameLst>
                                      </p:cBhvr>
                                      <p:to>
                                        <p:strVal val="visible"/>
                                      </p:to>
                                    </p:set>
                                    <p:anim calcmode="lin" valueType="num">
                                      <p:cBhvr additive="base">
                                        <p:cTn id="19" dur="500" fill="hold"/>
                                        <p:tgtEl>
                                          <p:spTgt spid="47">
                                            <p:graphicEl>
                                              <a:dgm id="{54AA4018-270C-4BDE-876C-D63FF8FE08FC}"/>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
                                            <p:graphicEl>
                                              <a:dgm id="{54AA4018-270C-4BDE-876C-D63FF8FE08F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606175" y="472611"/>
            <a:ext cx="11229654" cy="925402"/>
          </a:xfrm>
        </p:spPr>
        <p:txBody>
          <a:bodyPr>
            <a:no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Memory Latency Example</a:t>
            </a:r>
            <a:endParaRPr lang="en-PK" sz="4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4" name="Content Placeholder 3">
            <a:extLst>
              <a:ext uri="{FF2B5EF4-FFF2-40B4-BE49-F238E27FC236}">
                <a16:creationId xmlns:a16="http://schemas.microsoft.com/office/drawing/2014/main" id="{90D6F556-9F63-8BDD-AFC3-5A33564932CC}"/>
              </a:ext>
            </a:extLst>
          </p:cNvPr>
          <p:cNvSpPr>
            <a:spLocks noGrp="1"/>
          </p:cNvSpPr>
          <p:nvPr>
            <p:ph idx="1"/>
          </p:nvPr>
        </p:nvSpPr>
        <p:spPr>
          <a:xfrm>
            <a:off x="606175" y="1684962"/>
            <a:ext cx="10917823" cy="4839127"/>
          </a:xfrm>
        </p:spPr>
        <p:txBody>
          <a:bodyPr>
            <a:normAutofit/>
          </a:bodyPr>
          <a:lstStyle/>
          <a:p>
            <a:pPr marL="0" indent="0">
              <a:buNone/>
            </a:pPr>
            <a:r>
              <a:rPr lang="en-US" dirty="0">
                <a:solidFill>
                  <a:schemeClr val="tx1"/>
                </a:solidFill>
                <a:latin typeface="Arial" panose="020B0604020202020204" pitchFamily="34" charset="0"/>
                <a:cs typeface="Arial" panose="020B0604020202020204" pitchFamily="34" charset="0"/>
              </a:rPr>
              <a:t>Consider a processor operating at 1 GHz (1 ns clock) connected to a DRAM with a latency of 100 ns (no caches). Assume that the processor has two multiply-add units and is capable of executing four instructions in each cycle of 1 ns. The following observations follow: </a:t>
            </a:r>
          </a:p>
          <a:p>
            <a:pPr lvl="1"/>
            <a:r>
              <a:rPr lang="en-US" dirty="0">
                <a:solidFill>
                  <a:schemeClr val="tx1"/>
                </a:solidFill>
                <a:latin typeface="Arial" panose="020B0604020202020204" pitchFamily="34" charset="0"/>
                <a:cs typeface="Arial" panose="020B0604020202020204" pitchFamily="34" charset="0"/>
              </a:rPr>
              <a:t>The peak processor rating is 4 GFLOPS. </a:t>
            </a:r>
          </a:p>
          <a:p>
            <a:pPr lvl="1"/>
            <a:r>
              <a:rPr lang="en-US" dirty="0">
                <a:solidFill>
                  <a:schemeClr val="tx1"/>
                </a:solidFill>
                <a:latin typeface="Arial" panose="020B0604020202020204" pitchFamily="34" charset="0"/>
                <a:cs typeface="Arial" panose="020B0604020202020204" pitchFamily="34" charset="0"/>
              </a:rPr>
              <a:t>Since the memory latency is equal to 100 cycles and block size is one word, every time a memory request is made, the processor must wait 100 cycles before it can process the data. </a:t>
            </a:r>
          </a:p>
          <a:p>
            <a:endParaRPr lang="en-PK"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8501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Improving Effective Memory </a:t>
            </a:r>
            <a:br>
              <a:rPr lang="en-US" sz="2800" b="1" dirty="0">
                <a:solidFill>
                  <a:schemeClr val="tx2"/>
                </a:solidFill>
                <a:latin typeface="Arial" panose="020B0604020202020204" pitchFamily="34" charset="0"/>
                <a:cs typeface="Arial" panose="020B0604020202020204" pitchFamily="34" charset="0"/>
              </a:rPr>
            </a:br>
            <a:r>
              <a:rPr lang="en-US" sz="2800" b="1" dirty="0">
                <a:solidFill>
                  <a:schemeClr val="tx2"/>
                </a:solidFill>
                <a:latin typeface="Arial" panose="020B0604020202020204" pitchFamily="34" charset="0"/>
                <a:cs typeface="Arial" panose="020B0604020202020204" pitchFamily="34" charset="0"/>
              </a:rPr>
              <a:t>Latency Using Caches </a:t>
            </a:r>
          </a:p>
        </p:txBody>
      </p:sp>
    </p:spTree>
    <p:extLst>
      <p:ext uri="{BB962C8B-B14F-4D97-AF65-F5344CB8AC3E}">
        <p14:creationId xmlns:p14="http://schemas.microsoft.com/office/powerpoint/2010/main" val="1225472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233626523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8886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236305" y="381000"/>
            <a:ext cx="11435137" cy="1600124"/>
          </a:xfrm>
        </p:spPr>
        <p:txBody>
          <a:bodyPr>
            <a:normAutofit/>
          </a:bodyPr>
          <a:lstStyle/>
          <a:p>
            <a:r>
              <a:rPr lang="en-US" dirty="0">
                <a:latin typeface="Arial" panose="020B0604020202020204" pitchFamily="34" charset="0"/>
                <a:cs typeface="Arial" panose="020B0604020202020204" pitchFamily="34" charset="0"/>
              </a:rPr>
              <a:t>Improving Effective Memory Latency Using Caches </a:t>
            </a:r>
            <a:endParaRPr lang="en-PK" dirty="0">
              <a:latin typeface="Arial" panose="020B0604020202020204" pitchFamily="34" charset="0"/>
              <a:cs typeface="Arial" panose="020B0604020202020204" pitchFamily="34" charset="0"/>
            </a:endParaRPr>
          </a:p>
        </p:txBody>
      </p:sp>
      <p:graphicFrame>
        <p:nvGraphicFramePr>
          <p:cNvPr id="58" name="Content Placeholder 5">
            <a:extLst>
              <a:ext uri="{FF2B5EF4-FFF2-40B4-BE49-F238E27FC236}">
                <a16:creationId xmlns:a16="http://schemas.microsoft.com/office/drawing/2014/main" id="{3422D246-A5BE-90D0-40F0-311749800374}"/>
              </a:ext>
            </a:extLst>
          </p:cNvPr>
          <p:cNvGraphicFramePr>
            <a:graphicFrameLocks noGrp="1"/>
          </p:cNvGraphicFramePr>
          <p:nvPr>
            <p:ph idx="1"/>
          </p:nvPr>
        </p:nvGraphicFramePr>
        <p:xfrm>
          <a:off x="410966" y="2506894"/>
          <a:ext cx="11260476" cy="39701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6714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
                                            <p:graphicEl>
                                              <a:dgm id="{67D0A11E-659C-491A-B650-A0C1EED604CE}"/>
                                            </p:graphicEl>
                                          </p:spTgt>
                                        </p:tgtEl>
                                        <p:attrNameLst>
                                          <p:attrName>style.visibility</p:attrName>
                                        </p:attrNameLst>
                                      </p:cBhvr>
                                      <p:to>
                                        <p:strVal val="visible"/>
                                      </p:to>
                                    </p:set>
                                    <p:anim calcmode="lin" valueType="num">
                                      <p:cBhvr additive="base">
                                        <p:cTn id="7" dur="500" fill="hold"/>
                                        <p:tgtEl>
                                          <p:spTgt spid="58">
                                            <p:graphicEl>
                                              <a:dgm id="{67D0A11E-659C-491A-B650-A0C1EED604C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8">
                                            <p:graphicEl>
                                              <a:dgm id="{67D0A11E-659C-491A-B650-A0C1EED604CE}"/>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
                                            <p:graphicEl>
                                              <a:dgm id="{79339218-E955-45E4-A922-D033E22190F4}"/>
                                            </p:graphicEl>
                                          </p:spTgt>
                                        </p:tgtEl>
                                        <p:attrNameLst>
                                          <p:attrName>style.visibility</p:attrName>
                                        </p:attrNameLst>
                                      </p:cBhvr>
                                      <p:to>
                                        <p:strVal val="visible"/>
                                      </p:to>
                                    </p:set>
                                    <p:anim calcmode="lin" valueType="num">
                                      <p:cBhvr additive="base">
                                        <p:cTn id="13" dur="500" fill="hold"/>
                                        <p:tgtEl>
                                          <p:spTgt spid="58">
                                            <p:graphicEl>
                                              <a:dgm id="{79339218-E955-45E4-A922-D033E22190F4}"/>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
                                            <p:graphicEl>
                                              <a:dgm id="{79339218-E955-45E4-A922-D033E22190F4}"/>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8">
                                            <p:graphicEl>
                                              <a:dgm id="{7BFEB0F6-CD62-4D67-A2ED-C72A1B468AF8}"/>
                                            </p:graphicEl>
                                          </p:spTgt>
                                        </p:tgtEl>
                                        <p:attrNameLst>
                                          <p:attrName>style.visibility</p:attrName>
                                        </p:attrNameLst>
                                      </p:cBhvr>
                                      <p:to>
                                        <p:strVal val="visible"/>
                                      </p:to>
                                    </p:set>
                                    <p:anim calcmode="lin" valueType="num">
                                      <p:cBhvr additive="base">
                                        <p:cTn id="17" dur="500" fill="hold"/>
                                        <p:tgtEl>
                                          <p:spTgt spid="58">
                                            <p:graphicEl>
                                              <a:dgm id="{7BFEB0F6-CD62-4D67-A2ED-C72A1B468AF8}"/>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58">
                                            <p:graphicEl>
                                              <a:dgm id="{7BFEB0F6-CD62-4D67-A2ED-C72A1B468AF8}"/>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8">
                                            <p:graphicEl>
                                              <a:dgm id="{CA00E5B3-0339-40EB-9BF1-D8BE2DED119D}"/>
                                            </p:graphicEl>
                                          </p:spTgt>
                                        </p:tgtEl>
                                        <p:attrNameLst>
                                          <p:attrName>style.visibility</p:attrName>
                                        </p:attrNameLst>
                                      </p:cBhvr>
                                      <p:to>
                                        <p:strVal val="visible"/>
                                      </p:to>
                                    </p:set>
                                    <p:anim calcmode="lin" valueType="num">
                                      <p:cBhvr additive="base">
                                        <p:cTn id="23" dur="500" fill="hold"/>
                                        <p:tgtEl>
                                          <p:spTgt spid="58">
                                            <p:graphicEl>
                                              <a:dgm id="{CA00E5B3-0339-40EB-9BF1-D8BE2DED119D}"/>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58">
                                            <p:graphicEl>
                                              <a:dgm id="{CA00E5B3-0339-40EB-9BF1-D8BE2DED119D}"/>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8">
                                            <p:graphicEl>
                                              <a:dgm id="{3C8117AF-23A9-451E-9223-FA4A0A867CF6}"/>
                                            </p:graphicEl>
                                          </p:spTgt>
                                        </p:tgtEl>
                                        <p:attrNameLst>
                                          <p:attrName>style.visibility</p:attrName>
                                        </p:attrNameLst>
                                      </p:cBhvr>
                                      <p:to>
                                        <p:strVal val="visible"/>
                                      </p:to>
                                    </p:set>
                                    <p:anim calcmode="lin" valueType="num">
                                      <p:cBhvr additive="base">
                                        <p:cTn id="27" dur="500" fill="hold"/>
                                        <p:tgtEl>
                                          <p:spTgt spid="58">
                                            <p:graphicEl>
                                              <a:dgm id="{3C8117AF-23A9-451E-9223-FA4A0A867CF6}"/>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58">
                                            <p:graphicEl>
                                              <a:dgm id="{3C8117AF-23A9-451E-9223-FA4A0A867CF6}"/>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8">
                                            <p:graphicEl>
                                              <a:dgm id="{A6F357B8-145C-4EBC-8416-38AAB8B1A3C1}"/>
                                            </p:graphicEl>
                                          </p:spTgt>
                                        </p:tgtEl>
                                        <p:attrNameLst>
                                          <p:attrName>style.visibility</p:attrName>
                                        </p:attrNameLst>
                                      </p:cBhvr>
                                      <p:to>
                                        <p:strVal val="visible"/>
                                      </p:to>
                                    </p:set>
                                    <p:anim calcmode="lin" valueType="num">
                                      <p:cBhvr additive="base">
                                        <p:cTn id="33" dur="500" fill="hold"/>
                                        <p:tgtEl>
                                          <p:spTgt spid="58">
                                            <p:graphicEl>
                                              <a:dgm id="{A6F357B8-145C-4EBC-8416-38AAB8B1A3C1}"/>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58">
                                            <p:graphicEl>
                                              <a:dgm id="{A6F357B8-145C-4EBC-8416-38AAB8B1A3C1}"/>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8">
                                            <p:graphicEl>
                                              <a:dgm id="{7D1E5EBB-ACD3-42FE-AF4B-E6AAD903A6BB}"/>
                                            </p:graphicEl>
                                          </p:spTgt>
                                        </p:tgtEl>
                                        <p:attrNameLst>
                                          <p:attrName>style.visibility</p:attrName>
                                        </p:attrNameLst>
                                      </p:cBhvr>
                                      <p:to>
                                        <p:strVal val="visible"/>
                                      </p:to>
                                    </p:set>
                                    <p:anim calcmode="lin" valueType="num">
                                      <p:cBhvr additive="base">
                                        <p:cTn id="37" dur="500" fill="hold"/>
                                        <p:tgtEl>
                                          <p:spTgt spid="58">
                                            <p:graphicEl>
                                              <a:dgm id="{7D1E5EBB-ACD3-42FE-AF4B-E6AAD903A6BB}"/>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58">
                                            <p:graphicEl>
                                              <a:dgm id="{7D1E5EBB-ACD3-42FE-AF4B-E6AAD903A6BB}"/>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8">
                                            <p:graphicEl>
                                              <a:dgm id="{BD3646BE-452E-4AEA-9F56-79CD490F38F4}"/>
                                            </p:graphicEl>
                                          </p:spTgt>
                                        </p:tgtEl>
                                        <p:attrNameLst>
                                          <p:attrName>style.visibility</p:attrName>
                                        </p:attrNameLst>
                                      </p:cBhvr>
                                      <p:to>
                                        <p:strVal val="visible"/>
                                      </p:to>
                                    </p:set>
                                    <p:anim calcmode="lin" valueType="num">
                                      <p:cBhvr additive="base">
                                        <p:cTn id="43" dur="500" fill="hold"/>
                                        <p:tgtEl>
                                          <p:spTgt spid="58">
                                            <p:graphicEl>
                                              <a:dgm id="{BD3646BE-452E-4AEA-9F56-79CD490F38F4}"/>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58">
                                            <p:graphicEl>
                                              <a:dgm id="{BD3646BE-452E-4AEA-9F56-79CD490F38F4}"/>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8">
                                            <p:graphicEl>
                                              <a:dgm id="{AF8991CF-6DA0-4163-B42C-56843D390FBB}"/>
                                            </p:graphicEl>
                                          </p:spTgt>
                                        </p:tgtEl>
                                        <p:attrNameLst>
                                          <p:attrName>style.visibility</p:attrName>
                                        </p:attrNameLst>
                                      </p:cBhvr>
                                      <p:to>
                                        <p:strVal val="visible"/>
                                      </p:to>
                                    </p:set>
                                    <p:anim calcmode="lin" valueType="num">
                                      <p:cBhvr additive="base">
                                        <p:cTn id="47" dur="500" fill="hold"/>
                                        <p:tgtEl>
                                          <p:spTgt spid="58">
                                            <p:graphicEl>
                                              <a:dgm id="{AF8991CF-6DA0-4163-B42C-56843D390FBB}"/>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58">
                                            <p:graphicEl>
                                              <a:dgm id="{AF8991CF-6DA0-4163-B42C-56843D390FBB}"/>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8" grpId="0">
        <p:bldSub>
          <a:bldDgm bld="one"/>
        </p:bldSub>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55" name="Picture 54">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r>
              <a:rPr lang="en-US" dirty="0">
                <a:solidFill>
                  <a:schemeClr val="tx2"/>
                </a:solidFill>
                <a:latin typeface="Arial" panose="020B0604020202020204" pitchFamily="34" charset="0"/>
                <a:cs typeface="Arial" panose="020B0604020202020204" pitchFamily="34" charset="0"/>
              </a:rPr>
              <a:t>Effect of Cache</a:t>
            </a:r>
            <a:endParaRPr lang="en-PK" dirty="0">
              <a:solidFill>
                <a:schemeClr val="tx2"/>
              </a:solidFill>
              <a:latin typeface="Arial" panose="020B0604020202020204" pitchFamily="34" charset="0"/>
              <a:cs typeface="Arial" panose="020B0604020202020204" pitchFamily="34" charset="0"/>
            </a:endParaRPr>
          </a:p>
        </p:txBody>
      </p:sp>
      <p:pic>
        <p:nvPicPr>
          <p:cNvPr id="57" name="Picture 56">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47" name="Content Placeholder 2">
            <a:extLst>
              <a:ext uri="{FF2B5EF4-FFF2-40B4-BE49-F238E27FC236}">
                <a16:creationId xmlns:a16="http://schemas.microsoft.com/office/drawing/2014/main" id="{329697B4-010F-1753-5D2F-C736CF08CA61}"/>
              </a:ext>
            </a:extLst>
          </p:cNvPr>
          <p:cNvGraphicFramePr>
            <a:graphicFrameLocks noGrp="1"/>
          </p:cNvGraphicFramePr>
          <p:nvPr>
            <p:ph idx="1"/>
            <p:extLst>
              <p:ext uri="{D42A27DB-BD31-4B8C-83A1-F6EECF244321}">
                <p14:modId xmlns:p14="http://schemas.microsoft.com/office/powerpoint/2010/main" val="1273643950"/>
              </p:ext>
            </p:extLst>
          </p:nvPr>
        </p:nvGraphicFramePr>
        <p:xfrm>
          <a:off x="1197268" y="1535750"/>
          <a:ext cx="10569616" cy="515380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5521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3035F8CD-4094-428D-90AE-71DDDEB1B62D}"/>
                                            </p:graphicEl>
                                          </p:spTgt>
                                        </p:tgtEl>
                                        <p:attrNameLst>
                                          <p:attrName>style.visibility</p:attrName>
                                        </p:attrNameLst>
                                      </p:cBhvr>
                                      <p:to>
                                        <p:strVal val="visible"/>
                                      </p:to>
                                    </p:set>
                                    <p:anim calcmode="lin" valueType="num">
                                      <p:cBhvr additive="base">
                                        <p:cTn id="7" dur="500" fill="hold"/>
                                        <p:tgtEl>
                                          <p:spTgt spid="47">
                                            <p:graphicEl>
                                              <a:dgm id="{3035F8CD-4094-428D-90AE-71DDDEB1B62D}"/>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3035F8CD-4094-428D-90AE-71DDDEB1B62D}"/>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
                                            <p:graphicEl>
                                              <a:dgm id="{9DB1D036-E611-454A-9B6B-970A151C8EBB}"/>
                                            </p:graphicEl>
                                          </p:spTgt>
                                        </p:tgtEl>
                                        <p:attrNameLst>
                                          <p:attrName>style.visibility</p:attrName>
                                        </p:attrNameLst>
                                      </p:cBhvr>
                                      <p:to>
                                        <p:strVal val="visible"/>
                                      </p:to>
                                    </p:set>
                                    <p:anim calcmode="lin" valueType="num">
                                      <p:cBhvr additive="base">
                                        <p:cTn id="11" dur="500" fill="hold"/>
                                        <p:tgtEl>
                                          <p:spTgt spid="47">
                                            <p:graphicEl>
                                              <a:dgm id="{9DB1D036-E611-454A-9B6B-970A151C8EBB}"/>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
                                            <p:graphicEl>
                                              <a:dgm id="{9DB1D036-E611-454A-9B6B-970A151C8EBB}"/>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7">
                                            <p:graphicEl>
                                              <a:dgm id="{209E302B-859D-4795-B2FE-01EA7CA54FC2}"/>
                                            </p:graphicEl>
                                          </p:spTgt>
                                        </p:tgtEl>
                                        <p:attrNameLst>
                                          <p:attrName>style.visibility</p:attrName>
                                        </p:attrNameLst>
                                      </p:cBhvr>
                                      <p:to>
                                        <p:strVal val="visible"/>
                                      </p:to>
                                    </p:set>
                                    <p:anim calcmode="lin" valueType="num">
                                      <p:cBhvr additive="base">
                                        <p:cTn id="17" dur="500" fill="hold"/>
                                        <p:tgtEl>
                                          <p:spTgt spid="47">
                                            <p:graphicEl>
                                              <a:dgm id="{209E302B-859D-4795-B2FE-01EA7CA54FC2}"/>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
                                            <p:graphicEl>
                                              <a:dgm id="{209E302B-859D-4795-B2FE-01EA7CA54FC2}"/>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7">
                                            <p:graphicEl>
                                              <a:dgm id="{38CEA9DA-1DD5-485E-A4DB-B97274B4C6C0}"/>
                                            </p:graphicEl>
                                          </p:spTgt>
                                        </p:tgtEl>
                                        <p:attrNameLst>
                                          <p:attrName>style.visibility</p:attrName>
                                        </p:attrNameLst>
                                      </p:cBhvr>
                                      <p:to>
                                        <p:strVal val="visible"/>
                                      </p:to>
                                    </p:set>
                                    <p:anim calcmode="lin" valueType="num">
                                      <p:cBhvr additive="base">
                                        <p:cTn id="21" dur="500" fill="hold"/>
                                        <p:tgtEl>
                                          <p:spTgt spid="47">
                                            <p:graphicEl>
                                              <a:dgm id="{38CEA9DA-1DD5-485E-A4DB-B97274B4C6C0}"/>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47">
                                            <p:graphicEl>
                                              <a:dgm id="{38CEA9DA-1DD5-485E-A4DB-B97274B4C6C0}"/>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7">
                                            <p:graphicEl>
                                              <a:dgm id="{81CDA805-A4F9-4C98-BE78-0CD4674E21B7}"/>
                                            </p:graphicEl>
                                          </p:spTgt>
                                        </p:tgtEl>
                                        <p:attrNameLst>
                                          <p:attrName>style.visibility</p:attrName>
                                        </p:attrNameLst>
                                      </p:cBhvr>
                                      <p:to>
                                        <p:strVal val="visible"/>
                                      </p:to>
                                    </p:set>
                                    <p:anim calcmode="lin" valueType="num">
                                      <p:cBhvr additive="base">
                                        <p:cTn id="27" dur="500" fill="hold"/>
                                        <p:tgtEl>
                                          <p:spTgt spid="47">
                                            <p:graphicEl>
                                              <a:dgm id="{81CDA805-A4F9-4C98-BE78-0CD4674E21B7}"/>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7">
                                            <p:graphicEl>
                                              <a:dgm id="{81CDA805-A4F9-4C98-BE78-0CD4674E21B7}"/>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7">
                                            <p:graphicEl>
                                              <a:dgm id="{A2C45649-A0B0-48EA-8652-073002D92B87}"/>
                                            </p:graphicEl>
                                          </p:spTgt>
                                        </p:tgtEl>
                                        <p:attrNameLst>
                                          <p:attrName>style.visibility</p:attrName>
                                        </p:attrNameLst>
                                      </p:cBhvr>
                                      <p:to>
                                        <p:strVal val="visible"/>
                                      </p:to>
                                    </p:set>
                                    <p:anim calcmode="lin" valueType="num">
                                      <p:cBhvr additive="base">
                                        <p:cTn id="31" dur="500" fill="hold"/>
                                        <p:tgtEl>
                                          <p:spTgt spid="47">
                                            <p:graphicEl>
                                              <a:dgm id="{A2C45649-A0B0-48EA-8652-073002D92B87}"/>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
                                            <p:graphicEl>
                                              <a:dgm id="{A2C45649-A0B0-48EA-8652-073002D92B87}"/>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lvlOne"/>
        </p:bldSub>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816101" cy="1166245"/>
          </a:xfrm>
        </p:spPr>
        <p:txBody>
          <a:bodyPr>
            <a:norm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Effect of Cache Example</a:t>
            </a:r>
            <a:endParaRPr lang="en-PK" sz="714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3" name="Content Placeholder 2">
            <a:extLst>
              <a:ext uri="{FF2B5EF4-FFF2-40B4-BE49-F238E27FC236}">
                <a16:creationId xmlns:a16="http://schemas.microsoft.com/office/drawing/2014/main" id="{3FEF309E-FDCD-0ABF-CFE7-D602DD3B50FF}"/>
              </a:ext>
            </a:extLst>
          </p:cNvPr>
          <p:cNvSpPr>
            <a:spLocks noGrp="1"/>
          </p:cNvSpPr>
          <p:nvPr>
            <p:ph idx="1"/>
          </p:nvPr>
        </p:nvSpPr>
        <p:spPr>
          <a:xfrm>
            <a:off x="838200" y="1949450"/>
            <a:ext cx="10685799" cy="4655887"/>
          </a:xfrm>
        </p:spPr>
        <p:txBody>
          <a:bodyPr>
            <a:normAutofit/>
          </a:bodyPr>
          <a:lstStyle/>
          <a:p>
            <a:pPr marL="0" indent="0" algn="just">
              <a:buNone/>
            </a:pPr>
            <a:r>
              <a:rPr lang="en-US" dirty="0">
                <a:solidFill>
                  <a:schemeClr val="tx1"/>
                </a:solidFill>
                <a:latin typeface="Arial" panose="020B0604020202020204" pitchFamily="34" charset="0"/>
                <a:cs typeface="Arial" panose="020B0604020202020204" pitchFamily="34" charset="0"/>
              </a:rPr>
              <a:t>Continue the previous example of memory latency, we introduce a cache of size 32 KB with a latency of 1 ns or one cycle. We use this setup to multiply two matrices A and B of dimensions 32 × 32(8KB or 1K words for each matrix). We have carefully chosen these numbers so that the cache is large enough to store matrices A and B, as well as the result matrix C. </a:t>
            </a:r>
          </a:p>
          <a:p>
            <a:pPr algn="just"/>
            <a:r>
              <a:rPr lang="en-US" sz="2400" dirty="0">
                <a:solidFill>
                  <a:schemeClr val="tx1"/>
                </a:solidFill>
                <a:latin typeface="Arial" panose="020B0604020202020204" pitchFamily="34" charset="0"/>
                <a:cs typeface="Arial" panose="020B0604020202020204" pitchFamily="34" charset="0"/>
              </a:rPr>
              <a:t>1GHz processor, 4GFLOPS theoretical peak, 100ns memory    Latency.</a:t>
            </a:r>
          </a:p>
          <a:p>
            <a:pPr algn="just"/>
            <a:r>
              <a:rPr lang="en-US" sz="2400" dirty="0">
                <a:solidFill>
                  <a:schemeClr val="tx1"/>
                </a:solidFill>
                <a:latin typeface="Arial" panose="020B0604020202020204" pitchFamily="34" charset="0"/>
                <a:cs typeface="Arial" panose="020B0604020202020204" pitchFamily="34" charset="0"/>
              </a:rPr>
              <a:t>Assume 1ns cache latency (full-speed cache)</a:t>
            </a:r>
          </a:p>
          <a:p>
            <a:pPr marL="0" indent="0" algn="just">
              <a:buNone/>
            </a:pPr>
            <a:endParaRPr lang="en-US" dirty="0">
              <a:solidFill>
                <a:schemeClr val="tx1"/>
              </a:solidFill>
              <a:latin typeface="Arial" panose="020B0604020202020204" pitchFamily="34" charset="0"/>
              <a:cs typeface="Arial" panose="020B0604020202020204" pitchFamily="34" charset="0"/>
            </a:endParaRPr>
          </a:p>
          <a:p>
            <a:pPr marL="0" indent="0" algn="just">
              <a:buNone/>
            </a:pPr>
            <a:endParaRPr lang="en-US" dirty="0">
              <a:solidFill>
                <a:schemeClr val="tx1"/>
              </a:solidFill>
              <a:latin typeface="Arial" panose="020B0604020202020204" pitchFamily="34" charset="0"/>
              <a:cs typeface="Arial" panose="020B0604020202020204" pitchFamily="34" charset="0"/>
            </a:endParaRPr>
          </a:p>
          <a:p>
            <a:endParaRPr lang="en-PK" dirty="0"/>
          </a:p>
        </p:txBody>
      </p:sp>
    </p:spTree>
    <p:extLst>
      <p:ext uri="{BB962C8B-B14F-4D97-AF65-F5344CB8AC3E}">
        <p14:creationId xmlns:p14="http://schemas.microsoft.com/office/powerpoint/2010/main" val="26278851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816101" cy="980229"/>
          </a:xfrm>
        </p:spPr>
        <p:txBody>
          <a:bodyPr>
            <a:norm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Effect of Cache Example </a:t>
            </a:r>
            <a:r>
              <a:rPr lang="en-US" sz="4000" dirty="0" err="1">
                <a:solidFill>
                  <a:schemeClr val="tx1"/>
                </a:solidFill>
                <a:latin typeface="Arial" panose="020B0604020202020204" pitchFamily="34" charset="0"/>
                <a:cs typeface="Arial" panose="020B0604020202020204" pitchFamily="34" charset="0"/>
              </a:rPr>
              <a:t>Cont</a:t>
            </a:r>
            <a:r>
              <a:rPr lang="en-US" sz="4000" dirty="0">
                <a:solidFill>
                  <a:schemeClr val="tx1"/>
                </a:solidFill>
                <a:latin typeface="Arial" panose="020B0604020202020204" pitchFamily="34" charset="0"/>
                <a:cs typeface="Arial" panose="020B0604020202020204" pitchFamily="34" charset="0"/>
              </a:rPr>
              <a:t>…</a:t>
            </a:r>
            <a:endParaRPr lang="en-PK" sz="714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4" name="Content Placeholder 3">
            <a:extLst>
              <a:ext uri="{FF2B5EF4-FFF2-40B4-BE49-F238E27FC236}">
                <a16:creationId xmlns:a16="http://schemas.microsoft.com/office/drawing/2014/main" id="{9831DA41-106E-C49E-21B3-6756ABEA18F6}"/>
              </a:ext>
            </a:extLst>
          </p:cNvPr>
          <p:cNvGraphicFramePr>
            <a:graphicFrameLocks noGrp="1"/>
          </p:cNvGraphicFramePr>
          <p:nvPr>
            <p:ph idx="1"/>
            <p:extLst>
              <p:ext uri="{D42A27DB-BD31-4B8C-83A1-F6EECF244321}">
                <p14:modId xmlns:p14="http://schemas.microsoft.com/office/powerpoint/2010/main" val="3724202814"/>
              </p:ext>
            </p:extLst>
          </p:nvPr>
        </p:nvGraphicFramePr>
        <p:xfrm>
          <a:off x="838200" y="1540042"/>
          <a:ext cx="10515600" cy="460517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9942792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Effect of Memory Bandwidth</a:t>
            </a:r>
          </a:p>
        </p:txBody>
      </p:sp>
    </p:spTree>
    <p:extLst>
      <p:ext uri="{BB962C8B-B14F-4D97-AF65-F5344CB8AC3E}">
        <p14:creationId xmlns:p14="http://schemas.microsoft.com/office/powerpoint/2010/main" val="2475116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357436092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0652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3" name="Rectangle 62">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5" name="Rectangle 64">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685800" y="381000"/>
            <a:ext cx="10515600" cy="1600124"/>
          </a:xfrm>
        </p:spPr>
        <p:txBody>
          <a:bodyPr>
            <a:normAutofit/>
          </a:bodyPr>
          <a:lstStyle/>
          <a:p>
            <a:r>
              <a:rPr lang="en-US" dirty="0">
                <a:latin typeface="Arial" panose="020B0604020202020204" pitchFamily="34" charset="0"/>
                <a:cs typeface="Arial" panose="020B0604020202020204" pitchFamily="34" charset="0"/>
              </a:rPr>
              <a:t>Effect of Memory Bandwidth</a:t>
            </a:r>
            <a:endParaRPr lang="en-PK" dirty="0">
              <a:latin typeface="Arial" panose="020B0604020202020204" pitchFamily="34" charset="0"/>
              <a:cs typeface="Arial" panose="020B0604020202020204" pitchFamily="34" charset="0"/>
            </a:endParaRPr>
          </a:p>
        </p:txBody>
      </p:sp>
      <p:graphicFrame>
        <p:nvGraphicFramePr>
          <p:cNvPr id="5" name="Content Placeholder 4">
            <a:extLst>
              <a:ext uri="{FF2B5EF4-FFF2-40B4-BE49-F238E27FC236}">
                <a16:creationId xmlns:a16="http://schemas.microsoft.com/office/drawing/2014/main" id="{489ADC0B-4EC7-8A1D-2ABA-E02DD1617DA8}"/>
              </a:ext>
            </a:extLst>
          </p:cNvPr>
          <p:cNvGraphicFramePr>
            <a:graphicFrameLocks noGrp="1"/>
          </p:cNvGraphicFramePr>
          <p:nvPr>
            <p:ph idx="1"/>
            <p:extLst>
              <p:ext uri="{D42A27DB-BD31-4B8C-83A1-F6EECF244321}">
                <p14:modId xmlns:p14="http://schemas.microsoft.com/office/powerpoint/2010/main" val="4154705580"/>
              </p:ext>
            </p:extLst>
          </p:nvPr>
        </p:nvGraphicFramePr>
        <p:xfrm>
          <a:off x="838200" y="2514600"/>
          <a:ext cx="10515600" cy="36623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6057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684C14A6-9DF4-4B70-8160-028B018F68FC}"/>
                                            </p:graphicEl>
                                          </p:spTgt>
                                        </p:tgtEl>
                                        <p:attrNameLst>
                                          <p:attrName>style.visibility</p:attrName>
                                        </p:attrNameLst>
                                      </p:cBhvr>
                                      <p:to>
                                        <p:strVal val="visible"/>
                                      </p:to>
                                    </p:set>
                                    <p:anim calcmode="lin" valueType="num">
                                      <p:cBhvr additive="base">
                                        <p:cTn id="7" dur="500" fill="hold"/>
                                        <p:tgtEl>
                                          <p:spTgt spid="5">
                                            <p:graphicEl>
                                              <a:dgm id="{684C14A6-9DF4-4B70-8160-028B018F68FC}"/>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684C14A6-9DF4-4B70-8160-028B018F68FC}"/>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graphicEl>
                                              <a:dgm id="{D0A01581-301C-4E1B-A924-6E73DBE5AC6C}"/>
                                            </p:graphicEl>
                                          </p:spTgt>
                                        </p:tgtEl>
                                        <p:attrNameLst>
                                          <p:attrName>style.visibility</p:attrName>
                                        </p:attrNameLst>
                                      </p:cBhvr>
                                      <p:to>
                                        <p:strVal val="visible"/>
                                      </p:to>
                                    </p:set>
                                    <p:anim calcmode="lin" valueType="num">
                                      <p:cBhvr additive="base">
                                        <p:cTn id="13" dur="500" fill="hold"/>
                                        <p:tgtEl>
                                          <p:spTgt spid="5">
                                            <p:graphicEl>
                                              <a:dgm id="{D0A01581-301C-4E1B-A924-6E73DBE5AC6C}"/>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graphicEl>
                                              <a:dgm id="{D0A01581-301C-4E1B-A924-6E73DBE5AC6C}"/>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graphicEl>
                                              <a:dgm id="{F3E99993-4F74-4C65-9C56-F4F397A7C0B1}"/>
                                            </p:graphicEl>
                                          </p:spTgt>
                                        </p:tgtEl>
                                        <p:attrNameLst>
                                          <p:attrName>style.visibility</p:attrName>
                                        </p:attrNameLst>
                                      </p:cBhvr>
                                      <p:to>
                                        <p:strVal val="visible"/>
                                      </p:to>
                                    </p:set>
                                    <p:anim calcmode="lin" valueType="num">
                                      <p:cBhvr additive="base">
                                        <p:cTn id="17" dur="500" fill="hold"/>
                                        <p:tgtEl>
                                          <p:spTgt spid="5">
                                            <p:graphicEl>
                                              <a:dgm id="{F3E99993-4F74-4C65-9C56-F4F397A7C0B1}"/>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graphicEl>
                                              <a:dgm id="{F3E99993-4F74-4C65-9C56-F4F397A7C0B1}"/>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graphicEl>
                                              <a:dgm id="{F9AAD86B-6795-422A-8814-3DA59CE1F380}"/>
                                            </p:graphicEl>
                                          </p:spTgt>
                                        </p:tgtEl>
                                        <p:attrNameLst>
                                          <p:attrName>style.visibility</p:attrName>
                                        </p:attrNameLst>
                                      </p:cBhvr>
                                      <p:to>
                                        <p:strVal val="visible"/>
                                      </p:to>
                                    </p:set>
                                    <p:anim calcmode="lin" valueType="num">
                                      <p:cBhvr additive="base">
                                        <p:cTn id="23" dur="500" fill="hold"/>
                                        <p:tgtEl>
                                          <p:spTgt spid="5">
                                            <p:graphicEl>
                                              <a:dgm id="{F9AAD86B-6795-422A-8814-3DA59CE1F380}"/>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graphicEl>
                                              <a:dgm id="{F9AAD86B-6795-422A-8814-3DA59CE1F380}"/>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graphicEl>
                                              <a:dgm id="{30350560-818A-453B-881D-9AFEF1A0DBFF}"/>
                                            </p:graphicEl>
                                          </p:spTgt>
                                        </p:tgtEl>
                                        <p:attrNameLst>
                                          <p:attrName>style.visibility</p:attrName>
                                        </p:attrNameLst>
                                      </p:cBhvr>
                                      <p:to>
                                        <p:strVal val="visible"/>
                                      </p:to>
                                    </p:set>
                                    <p:anim calcmode="lin" valueType="num">
                                      <p:cBhvr additive="base">
                                        <p:cTn id="27" dur="500" fill="hold"/>
                                        <p:tgtEl>
                                          <p:spTgt spid="5">
                                            <p:graphicEl>
                                              <a:dgm id="{30350560-818A-453B-881D-9AFEF1A0DBFF}"/>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graphicEl>
                                              <a:dgm id="{30350560-818A-453B-881D-9AFEF1A0DBFF}"/>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441789"/>
            <a:ext cx="10247616" cy="1191802"/>
          </a:xfrm>
        </p:spPr>
        <p:txBody>
          <a:bodyPr>
            <a:normAutofit/>
          </a:bodyPr>
          <a:lstStyle/>
          <a:p>
            <a:pPr>
              <a:lnSpc>
                <a:spcPct val="90000"/>
              </a:lnSpc>
            </a:pPr>
            <a:r>
              <a:rPr lang="en-US" sz="4000" dirty="0">
                <a:solidFill>
                  <a:schemeClr val="tx1"/>
                </a:solidFill>
                <a:latin typeface="Arial" panose="020B0604020202020204" pitchFamily="34" charset="0"/>
                <a:cs typeface="Arial" panose="020B0604020202020204" pitchFamily="34" charset="0"/>
              </a:rPr>
              <a:t>Effect of Memory Bandwidth Example</a:t>
            </a:r>
            <a:endParaRPr lang="en-PK" sz="714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4" name="Content Placeholder 3">
            <a:extLst>
              <a:ext uri="{FF2B5EF4-FFF2-40B4-BE49-F238E27FC236}">
                <a16:creationId xmlns:a16="http://schemas.microsoft.com/office/drawing/2014/main" id="{02521C16-EFD7-BA41-F763-C5C94FEA02E3}"/>
              </a:ext>
            </a:extLst>
          </p:cNvPr>
          <p:cNvGraphicFramePr>
            <a:graphicFrameLocks noGrp="1"/>
          </p:cNvGraphicFramePr>
          <p:nvPr>
            <p:ph idx="1"/>
            <p:extLst>
              <p:ext uri="{D42A27DB-BD31-4B8C-83A1-F6EECF244321}">
                <p14:modId xmlns:p14="http://schemas.microsoft.com/office/powerpoint/2010/main" val="23917067"/>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1422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3E253877-BE63-4C3D-AB23-7898089F1910}"/>
                                            </p:graphicEl>
                                          </p:spTgt>
                                        </p:tgtEl>
                                        <p:attrNameLst>
                                          <p:attrName>style.visibility</p:attrName>
                                        </p:attrNameLst>
                                      </p:cBhvr>
                                      <p:to>
                                        <p:strVal val="visible"/>
                                      </p:to>
                                    </p:set>
                                    <p:anim calcmode="lin" valueType="num">
                                      <p:cBhvr additive="base">
                                        <p:cTn id="7" dur="500" fill="hold"/>
                                        <p:tgtEl>
                                          <p:spTgt spid="4">
                                            <p:graphicEl>
                                              <a:dgm id="{3E253877-BE63-4C3D-AB23-7898089F1910}"/>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3E253877-BE63-4C3D-AB23-7898089F1910}"/>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5DEB120B-C723-497C-B4CB-A630DE97A791}"/>
                                            </p:graphicEl>
                                          </p:spTgt>
                                        </p:tgtEl>
                                        <p:attrNameLst>
                                          <p:attrName>style.visibility</p:attrName>
                                        </p:attrNameLst>
                                      </p:cBhvr>
                                      <p:to>
                                        <p:strVal val="visible"/>
                                      </p:to>
                                    </p:set>
                                    <p:anim calcmode="lin" valueType="num">
                                      <p:cBhvr additive="base">
                                        <p:cTn id="13" dur="500" fill="hold"/>
                                        <p:tgtEl>
                                          <p:spTgt spid="4">
                                            <p:graphicEl>
                                              <a:dgm id="{5DEB120B-C723-497C-B4CB-A630DE97A791}"/>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5DEB120B-C723-497C-B4CB-A630DE97A79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86" name="Rectangle 8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88" name="Picture 87">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307535"/>
            <a:ext cx="10348146" cy="1340791"/>
          </a:xfrm>
        </p:spPr>
        <p:txBody>
          <a:bodyPr anchor="t">
            <a:normAutofit fontScale="90000"/>
          </a:bodyPr>
          <a:lstStyle/>
          <a:p>
            <a:r>
              <a:rPr lang="en-US" dirty="0">
                <a:solidFill>
                  <a:schemeClr val="tx2"/>
                </a:solidFill>
                <a:latin typeface="Arial" panose="020B0604020202020204" pitchFamily="34" charset="0"/>
                <a:cs typeface="Arial" panose="020B0604020202020204" pitchFamily="34" charset="0"/>
              </a:rPr>
              <a:t>Effect of Memory Bandwidth Example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pic>
        <p:nvPicPr>
          <p:cNvPr id="90" name="Picture 89">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47" name="Content Placeholder 2">
            <a:extLst>
              <a:ext uri="{FF2B5EF4-FFF2-40B4-BE49-F238E27FC236}">
                <a16:creationId xmlns:a16="http://schemas.microsoft.com/office/drawing/2014/main" id="{0E5D12D0-F635-8C8A-CB80-B4EEFD5989B3}"/>
              </a:ext>
            </a:extLst>
          </p:cNvPr>
          <p:cNvGraphicFramePr>
            <a:graphicFrameLocks noGrp="1"/>
          </p:cNvGraphicFramePr>
          <p:nvPr>
            <p:ph idx="1"/>
            <p:extLst>
              <p:ext uri="{D42A27DB-BD31-4B8C-83A1-F6EECF244321}">
                <p14:modId xmlns:p14="http://schemas.microsoft.com/office/powerpoint/2010/main" val="2923664627"/>
              </p:ext>
            </p:extLst>
          </p:nvPr>
        </p:nvGraphicFramePr>
        <p:xfrm>
          <a:off x="1197268" y="1843284"/>
          <a:ext cx="10156531" cy="45093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70745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D2CB4EDE-D881-476E-8A1A-10B7A22414D6}"/>
                                            </p:graphicEl>
                                          </p:spTgt>
                                        </p:tgtEl>
                                        <p:attrNameLst>
                                          <p:attrName>style.visibility</p:attrName>
                                        </p:attrNameLst>
                                      </p:cBhvr>
                                      <p:to>
                                        <p:strVal val="visible"/>
                                      </p:to>
                                    </p:set>
                                    <p:anim calcmode="lin" valueType="num">
                                      <p:cBhvr additive="base">
                                        <p:cTn id="7" dur="500" fill="hold"/>
                                        <p:tgtEl>
                                          <p:spTgt spid="47">
                                            <p:graphicEl>
                                              <a:dgm id="{D2CB4EDE-D881-476E-8A1A-10B7A22414D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D2CB4EDE-D881-476E-8A1A-10B7A22414D6}"/>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graphicEl>
                                              <a:dgm id="{05341CA8-CDE5-485E-89ED-7C4D855A9206}"/>
                                            </p:graphicEl>
                                          </p:spTgt>
                                        </p:tgtEl>
                                        <p:attrNameLst>
                                          <p:attrName>style.visibility</p:attrName>
                                        </p:attrNameLst>
                                      </p:cBhvr>
                                      <p:to>
                                        <p:strVal val="visible"/>
                                      </p:to>
                                    </p:set>
                                    <p:anim calcmode="lin" valueType="num">
                                      <p:cBhvr additive="base">
                                        <p:cTn id="13" dur="500" fill="hold"/>
                                        <p:tgtEl>
                                          <p:spTgt spid="47">
                                            <p:graphicEl>
                                              <a:dgm id="{05341CA8-CDE5-485E-89ED-7C4D855A9206}"/>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
                                            <p:graphicEl>
                                              <a:dgm id="{05341CA8-CDE5-485E-89ED-7C4D855A9206}"/>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7">
                                            <p:graphicEl>
                                              <a:dgm id="{EEAF8AFC-A174-4443-A41C-E6943D73D32F}"/>
                                            </p:graphicEl>
                                          </p:spTgt>
                                        </p:tgtEl>
                                        <p:attrNameLst>
                                          <p:attrName>style.visibility</p:attrName>
                                        </p:attrNameLst>
                                      </p:cBhvr>
                                      <p:to>
                                        <p:strVal val="visible"/>
                                      </p:to>
                                    </p:set>
                                    <p:anim calcmode="lin" valueType="num">
                                      <p:cBhvr additive="base">
                                        <p:cTn id="17" dur="500" fill="hold"/>
                                        <p:tgtEl>
                                          <p:spTgt spid="47">
                                            <p:graphicEl>
                                              <a:dgm id="{EEAF8AFC-A174-4443-A41C-E6943D73D32F}"/>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
                                            <p:graphicEl>
                                              <a:dgm id="{EEAF8AFC-A174-4443-A41C-E6943D73D32F}"/>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7">
                                            <p:graphicEl>
                                              <a:dgm id="{8DFD8EF0-0744-442C-B4B5-7B16899801B2}"/>
                                            </p:graphicEl>
                                          </p:spTgt>
                                        </p:tgtEl>
                                        <p:attrNameLst>
                                          <p:attrName>style.visibility</p:attrName>
                                        </p:attrNameLst>
                                      </p:cBhvr>
                                      <p:to>
                                        <p:strVal val="visible"/>
                                      </p:to>
                                    </p:set>
                                    <p:anim calcmode="lin" valueType="num">
                                      <p:cBhvr additive="base">
                                        <p:cTn id="23" dur="500" fill="hold"/>
                                        <p:tgtEl>
                                          <p:spTgt spid="47">
                                            <p:graphicEl>
                                              <a:dgm id="{8DFD8EF0-0744-442C-B4B5-7B16899801B2}"/>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7">
                                            <p:graphicEl>
                                              <a:dgm id="{8DFD8EF0-0744-442C-B4B5-7B16899801B2}"/>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7">
                                            <p:graphicEl>
                                              <a:dgm id="{DD31CC04-F5F0-4F58-BF35-D5A842EB5179}"/>
                                            </p:graphicEl>
                                          </p:spTgt>
                                        </p:tgtEl>
                                        <p:attrNameLst>
                                          <p:attrName>style.visibility</p:attrName>
                                        </p:attrNameLst>
                                      </p:cBhvr>
                                      <p:to>
                                        <p:strVal val="visible"/>
                                      </p:to>
                                    </p:set>
                                    <p:anim calcmode="lin" valueType="num">
                                      <p:cBhvr additive="base">
                                        <p:cTn id="27" dur="500" fill="hold"/>
                                        <p:tgtEl>
                                          <p:spTgt spid="47">
                                            <p:graphicEl>
                                              <a:dgm id="{DD31CC04-F5F0-4F58-BF35-D5A842EB5179}"/>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7">
                                            <p:graphicEl>
                                              <a:dgm id="{DD31CC04-F5F0-4F58-BF35-D5A842EB5179}"/>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7">
                                            <p:graphicEl>
                                              <a:dgm id="{6CF2DBBD-D154-469F-8799-64D253922FE4}"/>
                                            </p:graphicEl>
                                          </p:spTgt>
                                        </p:tgtEl>
                                        <p:attrNameLst>
                                          <p:attrName>style.visibility</p:attrName>
                                        </p:attrNameLst>
                                      </p:cBhvr>
                                      <p:to>
                                        <p:strVal val="visible"/>
                                      </p:to>
                                    </p:set>
                                    <p:anim calcmode="lin" valueType="num">
                                      <p:cBhvr additive="base">
                                        <p:cTn id="33" dur="500" fill="hold"/>
                                        <p:tgtEl>
                                          <p:spTgt spid="47">
                                            <p:graphicEl>
                                              <a:dgm id="{6CF2DBBD-D154-469F-8799-64D253922FE4}"/>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7">
                                            <p:graphicEl>
                                              <a:dgm id="{6CF2DBBD-D154-469F-8799-64D253922FE4}"/>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7">
                                            <p:graphicEl>
                                              <a:dgm id="{4768B327-4AAF-4666-9AB9-DB8CA322E27D}"/>
                                            </p:graphicEl>
                                          </p:spTgt>
                                        </p:tgtEl>
                                        <p:attrNameLst>
                                          <p:attrName>style.visibility</p:attrName>
                                        </p:attrNameLst>
                                      </p:cBhvr>
                                      <p:to>
                                        <p:strVal val="visible"/>
                                      </p:to>
                                    </p:set>
                                    <p:anim calcmode="lin" valueType="num">
                                      <p:cBhvr additive="base">
                                        <p:cTn id="37" dur="500" fill="hold"/>
                                        <p:tgtEl>
                                          <p:spTgt spid="47">
                                            <p:graphicEl>
                                              <a:dgm id="{4768B327-4AAF-4666-9AB9-DB8CA322E27D}"/>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
                                            <p:graphicEl>
                                              <a:dgm id="{4768B327-4AAF-4666-9AB9-DB8CA322E27D}"/>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one"/>
        </p:bldSub>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86" name="Rectangle 8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88" name="Picture 87">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348917"/>
            <a:ext cx="10348146" cy="1186834"/>
          </a:xfrm>
        </p:spPr>
        <p:txBody>
          <a:bodyPr anchor="t">
            <a:normAutofit fontScale="90000"/>
          </a:bodyPr>
          <a:lstStyle/>
          <a:p>
            <a:r>
              <a:rPr lang="en-US" dirty="0">
                <a:solidFill>
                  <a:schemeClr val="tx2"/>
                </a:solidFill>
                <a:latin typeface="Arial" panose="020B0604020202020204" pitchFamily="34" charset="0"/>
                <a:cs typeface="Arial" panose="020B0604020202020204" pitchFamily="34" charset="0"/>
              </a:rPr>
              <a:t>Effect of Memory Bandwidth Example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a:t>
            </a:r>
            <a:endParaRPr lang="en-PK" dirty="0">
              <a:solidFill>
                <a:schemeClr val="tx2"/>
              </a:solidFill>
              <a:latin typeface="Arial" panose="020B0604020202020204" pitchFamily="34" charset="0"/>
              <a:cs typeface="Arial" panose="020B0604020202020204" pitchFamily="34" charset="0"/>
            </a:endParaRPr>
          </a:p>
        </p:txBody>
      </p:sp>
      <p:pic>
        <p:nvPicPr>
          <p:cNvPr id="90" name="Picture 89">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47" name="Content Placeholder 2">
            <a:extLst>
              <a:ext uri="{FF2B5EF4-FFF2-40B4-BE49-F238E27FC236}">
                <a16:creationId xmlns:a16="http://schemas.microsoft.com/office/drawing/2014/main" id="{0E5D12D0-F635-8C8A-CB80-B4EEFD5989B3}"/>
              </a:ext>
            </a:extLst>
          </p:cNvPr>
          <p:cNvGraphicFramePr>
            <a:graphicFrameLocks noGrp="1"/>
          </p:cNvGraphicFramePr>
          <p:nvPr>
            <p:ph idx="1"/>
            <p:extLst>
              <p:ext uri="{D42A27DB-BD31-4B8C-83A1-F6EECF244321}">
                <p14:modId xmlns:p14="http://schemas.microsoft.com/office/powerpoint/2010/main" val="581811759"/>
              </p:ext>
            </p:extLst>
          </p:nvPr>
        </p:nvGraphicFramePr>
        <p:xfrm>
          <a:off x="1197268" y="1843284"/>
          <a:ext cx="10156531" cy="45334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5689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graphicEl>
                                              <a:dgm id="{A9081A61-B8E7-4B55-AB65-881175D6DC4F}"/>
                                            </p:graphicEl>
                                          </p:spTgt>
                                        </p:tgtEl>
                                        <p:attrNameLst>
                                          <p:attrName>style.visibility</p:attrName>
                                        </p:attrNameLst>
                                      </p:cBhvr>
                                      <p:to>
                                        <p:strVal val="visible"/>
                                      </p:to>
                                    </p:set>
                                    <p:anim calcmode="lin" valueType="num">
                                      <p:cBhvr additive="base">
                                        <p:cTn id="7" dur="500" fill="hold"/>
                                        <p:tgtEl>
                                          <p:spTgt spid="47">
                                            <p:graphicEl>
                                              <a:dgm id="{A9081A61-B8E7-4B55-AB65-881175D6DC4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7">
                                            <p:graphicEl>
                                              <a:dgm id="{A9081A61-B8E7-4B55-AB65-881175D6DC4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graphicEl>
                                              <a:dgm id="{EE623862-CBBD-464E-A3B9-B16D9A9A7449}"/>
                                            </p:graphicEl>
                                          </p:spTgt>
                                        </p:tgtEl>
                                        <p:attrNameLst>
                                          <p:attrName>style.visibility</p:attrName>
                                        </p:attrNameLst>
                                      </p:cBhvr>
                                      <p:to>
                                        <p:strVal val="visible"/>
                                      </p:to>
                                    </p:set>
                                    <p:anim calcmode="lin" valueType="num">
                                      <p:cBhvr additive="base">
                                        <p:cTn id="13" dur="500" fill="hold"/>
                                        <p:tgtEl>
                                          <p:spTgt spid="47">
                                            <p:graphicEl>
                                              <a:dgm id="{EE623862-CBBD-464E-A3B9-B16D9A9A7449}"/>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
                                            <p:graphicEl>
                                              <a:dgm id="{EE623862-CBBD-464E-A3B9-B16D9A9A7449}"/>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7">
                                            <p:graphicEl>
                                              <a:dgm id="{92DEF767-9656-4781-A471-56E7823DA73C}"/>
                                            </p:graphicEl>
                                          </p:spTgt>
                                        </p:tgtEl>
                                        <p:attrNameLst>
                                          <p:attrName>style.visibility</p:attrName>
                                        </p:attrNameLst>
                                      </p:cBhvr>
                                      <p:to>
                                        <p:strVal val="visible"/>
                                      </p:to>
                                    </p:set>
                                    <p:anim calcmode="lin" valueType="num">
                                      <p:cBhvr additive="base">
                                        <p:cTn id="17" dur="500" fill="hold"/>
                                        <p:tgtEl>
                                          <p:spTgt spid="47">
                                            <p:graphicEl>
                                              <a:dgm id="{92DEF767-9656-4781-A471-56E7823DA73C}"/>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
                                            <p:graphicEl>
                                              <a:dgm id="{92DEF767-9656-4781-A471-56E7823DA73C}"/>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7">
                                            <p:graphicEl>
                                              <a:dgm id="{72776BA7-0B09-45D2-AB5B-F89BA735F032}"/>
                                            </p:graphicEl>
                                          </p:spTgt>
                                        </p:tgtEl>
                                        <p:attrNameLst>
                                          <p:attrName>style.visibility</p:attrName>
                                        </p:attrNameLst>
                                      </p:cBhvr>
                                      <p:to>
                                        <p:strVal val="visible"/>
                                      </p:to>
                                    </p:set>
                                    <p:anim calcmode="lin" valueType="num">
                                      <p:cBhvr additive="base">
                                        <p:cTn id="23" dur="500" fill="hold"/>
                                        <p:tgtEl>
                                          <p:spTgt spid="47">
                                            <p:graphicEl>
                                              <a:dgm id="{72776BA7-0B09-45D2-AB5B-F89BA735F032}"/>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7">
                                            <p:graphicEl>
                                              <a:dgm id="{72776BA7-0B09-45D2-AB5B-F89BA735F032}"/>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7">
                                            <p:graphicEl>
                                              <a:dgm id="{FC132C9E-3000-4F70-AA48-AEBE41AB6DE1}"/>
                                            </p:graphicEl>
                                          </p:spTgt>
                                        </p:tgtEl>
                                        <p:attrNameLst>
                                          <p:attrName>style.visibility</p:attrName>
                                        </p:attrNameLst>
                                      </p:cBhvr>
                                      <p:to>
                                        <p:strVal val="visible"/>
                                      </p:to>
                                    </p:set>
                                    <p:anim calcmode="lin" valueType="num">
                                      <p:cBhvr additive="base">
                                        <p:cTn id="27" dur="500" fill="hold"/>
                                        <p:tgtEl>
                                          <p:spTgt spid="47">
                                            <p:graphicEl>
                                              <a:dgm id="{FC132C9E-3000-4F70-AA48-AEBE41AB6DE1}"/>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7">
                                            <p:graphicEl>
                                              <a:dgm id="{FC132C9E-3000-4F70-AA48-AEBE41AB6DE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Sub>
          <a:bldDgm bld="one"/>
        </p:bldSub>
      </p:bldGraphic>
    </p:bldLst>
  </p:timing>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1981</TotalTime>
  <Words>2587</Words>
  <Application>Microsoft Office PowerPoint</Application>
  <PresentationFormat>Widescreen</PresentationFormat>
  <Paragraphs>191</Paragraphs>
  <Slides>44</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Avenir Next LT Pro</vt:lpstr>
      <vt:lpstr>AvenirNext LT Pro Medium</vt:lpstr>
      <vt:lpstr>Calibri</vt:lpstr>
      <vt:lpstr>Söhne</vt:lpstr>
      <vt:lpstr>BlockprintVTI</vt:lpstr>
      <vt:lpstr>CS621 Parallel and Distributed Computing</vt:lpstr>
      <vt:lpstr>CS621 Parallel and Distributed Computing</vt:lpstr>
      <vt:lpstr>Objectives</vt:lpstr>
      <vt:lpstr>Definition of Concurrency</vt:lpstr>
      <vt:lpstr>What is Concurrency?</vt:lpstr>
      <vt:lpstr>Concurrency Control</vt:lpstr>
      <vt:lpstr>Concurrency Control Cont…</vt:lpstr>
      <vt:lpstr>Benefits of Concurrency</vt:lpstr>
      <vt:lpstr>CS621 Parallel and Distributed Computing</vt:lpstr>
      <vt:lpstr>Objectives</vt:lpstr>
      <vt:lpstr>Achieving Concurrency</vt:lpstr>
      <vt:lpstr>Achieving Concurrency: Parallel Programming Technique</vt:lpstr>
      <vt:lpstr>Achieving Concurrency: Distributed Programming Technique</vt:lpstr>
      <vt:lpstr>CS621 Parallel and Distributed Computing</vt:lpstr>
      <vt:lpstr>Objectives</vt:lpstr>
      <vt:lpstr>Concurrency Control: Models for Programming Concurrency</vt:lpstr>
      <vt:lpstr>Sequential Programming</vt:lpstr>
      <vt:lpstr>Declarative Concurrency</vt:lpstr>
      <vt:lpstr>Message-passing Concurrency</vt:lpstr>
      <vt:lpstr>Shared-state Concurrency</vt:lpstr>
      <vt:lpstr>CS621 Parallel and Distributed Computing</vt:lpstr>
      <vt:lpstr>Objectives</vt:lpstr>
      <vt:lpstr>Memory Hierarchies </vt:lpstr>
      <vt:lpstr>Memory Hierarchies Cont…</vt:lpstr>
      <vt:lpstr>Memory Hierarchies Cont…</vt:lpstr>
      <vt:lpstr>Characteristics of Memory Hierarchy</vt:lpstr>
      <vt:lpstr>Characteristics of Memory Hierarchy Cont..</vt:lpstr>
      <vt:lpstr>CS621 Parallel and Distributed Computing</vt:lpstr>
      <vt:lpstr>Objectives</vt:lpstr>
      <vt:lpstr>Limitations of Memory System Performance</vt:lpstr>
      <vt:lpstr>Limitations of Memory System Performance Cont…</vt:lpstr>
      <vt:lpstr>Memory Latency Example</vt:lpstr>
      <vt:lpstr>CS621 Parallel and Distributed Computing</vt:lpstr>
      <vt:lpstr>Objectives</vt:lpstr>
      <vt:lpstr>Improving Effective Memory Latency Using Caches </vt:lpstr>
      <vt:lpstr>Effect of Cache</vt:lpstr>
      <vt:lpstr>Effect of Cache Example</vt:lpstr>
      <vt:lpstr>Effect of Cache Example Cont…</vt:lpstr>
      <vt:lpstr>CS621 Parallel and Distributed Computing</vt:lpstr>
      <vt:lpstr>Objectives</vt:lpstr>
      <vt:lpstr>Effect of Memory Bandwidth</vt:lpstr>
      <vt:lpstr>Effect of Memory Bandwidth Example</vt:lpstr>
      <vt:lpstr>Effect of Memory Bandwidth Example Cont…</vt:lpstr>
      <vt:lpstr>Effect of Memory Bandwidth Example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Academics 1</dc:creator>
  <cp:lastModifiedBy>Said Nabi</cp:lastModifiedBy>
  <cp:revision>956</cp:revision>
  <dcterms:created xsi:type="dcterms:W3CDTF">2022-12-26T05:14:17Z</dcterms:created>
  <dcterms:modified xsi:type="dcterms:W3CDTF">2023-05-23T09:14:33Z</dcterms:modified>
</cp:coreProperties>
</file>