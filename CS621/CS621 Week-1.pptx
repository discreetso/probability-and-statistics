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6" roundtripDataSignature="AMtx7mjLOmqfjBRYjHjL0yn0qA3zyNo6m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08"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68"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6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66"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6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4" name="Google Shape;364;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5" name="Google Shape;375;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9" name="Google Shape;409;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0" name="Google Shape;410;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6" name="Google Shape;426;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7" name="Google Shape;427;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7" name="Google Shape;43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0" name="Google Shape;45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4" name="Google Shape;464;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5" name="Google Shape;465;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7" name="Google Shape;487;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8" name="Google Shape;488;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4" name="Google Shape;504;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5" name="Google Shape;505;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1" name="Google Shape;52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4" name="Google Shape;534;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8" name="Google Shape;548;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9" name="Google Shape;549;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9" name="Google Shape;569;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0" name="Google Shape;570;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6" name="Google Shape;586;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7" name="Google Shape;587;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6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lt1"/>
              </a:buClr>
              <a:buSzPts val="4400"/>
              <a:buFont typeface="Avenir"/>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6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110000"/>
              </a:lnSpc>
              <a:spcBef>
                <a:spcPts val="1000"/>
              </a:spcBef>
              <a:spcAft>
                <a:spcPts val="0"/>
              </a:spcAft>
              <a:buSzPts val="2000"/>
              <a:buNone/>
              <a:defRPr sz="2000">
                <a:latin typeface="Avenir"/>
                <a:ea typeface="Avenir"/>
                <a:cs typeface="Avenir"/>
                <a:sym typeface="Avenir"/>
              </a:defRPr>
            </a:lvl1pPr>
            <a:lvl2pPr lvl="1" algn="ctr">
              <a:lnSpc>
                <a:spcPct val="110000"/>
              </a:lnSpc>
              <a:spcBef>
                <a:spcPts val="500"/>
              </a:spcBef>
              <a:spcAft>
                <a:spcPts val="0"/>
              </a:spcAft>
              <a:buSzPts val="2000"/>
              <a:buNone/>
              <a:defRPr sz="2000"/>
            </a:lvl2pPr>
            <a:lvl3pPr lvl="2" algn="ctr">
              <a:lnSpc>
                <a:spcPct val="110000"/>
              </a:lnSpc>
              <a:spcBef>
                <a:spcPts val="500"/>
              </a:spcBef>
              <a:spcAft>
                <a:spcPts val="0"/>
              </a:spcAft>
              <a:buSzPts val="1800"/>
              <a:buNone/>
              <a:defRPr sz="1800"/>
            </a:lvl3pPr>
            <a:lvl4pPr lvl="3" algn="ctr">
              <a:lnSpc>
                <a:spcPct val="110000"/>
              </a:lnSpc>
              <a:spcBef>
                <a:spcPts val="500"/>
              </a:spcBef>
              <a:spcAft>
                <a:spcPts val="0"/>
              </a:spcAft>
              <a:buSzPts val="1600"/>
              <a:buNone/>
              <a:defRPr sz="1600"/>
            </a:lvl4pPr>
            <a:lvl5pPr lvl="4" algn="ctr">
              <a:lnSpc>
                <a:spcPct val="11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63"/>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Avenir"/>
                <a:ea typeface="Avenir"/>
                <a:cs typeface="Avenir"/>
                <a:sym typeface="Aveni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63"/>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Avenir"/>
                <a:ea typeface="Avenir"/>
                <a:cs typeface="Avenir"/>
                <a:sym typeface="Aveni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63"/>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chemeClr val="lt1"/>
                </a:solidFill>
                <a:latin typeface="Avenir"/>
                <a:ea typeface="Avenir"/>
                <a:cs typeface="Avenir"/>
                <a:sym typeface="Avenir"/>
              </a:defRPr>
            </a:lvl1pPr>
            <a:lvl2pPr marL="0" lvl="1" indent="0" algn="r">
              <a:spcBef>
                <a:spcPts val="0"/>
              </a:spcBef>
              <a:buNone/>
              <a:defRPr sz="900" b="0" i="0" u="none" strike="noStrike" cap="none">
                <a:solidFill>
                  <a:schemeClr val="lt1"/>
                </a:solidFill>
                <a:latin typeface="Avenir"/>
                <a:ea typeface="Avenir"/>
                <a:cs typeface="Avenir"/>
                <a:sym typeface="Avenir"/>
              </a:defRPr>
            </a:lvl2pPr>
            <a:lvl3pPr marL="0" lvl="2" indent="0" algn="r">
              <a:spcBef>
                <a:spcPts val="0"/>
              </a:spcBef>
              <a:buNone/>
              <a:defRPr sz="900" b="0" i="0" u="none" strike="noStrike" cap="none">
                <a:solidFill>
                  <a:schemeClr val="lt1"/>
                </a:solidFill>
                <a:latin typeface="Avenir"/>
                <a:ea typeface="Avenir"/>
                <a:cs typeface="Avenir"/>
                <a:sym typeface="Avenir"/>
              </a:defRPr>
            </a:lvl3pPr>
            <a:lvl4pPr marL="0" lvl="3" indent="0" algn="r">
              <a:spcBef>
                <a:spcPts val="0"/>
              </a:spcBef>
              <a:buNone/>
              <a:defRPr sz="900" b="0" i="0" u="none" strike="noStrike" cap="none">
                <a:solidFill>
                  <a:schemeClr val="lt1"/>
                </a:solidFill>
                <a:latin typeface="Avenir"/>
                <a:ea typeface="Avenir"/>
                <a:cs typeface="Avenir"/>
                <a:sym typeface="Avenir"/>
              </a:defRPr>
            </a:lvl4pPr>
            <a:lvl5pPr marL="0" lvl="4" indent="0" algn="r">
              <a:spcBef>
                <a:spcPts val="0"/>
              </a:spcBef>
              <a:buNone/>
              <a:defRPr sz="900" b="0" i="0" u="none" strike="noStrike" cap="none">
                <a:solidFill>
                  <a:schemeClr val="lt1"/>
                </a:solidFill>
                <a:latin typeface="Avenir"/>
                <a:ea typeface="Avenir"/>
                <a:cs typeface="Avenir"/>
                <a:sym typeface="Avenir"/>
              </a:defRPr>
            </a:lvl5pPr>
            <a:lvl6pPr marL="0" lvl="5" indent="0" algn="r">
              <a:spcBef>
                <a:spcPts val="0"/>
              </a:spcBef>
              <a:buNone/>
              <a:defRPr sz="900" b="0" i="0" u="none" strike="noStrike" cap="none">
                <a:solidFill>
                  <a:schemeClr val="lt1"/>
                </a:solidFill>
                <a:latin typeface="Avenir"/>
                <a:ea typeface="Avenir"/>
                <a:cs typeface="Avenir"/>
                <a:sym typeface="Avenir"/>
              </a:defRPr>
            </a:lvl6pPr>
            <a:lvl7pPr marL="0" lvl="6" indent="0" algn="r">
              <a:spcBef>
                <a:spcPts val="0"/>
              </a:spcBef>
              <a:buNone/>
              <a:defRPr sz="900" b="0" i="0" u="none" strike="noStrike" cap="none">
                <a:solidFill>
                  <a:schemeClr val="lt1"/>
                </a:solidFill>
                <a:latin typeface="Avenir"/>
                <a:ea typeface="Avenir"/>
                <a:cs typeface="Avenir"/>
                <a:sym typeface="Avenir"/>
              </a:defRPr>
            </a:lvl7pPr>
            <a:lvl8pPr marL="0" lvl="7" indent="0" algn="r">
              <a:spcBef>
                <a:spcPts val="0"/>
              </a:spcBef>
              <a:buNone/>
              <a:defRPr sz="900" b="0" i="0" u="none" strike="noStrike" cap="none">
                <a:solidFill>
                  <a:schemeClr val="lt1"/>
                </a:solidFill>
                <a:latin typeface="Avenir"/>
                <a:ea typeface="Avenir"/>
                <a:cs typeface="Avenir"/>
                <a:sym typeface="Avenir"/>
              </a:defRPr>
            </a:lvl8pPr>
            <a:lvl9pPr marL="0" lvl="8" indent="0" algn="r">
              <a:spcBef>
                <a:spcPts val="0"/>
              </a:spcBef>
              <a:buNone/>
              <a:defRPr sz="900" b="0" i="0" u="none" strike="noStrike" cap="none">
                <a:solidFill>
                  <a:schemeClr val="lt1"/>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64"/>
          <p:cNvSpPr txBox="1">
            <a:spLocks noGrp="1"/>
          </p:cNvSpPr>
          <p:nvPr>
            <p:ph type="title"/>
          </p:nvPr>
        </p:nvSpPr>
        <p:spPr>
          <a:xfrm>
            <a:off x="838200" y="36576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64"/>
          <p:cNvSpPr txBox="1">
            <a:spLocks noGrp="1"/>
          </p:cNvSpPr>
          <p:nvPr>
            <p:ph type="body" idx="1"/>
          </p:nvPr>
        </p:nvSpPr>
        <p:spPr>
          <a:xfrm>
            <a:off x="838200" y="1949450"/>
            <a:ext cx="10515600" cy="4195763"/>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64"/>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64"/>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64"/>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6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4400"/>
              <a:buFont typeface="Avenir"/>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2400"/>
              <a:buNone/>
              <a:defRPr sz="2400">
                <a:solidFill>
                  <a:schemeClr val="lt1"/>
                </a:solidFill>
              </a:defRPr>
            </a:lvl1pPr>
            <a:lvl2pPr marL="914400" lvl="1" indent="-228600" algn="l">
              <a:lnSpc>
                <a:spcPct val="110000"/>
              </a:lnSpc>
              <a:spcBef>
                <a:spcPts val="500"/>
              </a:spcBef>
              <a:spcAft>
                <a:spcPts val="0"/>
              </a:spcAft>
              <a:buSzPts val="2000"/>
              <a:buNone/>
              <a:defRPr sz="2000">
                <a:solidFill>
                  <a:srgbClr val="888888"/>
                </a:solidFill>
              </a:defRPr>
            </a:lvl2pPr>
            <a:lvl3pPr marL="1371600" lvl="2" indent="-228600" algn="l">
              <a:lnSpc>
                <a:spcPct val="110000"/>
              </a:lnSpc>
              <a:spcBef>
                <a:spcPts val="500"/>
              </a:spcBef>
              <a:spcAft>
                <a:spcPts val="0"/>
              </a:spcAft>
              <a:buSzPts val="1800"/>
              <a:buNone/>
              <a:defRPr sz="1800">
                <a:solidFill>
                  <a:srgbClr val="888888"/>
                </a:solidFill>
              </a:defRPr>
            </a:lvl3pPr>
            <a:lvl4pPr marL="1828800" lvl="3" indent="-228600" algn="l">
              <a:lnSpc>
                <a:spcPct val="110000"/>
              </a:lnSpc>
              <a:spcBef>
                <a:spcPts val="500"/>
              </a:spcBef>
              <a:spcAft>
                <a:spcPts val="0"/>
              </a:spcAft>
              <a:buSzPts val="1600"/>
              <a:buNone/>
              <a:defRPr sz="1600">
                <a:solidFill>
                  <a:srgbClr val="888888"/>
                </a:solidFill>
              </a:defRPr>
            </a:lvl4pPr>
            <a:lvl5pPr marL="2286000" lvl="4" indent="-228600" algn="l">
              <a:lnSpc>
                <a:spcPct val="110000"/>
              </a:lnSpc>
              <a:spcBef>
                <a:spcPts val="500"/>
              </a:spcBef>
              <a:spcAft>
                <a:spcPts val="0"/>
              </a:spcAft>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65"/>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65"/>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5"/>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66"/>
          <p:cNvSpPr txBox="1">
            <a:spLocks noGrp="1"/>
          </p:cNvSpPr>
          <p:nvPr>
            <p:ph type="title"/>
          </p:nvPr>
        </p:nvSpPr>
        <p:spPr>
          <a:xfrm>
            <a:off x="838200" y="36576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6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66"/>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6"/>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6"/>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6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7"/>
          <p:cNvSpPr txBox="1">
            <a:spLocks noGrp="1"/>
          </p:cNvSpPr>
          <p:nvPr>
            <p:ph type="body" idx="1"/>
          </p:nvPr>
        </p:nvSpPr>
        <p:spPr>
          <a:xfrm>
            <a:off x="839788" y="1752600"/>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SzPts val="2400"/>
              <a:buNone/>
              <a:defRPr sz="2400" b="1"/>
            </a:lvl1pPr>
            <a:lvl2pPr marL="914400" lvl="1" indent="-228600" algn="l">
              <a:lnSpc>
                <a:spcPct val="110000"/>
              </a:lnSpc>
              <a:spcBef>
                <a:spcPts val="500"/>
              </a:spcBef>
              <a:spcAft>
                <a:spcPts val="0"/>
              </a:spcAft>
              <a:buSzPts val="2000"/>
              <a:buNone/>
              <a:defRPr sz="2000" b="1"/>
            </a:lvl2pPr>
            <a:lvl3pPr marL="1371600" lvl="2" indent="-228600" algn="l">
              <a:lnSpc>
                <a:spcPct val="110000"/>
              </a:lnSpc>
              <a:spcBef>
                <a:spcPts val="500"/>
              </a:spcBef>
              <a:spcAft>
                <a:spcPts val="0"/>
              </a:spcAft>
              <a:buSzPts val="1800"/>
              <a:buNone/>
              <a:defRPr sz="1800" b="1"/>
            </a:lvl3pPr>
            <a:lvl4pPr marL="1828800" lvl="3" indent="-228600" algn="l">
              <a:lnSpc>
                <a:spcPct val="110000"/>
              </a:lnSpc>
              <a:spcBef>
                <a:spcPts val="500"/>
              </a:spcBef>
              <a:spcAft>
                <a:spcPts val="0"/>
              </a:spcAft>
              <a:buSzPts val="1600"/>
              <a:buNone/>
              <a:defRPr sz="1600" b="1"/>
            </a:lvl4pPr>
            <a:lvl5pPr marL="2286000" lvl="4" indent="-228600" algn="l">
              <a:lnSpc>
                <a:spcPct val="110000"/>
              </a:lnSpc>
              <a:spcBef>
                <a:spcPts val="5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7"/>
          <p:cNvSpPr txBox="1">
            <a:spLocks noGrp="1"/>
          </p:cNvSpPr>
          <p:nvPr>
            <p:ph type="body" idx="2"/>
          </p:nvPr>
        </p:nvSpPr>
        <p:spPr>
          <a:xfrm>
            <a:off x="839788" y="2666999"/>
            <a:ext cx="5157787" cy="3522663"/>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7"/>
          <p:cNvSpPr txBox="1">
            <a:spLocks noGrp="1"/>
          </p:cNvSpPr>
          <p:nvPr>
            <p:ph type="body" idx="3"/>
          </p:nvPr>
        </p:nvSpPr>
        <p:spPr>
          <a:xfrm>
            <a:off x="6172200" y="1752600"/>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SzPts val="2400"/>
              <a:buNone/>
              <a:defRPr sz="2400" b="1"/>
            </a:lvl1pPr>
            <a:lvl2pPr marL="914400" lvl="1" indent="-228600" algn="l">
              <a:lnSpc>
                <a:spcPct val="110000"/>
              </a:lnSpc>
              <a:spcBef>
                <a:spcPts val="500"/>
              </a:spcBef>
              <a:spcAft>
                <a:spcPts val="0"/>
              </a:spcAft>
              <a:buSzPts val="2000"/>
              <a:buNone/>
              <a:defRPr sz="2000" b="1"/>
            </a:lvl2pPr>
            <a:lvl3pPr marL="1371600" lvl="2" indent="-228600" algn="l">
              <a:lnSpc>
                <a:spcPct val="110000"/>
              </a:lnSpc>
              <a:spcBef>
                <a:spcPts val="500"/>
              </a:spcBef>
              <a:spcAft>
                <a:spcPts val="0"/>
              </a:spcAft>
              <a:buSzPts val="1800"/>
              <a:buNone/>
              <a:defRPr sz="1800" b="1"/>
            </a:lvl3pPr>
            <a:lvl4pPr marL="1828800" lvl="3" indent="-228600" algn="l">
              <a:lnSpc>
                <a:spcPct val="110000"/>
              </a:lnSpc>
              <a:spcBef>
                <a:spcPts val="500"/>
              </a:spcBef>
              <a:spcAft>
                <a:spcPts val="0"/>
              </a:spcAft>
              <a:buSzPts val="1600"/>
              <a:buNone/>
              <a:defRPr sz="1600" b="1"/>
            </a:lvl4pPr>
            <a:lvl5pPr marL="2286000" lvl="4" indent="-228600" algn="l">
              <a:lnSpc>
                <a:spcPct val="110000"/>
              </a:lnSpc>
              <a:spcBef>
                <a:spcPts val="5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67"/>
          <p:cNvSpPr txBox="1">
            <a:spLocks noGrp="1"/>
          </p:cNvSpPr>
          <p:nvPr>
            <p:ph type="body" idx="4"/>
          </p:nvPr>
        </p:nvSpPr>
        <p:spPr>
          <a:xfrm>
            <a:off x="6172200" y="2666999"/>
            <a:ext cx="5183188" cy="3522663"/>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67"/>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7"/>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7"/>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68"/>
          <p:cNvSpPr txBox="1">
            <a:spLocks noGrp="1"/>
          </p:cNvSpPr>
          <p:nvPr>
            <p:ph type="title"/>
          </p:nvPr>
        </p:nvSpPr>
        <p:spPr>
          <a:xfrm>
            <a:off x="838200" y="36576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68"/>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8"/>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68"/>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69"/>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69"/>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69"/>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7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Avenir"/>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7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110000"/>
              </a:lnSpc>
              <a:spcBef>
                <a:spcPts val="1000"/>
              </a:spcBef>
              <a:spcAft>
                <a:spcPts val="0"/>
              </a:spcAft>
              <a:buSzPts val="3200"/>
              <a:buChar char="•"/>
              <a:defRPr sz="3200"/>
            </a:lvl1pPr>
            <a:lvl2pPr marL="914400" lvl="1" indent="-406400" algn="l">
              <a:lnSpc>
                <a:spcPct val="110000"/>
              </a:lnSpc>
              <a:spcBef>
                <a:spcPts val="500"/>
              </a:spcBef>
              <a:spcAft>
                <a:spcPts val="0"/>
              </a:spcAft>
              <a:buSzPts val="2800"/>
              <a:buChar char="•"/>
              <a:defRPr sz="2800"/>
            </a:lvl2pPr>
            <a:lvl3pPr marL="1371600" lvl="2" indent="-381000" algn="l">
              <a:lnSpc>
                <a:spcPct val="110000"/>
              </a:lnSpc>
              <a:spcBef>
                <a:spcPts val="500"/>
              </a:spcBef>
              <a:spcAft>
                <a:spcPts val="0"/>
              </a:spcAft>
              <a:buSzPts val="2400"/>
              <a:buChar char="•"/>
              <a:defRPr sz="2400"/>
            </a:lvl3pPr>
            <a:lvl4pPr marL="1828800" lvl="3" indent="-355600" algn="l">
              <a:lnSpc>
                <a:spcPct val="110000"/>
              </a:lnSpc>
              <a:spcBef>
                <a:spcPts val="500"/>
              </a:spcBef>
              <a:spcAft>
                <a:spcPts val="0"/>
              </a:spcAft>
              <a:buSzPts val="2000"/>
              <a:buChar char="•"/>
              <a:defRPr sz="2000"/>
            </a:lvl4pPr>
            <a:lvl5pPr marL="2286000" lvl="4" indent="-355600" algn="l">
              <a:lnSpc>
                <a:spcPct val="110000"/>
              </a:lnSpc>
              <a:spcBef>
                <a:spcPts val="500"/>
              </a:spcBef>
              <a:spcAft>
                <a:spcPts val="0"/>
              </a:spcAft>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7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600"/>
              <a:buNone/>
              <a:defRPr sz="1600"/>
            </a:lvl1pPr>
            <a:lvl2pPr marL="914400" lvl="1" indent="-228600" algn="l">
              <a:lnSpc>
                <a:spcPct val="110000"/>
              </a:lnSpc>
              <a:spcBef>
                <a:spcPts val="500"/>
              </a:spcBef>
              <a:spcAft>
                <a:spcPts val="0"/>
              </a:spcAft>
              <a:buSzPts val="1400"/>
              <a:buNone/>
              <a:defRPr sz="1400"/>
            </a:lvl2pPr>
            <a:lvl3pPr marL="1371600" lvl="2" indent="-228600" algn="l">
              <a:lnSpc>
                <a:spcPct val="110000"/>
              </a:lnSpc>
              <a:spcBef>
                <a:spcPts val="500"/>
              </a:spcBef>
              <a:spcAft>
                <a:spcPts val="0"/>
              </a:spcAft>
              <a:buSzPts val="1200"/>
              <a:buNone/>
              <a:defRPr sz="1200"/>
            </a:lvl3pPr>
            <a:lvl4pPr marL="1828800" lvl="3" indent="-228600" algn="l">
              <a:lnSpc>
                <a:spcPct val="110000"/>
              </a:lnSpc>
              <a:spcBef>
                <a:spcPts val="500"/>
              </a:spcBef>
              <a:spcAft>
                <a:spcPts val="0"/>
              </a:spcAft>
              <a:buSzPts val="1000"/>
              <a:buNone/>
              <a:defRPr sz="1000"/>
            </a:lvl4pPr>
            <a:lvl5pPr marL="2286000" lvl="4" indent="-228600" algn="l">
              <a:lnSpc>
                <a:spcPct val="110000"/>
              </a:lnSpc>
              <a:spcBef>
                <a:spcPts val="5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70"/>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70"/>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70"/>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7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Avenir"/>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71"/>
          <p:cNvSpPr>
            <a:spLocks noGrp="1"/>
          </p:cNvSpPr>
          <p:nvPr>
            <p:ph type="pic" idx="2"/>
          </p:nvPr>
        </p:nvSpPr>
        <p:spPr>
          <a:xfrm>
            <a:off x="5183188" y="987425"/>
            <a:ext cx="6172200" cy="4873625"/>
          </a:xfrm>
          <a:prstGeom prst="rect">
            <a:avLst/>
          </a:prstGeom>
          <a:noFill/>
          <a:ln>
            <a:noFill/>
          </a:ln>
        </p:spPr>
      </p:sp>
      <p:sp>
        <p:nvSpPr>
          <p:cNvPr id="70" name="Google Shape;70;p7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600"/>
              <a:buNone/>
              <a:defRPr sz="1600"/>
            </a:lvl1pPr>
            <a:lvl2pPr marL="914400" lvl="1" indent="-228600" algn="l">
              <a:lnSpc>
                <a:spcPct val="110000"/>
              </a:lnSpc>
              <a:spcBef>
                <a:spcPts val="500"/>
              </a:spcBef>
              <a:spcAft>
                <a:spcPts val="0"/>
              </a:spcAft>
              <a:buSzPts val="1400"/>
              <a:buNone/>
              <a:defRPr sz="1400"/>
            </a:lvl2pPr>
            <a:lvl3pPr marL="1371600" lvl="2" indent="-228600" algn="l">
              <a:lnSpc>
                <a:spcPct val="110000"/>
              </a:lnSpc>
              <a:spcBef>
                <a:spcPts val="500"/>
              </a:spcBef>
              <a:spcAft>
                <a:spcPts val="0"/>
              </a:spcAft>
              <a:buSzPts val="1200"/>
              <a:buNone/>
              <a:defRPr sz="1200"/>
            </a:lvl3pPr>
            <a:lvl4pPr marL="1828800" lvl="3" indent="-228600" algn="l">
              <a:lnSpc>
                <a:spcPct val="110000"/>
              </a:lnSpc>
              <a:spcBef>
                <a:spcPts val="500"/>
              </a:spcBef>
              <a:spcAft>
                <a:spcPts val="0"/>
              </a:spcAft>
              <a:buSzPts val="1000"/>
              <a:buNone/>
              <a:defRPr sz="1000"/>
            </a:lvl4pPr>
            <a:lvl5pPr marL="2286000" lvl="4" indent="-228600" algn="l">
              <a:lnSpc>
                <a:spcPct val="110000"/>
              </a:lnSpc>
              <a:spcBef>
                <a:spcPts val="5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71"/>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71"/>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71"/>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72"/>
          <p:cNvSpPr txBox="1">
            <a:spLocks noGrp="1"/>
          </p:cNvSpPr>
          <p:nvPr>
            <p:ph type="title"/>
          </p:nvPr>
        </p:nvSpPr>
        <p:spPr>
          <a:xfrm>
            <a:off x="838200" y="42545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72"/>
          <p:cNvSpPr txBox="1">
            <a:spLocks noGrp="1"/>
          </p:cNvSpPr>
          <p:nvPr>
            <p:ph type="body" idx="1"/>
          </p:nvPr>
        </p:nvSpPr>
        <p:spPr>
          <a:xfrm rot="5400000">
            <a:off x="3998119" y="-1210468"/>
            <a:ext cx="4195763"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72"/>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72"/>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72"/>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7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7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73"/>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73"/>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73"/>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2"/>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pic>
        <p:nvPicPr>
          <p:cNvPr id="11" name="Google Shape;11;p62"/>
          <p:cNvPicPr preferRelativeResize="0"/>
          <p:nvPr/>
        </p:nvPicPr>
        <p:blipFill rotWithShape="1">
          <a:blip r:embed="rId13">
            <a:alphaModFix amt="35000"/>
          </a:blip>
          <a:srcRect/>
          <a:stretch/>
        </p:blipFill>
        <p:spPr>
          <a:xfrm>
            <a:off x="0" y="1"/>
            <a:ext cx="12192000" cy="1392401"/>
          </a:xfrm>
          <a:prstGeom prst="rect">
            <a:avLst/>
          </a:prstGeom>
          <a:noFill/>
          <a:ln>
            <a:noFill/>
          </a:ln>
        </p:spPr>
      </p:pic>
      <p:sp>
        <p:nvSpPr>
          <p:cNvPr id="12" name="Google Shape;12;p62"/>
          <p:cNvSpPr txBox="1">
            <a:spLocks noGrp="1"/>
          </p:cNvSpPr>
          <p:nvPr>
            <p:ph type="title"/>
          </p:nvPr>
        </p:nvSpPr>
        <p:spPr>
          <a:xfrm>
            <a:off x="838200" y="425450"/>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chemeClr val="lt1"/>
              </a:buClr>
              <a:buSzPts val="4400"/>
              <a:buFont typeface="Avenir"/>
              <a:buNone/>
              <a:defRPr sz="4400" b="1" i="0" u="none" strike="noStrike" cap="none">
                <a:solidFill>
                  <a:schemeClr val="lt1"/>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62"/>
          <p:cNvSpPr txBox="1">
            <a:spLocks noGrp="1"/>
          </p:cNvSpPr>
          <p:nvPr>
            <p:ph type="body" idx="1"/>
          </p:nvPr>
        </p:nvSpPr>
        <p:spPr>
          <a:xfrm>
            <a:off x="838200" y="1949450"/>
            <a:ext cx="10515600" cy="41957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10000"/>
              </a:lnSpc>
              <a:spcBef>
                <a:spcPts val="1000"/>
              </a:spcBef>
              <a:spcAft>
                <a:spcPts val="0"/>
              </a:spcAft>
              <a:buClr>
                <a:schemeClr val="accent1"/>
              </a:buClr>
              <a:buSzPts val="2800"/>
              <a:buFont typeface="Arial"/>
              <a:buChar char="•"/>
              <a:defRPr sz="2800" b="0" i="0" u="none" strike="noStrike" cap="none">
                <a:solidFill>
                  <a:schemeClr val="lt1"/>
                </a:solidFill>
                <a:latin typeface="Avenir"/>
                <a:ea typeface="Avenir"/>
                <a:cs typeface="Avenir"/>
                <a:sym typeface="Avenir"/>
              </a:defRPr>
            </a:lvl1pPr>
            <a:lvl2pPr marL="914400" marR="0" lvl="1" indent="-381000" algn="l" rtl="0">
              <a:lnSpc>
                <a:spcPct val="110000"/>
              </a:lnSpc>
              <a:spcBef>
                <a:spcPts val="500"/>
              </a:spcBef>
              <a:spcAft>
                <a:spcPts val="0"/>
              </a:spcAft>
              <a:buClr>
                <a:schemeClr val="accent1"/>
              </a:buClr>
              <a:buSzPts val="2400"/>
              <a:buFont typeface="Arial"/>
              <a:buChar char="•"/>
              <a:defRPr sz="2400" b="0" i="0" u="none" strike="noStrike" cap="none">
                <a:solidFill>
                  <a:schemeClr val="lt1"/>
                </a:solidFill>
                <a:latin typeface="Avenir"/>
                <a:ea typeface="Avenir"/>
                <a:cs typeface="Avenir"/>
                <a:sym typeface="Avenir"/>
              </a:defRPr>
            </a:lvl2pPr>
            <a:lvl3pPr marL="1371600" marR="0" lvl="2" indent="-355600" algn="l" rtl="0">
              <a:lnSpc>
                <a:spcPct val="110000"/>
              </a:lnSpc>
              <a:spcBef>
                <a:spcPts val="500"/>
              </a:spcBef>
              <a:spcAft>
                <a:spcPts val="0"/>
              </a:spcAft>
              <a:buClr>
                <a:schemeClr val="accent1"/>
              </a:buClr>
              <a:buSzPts val="20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endParaRPr/>
          </a:p>
        </p:txBody>
      </p:sp>
      <p:sp>
        <p:nvSpPr>
          <p:cNvPr id="14" name="Google Shape;14;p62"/>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lt1"/>
                </a:solidFill>
                <a:latin typeface="Avenir"/>
                <a:ea typeface="Avenir"/>
                <a:cs typeface="Avenir"/>
                <a:sym typeface="Avenir"/>
              </a:defRPr>
            </a:lvl1pPr>
            <a:lvl2pPr marR="0" lvl="1" algn="l" rtl="0">
              <a:spcBef>
                <a:spcPts val="0"/>
              </a:spcBef>
              <a:spcAft>
                <a:spcPts val="0"/>
              </a:spcAft>
              <a:buSzPts val="1400"/>
              <a:buNone/>
              <a:defRPr sz="1800" b="0" i="0" u="none" strike="noStrike" cap="none">
                <a:solidFill>
                  <a:schemeClr val="dk1"/>
                </a:solidFill>
                <a:latin typeface="Avenir"/>
                <a:ea typeface="Avenir"/>
                <a:cs typeface="Avenir"/>
                <a:sym typeface="Avenir"/>
              </a:defRPr>
            </a:lvl2pPr>
            <a:lvl3pPr marR="0" lvl="2" algn="l" rtl="0">
              <a:spcBef>
                <a:spcPts val="0"/>
              </a:spcBef>
              <a:spcAft>
                <a:spcPts val="0"/>
              </a:spcAft>
              <a:buSzPts val="1400"/>
              <a:buNone/>
              <a:defRPr sz="1800" b="0" i="0" u="none" strike="noStrike" cap="none">
                <a:solidFill>
                  <a:schemeClr val="dk1"/>
                </a:solidFill>
                <a:latin typeface="Avenir"/>
                <a:ea typeface="Avenir"/>
                <a:cs typeface="Avenir"/>
                <a:sym typeface="Avenir"/>
              </a:defRPr>
            </a:lvl3pPr>
            <a:lvl4pPr marR="0" lvl="3" algn="l" rtl="0">
              <a:spcBef>
                <a:spcPts val="0"/>
              </a:spcBef>
              <a:spcAft>
                <a:spcPts val="0"/>
              </a:spcAft>
              <a:buSzPts val="1400"/>
              <a:buNone/>
              <a:defRPr sz="1800" b="0" i="0" u="none" strike="noStrike" cap="none">
                <a:solidFill>
                  <a:schemeClr val="dk1"/>
                </a:solidFill>
                <a:latin typeface="Avenir"/>
                <a:ea typeface="Avenir"/>
                <a:cs typeface="Avenir"/>
                <a:sym typeface="Avenir"/>
              </a:defRPr>
            </a:lvl4pPr>
            <a:lvl5pPr marR="0" lvl="4" algn="l" rtl="0">
              <a:spcBef>
                <a:spcPts val="0"/>
              </a:spcBef>
              <a:spcAft>
                <a:spcPts val="0"/>
              </a:spcAft>
              <a:buSzPts val="1400"/>
              <a:buNone/>
              <a:defRPr sz="1800" b="0" i="0" u="none" strike="noStrike" cap="none">
                <a:solidFill>
                  <a:schemeClr val="dk1"/>
                </a:solidFill>
                <a:latin typeface="Avenir"/>
                <a:ea typeface="Avenir"/>
                <a:cs typeface="Avenir"/>
                <a:sym typeface="Avenir"/>
              </a:defRPr>
            </a:lvl5pPr>
            <a:lvl6pPr marR="0" lvl="5" algn="l" rtl="0">
              <a:spcBef>
                <a:spcPts val="0"/>
              </a:spcBef>
              <a:spcAft>
                <a:spcPts val="0"/>
              </a:spcAft>
              <a:buSzPts val="1400"/>
              <a:buNone/>
              <a:defRPr sz="1800" b="0" i="0" u="none" strike="noStrike" cap="none">
                <a:solidFill>
                  <a:schemeClr val="dk1"/>
                </a:solidFill>
                <a:latin typeface="Avenir"/>
                <a:ea typeface="Avenir"/>
                <a:cs typeface="Avenir"/>
                <a:sym typeface="Avenir"/>
              </a:defRPr>
            </a:lvl6pPr>
            <a:lvl7pPr marR="0" lvl="6" algn="l" rtl="0">
              <a:spcBef>
                <a:spcPts val="0"/>
              </a:spcBef>
              <a:spcAft>
                <a:spcPts val="0"/>
              </a:spcAft>
              <a:buSzPts val="1400"/>
              <a:buNone/>
              <a:defRPr sz="1800" b="0" i="0" u="none" strike="noStrike" cap="none">
                <a:solidFill>
                  <a:schemeClr val="dk1"/>
                </a:solidFill>
                <a:latin typeface="Avenir"/>
                <a:ea typeface="Avenir"/>
                <a:cs typeface="Avenir"/>
                <a:sym typeface="Avenir"/>
              </a:defRPr>
            </a:lvl7pPr>
            <a:lvl8pPr marR="0" lvl="7" algn="l" rtl="0">
              <a:spcBef>
                <a:spcPts val="0"/>
              </a:spcBef>
              <a:spcAft>
                <a:spcPts val="0"/>
              </a:spcAft>
              <a:buSzPts val="1400"/>
              <a:buNone/>
              <a:defRPr sz="1800" b="0" i="0" u="none" strike="noStrike" cap="none">
                <a:solidFill>
                  <a:schemeClr val="dk1"/>
                </a:solidFill>
                <a:latin typeface="Avenir"/>
                <a:ea typeface="Avenir"/>
                <a:cs typeface="Avenir"/>
                <a:sym typeface="Avenir"/>
              </a:defRPr>
            </a:lvl8pPr>
            <a:lvl9pPr marR="0" lvl="8" algn="l" rtl="0">
              <a:spcBef>
                <a:spcPts val="0"/>
              </a:spcBef>
              <a:spcAft>
                <a:spcPts val="0"/>
              </a:spcAft>
              <a:buSzPts val="1400"/>
              <a:buNone/>
              <a:defRPr sz="1800" b="0" i="0" u="none" strike="noStrike" cap="none">
                <a:solidFill>
                  <a:schemeClr val="dk1"/>
                </a:solidFill>
                <a:latin typeface="Avenir"/>
                <a:ea typeface="Avenir"/>
                <a:cs typeface="Avenir"/>
                <a:sym typeface="Avenir"/>
              </a:defRPr>
            </a:lvl9pPr>
          </a:lstStyle>
          <a:p>
            <a:endParaRPr/>
          </a:p>
        </p:txBody>
      </p:sp>
      <p:sp>
        <p:nvSpPr>
          <p:cNvPr id="15" name="Google Shape;15;p62"/>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chemeClr val="lt1"/>
                </a:solidFill>
                <a:latin typeface="Avenir"/>
                <a:ea typeface="Avenir"/>
                <a:cs typeface="Avenir"/>
                <a:sym typeface="Avenir"/>
              </a:defRPr>
            </a:lvl1pPr>
            <a:lvl2pPr marR="0" lvl="1" algn="l" rtl="0">
              <a:spcBef>
                <a:spcPts val="0"/>
              </a:spcBef>
              <a:spcAft>
                <a:spcPts val="0"/>
              </a:spcAft>
              <a:buSzPts val="1400"/>
              <a:buNone/>
              <a:defRPr sz="1800" b="0" i="0" u="none" strike="noStrike" cap="none">
                <a:solidFill>
                  <a:schemeClr val="dk1"/>
                </a:solidFill>
                <a:latin typeface="Avenir"/>
                <a:ea typeface="Avenir"/>
                <a:cs typeface="Avenir"/>
                <a:sym typeface="Avenir"/>
              </a:defRPr>
            </a:lvl2pPr>
            <a:lvl3pPr marR="0" lvl="2" algn="l" rtl="0">
              <a:spcBef>
                <a:spcPts val="0"/>
              </a:spcBef>
              <a:spcAft>
                <a:spcPts val="0"/>
              </a:spcAft>
              <a:buSzPts val="1400"/>
              <a:buNone/>
              <a:defRPr sz="1800" b="0" i="0" u="none" strike="noStrike" cap="none">
                <a:solidFill>
                  <a:schemeClr val="dk1"/>
                </a:solidFill>
                <a:latin typeface="Avenir"/>
                <a:ea typeface="Avenir"/>
                <a:cs typeface="Avenir"/>
                <a:sym typeface="Avenir"/>
              </a:defRPr>
            </a:lvl3pPr>
            <a:lvl4pPr marR="0" lvl="3" algn="l" rtl="0">
              <a:spcBef>
                <a:spcPts val="0"/>
              </a:spcBef>
              <a:spcAft>
                <a:spcPts val="0"/>
              </a:spcAft>
              <a:buSzPts val="1400"/>
              <a:buNone/>
              <a:defRPr sz="1800" b="0" i="0" u="none" strike="noStrike" cap="none">
                <a:solidFill>
                  <a:schemeClr val="dk1"/>
                </a:solidFill>
                <a:latin typeface="Avenir"/>
                <a:ea typeface="Avenir"/>
                <a:cs typeface="Avenir"/>
                <a:sym typeface="Avenir"/>
              </a:defRPr>
            </a:lvl4pPr>
            <a:lvl5pPr marR="0" lvl="4" algn="l" rtl="0">
              <a:spcBef>
                <a:spcPts val="0"/>
              </a:spcBef>
              <a:spcAft>
                <a:spcPts val="0"/>
              </a:spcAft>
              <a:buSzPts val="1400"/>
              <a:buNone/>
              <a:defRPr sz="1800" b="0" i="0" u="none" strike="noStrike" cap="none">
                <a:solidFill>
                  <a:schemeClr val="dk1"/>
                </a:solidFill>
                <a:latin typeface="Avenir"/>
                <a:ea typeface="Avenir"/>
                <a:cs typeface="Avenir"/>
                <a:sym typeface="Avenir"/>
              </a:defRPr>
            </a:lvl5pPr>
            <a:lvl6pPr marR="0" lvl="5" algn="l" rtl="0">
              <a:spcBef>
                <a:spcPts val="0"/>
              </a:spcBef>
              <a:spcAft>
                <a:spcPts val="0"/>
              </a:spcAft>
              <a:buSzPts val="1400"/>
              <a:buNone/>
              <a:defRPr sz="1800" b="0" i="0" u="none" strike="noStrike" cap="none">
                <a:solidFill>
                  <a:schemeClr val="dk1"/>
                </a:solidFill>
                <a:latin typeface="Avenir"/>
                <a:ea typeface="Avenir"/>
                <a:cs typeface="Avenir"/>
                <a:sym typeface="Avenir"/>
              </a:defRPr>
            </a:lvl6pPr>
            <a:lvl7pPr marR="0" lvl="6" algn="l" rtl="0">
              <a:spcBef>
                <a:spcPts val="0"/>
              </a:spcBef>
              <a:spcAft>
                <a:spcPts val="0"/>
              </a:spcAft>
              <a:buSzPts val="1400"/>
              <a:buNone/>
              <a:defRPr sz="1800" b="0" i="0" u="none" strike="noStrike" cap="none">
                <a:solidFill>
                  <a:schemeClr val="dk1"/>
                </a:solidFill>
                <a:latin typeface="Avenir"/>
                <a:ea typeface="Avenir"/>
                <a:cs typeface="Avenir"/>
                <a:sym typeface="Avenir"/>
              </a:defRPr>
            </a:lvl7pPr>
            <a:lvl8pPr marR="0" lvl="7" algn="l" rtl="0">
              <a:spcBef>
                <a:spcPts val="0"/>
              </a:spcBef>
              <a:spcAft>
                <a:spcPts val="0"/>
              </a:spcAft>
              <a:buSzPts val="1400"/>
              <a:buNone/>
              <a:defRPr sz="1800" b="0" i="0" u="none" strike="noStrike" cap="none">
                <a:solidFill>
                  <a:schemeClr val="dk1"/>
                </a:solidFill>
                <a:latin typeface="Avenir"/>
                <a:ea typeface="Avenir"/>
                <a:cs typeface="Avenir"/>
                <a:sym typeface="Avenir"/>
              </a:defRPr>
            </a:lvl8pPr>
            <a:lvl9pPr marR="0" lvl="8" algn="l" rtl="0">
              <a:spcBef>
                <a:spcPts val="0"/>
              </a:spcBef>
              <a:spcAft>
                <a:spcPts val="0"/>
              </a:spcAft>
              <a:buSzPts val="1400"/>
              <a:buNone/>
              <a:defRPr sz="1800" b="0" i="0" u="none" strike="noStrike" cap="none">
                <a:solidFill>
                  <a:schemeClr val="dk1"/>
                </a:solidFill>
                <a:latin typeface="Avenir"/>
                <a:ea typeface="Avenir"/>
                <a:cs typeface="Avenir"/>
                <a:sym typeface="Avenir"/>
              </a:defRPr>
            </a:lvl9pPr>
          </a:lstStyle>
          <a:p>
            <a:endParaRPr/>
          </a:p>
        </p:txBody>
      </p:sp>
      <p:sp>
        <p:nvSpPr>
          <p:cNvPr id="16" name="Google Shape;16;p62"/>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lt1"/>
                </a:solidFill>
                <a:latin typeface="Avenir"/>
                <a:ea typeface="Avenir"/>
                <a:cs typeface="Avenir"/>
                <a:sym typeface="Avenir"/>
              </a:defRPr>
            </a:lvl1pPr>
            <a:lvl2pPr marL="0" marR="0" lvl="1" indent="0" algn="r" rtl="0">
              <a:spcBef>
                <a:spcPts val="0"/>
              </a:spcBef>
              <a:buNone/>
              <a:defRPr sz="900" b="0" i="0" u="none" strike="noStrike" cap="none">
                <a:solidFill>
                  <a:schemeClr val="lt1"/>
                </a:solidFill>
                <a:latin typeface="Avenir"/>
                <a:ea typeface="Avenir"/>
                <a:cs typeface="Avenir"/>
                <a:sym typeface="Avenir"/>
              </a:defRPr>
            </a:lvl2pPr>
            <a:lvl3pPr marL="0" marR="0" lvl="2" indent="0" algn="r" rtl="0">
              <a:spcBef>
                <a:spcPts val="0"/>
              </a:spcBef>
              <a:buNone/>
              <a:defRPr sz="900" b="0" i="0" u="none" strike="noStrike" cap="none">
                <a:solidFill>
                  <a:schemeClr val="lt1"/>
                </a:solidFill>
                <a:latin typeface="Avenir"/>
                <a:ea typeface="Avenir"/>
                <a:cs typeface="Avenir"/>
                <a:sym typeface="Avenir"/>
              </a:defRPr>
            </a:lvl3pPr>
            <a:lvl4pPr marL="0" marR="0" lvl="3" indent="0" algn="r" rtl="0">
              <a:spcBef>
                <a:spcPts val="0"/>
              </a:spcBef>
              <a:buNone/>
              <a:defRPr sz="900" b="0" i="0" u="none" strike="noStrike" cap="none">
                <a:solidFill>
                  <a:schemeClr val="lt1"/>
                </a:solidFill>
                <a:latin typeface="Avenir"/>
                <a:ea typeface="Avenir"/>
                <a:cs typeface="Avenir"/>
                <a:sym typeface="Avenir"/>
              </a:defRPr>
            </a:lvl4pPr>
            <a:lvl5pPr marL="0" marR="0" lvl="4" indent="0" algn="r" rtl="0">
              <a:spcBef>
                <a:spcPts val="0"/>
              </a:spcBef>
              <a:buNone/>
              <a:defRPr sz="900" b="0" i="0" u="none" strike="noStrike" cap="none">
                <a:solidFill>
                  <a:schemeClr val="lt1"/>
                </a:solidFill>
                <a:latin typeface="Avenir"/>
                <a:ea typeface="Avenir"/>
                <a:cs typeface="Avenir"/>
                <a:sym typeface="Avenir"/>
              </a:defRPr>
            </a:lvl5pPr>
            <a:lvl6pPr marL="0" marR="0" lvl="5" indent="0" algn="r" rtl="0">
              <a:spcBef>
                <a:spcPts val="0"/>
              </a:spcBef>
              <a:buNone/>
              <a:defRPr sz="900" b="0" i="0" u="none" strike="noStrike" cap="none">
                <a:solidFill>
                  <a:schemeClr val="lt1"/>
                </a:solidFill>
                <a:latin typeface="Avenir"/>
                <a:ea typeface="Avenir"/>
                <a:cs typeface="Avenir"/>
                <a:sym typeface="Avenir"/>
              </a:defRPr>
            </a:lvl6pPr>
            <a:lvl7pPr marL="0" marR="0" lvl="6" indent="0" algn="r" rtl="0">
              <a:spcBef>
                <a:spcPts val="0"/>
              </a:spcBef>
              <a:buNone/>
              <a:defRPr sz="900" b="0" i="0" u="none" strike="noStrike" cap="none">
                <a:solidFill>
                  <a:schemeClr val="lt1"/>
                </a:solidFill>
                <a:latin typeface="Avenir"/>
                <a:ea typeface="Avenir"/>
                <a:cs typeface="Avenir"/>
                <a:sym typeface="Avenir"/>
              </a:defRPr>
            </a:lvl7pPr>
            <a:lvl8pPr marL="0" marR="0" lvl="7" indent="0" algn="r" rtl="0">
              <a:spcBef>
                <a:spcPts val="0"/>
              </a:spcBef>
              <a:buNone/>
              <a:defRPr sz="900" b="0" i="0" u="none" strike="noStrike" cap="none">
                <a:solidFill>
                  <a:schemeClr val="lt1"/>
                </a:solidFill>
                <a:latin typeface="Avenir"/>
                <a:ea typeface="Avenir"/>
                <a:cs typeface="Avenir"/>
                <a:sym typeface="Avenir"/>
              </a:defRPr>
            </a:lvl8pPr>
            <a:lvl9pPr marL="0" marR="0" lvl="8" indent="0" algn="r" rtl="0">
              <a:spcBef>
                <a:spcPts val="0"/>
              </a:spcBef>
              <a:buNone/>
              <a:defRPr sz="900" b="0" i="0" u="none" strike="noStrike" cap="none">
                <a:solidFill>
                  <a:schemeClr val="lt1"/>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9"/>
        <p:cNvGrpSpPr/>
        <p:nvPr/>
      </p:nvGrpSpPr>
      <p:grpSpPr>
        <a:xfrm>
          <a:off x="0" y="0"/>
          <a:ext cx="0" cy="0"/>
          <a:chOff x="0" y="0"/>
          <a:chExt cx="0" cy="0"/>
        </a:xfrm>
      </p:grpSpPr>
      <p:sp>
        <p:nvSpPr>
          <p:cNvPr id="90" name="Google Shape;90;p1"/>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pic>
        <p:nvPicPr>
          <p:cNvPr id="91" name="Google Shape;91;p1"/>
          <p:cNvPicPr preferRelativeResize="0"/>
          <p:nvPr/>
        </p:nvPicPr>
        <p:blipFill rotWithShape="1">
          <a:blip r:embed="rId3">
            <a:alphaModFix amt="35000"/>
          </a:blip>
          <a:srcRect/>
          <a:stretch/>
        </p:blipFill>
        <p:spPr>
          <a:xfrm>
            <a:off x="0" y="1"/>
            <a:ext cx="12192000" cy="1392401"/>
          </a:xfrm>
          <a:prstGeom prst="rect">
            <a:avLst/>
          </a:prstGeom>
          <a:noFill/>
          <a:ln>
            <a:noFill/>
          </a:ln>
        </p:spPr>
      </p:pic>
      <p:sp>
        <p:nvSpPr>
          <p:cNvPr id="92" name="Google Shape;92;p1"/>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sp>
        <p:nvSpPr>
          <p:cNvPr id="93" name="Google Shape;93;p1"/>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pic>
        <p:nvPicPr>
          <p:cNvPr id="94" name="Google Shape;94;p1"/>
          <p:cNvPicPr preferRelativeResize="0"/>
          <p:nvPr/>
        </p:nvPicPr>
        <p:blipFill rotWithShape="1">
          <a:blip r:embed="rId4">
            <a:alphaModFix/>
          </a:blip>
          <a:srcRect l="9052" r="15486" b="-2"/>
          <a:stretch/>
        </p:blipFill>
        <p:spPr>
          <a:xfrm>
            <a:off x="5996628" y="-1308"/>
            <a:ext cx="6195372" cy="4618233"/>
          </a:xfrm>
          <a:prstGeom prst="rect">
            <a:avLst/>
          </a:prstGeom>
          <a:noFill/>
          <a:ln>
            <a:noFill/>
          </a:ln>
        </p:spPr>
      </p:pic>
      <p:sp>
        <p:nvSpPr>
          <p:cNvPr id="95" name="Google Shape;95;p1"/>
          <p:cNvSpPr/>
          <p:nvPr/>
        </p:nvSpPr>
        <p:spPr>
          <a:xfrm>
            <a:off x="0" y="4602877"/>
            <a:ext cx="12192000" cy="2267339"/>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sp>
        <p:nvSpPr>
          <p:cNvPr id="96" name="Google Shape;96;p1"/>
          <p:cNvSpPr/>
          <p:nvPr/>
        </p:nvSpPr>
        <p:spPr>
          <a:xfrm rot="10800000">
            <a:off x="-3055" y="4596020"/>
            <a:ext cx="12191999" cy="2274195"/>
          </a:xfrm>
          <a:prstGeom prst="rect">
            <a:avLst/>
          </a:prstGeom>
          <a:blipFill rotWithShape="1">
            <a:blip r:embed="rId5">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sp>
        <p:nvSpPr>
          <p:cNvPr id="97" name="Google Shape;97;p1"/>
          <p:cNvSpPr txBox="1">
            <a:spLocks noGrp="1"/>
          </p:cNvSpPr>
          <p:nvPr>
            <p:ph type="ctrTitle"/>
          </p:nvPr>
        </p:nvSpPr>
        <p:spPr>
          <a:xfrm>
            <a:off x="838200" y="4876800"/>
            <a:ext cx="10003218" cy="121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100"/>
              <a:buFont typeface="Avenir"/>
              <a:buNone/>
            </a:pPr>
            <a:r>
              <a:rPr lang="en-US" sz="4100"/>
              <a:t>CS621 Parallel and Distributed Computing</a:t>
            </a:r>
            <a:endParaRPr sz="4100"/>
          </a:p>
        </p:txBody>
      </p:sp>
      <p:sp>
        <p:nvSpPr>
          <p:cNvPr id="98" name="Google Shape;98;p1"/>
          <p:cNvSpPr txBox="1">
            <a:spLocks noGrp="1"/>
          </p:cNvSpPr>
          <p:nvPr>
            <p:ph type="subTitle" idx="1"/>
          </p:nvPr>
        </p:nvSpPr>
        <p:spPr>
          <a:xfrm>
            <a:off x="0" y="-12211"/>
            <a:ext cx="5313452" cy="3935986"/>
          </a:xfrm>
          <a:prstGeom prst="rect">
            <a:avLst/>
          </a:prstGeom>
          <a:noFill/>
          <a:ln>
            <a:noFill/>
          </a:ln>
        </p:spPr>
        <p:txBody>
          <a:bodyPr spcFirstLastPara="1" wrap="square" lIns="91425" tIns="45700" rIns="91425" bIns="45700" anchor="b" anchorCtr="0">
            <a:normAutofit/>
          </a:bodyPr>
          <a:lstStyle/>
          <a:p>
            <a:pPr marL="0" lvl="0" indent="0" algn="just" rtl="0">
              <a:lnSpc>
                <a:spcPct val="110000"/>
              </a:lnSpc>
              <a:spcBef>
                <a:spcPts val="0"/>
              </a:spcBef>
              <a:spcAft>
                <a:spcPts val="0"/>
              </a:spcAft>
              <a:buSzPts val="2800"/>
              <a:buNone/>
            </a:pPr>
            <a:r>
              <a:rPr lang="en-US" sz="2800">
                <a:solidFill>
                  <a:schemeClr val="dk2"/>
                </a:solidFill>
                <a:latin typeface="Arial"/>
                <a:ea typeface="Arial"/>
                <a:cs typeface="Arial"/>
                <a:sym typeface="Arial"/>
              </a:rPr>
              <a:t>Dr. Muhammad Anwaar Saeed</a:t>
            </a:r>
            <a:endParaRPr/>
          </a:p>
          <a:p>
            <a:pPr marL="0" lvl="0" indent="0" algn="just" rtl="0">
              <a:lnSpc>
                <a:spcPct val="110000"/>
              </a:lnSpc>
              <a:spcBef>
                <a:spcPts val="1000"/>
              </a:spcBef>
              <a:spcAft>
                <a:spcPts val="0"/>
              </a:spcAft>
              <a:buSzPts val="2800"/>
              <a:buNone/>
            </a:pPr>
            <a:r>
              <a:rPr lang="en-US" sz="2800">
                <a:solidFill>
                  <a:schemeClr val="dk2"/>
                </a:solidFill>
                <a:latin typeface="Arial"/>
                <a:ea typeface="Arial"/>
                <a:cs typeface="Arial"/>
                <a:sym typeface="Arial"/>
              </a:rPr>
              <a:t>Dr. Said Nabi</a:t>
            </a:r>
            <a:endParaRPr/>
          </a:p>
          <a:p>
            <a:pPr marL="0" lvl="0" indent="0" algn="just" rtl="0">
              <a:lnSpc>
                <a:spcPct val="110000"/>
              </a:lnSpc>
              <a:spcBef>
                <a:spcPts val="1000"/>
              </a:spcBef>
              <a:spcAft>
                <a:spcPts val="0"/>
              </a:spcAft>
              <a:buSzPts val="2800"/>
              <a:buNone/>
            </a:pPr>
            <a:r>
              <a:rPr lang="en-US" sz="2800">
                <a:solidFill>
                  <a:schemeClr val="dk2"/>
                </a:solidFill>
                <a:latin typeface="Arial"/>
                <a:ea typeface="Arial"/>
                <a:cs typeface="Arial"/>
                <a:sym typeface="Arial"/>
              </a:rPr>
              <a:t>Ms. Hina Ishaq</a:t>
            </a:r>
            <a:endParaRPr/>
          </a:p>
          <a:p>
            <a:pPr marL="0" lvl="0" indent="114300" algn="l" rtl="0">
              <a:lnSpc>
                <a:spcPct val="110000"/>
              </a:lnSpc>
              <a:spcBef>
                <a:spcPts val="1000"/>
              </a:spcBef>
              <a:spcAft>
                <a:spcPts val="0"/>
              </a:spcAft>
              <a:buSzPts val="1800"/>
              <a:buFont typeface="Arial"/>
              <a:buNone/>
            </a:pPr>
            <a:endParaRPr sz="1800">
              <a:solidFill>
                <a:schemeClr val="dk2"/>
              </a:solidFill>
            </a:endParaRPr>
          </a:p>
        </p:txBody>
      </p:sp>
      <p:pic>
        <p:nvPicPr>
          <p:cNvPr id="99" name="Google Shape;99;p1" descr="Logo&#10;&#10;Description automatically generated"/>
          <p:cNvPicPr preferRelativeResize="0"/>
          <p:nvPr/>
        </p:nvPicPr>
        <p:blipFill rotWithShape="1">
          <a:blip r:embed="rId6">
            <a:alphaModFix/>
          </a:blip>
          <a:srcRect/>
          <a:stretch/>
        </p:blipFill>
        <p:spPr>
          <a:xfrm>
            <a:off x="0" y="-5"/>
            <a:ext cx="1773304" cy="112560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3"/>
        <p:cNvGrpSpPr/>
        <p:nvPr/>
      </p:nvGrpSpPr>
      <p:grpSpPr>
        <a:xfrm>
          <a:off x="0" y="0"/>
          <a:ext cx="0" cy="0"/>
          <a:chOff x="0" y="0"/>
          <a:chExt cx="0" cy="0"/>
        </a:xfrm>
      </p:grpSpPr>
      <p:sp>
        <p:nvSpPr>
          <p:cNvPr id="104" name="Google Shape;104;p2"/>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pic>
        <p:nvPicPr>
          <p:cNvPr id="105" name="Google Shape;105;p2"/>
          <p:cNvPicPr preferRelativeResize="0"/>
          <p:nvPr/>
        </p:nvPicPr>
        <p:blipFill rotWithShape="1">
          <a:blip r:embed="rId3">
            <a:alphaModFix amt="35000"/>
          </a:blip>
          <a:srcRect/>
          <a:stretch/>
        </p:blipFill>
        <p:spPr>
          <a:xfrm>
            <a:off x="0" y="1"/>
            <a:ext cx="12192000" cy="1392401"/>
          </a:xfrm>
          <a:prstGeom prst="rect">
            <a:avLst/>
          </a:prstGeom>
          <a:noFill/>
          <a:ln>
            <a:noFill/>
          </a:ln>
        </p:spPr>
      </p:pic>
      <p:sp>
        <p:nvSpPr>
          <p:cNvPr id="106" name="Google Shape;106;p2"/>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07" name="Google Shape;107;p2"/>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pic>
        <p:nvPicPr>
          <p:cNvPr id="108" name="Google Shape;108;p2"/>
          <p:cNvPicPr preferRelativeResize="0"/>
          <p:nvPr/>
        </p:nvPicPr>
        <p:blipFill rotWithShape="1">
          <a:blip r:embed="rId4">
            <a:alphaModFix/>
          </a:blip>
          <a:srcRect l="9052" r="15486" b="-2"/>
          <a:stretch/>
        </p:blipFill>
        <p:spPr>
          <a:xfrm>
            <a:off x="3048" y="10"/>
            <a:ext cx="6195372" cy="4618233"/>
          </a:xfrm>
          <a:prstGeom prst="rect">
            <a:avLst/>
          </a:prstGeom>
          <a:noFill/>
          <a:ln>
            <a:noFill/>
          </a:ln>
        </p:spPr>
      </p:pic>
      <p:sp>
        <p:nvSpPr>
          <p:cNvPr id="109" name="Google Shape;109;p2"/>
          <p:cNvSpPr/>
          <p:nvPr/>
        </p:nvSpPr>
        <p:spPr>
          <a:xfrm>
            <a:off x="0" y="4602877"/>
            <a:ext cx="12192000" cy="2267339"/>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10" name="Google Shape;110;p2"/>
          <p:cNvSpPr/>
          <p:nvPr/>
        </p:nvSpPr>
        <p:spPr>
          <a:xfrm rot="10800000">
            <a:off x="-3055" y="4596020"/>
            <a:ext cx="12191999" cy="2274195"/>
          </a:xfrm>
          <a:prstGeom prst="rect">
            <a:avLst/>
          </a:prstGeom>
          <a:blipFill rotWithShape="1">
            <a:blip r:embed="rId5">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11" name="Google Shape;111;p2"/>
          <p:cNvSpPr txBox="1">
            <a:spLocks noGrp="1"/>
          </p:cNvSpPr>
          <p:nvPr>
            <p:ph type="ctrTitle"/>
          </p:nvPr>
        </p:nvSpPr>
        <p:spPr>
          <a:xfrm>
            <a:off x="838200" y="4876800"/>
            <a:ext cx="10003218" cy="121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100"/>
              <a:buFont typeface="Avenir"/>
              <a:buNone/>
            </a:pPr>
            <a:r>
              <a:rPr lang="en-US" sz="4100"/>
              <a:t>CS621 Parallel and Distributed Computing</a:t>
            </a:r>
            <a:endParaRPr sz="4100"/>
          </a:p>
        </p:txBody>
      </p:sp>
      <p:sp>
        <p:nvSpPr>
          <p:cNvPr id="112" name="Google Shape;112;p2"/>
          <p:cNvSpPr txBox="1">
            <a:spLocks noGrp="1"/>
          </p:cNvSpPr>
          <p:nvPr>
            <p:ph type="subTitle" idx="1"/>
          </p:nvPr>
        </p:nvSpPr>
        <p:spPr>
          <a:xfrm>
            <a:off x="6553200" y="369204"/>
            <a:ext cx="4800600" cy="3935986"/>
          </a:xfrm>
          <a:prstGeom prst="rect">
            <a:avLst/>
          </a:prstGeom>
          <a:noFill/>
          <a:ln>
            <a:noFill/>
          </a:ln>
        </p:spPr>
        <p:txBody>
          <a:bodyPr spcFirstLastPara="1" wrap="square" lIns="91425" tIns="45700" rIns="91425" bIns="45700" anchor="ctr" anchorCtr="0">
            <a:normAutofit/>
          </a:bodyPr>
          <a:lstStyle/>
          <a:p>
            <a:pPr marL="0" lvl="0" indent="0" algn="ctr" rtl="0">
              <a:lnSpc>
                <a:spcPct val="110000"/>
              </a:lnSpc>
              <a:spcBef>
                <a:spcPts val="0"/>
              </a:spcBef>
              <a:spcAft>
                <a:spcPts val="0"/>
              </a:spcAft>
              <a:buSzPts val="2800"/>
              <a:buNone/>
            </a:pPr>
            <a:r>
              <a:rPr lang="en-US" sz="2800" b="1">
                <a:solidFill>
                  <a:schemeClr val="dk2"/>
                </a:solidFill>
                <a:latin typeface="Arial"/>
                <a:ea typeface="Arial"/>
                <a:cs typeface="Arial"/>
                <a:sym typeface="Arial"/>
              </a:rPr>
              <a:t>What is Computing?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6"/>
        <p:cNvGrpSpPr/>
        <p:nvPr/>
      </p:nvGrpSpPr>
      <p:grpSpPr>
        <a:xfrm>
          <a:off x="0" y="0"/>
          <a:ext cx="0" cy="0"/>
          <a:chOff x="0" y="0"/>
          <a:chExt cx="0" cy="0"/>
        </a:xfrm>
      </p:grpSpPr>
      <p:sp>
        <p:nvSpPr>
          <p:cNvPr id="117" name="Google Shape;117;p3"/>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18" name="Google Shape;118;p3"/>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19" name="Google Shape;119;p3"/>
          <p:cNvSpPr/>
          <p:nvPr/>
        </p:nvSpPr>
        <p:spPr>
          <a:xfrm>
            <a:off x="0" y="0"/>
            <a:ext cx="4572000" cy="6858000"/>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20" name="Google Shape;120;p3"/>
          <p:cNvSpPr/>
          <p:nvPr/>
        </p:nvSpPr>
        <p:spPr>
          <a:xfrm>
            <a:off x="0" y="0"/>
            <a:ext cx="4572000" cy="6858000"/>
          </a:xfrm>
          <a:prstGeom prst="rect">
            <a:avLst/>
          </a:prstGeom>
          <a:blipFill rotWithShape="1">
            <a:blip r:embed="rId3">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21" name="Google Shape;121;p3"/>
          <p:cNvSpPr txBox="1">
            <a:spLocks noGrp="1"/>
          </p:cNvSpPr>
          <p:nvPr>
            <p:ph type="title"/>
          </p:nvPr>
        </p:nvSpPr>
        <p:spPr>
          <a:xfrm>
            <a:off x="838201" y="559813"/>
            <a:ext cx="2819399" cy="557793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700"/>
              <a:buFont typeface="Avenir"/>
              <a:buNone/>
            </a:pPr>
            <a:r>
              <a:rPr lang="en-US" sz="3700"/>
              <a:t>Objectives</a:t>
            </a:r>
            <a:endParaRPr sz="3700"/>
          </a:p>
        </p:txBody>
      </p:sp>
      <p:grpSp>
        <p:nvGrpSpPr>
          <p:cNvPr id="122" name="Google Shape;122;p3"/>
          <p:cNvGrpSpPr/>
          <p:nvPr/>
        </p:nvGrpSpPr>
        <p:grpSpPr>
          <a:xfrm>
            <a:off x="4807223" y="1406785"/>
            <a:ext cx="7003777" cy="3944433"/>
            <a:chOff x="0" y="949585"/>
            <a:chExt cx="7003777" cy="3944433"/>
          </a:xfrm>
        </p:grpSpPr>
        <p:sp>
          <p:nvSpPr>
            <p:cNvPr id="123" name="Google Shape;123;p3"/>
            <p:cNvSpPr/>
            <p:nvPr/>
          </p:nvSpPr>
          <p:spPr>
            <a:xfrm>
              <a:off x="0" y="949585"/>
              <a:ext cx="7003777" cy="1753081"/>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530307" y="1344029"/>
              <a:ext cx="964194" cy="964194"/>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3"/>
            <p:cNvSpPr/>
            <p:nvPr/>
          </p:nvSpPr>
          <p:spPr>
            <a:xfrm>
              <a:off x="2024809" y="949585"/>
              <a:ext cx="4978967" cy="175308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3"/>
            <p:cNvSpPr txBox="1"/>
            <p:nvPr/>
          </p:nvSpPr>
          <p:spPr>
            <a:xfrm>
              <a:off x="2024809" y="949585"/>
              <a:ext cx="4978967" cy="1753081"/>
            </a:xfrm>
            <a:prstGeom prst="rect">
              <a:avLst/>
            </a:prstGeom>
            <a:noFill/>
            <a:ln>
              <a:noFill/>
            </a:ln>
          </p:spPr>
          <p:txBody>
            <a:bodyPr spcFirstLastPara="1" wrap="square" lIns="185525" tIns="185525" rIns="185525" bIns="185525" anchor="ctr" anchorCtr="0">
              <a:noAutofit/>
            </a:bodyPr>
            <a:lstStyle/>
            <a:p>
              <a:pPr marL="0" marR="0" lvl="0" indent="0" algn="l" rtl="0">
                <a:lnSpc>
                  <a:spcPct val="90000"/>
                </a:lnSpc>
                <a:spcBef>
                  <a:spcPts val="0"/>
                </a:spcBef>
                <a:spcAft>
                  <a:spcPts val="0"/>
                </a:spcAft>
                <a:buClr>
                  <a:schemeClr val="dk1"/>
                </a:buClr>
                <a:buSzPts val="2500"/>
                <a:buFont typeface="Avenir"/>
                <a:buNone/>
              </a:pPr>
              <a:r>
                <a:rPr lang="en-US" sz="2500" b="0" i="0" u="none" strike="noStrike" cap="none">
                  <a:solidFill>
                    <a:schemeClr val="dk1"/>
                  </a:solidFill>
                  <a:latin typeface="Avenir"/>
                  <a:ea typeface="Avenir"/>
                  <a:cs typeface="Avenir"/>
                  <a:sym typeface="Avenir"/>
                </a:rPr>
                <a:t>Introduction of Computing.</a:t>
              </a:r>
              <a:endParaRPr/>
            </a:p>
          </p:txBody>
        </p:sp>
        <p:sp>
          <p:nvSpPr>
            <p:cNvPr id="127" name="Google Shape;127;p3"/>
            <p:cNvSpPr/>
            <p:nvPr/>
          </p:nvSpPr>
          <p:spPr>
            <a:xfrm>
              <a:off x="0" y="3140937"/>
              <a:ext cx="7003777" cy="1753081"/>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3"/>
            <p:cNvSpPr/>
            <p:nvPr/>
          </p:nvSpPr>
          <p:spPr>
            <a:xfrm>
              <a:off x="530307" y="3535381"/>
              <a:ext cx="964194" cy="964194"/>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3"/>
            <p:cNvSpPr/>
            <p:nvPr/>
          </p:nvSpPr>
          <p:spPr>
            <a:xfrm>
              <a:off x="2024809" y="3140937"/>
              <a:ext cx="4978967" cy="175308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3"/>
            <p:cNvSpPr txBox="1"/>
            <p:nvPr/>
          </p:nvSpPr>
          <p:spPr>
            <a:xfrm>
              <a:off x="2024809" y="3140937"/>
              <a:ext cx="4978967" cy="1753081"/>
            </a:xfrm>
            <a:prstGeom prst="rect">
              <a:avLst/>
            </a:prstGeom>
            <a:noFill/>
            <a:ln>
              <a:noFill/>
            </a:ln>
          </p:spPr>
          <p:txBody>
            <a:bodyPr spcFirstLastPara="1" wrap="square" lIns="185525" tIns="185525" rIns="185525" bIns="185525" anchor="ctr" anchorCtr="0">
              <a:noAutofit/>
            </a:bodyPr>
            <a:lstStyle/>
            <a:p>
              <a:pPr marL="0" marR="0" lvl="0" indent="0" algn="l" rtl="0">
                <a:lnSpc>
                  <a:spcPct val="90000"/>
                </a:lnSpc>
                <a:spcBef>
                  <a:spcPts val="0"/>
                </a:spcBef>
                <a:spcAft>
                  <a:spcPts val="0"/>
                </a:spcAft>
                <a:buClr>
                  <a:schemeClr val="dk1"/>
                </a:buClr>
                <a:buSzPts val="2500"/>
                <a:buFont typeface="Avenir"/>
                <a:buNone/>
              </a:pPr>
              <a:r>
                <a:rPr lang="en-US" sz="2500" b="0" i="0" u="none" strike="noStrike" cap="none">
                  <a:solidFill>
                    <a:schemeClr val="dk1"/>
                  </a:solidFill>
                  <a:latin typeface="Avenir"/>
                  <a:ea typeface="Avenir"/>
                  <a:cs typeface="Avenir"/>
                  <a:sym typeface="Avenir"/>
                </a:rPr>
                <a:t>History of Computing.</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p:cNvGrpSpPr/>
        <p:nvPr/>
      </p:nvGrpSpPr>
      <p:grpSpPr>
        <a:xfrm>
          <a:off x="0" y="0"/>
          <a:ext cx="0" cy="0"/>
          <a:chOff x="0" y="0"/>
          <a:chExt cx="0" cy="0"/>
        </a:xfrm>
      </p:grpSpPr>
      <p:sp>
        <p:nvSpPr>
          <p:cNvPr id="136" name="Google Shape;136;p4"/>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39" name="Google Shape;139;p4"/>
          <p:cNvSpPr/>
          <p:nvPr/>
        </p:nvSpPr>
        <p:spPr>
          <a:xfrm>
            <a:off x="1524" y="0"/>
            <a:ext cx="12188952" cy="2225674"/>
          </a:xfrm>
          <a:prstGeom prst="rect">
            <a:avLst/>
          </a:prstGeom>
          <a:blipFill rotWithShape="1">
            <a:blip r:embed="rId3">
              <a:alphaModFix amt="24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a:t>What is Computing</a:t>
            </a:r>
            <a:endParaRPr/>
          </a:p>
        </p:txBody>
      </p:sp>
      <p:sp>
        <p:nvSpPr>
          <p:cNvPr id="141" name="Google Shape;141;p4"/>
          <p:cNvSpPr txBox="1">
            <a:spLocks noGrp="1"/>
          </p:cNvSpPr>
          <p:nvPr>
            <p:ph type="body" idx="1"/>
          </p:nvPr>
        </p:nvSpPr>
        <p:spPr>
          <a:xfrm>
            <a:off x="1285875" y="2828925"/>
            <a:ext cx="8696325" cy="3468688"/>
          </a:xfrm>
          <a:prstGeom prst="rect">
            <a:avLst/>
          </a:prstGeom>
          <a:noFill/>
          <a:ln>
            <a:noFill/>
          </a:ln>
        </p:spPr>
        <p:txBody>
          <a:bodyPr spcFirstLastPara="1" wrap="square" lIns="91425" tIns="45700" rIns="91425" bIns="45700" anchor="t" anchorCtr="0">
            <a:noAutofit/>
          </a:bodyPr>
          <a:lstStyle/>
          <a:p>
            <a:pPr marL="0" lvl="0" indent="0" algn="l" rtl="0">
              <a:lnSpc>
                <a:spcPct val="110000"/>
              </a:lnSpc>
              <a:spcBef>
                <a:spcPts val="0"/>
              </a:spcBef>
              <a:spcAft>
                <a:spcPts val="0"/>
              </a:spcAft>
              <a:buSzPts val="2800"/>
              <a:buNone/>
            </a:pPr>
            <a:endParaRPr>
              <a:solidFill>
                <a:schemeClr val="dk1"/>
              </a:solidFill>
              <a:latin typeface="Arial"/>
              <a:ea typeface="Arial"/>
              <a:cs typeface="Arial"/>
              <a:sym typeface="Arial"/>
            </a:endParaRPr>
          </a:p>
          <a:p>
            <a:pPr marL="0" lvl="0" indent="0" algn="ctr" rtl="0">
              <a:lnSpc>
                <a:spcPct val="110000"/>
              </a:lnSpc>
              <a:spcBef>
                <a:spcPts val="1000"/>
              </a:spcBef>
              <a:spcAft>
                <a:spcPts val="0"/>
              </a:spcAft>
              <a:buSzPts val="2800"/>
              <a:buNone/>
            </a:pPr>
            <a:r>
              <a:rPr lang="en-US">
                <a:solidFill>
                  <a:schemeClr val="dk1"/>
                </a:solidFill>
                <a:latin typeface="Arial"/>
                <a:ea typeface="Arial"/>
                <a:cs typeface="Arial"/>
                <a:sym typeface="Arial"/>
              </a:rPr>
              <a:t>“Computing is the process to complete a given </a:t>
            </a:r>
            <a:r>
              <a:rPr lang="en-US">
                <a:solidFill>
                  <a:srgbClr val="C00000"/>
                </a:solidFill>
                <a:latin typeface="Arial"/>
                <a:ea typeface="Arial"/>
                <a:cs typeface="Arial"/>
                <a:sym typeface="Arial"/>
              </a:rPr>
              <a:t>goal-oriented</a:t>
            </a:r>
            <a:r>
              <a:rPr lang="en-US">
                <a:solidFill>
                  <a:schemeClr val="dk1"/>
                </a:solidFill>
                <a:latin typeface="Arial"/>
                <a:ea typeface="Arial"/>
                <a:cs typeface="Arial"/>
                <a:sym typeface="Arial"/>
              </a:rPr>
              <a:t> task by using computer technology.”</a:t>
            </a:r>
            <a:endParaRPr>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6"/>
        <p:cNvGrpSpPr/>
        <p:nvPr/>
      </p:nvGrpSpPr>
      <p:grpSpPr>
        <a:xfrm>
          <a:off x="0" y="0"/>
          <a:ext cx="0" cy="0"/>
          <a:chOff x="0" y="0"/>
          <a:chExt cx="0" cy="0"/>
        </a:xfrm>
      </p:grpSpPr>
      <p:sp>
        <p:nvSpPr>
          <p:cNvPr id="147" name="Google Shape;147;p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48" name="Google Shape;148;p5"/>
          <p:cNvSpPr/>
          <p:nvPr/>
        </p:nvSpPr>
        <p:spPr>
          <a:xfrm>
            <a:off x="0" y="0"/>
            <a:ext cx="12192000"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49" name="Google Shape;149;p5"/>
          <p:cNvSpPr txBox="1">
            <a:spLocks noGrp="1"/>
          </p:cNvSpPr>
          <p:nvPr>
            <p:ph type="title"/>
          </p:nvPr>
        </p:nvSpPr>
        <p:spPr>
          <a:xfrm>
            <a:off x="838200" y="557191"/>
            <a:ext cx="4388405" cy="5580556"/>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2"/>
              </a:buClr>
              <a:buSzPts val="3600"/>
              <a:buFont typeface="Avenir"/>
              <a:buNone/>
            </a:pPr>
            <a:r>
              <a:rPr lang="en-US" sz="3600">
                <a:solidFill>
                  <a:schemeClr val="dk2"/>
                </a:solidFill>
              </a:rPr>
              <a:t>What is Computing Cont.…</a:t>
            </a:r>
            <a:endParaRPr sz="3600">
              <a:solidFill>
                <a:schemeClr val="dk2"/>
              </a:solidFill>
            </a:endParaRPr>
          </a:p>
        </p:txBody>
      </p:sp>
      <p:pic>
        <p:nvPicPr>
          <p:cNvPr id="150" name="Google Shape;150;p5"/>
          <p:cNvPicPr preferRelativeResize="0"/>
          <p:nvPr/>
        </p:nvPicPr>
        <p:blipFill rotWithShape="1">
          <a:blip r:embed="rId3">
            <a:alphaModFix/>
          </a:blip>
          <a:srcRect r="74403"/>
          <a:stretch/>
        </p:blipFill>
        <p:spPr>
          <a:xfrm rot="10800000">
            <a:off x="-3049" y="2719660"/>
            <a:ext cx="650748" cy="2548349"/>
          </a:xfrm>
          <a:prstGeom prst="rect">
            <a:avLst/>
          </a:prstGeom>
          <a:noFill/>
          <a:ln>
            <a:noFill/>
          </a:ln>
        </p:spPr>
      </p:pic>
      <p:pic>
        <p:nvPicPr>
          <p:cNvPr id="151" name="Google Shape;151;p5"/>
          <p:cNvPicPr preferRelativeResize="0"/>
          <p:nvPr/>
        </p:nvPicPr>
        <p:blipFill rotWithShape="1">
          <a:blip r:embed="rId4">
            <a:alphaModFix/>
          </a:blip>
          <a:srcRect t="37018" r="40625"/>
          <a:stretch/>
        </p:blipFill>
        <p:spPr>
          <a:xfrm>
            <a:off x="10744200" y="0"/>
            <a:ext cx="1447800" cy="1535750"/>
          </a:xfrm>
          <a:prstGeom prst="rect">
            <a:avLst/>
          </a:prstGeom>
          <a:noFill/>
          <a:ln>
            <a:noFill/>
          </a:ln>
        </p:spPr>
      </p:pic>
      <p:grpSp>
        <p:nvGrpSpPr>
          <p:cNvPr id="152" name="Google Shape;152;p5"/>
          <p:cNvGrpSpPr/>
          <p:nvPr/>
        </p:nvGrpSpPr>
        <p:grpSpPr>
          <a:xfrm>
            <a:off x="5638800" y="1259026"/>
            <a:ext cx="5715000" cy="3963709"/>
            <a:chOff x="0" y="954226"/>
            <a:chExt cx="5715000" cy="3963709"/>
          </a:xfrm>
        </p:grpSpPr>
        <p:sp>
          <p:nvSpPr>
            <p:cNvPr id="153" name="Google Shape;153;p5"/>
            <p:cNvSpPr/>
            <p:nvPr/>
          </p:nvSpPr>
          <p:spPr>
            <a:xfrm>
              <a:off x="0" y="954226"/>
              <a:ext cx="5715000" cy="1761648"/>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a:off x="532898" y="1350597"/>
              <a:ext cx="968906" cy="968906"/>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2034704" y="954226"/>
              <a:ext cx="3680295" cy="176164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txBox="1"/>
            <p:nvPr/>
          </p:nvSpPr>
          <p:spPr>
            <a:xfrm>
              <a:off x="2034704" y="954226"/>
              <a:ext cx="3680295" cy="1761648"/>
            </a:xfrm>
            <a:prstGeom prst="rect">
              <a:avLst/>
            </a:prstGeom>
            <a:noFill/>
            <a:ln>
              <a:noFill/>
            </a:ln>
          </p:spPr>
          <p:txBody>
            <a:bodyPr spcFirstLastPara="1" wrap="square" lIns="186425" tIns="186425" rIns="186425" bIns="186425" anchor="ctr" anchorCtr="0">
              <a:noAutofit/>
            </a:bodyPr>
            <a:lstStyle/>
            <a:p>
              <a:pPr marL="0" marR="0" lvl="0" indent="0" algn="l" rtl="0">
                <a:lnSpc>
                  <a:spcPct val="90000"/>
                </a:lnSpc>
                <a:spcBef>
                  <a:spcPts val="0"/>
                </a:spcBef>
                <a:spcAft>
                  <a:spcPts val="0"/>
                </a:spcAft>
                <a:buClr>
                  <a:schemeClr val="dk1"/>
                </a:buClr>
                <a:buSzPts val="1800"/>
                <a:buFont typeface="Avenir"/>
                <a:buNone/>
              </a:pPr>
              <a:r>
                <a:rPr lang="en-US" sz="1800" b="0" i="0" u="none" strike="noStrike" cap="none">
                  <a:solidFill>
                    <a:schemeClr val="dk1"/>
                  </a:solidFill>
                  <a:latin typeface="Avenir"/>
                  <a:ea typeface="Avenir"/>
                  <a:cs typeface="Avenir"/>
                  <a:sym typeface="Avenir"/>
                </a:rPr>
                <a:t>Computing may include the design and development of software and hardware systems for broad range of purposes.</a:t>
              </a:r>
              <a:endParaRPr/>
            </a:p>
          </p:txBody>
        </p:sp>
        <p:sp>
          <p:nvSpPr>
            <p:cNvPr id="157" name="Google Shape;157;p5"/>
            <p:cNvSpPr/>
            <p:nvPr/>
          </p:nvSpPr>
          <p:spPr>
            <a:xfrm>
              <a:off x="0" y="3156287"/>
              <a:ext cx="5715000" cy="1761648"/>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532898" y="3552658"/>
              <a:ext cx="968906" cy="968906"/>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2034704" y="3156287"/>
              <a:ext cx="3680295" cy="176164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txBox="1"/>
            <p:nvPr/>
          </p:nvSpPr>
          <p:spPr>
            <a:xfrm>
              <a:off x="2034704" y="3156287"/>
              <a:ext cx="3680295" cy="1761648"/>
            </a:xfrm>
            <a:prstGeom prst="rect">
              <a:avLst/>
            </a:prstGeom>
            <a:noFill/>
            <a:ln>
              <a:noFill/>
            </a:ln>
          </p:spPr>
          <p:txBody>
            <a:bodyPr spcFirstLastPara="1" wrap="square" lIns="186425" tIns="186425" rIns="186425" bIns="186425" anchor="ctr" anchorCtr="0">
              <a:noAutofit/>
            </a:bodyPr>
            <a:lstStyle/>
            <a:p>
              <a:pPr marL="0" marR="0" lvl="0" indent="0" algn="l" rtl="0">
                <a:lnSpc>
                  <a:spcPct val="90000"/>
                </a:lnSpc>
                <a:spcBef>
                  <a:spcPts val="0"/>
                </a:spcBef>
                <a:spcAft>
                  <a:spcPts val="0"/>
                </a:spcAft>
                <a:buClr>
                  <a:schemeClr val="dk1"/>
                </a:buClr>
                <a:buSzPts val="1800"/>
                <a:buFont typeface="Avenir"/>
                <a:buNone/>
              </a:pPr>
              <a:r>
                <a:rPr lang="en-US" sz="1800" b="0" i="0" u="none" strike="noStrike" cap="none">
                  <a:solidFill>
                    <a:schemeClr val="dk1"/>
                  </a:solidFill>
                  <a:latin typeface="Avenir"/>
                  <a:ea typeface="Avenir"/>
                  <a:cs typeface="Avenir"/>
                  <a:sym typeface="Avenir"/>
                </a:rPr>
                <a:t>Used for structuring, processing and managing any kind of information - to aid in the pursuit of scientific studies and making intelligent systems.</a:t>
              </a:r>
              <a:endParaRPr sz="1800" b="0" i="0" u="none" strike="noStrike" cap="none">
                <a:solidFill>
                  <a:schemeClr val="dk1"/>
                </a:solidFill>
                <a:latin typeface="Avenir"/>
                <a:ea typeface="Avenir"/>
                <a:cs typeface="Avenir"/>
                <a:sym typeface="Aveni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5"/>
        <p:cNvGrpSpPr/>
        <p:nvPr/>
      </p:nvGrpSpPr>
      <p:grpSpPr>
        <a:xfrm>
          <a:off x="0" y="0"/>
          <a:ext cx="0" cy="0"/>
          <a:chOff x="0" y="0"/>
          <a:chExt cx="0" cy="0"/>
        </a:xfrm>
      </p:grpSpPr>
      <p:sp>
        <p:nvSpPr>
          <p:cNvPr id="166" name="Google Shape;166;p6"/>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67" name="Google Shape;167;p6"/>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68" name="Google Shape;168;p6"/>
          <p:cNvSpPr/>
          <p:nvPr/>
        </p:nvSpPr>
        <p:spPr>
          <a:xfrm>
            <a:off x="0" y="0"/>
            <a:ext cx="5998281" cy="6858000"/>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69" name="Google Shape;169;p6"/>
          <p:cNvSpPr/>
          <p:nvPr/>
        </p:nvSpPr>
        <p:spPr>
          <a:xfrm>
            <a:off x="0" y="0"/>
            <a:ext cx="5998281" cy="6858000"/>
          </a:xfrm>
          <a:prstGeom prst="rect">
            <a:avLst/>
          </a:prstGeom>
          <a:blipFill rotWithShape="1">
            <a:blip r:embed="rId3">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70" name="Google Shape;170;p6"/>
          <p:cNvSpPr txBox="1">
            <a:spLocks noGrp="1"/>
          </p:cNvSpPr>
          <p:nvPr>
            <p:ph type="title"/>
          </p:nvPr>
        </p:nvSpPr>
        <p:spPr>
          <a:xfrm>
            <a:off x="838200" y="559813"/>
            <a:ext cx="4965257" cy="557793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a:t>History of Computing</a:t>
            </a:r>
            <a:endParaRPr/>
          </a:p>
        </p:txBody>
      </p:sp>
      <p:grpSp>
        <p:nvGrpSpPr>
          <p:cNvPr id="171" name="Google Shape;171;p6"/>
          <p:cNvGrpSpPr/>
          <p:nvPr/>
        </p:nvGrpSpPr>
        <p:grpSpPr>
          <a:xfrm>
            <a:off x="6184458" y="343433"/>
            <a:ext cx="5626541" cy="5785657"/>
            <a:chOff x="0" y="0"/>
            <a:chExt cx="5626541" cy="5785657"/>
          </a:xfrm>
        </p:grpSpPr>
        <p:sp>
          <p:nvSpPr>
            <p:cNvPr id="172" name="Google Shape;172;p6"/>
            <p:cNvSpPr/>
            <p:nvPr/>
          </p:nvSpPr>
          <p:spPr>
            <a:xfrm>
              <a:off x="0" y="0"/>
              <a:ext cx="4501233" cy="1272844"/>
            </a:xfrm>
            <a:prstGeom prst="roundRect">
              <a:avLst>
                <a:gd name="adj" fmla="val 10000"/>
              </a:avLst>
            </a:prstGeom>
            <a:gradFill>
              <a:gsLst>
                <a:gs pos="0">
                  <a:srgbClr val="57BA82"/>
                </a:gs>
                <a:gs pos="50000">
                  <a:srgbClr val="32B571"/>
                </a:gs>
                <a:gs pos="100000">
                  <a:srgbClr val="27A56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6"/>
            <p:cNvSpPr txBox="1"/>
            <p:nvPr/>
          </p:nvSpPr>
          <p:spPr>
            <a:xfrm>
              <a:off x="37280" y="37280"/>
              <a:ext cx="3020180" cy="1198284"/>
            </a:xfrm>
            <a:prstGeom prst="rect">
              <a:avLst/>
            </a:prstGeom>
            <a:noFill/>
            <a:ln>
              <a:noFill/>
            </a:ln>
          </p:spPr>
          <p:txBody>
            <a:bodyPr spcFirstLastPara="1" wrap="square" lIns="125725" tIns="125725" rIns="125725" bIns="125725" anchor="ctr" anchorCtr="0">
              <a:noAutofit/>
            </a:bodyPr>
            <a:lstStyle/>
            <a:p>
              <a:pPr marL="0" marR="0" lvl="0" indent="0" algn="l" rtl="0">
                <a:lnSpc>
                  <a:spcPct val="90000"/>
                </a:lnSpc>
                <a:spcBef>
                  <a:spcPts val="0"/>
                </a:spcBef>
                <a:spcAft>
                  <a:spcPts val="0"/>
                </a:spcAft>
                <a:buClr>
                  <a:schemeClr val="lt1"/>
                </a:buClr>
                <a:buSzPts val="3300"/>
                <a:buFont typeface="Avenir"/>
                <a:buNone/>
              </a:pPr>
              <a:r>
                <a:rPr lang="en-US" sz="3300" b="0" i="0" u="none" strike="noStrike" cap="none">
                  <a:solidFill>
                    <a:schemeClr val="lt1"/>
                  </a:solidFill>
                  <a:latin typeface="Avenir"/>
                  <a:ea typeface="Avenir"/>
                  <a:cs typeface="Avenir"/>
                  <a:sym typeface="Avenir"/>
                </a:rPr>
                <a:t>Batch Era</a:t>
              </a:r>
              <a:endParaRPr sz="3300" b="0" i="0" u="none" strike="noStrike" cap="none">
                <a:solidFill>
                  <a:schemeClr val="lt1"/>
                </a:solidFill>
                <a:latin typeface="Avenir"/>
                <a:ea typeface="Avenir"/>
                <a:cs typeface="Avenir"/>
                <a:sym typeface="Avenir"/>
              </a:endParaRPr>
            </a:p>
          </p:txBody>
        </p:sp>
        <p:sp>
          <p:nvSpPr>
            <p:cNvPr id="174" name="Google Shape;174;p6"/>
            <p:cNvSpPr/>
            <p:nvPr/>
          </p:nvSpPr>
          <p:spPr>
            <a:xfrm>
              <a:off x="376978" y="1504271"/>
              <a:ext cx="4501233" cy="1272844"/>
            </a:xfrm>
            <a:prstGeom prst="roundRect">
              <a:avLst>
                <a:gd name="adj" fmla="val 10000"/>
              </a:avLst>
            </a:prstGeom>
            <a:gradFill>
              <a:gsLst>
                <a:gs pos="0">
                  <a:srgbClr val="5FBE65"/>
                </a:gs>
                <a:gs pos="50000">
                  <a:srgbClr val="40BA4A"/>
                </a:gs>
                <a:gs pos="100000">
                  <a:srgbClr val="34A83D"/>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6"/>
            <p:cNvSpPr txBox="1"/>
            <p:nvPr/>
          </p:nvSpPr>
          <p:spPr>
            <a:xfrm>
              <a:off x="414258" y="1541551"/>
              <a:ext cx="3222346" cy="1198284"/>
            </a:xfrm>
            <a:prstGeom prst="rect">
              <a:avLst/>
            </a:prstGeom>
            <a:noFill/>
            <a:ln>
              <a:noFill/>
            </a:ln>
          </p:spPr>
          <p:txBody>
            <a:bodyPr spcFirstLastPara="1" wrap="square" lIns="125725" tIns="125725" rIns="125725" bIns="125725" anchor="ctr" anchorCtr="0">
              <a:noAutofit/>
            </a:bodyPr>
            <a:lstStyle/>
            <a:p>
              <a:pPr marL="0" marR="0" lvl="0" indent="0" algn="l" rtl="0">
                <a:lnSpc>
                  <a:spcPct val="90000"/>
                </a:lnSpc>
                <a:spcBef>
                  <a:spcPts val="0"/>
                </a:spcBef>
                <a:spcAft>
                  <a:spcPts val="0"/>
                </a:spcAft>
                <a:buClr>
                  <a:schemeClr val="lt1"/>
                </a:buClr>
                <a:buSzPts val="3300"/>
                <a:buFont typeface="Avenir"/>
                <a:buNone/>
              </a:pPr>
              <a:r>
                <a:rPr lang="en-US" sz="3300" b="0" i="0" u="none" strike="noStrike" cap="none">
                  <a:solidFill>
                    <a:schemeClr val="lt1"/>
                  </a:solidFill>
                  <a:latin typeface="Avenir"/>
                  <a:ea typeface="Avenir"/>
                  <a:cs typeface="Avenir"/>
                  <a:sym typeface="Avenir"/>
                </a:rPr>
                <a:t>Time Sharing Era</a:t>
              </a:r>
              <a:endParaRPr sz="3300" b="0" i="0" u="none" strike="noStrike" cap="none">
                <a:solidFill>
                  <a:schemeClr val="lt1"/>
                </a:solidFill>
                <a:latin typeface="Avenir"/>
                <a:ea typeface="Avenir"/>
                <a:cs typeface="Avenir"/>
                <a:sym typeface="Avenir"/>
              </a:endParaRPr>
            </a:p>
          </p:txBody>
        </p:sp>
        <p:sp>
          <p:nvSpPr>
            <p:cNvPr id="176" name="Google Shape;176;p6"/>
            <p:cNvSpPr/>
            <p:nvPr/>
          </p:nvSpPr>
          <p:spPr>
            <a:xfrm>
              <a:off x="748330" y="3008542"/>
              <a:ext cx="4501233" cy="1272844"/>
            </a:xfrm>
            <a:prstGeom prst="roundRect">
              <a:avLst>
                <a:gd name="adj" fmla="val 10000"/>
              </a:avLst>
            </a:prstGeom>
            <a:gradFill>
              <a:gsLst>
                <a:gs pos="0">
                  <a:srgbClr val="73BA57"/>
                </a:gs>
                <a:gs pos="50000">
                  <a:srgbClr val="5EB532"/>
                </a:gs>
                <a:gs pos="100000">
                  <a:srgbClr val="52A527"/>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6"/>
            <p:cNvSpPr txBox="1"/>
            <p:nvPr/>
          </p:nvSpPr>
          <p:spPr>
            <a:xfrm>
              <a:off x="785610" y="3045822"/>
              <a:ext cx="3227972" cy="1198284"/>
            </a:xfrm>
            <a:prstGeom prst="rect">
              <a:avLst/>
            </a:prstGeom>
            <a:noFill/>
            <a:ln>
              <a:noFill/>
            </a:ln>
          </p:spPr>
          <p:txBody>
            <a:bodyPr spcFirstLastPara="1" wrap="square" lIns="125725" tIns="125725" rIns="125725" bIns="125725" anchor="ctr" anchorCtr="0">
              <a:noAutofit/>
            </a:bodyPr>
            <a:lstStyle/>
            <a:p>
              <a:pPr marL="0" marR="0" lvl="0" indent="0" algn="l" rtl="0">
                <a:lnSpc>
                  <a:spcPct val="90000"/>
                </a:lnSpc>
                <a:spcBef>
                  <a:spcPts val="0"/>
                </a:spcBef>
                <a:spcAft>
                  <a:spcPts val="0"/>
                </a:spcAft>
                <a:buClr>
                  <a:schemeClr val="lt1"/>
                </a:buClr>
                <a:buSzPts val="3300"/>
                <a:buFont typeface="Avenir"/>
                <a:buNone/>
              </a:pPr>
              <a:r>
                <a:rPr lang="en-US" sz="3300" b="0" i="0" u="none" strike="noStrike" cap="none">
                  <a:solidFill>
                    <a:schemeClr val="lt1"/>
                  </a:solidFill>
                  <a:latin typeface="Avenir"/>
                  <a:ea typeface="Avenir"/>
                  <a:cs typeface="Avenir"/>
                  <a:sym typeface="Avenir"/>
                </a:rPr>
                <a:t>Desktop Era</a:t>
              </a:r>
              <a:endParaRPr sz="3300" b="0" i="0" u="none" strike="noStrike" cap="none">
                <a:solidFill>
                  <a:schemeClr val="lt1"/>
                </a:solidFill>
                <a:latin typeface="Avenir"/>
                <a:ea typeface="Avenir"/>
                <a:cs typeface="Avenir"/>
                <a:sym typeface="Avenir"/>
              </a:endParaRPr>
            </a:p>
          </p:txBody>
        </p:sp>
        <p:sp>
          <p:nvSpPr>
            <p:cNvPr id="178" name="Google Shape;178;p6"/>
            <p:cNvSpPr/>
            <p:nvPr/>
          </p:nvSpPr>
          <p:spPr>
            <a:xfrm>
              <a:off x="1125308" y="4512813"/>
              <a:ext cx="4501233" cy="1272844"/>
            </a:xfrm>
            <a:prstGeom prst="roundRect">
              <a:avLst>
                <a:gd name="adj" fmla="val 10000"/>
              </a:avLst>
            </a:prstGeom>
            <a:gradFill>
              <a:gsLst>
                <a:gs pos="0">
                  <a:srgbClr val="9CB55D"/>
                </a:gs>
                <a:gs pos="50000">
                  <a:srgbClr val="92B03C"/>
                </a:gs>
                <a:gs pos="100000">
                  <a:srgbClr val="849F31"/>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6"/>
            <p:cNvSpPr txBox="1"/>
            <p:nvPr/>
          </p:nvSpPr>
          <p:spPr>
            <a:xfrm>
              <a:off x="1162588" y="4550093"/>
              <a:ext cx="3222346" cy="1198284"/>
            </a:xfrm>
            <a:prstGeom prst="rect">
              <a:avLst/>
            </a:prstGeom>
            <a:noFill/>
            <a:ln>
              <a:noFill/>
            </a:ln>
          </p:spPr>
          <p:txBody>
            <a:bodyPr spcFirstLastPara="1" wrap="square" lIns="125725" tIns="125725" rIns="125725" bIns="125725" anchor="ctr" anchorCtr="0">
              <a:noAutofit/>
            </a:bodyPr>
            <a:lstStyle/>
            <a:p>
              <a:pPr marL="0" marR="0" lvl="0" indent="0" algn="l" rtl="0">
                <a:lnSpc>
                  <a:spcPct val="90000"/>
                </a:lnSpc>
                <a:spcBef>
                  <a:spcPts val="0"/>
                </a:spcBef>
                <a:spcAft>
                  <a:spcPts val="0"/>
                </a:spcAft>
                <a:buClr>
                  <a:schemeClr val="lt1"/>
                </a:buClr>
                <a:buSzPts val="3300"/>
                <a:buFont typeface="Avenir"/>
                <a:buNone/>
              </a:pPr>
              <a:r>
                <a:rPr lang="en-US" sz="3300" b="0" i="0" u="none" strike="noStrike" cap="none">
                  <a:solidFill>
                    <a:schemeClr val="lt1"/>
                  </a:solidFill>
                  <a:latin typeface="Avenir"/>
                  <a:ea typeface="Avenir"/>
                  <a:cs typeface="Avenir"/>
                  <a:sym typeface="Avenir"/>
                </a:rPr>
                <a:t>Network Era</a:t>
              </a:r>
              <a:endParaRPr sz="3300" b="0" i="0" u="none" strike="noStrike" cap="none">
                <a:solidFill>
                  <a:schemeClr val="lt1"/>
                </a:solidFill>
                <a:latin typeface="Avenir"/>
                <a:ea typeface="Avenir"/>
                <a:cs typeface="Avenir"/>
                <a:sym typeface="Avenir"/>
              </a:endParaRPr>
            </a:p>
          </p:txBody>
        </p:sp>
        <p:sp>
          <p:nvSpPr>
            <p:cNvPr id="180" name="Google Shape;180;p6"/>
            <p:cNvSpPr/>
            <p:nvPr/>
          </p:nvSpPr>
          <p:spPr>
            <a:xfrm>
              <a:off x="3673884" y="974883"/>
              <a:ext cx="827349" cy="827349"/>
            </a:xfrm>
            <a:prstGeom prst="downArrow">
              <a:avLst>
                <a:gd name="adj1" fmla="val 55000"/>
                <a:gd name="adj2" fmla="val 45000"/>
              </a:avLst>
            </a:prstGeom>
            <a:solidFill>
              <a:srgbClr val="CDE3D5">
                <a:alpha val="89803"/>
              </a:srgbClr>
            </a:solidFill>
            <a:ln w="9525" cap="flat" cmpd="sng">
              <a:solidFill>
                <a:srgbClr val="CDE3D5">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6"/>
            <p:cNvSpPr txBox="1"/>
            <p:nvPr/>
          </p:nvSpPr>
          <p:spPr>
            <a:xfrm>
              <a:off x="3860038" y="974883"/>
              <a:ext cx="455041" cy="622580"/>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dk1"/>
                </a:buClr>
                <a:buSzPts val="3600"/>
                <a:buFont typeface="Avenir"/>
                <a:buNone/>
              </a:pPr>
              <a:endParaRPr sz="3600" b="0" i="0" u="none" strike="noStrike" cap="none">
                <a:solidFill>
                  <a:schemeClr val="dk1"/>
                </a:solidFill>
                <a:latin typeface="Avenir"/>
                <a:ea typeface="Avenir"/>
                <a:cs typeface="Avenir"/>
                <a:sym typeface="Avenir"/>
              </a:endParaRPr>
            </a:p>
          </p:txBody>
        </p:sp>
        <p:sp>
          <p:nvSpPr>
            <p:cNvPr id="182" name="Google Shape;182;p6"/>
            <p:cNvSpPr/>
            <p:nvPr/>
          </p:nvSpPr>
          <p:spPr>
            <a:xfrm>
              <a:off x="4050862" y="2479154"/>
              <a:ext cx="827349" cy="827349"/>
            </a:xfrm>
            <a:prstGeom prst="downArrow">
              <a:avLst>
                <a:gd name="adj1" fmla="val 55000"/>
                <a:gd name="adj2" fmla="val 45000"/>
              </a:avLst>
            </a:prstGeom>
            <a:solidFill>
              <a:srgbClr val="CDE5CE">
                <a:alpha val="89803"/>
              </a:srgbClr>
            </a:solidFill>
            <a:ln w="9525" cap="flat" cmpd="sng">
              <a:solidFill>
                <a:srgbClr val="CDE5CE">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6"/>
            <p:cNvSpPr txBox="1"/>
            <p:nvPr/>
          </p:nvSpPr>
          <p:spPr>
            <a:xfrm>
              <a:off x="4237016" y="2479154"/>
              <a:ext cx="455041" cy="622580"/>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dk1"/>
                </a:buClr>
                <a:buSzPts val="3600"/>
                <a:buFont typeface="Avenir"/>
                <a:buNone/>
              </a:pPr>
              <a:endParaRPr sz="3600" b="0" i="0" u="none" strike="noStrike" cap="none">
                <a:solidFill>
                  <a:schemeClr val="dk1"/>
                </a:solidFill>
                <a:latin typeface="Avenir"/>
                <a:ea typeface="Avenir"/>
                <a:cs typeface="Avenir"/>
                <a:sym typeface="Avenir"/>
              </a:endParaRPr>
            </a:p>
          </p:txBody>
        </p:sp>
        <p:sp>
          <p:nvSpPr>
            <p:cNvPr id="184" name="Google Shape;184;p6"/>
            <p:cNvSpPr/>
            <p:nvPr/>
          </p:nvSpPr>
          <p:spPr>
            <a:xfrm>
              <a:off x="4422214" y="3983425"/>
              <a:ext cx="827349" cy="827349"/>
            </a:xfrm>
            <a:prstGeom prst="downArrow">
              <a:avLst>
                <a:gd name="adj1" fmla="val 55000"/>
                <a:gd name="adj2" fmla="val 45000"/>
              </a:avLst>
            </a:prstGeom>
            <a:solidFill>
              <a:srgbClr val="D2E3CD">
                <a:alpha val="89803"/>
              </a:srgbClr>
            </a:solidFill>
            <a:ln w="9525" cap="flat" cmpd="sng">
              <a:solidFill>
                <a:srgbClr val="D2E3CD">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6"/>
            <p:cNvSpPr txBox="1"/>
            <p:nvPr/>
          </p:nvSpPr>
          <p:spPr>
            <a:xfrm>
              <a:off x="4608368" y="3983425"/>
              <a:ext cx="455041" cy="622580"/>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dk1"/>
                </a:buClr>
                <a:buSzPts val="3600"/>
                <a:buFont typeface="Avenir"/>
                <a:buNone/>
              </a:pPr>
              <a:endParaRPr sz="3600" b="0" i="0" u="none" strike="noStrike" cap="none">
                <a:solidFill>
                  <a:schemeClr val="dk1"/>
                </a:solidFill>
                <a:latin typeface="Avenir"/>
                <a:ea typeface="Avenir"/>
                <a:cs typeface="Avenir"/>
                <a:sym typeface="Aveni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0"/>
        <p:cNvGrpSpPr/>
        <p:nvPr/>
      </p:nvGrpSpPr>
      <p:grpSpPr>
        <a:xfrm>
          <a:off x="0" y="0"/>
          <a:ext cx="0" cy="0"/>
          <a:chOff x="0" y="0"/>
          <a:chExt cx="0" cy="0"/>
        </a:xfrm>
      </p:grpSpPr>
      <p:sp>
        <p:nvSpPr>
          <p:cNvPr id="191" name="Google Shape;191;p7"/>
          <p:cNvSpPr/>
          <p:nvPr/>
        </p:nvSpPr>
        <p:spPr>
          <a:xfrm>
            <a:off x="0" y="0"/>
            <a:ext cx="1219200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92" name="Google Shape;192;p7"/>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pic>
        <p:nvPicPr>
          <p:cNvPr id="193" name="Google Shape;193;p7"/>
          <p:cNvPicPr preferRelativeResize="0"/>
          <p:nvPr/>
        </p:nvPicPr>
        <p:blipFill rotWithShape="1">
          <a:blip r:embed="rId3">
            <a:alphaModFix/>
          </a:blip>
          <a:srcRect t="37018" r="40625"/>
          <a:stretch/>
        </p:blipFill>
        <p:spPr>
          <a:xfrm>
            <a:off x="10744200" y="0"/>
            <a:ext cx="1447800" cy="1535750"/>
          </a:xfrm>
          <a:prstGeom prst="rect">
            <a:avLst/>
          </a:prstGeom>
          <a:noFill/>
          <a:ln>
            <a:noFill/>
          </a:ln>
        </p:spPr>
      </p:pic>
      <p:sp>
        <p:nvSpPr>
          <p:cNvPr id="194" name="Google Shape;194;p7"/>
          <p:cNvSpPr txBox="1">
            <a:spLocks noGrp="1"/>
          </p:cNvSpPr>
          <p:nvPr>
            <p:ph type="title"/>
          </p:nvPr>
        </p:nvSpPr>
        <p:spPr>
          <a:xfrm>
            <a:off x="838201" y="559813"/>
            <a:ext cx="10348146" cy="1283471"/>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2"/>
              </a:buClr>
              <a:buSzPts val="4400"/>
              <a:buFont typeface="Arial"/>
              <a:buNone/>
            </a:pPr>
            <a:r>
              <a:rPr lang="en-US" b="1">
                <a:solidFill>
                  <a:schemeClr val="dk2"/>
                </a:solidFill>
                <a:latin typeface="Arial"/>
                <a:ea typeface="Arial"/>
                <a:cs typeface="Arial"/>
                <a:sym typeface="Arial"/>
              </a:rPr>
              <a:t>History of Computing Cont..</a:t>
            </a:r>
            <a:endParaRPr>
              <a:solidFill>
                <a:schemeClr val="dk2"/>
              </a:solidFill>
            </a:endParaRPr>
          </a:p>
        </p:txBody>
      </p:sp>
      <p:pic>
        <p:nvPicPr>
          <p:cNvPr id="195" name="Google Shape;195;p7"/>
          <p:cNvPicPr preferRelativeResize="0"/>
          <p:nvPr/>
        </p:nvPicPr>
        <p:blipFill rotWithShape="1">
          <a:blip r:embed="rId4">
            <a:alphaModFix/>
          </a:blip>
          <a:srcRect r="67342"/>
          <a:stretch/>
        </p:blipFill>
        <p:spPr>
          <a:xfrm rot="10800000">
            <a:off x="-1" y="2719661"/>
            <a:ext cx="830249" cy="2548349"/>
          </a:xfrm>
          <a:prstGeom prst="rect">
            <a:avLst/>
          </a:prstGeom>
          <a:noFill/>
          <a:ln>
            <a:noFill/>
          </a:ln>
        </p:spPr>
      </p:pic>
      <p:sp>
        <p:nvSpPr>
          <p:cNvPr id="196" name="Google Shape;196;p7"/>
          <p:cNvSpPr txBox="1"/>
          <p:nvPr/>
        </p:nvSpPr>
        <p:spPr>
          <a:xfrm>
            <a:off x="952499" y="2409825"/>
            <a:ext cx="9401175" cy="3012201"/>
          </a:xfrm>
          <a:prstGeom prst="rect">
            <a:avLst/>
          </a:prstGeom>
          <a:noFill/>
          <a:ln>
            <a:noFill/>
          </a:ln>
        </p:spPr>
        <p:txBody>
          <a:bodyPr spcFirstLastPara="1" wrap="square" lIns="91425" tIns="45700" rIns="91425" bIns="45700" anchor="t" anchorCtr="0">
            <a:normAutofit/>
          </a:bodyPr>
          <a:lstStyle/>
          <a:p>
            <a:pPr marL="285750" marR="0" lvl="0" indent="-133350" algn="just" rtl="0">
              <a:lnSpc>
                <a:spcPct val="90000"/>
              </a:lnSpc>
              <a:spcBef>
                <a:spcPts val="0"/>
              </a:spcBef>
              <a:spcAft>
                <a:spcPts val="0"/>
              </a:spcAft>
              <a:buClr>
                <a:schemeClr val="lt1"/>
              </a:buClr>
              <a:buSzPts val="2400"/>
              <a:buFont typeface="Arial"/>
              <a:buNone/>
            </a:pPr>
            <a:endParaRPr sz="2400" b="0" i="0" u="none" strike="noStrike" cap="none">
              <a:solidFill>
                <a:schemeClr val="accent1"/>
              </a:solidFill>
              <a:latin typeface="Arial"/>
              <a:ea typeface="Arial"/>
              <a:cs typeface="Arial"/>
              <a:sym typeface="Arial"/>
            </a:endParaRPr>
          </a:p>
        </p:txBody>
      </p:sp>
      <p:grpSp>
        <p:nvGrpSpPr>
          <p:cNvPr id="197" name="Google Shape;197;p7"/>
          <p:cNvGrpSpPr/>
          <p:nvPr/>
        </p:nvGrpSpPr>
        <p:grpSpPr>
          <a:xfrm>
            <a:off x="1197268" y="1843284"/>
            <a:ext cx="10156530" cy="4333678"/>
            <a:chOff x="0" y="0"/>
            <a:chExt cx="10156530" cy="4333678"/>
          </a:xfrm>
        </p:grpSpPr>
        <p:sp>
          <p:nvSpPr>
            <p:cNvPr id="198" name="Google Shape;198;p7"/>
            <p:cNvSpPr/>
            <p:nvPr/>
          </p:nvSpPr>
          <p:spPr>
            <a:xfrm>
              <a:off x="0" y="0"/>
              <a:ext cx="8125224" cy="953409"/>
            </a:xfrm>
            <a:prstGeom prst="roundRect">
              <a:avLst>
                <a:gd name="adj" fmla="val 10000"/>
              </a:avLst>
            </a:prstGeom>
            <a:gradFill>
              <a:gsLst>
                <a:gs pos="0">
                  <a:srgbClr val="57BA82"/>
                </a:gs>
                <a:gs pos="50000">
                  <a:srgbClr val="32B571"/>
                </a:gs>
                <a:gs pos="100000">
                  <a:srgbClr val="27A56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7"/>
            <p:cNvSpPr txBox="1"/>
            <p:nvPr/>
          </p:nvSpPr>
          <p:spPr>
            <a:xfrm>
              <a:off x="27924" y="27924"/>
              <a:ext cx="7015859" cy="897561"/>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Avenir"/>
                <a:buNone/>
              </a:pPr>
              <a:r>
                <a:rPr lang="en-US" sz="2000" b="0" i="0" u="none" strike="noStrike" cap="none">
                  <a:solidFill>
                    <a:schemeClr val="lt1"/>
                  </a:solidFill>
                  <a:latin typeface="Avenir"/>
                  <a:ea typeface="Avenir"/>
                  <a:cs typeface="Avenir"/>
                  <a:sym typeface="Avenir"/>
                </a:rPr>
                <a:t>Batch Era: Execution of series of programs on a computer without manual intervention.</a:t>
              </a:r>
              <a:endParaRPr/>
            </a:p>
          </p:txBody>
        </p:sp>
        <p:sp>
          <p:nvSpPr>
            <p:cNvPr id="200" name="Google Shape;200;p7"/>
            <p:cNvSpPr/>
            <p:nvPr/>
          </p:nvSpPr>
          <p:spPr>
            <a:xfrm>
              <a:off x="680487" y="1126756"/>
              <a:ext cx="8125224" cy="953409"/>
            </a:xfrm>
            <a:prstGeom prst="roundRect">
              <a:avLst>
                <a:gd name="adj" fmla="val 10000"/>
              </a:avLst>
            </a:prstGeom>
            <a:gradFill>
              <a:gsLst>
                <a:gs pos="0">
                  <a:srgbClr val="59BA78"/>
                </a:gs>
                <a:gs pos="50000">
                  <a:srgbClr val="36B665"/>
                </a:gs>
                <a:gs pos="100000">
                  <a:srgbClr val="2AA656"/>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7"/>
            <p:cNvSpPr txBox="1"/>
            <p:nvPr/>
          </p:nvSpPr>
          <p:spPr>
            <a:xfrm>
              <a:off x="708411" y="1154680"/>
              <a:ext cx="6769173" cy="897561"/>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Avenir"/>
                <a:buNone/>
              </a:pPr>
              <a:r>
                <a:rPr lang="en-US" sz="2000" b="0" i="0" u="none" strike="noStrike" cap="none">
                  <a:solidFill>
                    <a:schemeClr val="lt1"/>
                  </a:solidFill>
                  <a:latin typeface="Avenir"/>
                  <a:ea typeface="Avenir"/>
                  <a:cs typeface="Avenir"/>
                  <a:sym typeface="Avenir"/>
                </a:rPr>
                <a:t>Time Sharing: Sharing of computing resource among many users by means of multiprogramming and multi-tasking.</a:t>
              </a:r>
              <a:endParaRPr/>
            </a:p>
          </p:txBody>
        </p:sp>
        <p:sp>
          <p:nvSpPr>
            <p:cNvPr id="202" name="Google Shape;202;p7"/>
            <p:cNvSpPr/>
            <p:nvPr/>
          </p:nvSpPr>
          <p:spPr>
            <a:xfrm>
              <a:off x="1350818" y="2253513"/>
              <a:ext cx="8125224" cy="953409"/>
            </a:xfrm>
            <a:prstGeom prst="roundRect">
              <a:avLst>
                <a:gd name="adj" fmla="val 10000"/>
              </a:avLst>
            </a:prstGeom>
            <a:gradFill>
              <a:gsLst>
                <a:gs pos="0">
                  <a:srgbClr val="5BBC6D"/>
                </a:gs>
                <a:gs pos="50000">
                  <a:srgbClr val="3AB756"/>
                </a:gs>
                <a:gs pos="100000">
                  <a:srgbClr val="2DA749"/>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7"/>
            <p:cNvSpPr txBox="1"/>
            <p:nvPr/>
          </p:nvSpPr>
          <p:spPr>
            <a:xfrm>
              <a:off x="1378742" y="2281437"/>
              <a:ext cx="6779329" cy="897561"/>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Avenir"/>
                <a:buNone/>
              </a:pPr>
              <a:r>
                <a:rPr lang="en-US" sz="2000" b="0" i="0" u="none" strike="noStrike" cap="none">
                  <a:solidFill>
                    <a:schemeClr val="lt1"/>
                  </a:solidFill>
                  <a:latin typeface="Avenir"/>
                  <a:ea typeface="Avenir"/>
                  <a:cs typeface="Avenir"/>
                  <a:sym typeface="Avenir"/>
                </a:rPr>
                <a:t>Desktop Era: A personal computer provides computing power to one user. </a:t>
              </a:r>
              <a:endParaRPr/>
            </a:p>
          </p:txBody>
        </p:sp>
        <p:sp>
          <p:nvSpPr>
            <p:cNvPr id="204" name="Google Shape;204;p7"/>
            <p:cNvSpPr/>
            <p:nvPr/>
          </p:nvSpPr>
          <p:spPr>
            <a:xfrm>
              <a:off x="2031306" y="3380269"/>
              <a:ext cx="8125224" cy="953409"/>
            </a:xfrm>
            <a:prstGeom prst="roundRect">
              <a:avLst>
                <a:gd name="adj" fmla="val 10000"/>
              </a:avLst>
            </a:prstGeom>
            <a:gradFill>
              <a:gsLst>
                <a:gs pos="0">
                  <a:srgbClr val="5EBD65"/>
                </a:gs>
                <a:gs pos="50000">
                  <a:srgbClr val="3EB949"/>
                </a:gs>
                <a:gs pos="100000">
                  <a:srgbClr val="32A83C"/>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7"/>
            <p:cNvSpPr txBox="1"/>
            <p:nvPr/>
          </p:nvSpPr>
          <p:spPr>
            <a:xfrm>
              <a:off x="2059230" y="3408193"/>
              <a:ext cx="6769173" cy="897561"/>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Avenir"/>
                <a:buNone/>
              </a:pPr>
              <a:r>
                <a:rPr lang="en-US" sz="2000" b="0" i="0" u="none" strike="noStrike" cap="none">
                  <a:solidFill>
                    <a:schemeClr val="lt1"/>
                  </a:solidFill>
                  <a:latin typeface="Avenir"/>
                  <a:ea typeface="Avenir"/>
                  <a:cs typeface="Avenir"/>
                  <a:sym typeface="Avenir"/>
                </a:rPr>
                <a:t>Network Era: Systems with shared memory and distributed memory.</a:t>
              </a:r>
              <a:endParaRPr/>
            </a:p>
          </p:txBody>
        </p:sp>
        <p:sp>
          <p:nvSpPr>
            <p:cNvPr id="206" name="Google Shape;206;p7"/>
            <p:cNvSpPr/>
            <p:nvPr/>
          </p:nvSpPr>
          <p:spPr>
            <a:xfrm>
              <a:off x="7505508" y="730224"/>
              <a:ext cx="619716" cy="619716"/>
            </a:xfrm>
            <a:prstGeom prst="downArrow">
              <a:avLst>
                <a:gd name="adj1" fmla="val 55000"/>
                <a:gd name="adj2" fmla="val 45000"/>
              </a:avLst>
            </a:prstGeom>
            <a:solidFill>
              <a:srgbClr val="CDE3D5">
                <a:alpha val="89803"/>
              </a:srgbClr>
            </a:solidFill>
            <a:ln w="9525" cap="flat" cmpd="sng">
              <a:solidFill>
                <a:srgbClr val="CDE3D5">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7"/>
            <p:cNvSpPr txBox="1"/>
            <p:nvPr/>
          </p:nvSpPr>
          <p:spPr>
            <a:xfrm>
              <a:off x="7644944" y="730224"/>
              <a:ext cx="340844" cy="466336"/>
            </a:xfrm>
            <a:prstGeom prst="rect">
              <a:avLst/>
            </a:prstGeom>
            <a:noFill/>
            <a:ln>
              <a:noFill/>
            </a:ln>
          </p:spPr>
          <p:txBody>
            <a:bodyPr spcFirstLastPara="1" wrap="square" lIns="35550" tIns="35550" rIns="35550" bIns="35550" anchor="ctr" anchorCtr="0">
              <a:noAutofit/>
            </a:bodyPr>
            <a:lstStyle/>
            <a:p>
              <a:pPr marL="0" marR="0" lvl="0" indent="0" algn="ctr" rtl="0">
                <a:lnSpc>
                  <a:spcPct val="90000"/>
                </a:lnSpc>
                <a:spcBef>
                  <a:spcPts val="0"/>
                </a:spcBef>
                <a:spcAft>
                  <a:spcPts val="0"/>
                </a:spcAft>
                <a:buClr>
                  <a:schemeClr val="dk1"/>
                </a:buClr>
                <a:buSzPts val="2800"/>
                <a:buFont typeface="Avenir"/>
                <a:buNone/>
              </a:pPr>
              <a:endParaRPr sz="2800" b="0" i="0" u="none" strike="noStrike" cap="none">
                <a:solidFill>
                  <a:schemeClr val="dk1"/>
                </a:solidFill>
                <a:latin typeface="Avenir"/>
                <a:ea typeface="Avenir"/>
                <a:cs typeface="Avenir"/>
                <a:sym typeface="Avenir"/>
              </a:endParaRPr>
            </a:p>
          </p:txBody>
        </p:sp>
        <p:sp>
          <p:nvSpPr>
            <p:cNvPr id="208" name="Google Shape;208;p7"/>
            <p:cNvSpPr/>
            <p:nvPr/>
          </p:nvSpPr>
          <p:spPr>
            <a:xfrm>
              <a:off x="8185996" y="1856981"/>
              <a:ext cx="619716" cy="619716"/>
            </a:xfrm>
            <a:prstGeom prst="downArrow">
              <a:avLst>
                <a:gd name="adj1" fmla="val 55000"/>
                <a:gd name="adj2" fmla="val 45000"/>
              </a:avLst>
            </a:prstGeom>
            <a:solidFill>
              <a:srgbClr val="CCE3D0">
                <a:alpha val="89803"/>
              </a:srgbClr>
            </a:solidFill>
            <a:ln w="9525" cap="flat" cmpd="sng">
              <a:solidFill>
                <a:srgbClr val="CCE3D0">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7"/>
            <p:cNvSpPr txBox="1"/>
            <p:nvPr/>
          </p:nvSpPr>
          <p:spPr>
            <a:xfrm>
              <a:off x="8325432" y="1856981"/>
              <a:ext cx="340844" cy="466336"/>
            </a:xfrm>
            <a:prstGeom prst="rect">
              <a:avLst/>
            </a:prstGeom>
            <a:noFill/>
            <a:ln>
              <a:noFill/>
            </a:ln>
          </p:spPr>
          <p:txBody>
            <a:bodyPr spcFirstLastPara="1" wrap="square" lIns="35550" tIns="35550" rIns="35550" bIns="35550" anchor="ctr" anchorCtr="0">
              <a:noAutofit/>
            </a:bodyPr>
            <a:lstStyle/>
            <a:p>
              <a:pPr marL="0" marR="0" lvl="0" indent="0" algn="ctr" rtl="0">
                <a:lnSpc>
                  <a:spcPct val="90000"/>
                </a:lnSpc>
                <a:spcBef>
                  <a:spcPts val="0"/>
                </a:spcBef>
                <a:spcAft>
                  <a:spcPts val="0"/>
                </a:spcAft>
                <a:buClr>
                  <a:schemeClr val="dk1"/>
                </a:buClr>
                <a:buSzPts val="2800"/>
                <a:buFont typeface="Avenir"/>
                <a:buNone/>
              </a:pPr>
              <a:endParaRPr sz="2800" b="0" i="0" u="none" strike="noStrike" cap="none">
                <a:solidFill>
                  <a:schemeClr val="dk1"/>
                </a:solidFill>
                <a:latin typeface="Avenir"/>
                <a:ea typeface="Avenir"/>
                <a:cs typeface="Avenir"/>
                <a:sym typeface="Avenir"/>
              </a:endParaRPr>
            </a:p>
          </p:txBody>
        </p:sp>
        <p:sp>
          <p:nvSpPr>
            <p:cNvPr id="210" name="Google Shape;210;p7"/>
            <p:cNvSpPr/>
            <p:nvPr/>
          </p:nvSpPr>
          <p:spPr>
            <a:xfrm>
              <a:off x="8856327" y="2983737"/>
              <a:ext cx="619716" cy="619716"/>
            </a:xfrm>
            <a:prstGeom prst="downArrow">
              <a:avLst>
                <a:gd name="adj1" fmla="val 55000"/>
                <a:gd name="adj2" fmla="val 45000"/>
              </a:avLst>
            </a:prstGeom>
            <a:solidFill>
              <a:srgbClr val="CDE3CD">
                <a:alpha val="89803"/>
              </a:srgbClr>
            </a:solidFill>
            <a:ln w="9525" cap="flat" cmpd="sng">
              <a:solidFill>
                <a:srgbClr val="CDE3CD">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7"/>
            <p:cNvSpPr txBox="1"/>
            <p:nvPr/>
          </p:nvSpPr>
          <p:spPr>
            <a:xfrm>
              <a:off x="8995763" y="2983737"/>
              <a:ext cx="340844" cy="466336"/>
            </a:xfrm>
            <a:prstGeom prst="rect">
              <a:avLst/>
            </a:prstGeom>
            <a:noFill/>
            <a:ln>
              <a:noFill/>
            </a:ln>
          </p:spPr>
          <p:txBody>
            <a:bodyPr spcFirstLastPara="1" wrap="square" lIns="35550" tIns="35550" rIns="35550" bIns="35550" anchor="ctr" anchorCtr="0">
              <a:noAutofit/>
            </a:bodyPr>
            <a:lstStyle/>
            <a:p>
              <a:pPr marL="0" marR="0" lvl="0" indent="0" algn="ctr" rtl="0">
                <a:lnSpc>
                  <a:spcPct val="90000"/>
                </a:lnSpc>
                <a:spcBef>
                  <a:spcPts val="0"/>
                </a:spcBef>
                <a:spcAft>
                  <a:spcPts val="0"/>
                </a:spcAft>
                <a:buClr>
                  <a:schemeClr val="dk1"/>
                </a:buClr>
                <a:buSzPts val="2800"/>
                <a:buFont typeface="Avenir"/>
                <a:buNone/>
              </a:pPr>
              <a:endParaRPr sz="2800" b="0" i="0" u="none" strike="noStrike" cap="none">
                <a:solidFill>
                  <a:schemeClr val="dk1"/>
                </a:solidFill>
                <a:latin typeface="Avenir"/>
                <a:ea typeface="Avenir"/>
                <a:cs typeface="Avenir"/>
                <a:sym typeface="Aveni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5"/>
        <p:cNvGrpSpPr/>
        <p:nvPr/>
      </p:nvGrpSpPr>
      <p:grpSpPr>
        <a:xfrm>
          <a:off x="0" y="0"/>
          <a:ext cx="0" cy="0"/>
          <a:chOff x="0" y="0"/>
          <a:chExt cx="0" cy="0"/>
        </a:xfrm>
      </p:grpSpPr>
      <p:sp>
        <p:nvSpPr>
          <p:cNvPr id="216" name="Google Shape;216;p8"/>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pic>
        <p:nvPicPr>
          <p:cNvPr id="217" name="Google Shape;217;p8"/>
          <p:cNvPicPr preferRelativeResize="0"/>
          <p:nvPr/>
        </p:nvPicPr>
        <p:blipFill rotWithShape="1">
          <a:blip r:embed="rId3">
            <a:alphaModFix amt="35000"/>
          </a:blip>
          <a:srcRect/>
          <a:stretch/>
        </p:blipFill>
        <p:spPr>
          <a:xfrm>
            <a:off x="0" y="1"/>
            <a:ext cx="12192000" cy="1392401"/>
          </a:xfrm>
          <a:prstGeom prst="rect">
            <a:avLst/>
          </a:prstGeom>
          <a:noFill/>
          <a:ln>
            <a:noFill/>
          </a:ln>
        </p:spPr>
      </p:pic>
      <p:sp>
        <p:nvSpPr>
          <p:cNvPr id="218" name="Google Shape;218;p8"/>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219" name="Google Shape;219;p8"/>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pic>
        <p:nvPicPr>
          <p:cNvPr id="220" name="Google Shape;220;p8"/>
          <p:cNvPicPr preferRelativeResize="0"/>
          <p:nvPr/>
        </p:nvPicPr>
        <p:blipFill rotWithShape="1">
          <a:blip r:embed="rId4">
            <a:alphaModFix/>
          </a:blip>
          <a:srcRect l="9052" r="15486" b="-2"/>
          <a:stretch/>
        </p:blipFill>
        <p:spPr>
          <a:xfrm>
            <a:off x="3048" y="10"/>
            <a:ext cx="6195372" cy="4618233"/>
          </a:xfrm>
          <a:prstGeom prst="rect">
            <a:avLst/>
          </a:prstGeom>
          <a:noFill/>
          <a:ln>
            <a:noFill/>
          </a:ln>
        </p:spPr>
      </p:pic>
      <p:sp>
        <p:nvSpPr>
          <p:cNvPr id="221" name="Google Shape;221;p8"/>
          <p:cNvSpPr/>
          <p:nvPr/>
        </p:nvSpPr>
        <p:spPr>
          <a:xfrm>
            <a:off x="0" y="4602877"/>
            <a:ext cx="12192000" cy="2267339"/>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222" name="Google Shape;222;p8"/>
          <p:cNvSpPr/>
          <p:nvPr/>
        </p:nvSpPr>
        <p:spPr>
          <a:xfrm rot="10800000">
            <a:off x="-3055" y="4596020"/>
            <a:ext cx="12191999" cy="2274195"/>
          </a:xfrm>
          <a:prstGeom prst="rect">
            <a:avLst/>
          </a:prstGeom>
          <a:blipFill rotWithShape="1">
            <a:blip r:embed="rId5">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223" name="Google Shape;223;p8"/>
          <p:cNvSpPr txBox="1">
            <a:spLocks noGrp="1"/>
          </p:cNvSpPr>
          <p:nvPr>
            <p:ph type="ctrTitle"/>
          </p:nvPr>
        </p:nvSpPr>
        <p:spPr>
          <a:xfrm>
            <a:off x="838200" y="4876800"/>
            <a:ext cx="10003218" cy="121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100"/>
              <a:buFont typeface="Avenir"/>
              <a:buNone/>
            </a:pPr>
            <a:r>
              <a:rPr lang="en-US" sz="4100"/>
              <a:t>CS621 Parallel and Distributed Computing</a:t>
            </a:r>
            <a:endParaRPr sz="4100"/>
          </a:p>
        </p:txBody>
      </p:sp>
      <p:sp>
        <p:nvSpPr>
          <p:cNvPr id="224" name="Google Shape;224;p8"/>
          <p:cNvSpPr txBox="1">
            <a:spLocks noGrp="1"/>
          </p:cNvSpPr>
          <p:nvPr>
            <p:ph type="subTitle" idx="1"/>
          </p:nvPr>
        </p:nvSpPr>
        <p:spPr>
          <a:xfrm>
            <a:off x="6553200" y="369204"/>
            <a:ext cx="4800600" cy="3935986"/>
          </a:xfrm>
          <a:prstGeom prst="rect">
            <a:avLst/>
          </a:prstGeom>
          <a:noFill/>
          <a:ln>
            <a:noFill/>
          </a:ln>
        </p:spPr>
        <p:txBody>
          <a:bodyPr spcFirstLastPara="1" wrap="square" lIns="91425" tIns="45700" rIns="91425" bIns="45700" anchor="ctr" anchorCtr="0">
            <a:normAutofit/>
          </a:bodyPr>
          <a:lstStyle/>
          <a:p>
            <a:pPr marL="0" lvl="0" indent="0" algn="ctr" rtl="0">
              <a:lnSpc>
                <a:spcPct val="110000"/>
              </a:lnSpc>
              <a:spcBef>
                <a:spcPts val="0"/>
              </a:spcBef>
              <a:spcAft>
                <a:spcPts val="0"/>
              </a:spcAft>
              <a:buSzPts val="2800"/>
              <a:buNone/>
            </a:pPr>
            <a:r>
              <a:rPr lang="en-US" sz="2800" b="1">
                <a:solidFill>
                  <a:schemeClr val="dk2"/>
                </a:solidFill>
                <a:latin typeface="Arial"/>
                <a:ea typeface="Arial"/>
                <a:cs typeface="Arial"/>
                <a:sym typeface="Arial"/>
              </a:rPr>
              <a:t>Serial Vs. Parallel Computing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8"/>
        <p:cNvGrpSpPr/>
        <p:nvPr/>
      </p:nvGrpSpPr>
      <p:grpSpPr>
        <a:xfrm>
          <a:off x="0" y="0"/>
          <a:ext cx="0" cy="0"/>
          <a:chOff x="0" y="0"/>
          <a:chExt cx="0" cy="0"/>
        </a:xfrm>
      </p:grpSpPr>
      <p:sp>
        <p:nvSpPr>
          <p:cNvPr id="229" name="Google Shape;229;p9"/>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230" name="Google Shape;230;p9"/>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231" name="Google Shape;231;p9"/>
          <p:cNvSpPr/>
          <p:nvPr/>
        </p:nvSpPr>
        <p:spPr>
          <a:xfrm>
            <a:off x="0" y="0"/>
            <a:ext cx="4572000" cy="6858000"/>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232" name="Google Shape;232;p9"/>
          <p:cNvSpPr/>
          <p:nvPr/>
        </p:nvSpPr>
        <p:spPr>
          <a:xfrm>
            <a:off x="0" y="0"/>
            <a:ext cx="4572000" cy="6858000"/>
          </a:xfrm>
          <a:prstGeom prst="rect">
            <a:avLst/>
          </a:prstGeom>
          <a:blipFill rotWithShape="1">
            <a:blip r:embed="rId3">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233" name="Google Shape;233;p9"/>
          <p:cNvSpPr txBox="1">
            <a:spLocks noGrp="1"/>
          </p:cNvSpPr>
          <p:nvPr>
            <p:ph type="title"/>
          </p:nvPr>
        </p:nvSpPr>
        <p:spPr>
          <a:xfrm>
            <a:off x="838201" y="559813"/>
            <a:ext cx="2819399" cy="557793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700"/>
              <a:buFont typeface="Avenir"/>
              <a:buNone/>
            </a:pPr>
            <a:r>
              <a:rPr lang="en-US" sz="3700"/>
              <a:t>Objectives</a:t>
            </a:r>
            <a:endParaRPr sz="3700"/>
          </a:p>
        </p:txBody>
      </p:sp>
      <p:grpSp>
        <p:nvGrpSpPr>
          <p:cNvPr id="234" name="Google Shape;234;p9"/>
          <p:cNvGrpSpPr/>
          <p:nvPr/>
        </p:nvGrpSpPr>
        <p:grpSpPr>
          <a:xfrm>
            <a:off x="4807223" y="457913"/>
            <a:ext cx="7003777" cy="5842177"/>
            <a:chOff x="0" y="713"/>
            <a:chExt cx="7003777" cy="5842177"/>
          </a:xfrm>
        </p:grpSpPr>
        <p:sp>
          <p:nvSpPr>
            <p:cNvPr id="235" name="Google Shape;235;p9"/>
            <p:cNvSpPr/>
            <p:nvPr/>
          </p:nvSpPr>
          <p:spPr>
            <a:xfrm>
              <a:off x="0" y="713"/>
              <a:ext cx="7003777" cy="166919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9"/>
            <p:cNvSpPr/>
            <p:nvPr/>
          </p:nvSpPr>
          <p:spPr>
            <a:xfrm>
              <a:off x="504931" y="376281"/>
              <a:ext cx="918056" cy="918056"/>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9"/>
            <p:cNvSpPr/>
            <p:nvPr/>
          </p:nvSpPr>
          <p:spPr>
            <a:xfrm>
              <a:off x="1927918" y="713"/>
              <a:ext cx="5075858" cy="166919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9"/>
            <p:cNvSpPr txBox="1"/>
            <p:nvPr/>
          </p:nvSpPr>
          <p:spPr>
            <a:xfrm>
              <a:off x="1927918" y="713"/>
              <a:ext cx="5075858" cy="1669193"/>
            </a:xfrm>
            <a:prstGeom prst="rect">
              <a:avLst/>
            </a:prstGeom>
            <a:noFill/>
            <a:ln>
              <a:noFill/>
            </a:ln>
          </p:spPr>
          <p:txBody>
            <a:bodyPr spcFirstLastPara="1" wrap="square" lIns="176650" tIns="176650" rIns="176650" bIns="176650" anchor="ctr" anchorCtr="0">
              <a:noAutofit/>
            </a:bodyPr>
            <a:lstStyle/>
            <a:p>
              <a:pPr marL="0" marR="0" lvl="0" indent="0" algn="l" rtl="0">
                <a:lnSpc>
                  <a:spcPct val="100000"/>
                </a:lnSpc>
                <a:spcBef>
                  <a:spcPts val="0"/>
                </a:spcBef>
                <a:spcAft>
                  <a:spcPts val="0"/>
                </a:spcAft>
                <a:buClr>
                  <a:schemeClr val="dk1"/>
                </a:buClr>
                <a:buSzPts val="2500"/>
                <a:buFont typeface="Arial"/>
                <a:buNone/>
              </a:pPr>
              <a:r>
                <a:rPr lang="en-US" sz="2500" b="0" i="0" u="none" strike="noStrike" cap="none">
                  <a:solidFill>
                    <a:schemeClr val="dk1"/>
                  </a:solidFill>
                  <a:latin typeface="Arial"/>
                  <a:ea typeface="Arial"/>
                  <a:cs typeface="Arial"/>
                  <a:sym typeface="Arial"/>
                </a:rPr>
                <a:t>Serial Computing.</a:t>
              </a:r>
              <a:endParaRPr sz="2500" b="0" i="0" u="none" strike="noStrike" cap="none">
                <a:solidFill>
                  <a:schemeClr val="dk1"/>
                </a:solidFill>
                <a:latin typeface="Avenir"/>
                <a:ea typeface="Avenir"/>
                <a:cs typeface="Avenir"/>
                <a:sym typeface="Avenir"/>
              </a:endParaRPr>
            </a:p>
          </p:txBody>
        </p:sp>
        <p:sp>
          <p:nvSpPr>
            <p:cNvPr id="239" name="Google Shape;239;p9"/>
            <p:cNvSpPr/>
            <p:nvPr/>
          </p:nvSpPr>
          <p:spPr>
            <a:xfrm>
              <a:off x="0" y="2087205"/>
              <a:ext cx="7003777" cy="166919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9"/>
            <p:cNvSpPr/>
            <p:nvPr/>
          </p:nvSpPr>
          <p:spPr>
            <a:xfrm>
              <a:off x="504931" y="2462774"/>
              <a:ext cx="918056" cy="918056"/>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9"/>
            <p:cNvSpPr/>
            <p:nvPr/>
          </p:nvSpPr>
          <p:spPr>
            <a:xfrm>
              <a:off x="1927918" y="2087205"/>
              <a:ext cx="5075858" cy="166919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9"/>
            <p:cNvSpPr txBox="1"/>
            <p:nvPr/>
          </p:nvSpPr>
          <p:spPr>
            <a:xfrm>
              <a:off x="1927918" y="2087205"/>
              <a:ext cx="5075858" cy="1669193"/>
            </a:xfrm>
            <a:prstGeom prst="rect">
              <a:avLst/>
            </a:prstGeom>
            <a:noFill/>
            <a:ln>
              <a:noFill/>
            </a:ln>
          </p:spPr>
          <p:txBody>
            <a:bodyPr spcFirstLastPara="1" wrap="square" lIns="176650" tIns="176650" rIns="176650" bIns="176650" anchor="ctr" anchorCtr="0">
              <a:noAutofit/>
            </a:bodyPr>
            <a:lstStyle/>
            <a:p>
              <a:pPr marL="0" marR="0" lvl="0" indent="0" algn="l" rtl="0">
                <a:lnSpc>
                  <a:spcPct val="100000"/>
                </a:lnSpc>
                <a:spcBef>
                  <a:spcPts val="0"/>
                </a:spcBef>
                <a:spcAft>
                  <a:spcPts val="0"/>
                </a:spcAft>
                <a:buClr>
                  <a:schemeClr val="dk1"/>
                </a:buClr>
                <a:buSzPts val="2500"/>
                <a:buFont typeface="Arial"/>
                <a:buNone/>
              </a:pPr>
              <a:r>
                <a:rPr lang="en-US" sz="2500" b="0" i="0" u="none" strike="noStrike" cap="none">
                  <a:solidFill>
                    <a:schemeClr val="dk1"/>
                  </a:solidFill>
                  <a:latin typeface="Arial"/>
                  <a:ea typeface="Arial"/>
                  <a:cs typeface="Arial"/>
                  <a:sym typeface="Arial"/>
                </a:rPr>
                <a:t>Parallel Computing.</a:t>
              </a:r>
              <a:endParaRPr sz="2500" b="0" i="0" u="none" strike="noStrike" cap="none">
                <a:solidFill>
                  <a:schemeClr val="dk1"/>
                </a:solidFill>
                <a:latin typeface="Avenir"/>
                <a:ea typeface="Avenir"/>
                <a:cs typeface="Avenir"/>
                <a:sym typeface="Avenir"/>
              </a:endParaRPr>
            </a:p>
          </p:txBody>
        </p:sp>
        <p:sp>
          <p:nvSpPr>
            <p:cNvPr id="243" name="Google Shape;243;p9"/>
            <p:cNvSpPr/>
            <p:nvPr/>
          </p:nvSpPr>
          <p:spPr>
            <a:xfrm>
              <a:off x="0" y="4173697"/>
              <a:ext cx="7003777" cy="166919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9"/>
            <p:cNvSpPr/>
            <p:nvPr/>
          </p:nvSpPr>
          <p:spPr>
            <a:xfrm>
              <a:off x="504931" y="4549266"/>
              <a:ext cx="918056" cy="918056"/>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9"/>
            <p:cNvSpPr/>
            <p:nvPr/>
          </p:nvSpPr>
          <p:spPr>
            <a:xfrm>
              <a:off x="1927918" y="4173697"/>
              <a:ext cx="5075858" cy="166919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9"/>
            <p:cNvSpPr txBox="1"/>
            <p:nvPr/>
          </p:nvSpPr>
          <p:spPr>
            <a:xfrm>
              <a:off x="1927918" y="4173697"/>
              <a:ext cx="5075858" cy="1669193"/>
            </a:xfrm>
            <a:prstGeom prst="rect">
              <a:avLst/>
            </a:prstGeom>
            <a:noFill/>
            <a:ln>
              <a:noFill/>
            </a:ln>
          </p:spPr>
          <p:txBody>
            <a:bodyPr spcFirstLastPara="1" wrap="square" lIns="176650" tIns="176650" rIns="176650" bIns="176650" anchor="ctr" anchorCtr="0">
              <a:noAutofit/>
            </a:bodyPr>
            <a:lstStyle/>
            <a:p>
              <a:pPr marL="0" marR="0" lvl="0" indent="0" algn="l" rtl="0">
                <a:lnSpc>
                  <a:spcPct val="100000"/>
                </a:lnSpc>
                <a:spcBef>
                  <a:spcPts val="0"/>
                </a:spcBef>
                <a:spcAft>
                  <a:spcPts val="0"/>
                </a:spcAft>
                <a:buClr>
                  <a:schemeClr val="dk1"/>
                </a:buClr>
                <a:buSzPts val="2500"/>
                <a:buFont typeface="Arial"/>
                <a:buNone/>
              </a:pPr>
              <a:r>
                <a:rPr lang="en-US" sz="2500" b="0" i="0" u="none" strike="noStrike" cap="none">
                  <a:solidFill>
                    <a:schemeClr val="dk1"/>
                  </a:solidFill>
                  <a:latin typeface="Arial"/>
                  <a:ea typeface="Arial"/>
                  <a:cs typeface="Arial"/>
                  <a:sym typeface="Arial"/>
                </a:rPr>
                <a:t>Difference between serial and parallel computing</a:t>
              </a:r>
              <a:endParaRPr sz="2500" b="0" i="0" u="none" strike="noStrike" cap="none">
                <a:solidFill>
                  <a:schemeClr val="dk1"/>
                </a:solidFill>
                <a:latin typeface="Avenir"/>
                <a:ea typeface="Avenir"/>
                <a:cs typeface="Avenir"/>
                <a:sym typeface="Aveni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1"/>
        <p:cNvGrpSpPr/>
        <p:nvPr/>
      </p:nvGrpSpPr>
      <p:grpSpPr>
        <a:xfrm>
          <a:off x="0" y="0"/>
          <a:ext cx="0" cy="0"/>
          <a:chOff x="0" y="0"/>
          <a:chExt cx="0" cy="0"/>
        </a:xfrm>
      </p:grpSpPr>
      <p:sp>
        <p:nvSpPr>
          <p:cNvPr id="252" name="Google Shape;252;p10"/>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253" name="Google Shape;253;p10"/>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254" name="Google Shape;254;p10"/>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255" name="Google Shape;255;p10"/>
          <p:cNvSpPr/>
          <p:nvPr/>
        </p:nvSpPr>
        <p:spPr>
          <a:xfrm>
            <a:off x="1524" y="0"/>
            <a:ext cx="12188952" cy="2225674"/>
          </a:xfrm>
          <a:prstGeom prst="rect">
            <a:avLst/>
          </a:prstGeom>
          <a:blipFill rotWithShape="1">
            <a:blip r:embed="rId3">
              <a:alphaModFix amt="24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256" name="Google Shape;256;p10"/>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rial"/>
              <a:buNone/>
            </a:pPr>
            <a:r>
              <a:rPr lang="en-US" b="1">
                <a:latin typeface="Arial"/>
                <a:ea typeface="Arial"/>
                <a:cs typeface="Arial"/>
                <a:sym typeface="Arial"/>
              </a:rPr>
              <a:t>Serial Computing </a:t>
            </a:r>
            <a:br>
              <a:rPr lang="en-US" b="1">
                <a:latin typeface="Arial"/>
                <a:ea typeface="Arial"/>
                <a:cs typeface="Arial"/>
                <a:sym typeface="Arial"/>
              </a:rPr>
            </a:br>
            <a:endParaRPr/>
          </a:p>
        </p:txBody>
      </p:sp>
      <p:sp>
        <p:nvSpPr>
          <p:cNvPr id="257" name="Google Shape;257;p10"/>
          <p:cNvSpPr txBox="1">
            <a:spLocks noGrp="1"/>
          </p:cNvSpPr>
          <p:nvPr>
            <p:ph type="body" idx="1"/>
          </p:nvPr>
        </p:nvSpPr>
        <p:spPr>
          <a:xfrm>
            <a:off x="1185756" y="3028950"/>
            <a:ext cx="8796444" cy="3269235"/>
          </a:xfrm>
          <a:prstGeom prst="rect">
            <a:avLst/>
          </a:prstGeom>
          <a:noFill/>
          <a:ln>
            <a:noFill/>
          </a:ln>
        </p:spPr>
        <p:txBody>
          <a:bodyPr spcFirstLastPara="1" wrap="square" lIns="91425" tIns="45700" rIns="91425" bIns="45700" anchor="t" anchorCtr="0">
            <a:normAutofit/>
          </a:bodyPr>
          <a:lstStyle/>
          <a:p>
            <a:pPr marL="0" lvl="0" indent="0" algn="ctr" rtl="0">
              <a:lnSpc>
                <a:spcPct val="110000"/>
              </a:lnSpc>
              <a:spcBef>
                <a:spcPts val="0"/>
              </a:spcBef>
              <a:spcAft>
                <a:spcPts val="0"/>
              </a:spcAft>
              <a:buSzPts val="2800"/>
              <a:buNone/>
            </a:pPr>
            <a:r>
              <a:rPr lang="en-US" b="0" i="0">
                <a:solidFill>
                  <a:schemeClr val="dk1"/>
                </a:solidFill>
                <a:latin typeface="Arial"/>
                <a:ea typeface="Arial"/>
                <a:cs typeface="Arial"/>
                <a:sym typeface="Arial"/>
              </a:rPr>
              <a:t>“Serial computing is a type of processing in which </a:t>
            </a:r>
            <a:r>
              <a:rPr lang="en-US" b="0" i="0" u="sng">
                <a:solidFill>
                  <a:srgbClr val="C00000"/>
                </a:solidFill>
                <a:latin typeface="Arial"/>
                <a:ea typeface="Arial"/>
                <a:cs typeface="Arial"/>
                <a:sym typeface="Arial"/>
              </a:rPr>
              <a:t>one task is completed at a time </a:t>
            </a:r>
            <a:r>
              <a:rPr lang="en-US" b="0" i="0">
                <a:solidFill>
                  <a:schemeClr val="dk1"/>
                </a:solidFill>
                <a:latin typeface="Arial"/>
                <a:ea typeface="Arial"/>
                <a:cs typeface="Arial"/>
                <a:sym typeface="Arial"/>
              </a:rPr>
              <a:t>and all the tasks are executed by the processor in a </a:t>
            </a:r>
            <a:r>
              <a:rPr lang="en-US" b="0" i="0">
                <a:solidFill>
                  <a:srgbClr val="0A25F0"/>
                </a:solidFill>
                <a:latin typeface="Arial"/>
                <a:ea typeface="Arial"/>
                <a:cs typeface="Arial"/>
                <a:sym typeface="Arial"/>
              </a:rPr>
              <a:t>sequence</a:t>
            </a:r>
            <a:r>
              <a:rPr lang="en-US" b="0" i="0">
                <a:solidFill>
                  <a:schemeClr val="dk1"/>
                </a:solidFill>
                <a:latin typeface="Arial"/>
                <a:ea typeface="Arial"/>
                <a:cs typeface="Arial"/>
                <a:sym typeface="Arial"/>
              </a:rPr>
              <a:t>.”</a:t>
            </a:r>
            <a:endParaRPr>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2"/>
        <p:cNvGrpSpPr/>
        <p:nvPr/>
      </p:nvGrpSpPr>
      <p:grpSpPr>
        <a:xfrm>
          <a:off x="0" y="0"/>
          <a:ext cx="0" cy="0"/>
          <a:chOff x="0" y="0"/>
          <a:chExt cx="0" cy="0"/>
        </a:xfrm>
      </p:grpSpPr>
      <p:sp>
        <p:nvSpPr>
          <p:cNvPr id="263" name="Google Shape;263;p11"/>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264" name="Google Shape;264;p11"/>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265" name="Google Shape;265;p11"/>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266" name="Google Shape;266;p11"/>
          <p:cNvSpPr/>
          <p:nvPr/>
        </p:nvSpPr>
        <p:spPr>
          <a:xfrm>
            <a:off x="1524" y="0"/>
            <a:ext cx="12188952" cy="2225674"/>
          </a:xfrm>
          <a:prstGeom prst="rect">
            <a:avLst/>
          </a:prstGeom>
          <a:blipFill rotWithShape="1">
            <a:blip r:embed="rId3">
              <a:alphaModFix amt="24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267" name="Google Shape;267;p11"/>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rial"/>
              <a:buNone/>
            </a:pPr>
            <a:r>
              <a:rPr lang="en-US" b="1">
                <a:latin typeface="Arial"/>
                <a:ea typeface="Arial"/>
                <a:cs typeface="Arial"/>
                <a:sym typeface="Arial"/>
              </a:rPr>
              <a:t>Parallel Computing </a:t>
            </a:r>
            <a:br>
              <a:rPr lang="en-US" b="1">
                <a:latin typeface="Arial"/>
                <a:ea typeface="Arial"/>
                <a:cs typeface="Arial"/>
                <a:sym typeface="Arial"/>
              </a:rPr>
            </a:br>
            <a:endParaRPr/>
          </a:p>
        </p:txBody>
      </p:sp>
      <p:sp>
        <p:nvSpPr>
          <p:cNvPr id="268" name="Google Shape;268;p11"/>
          <p:cNvSpPr txBox="1">
            <a:spLocks noGrp="1"/>
          </p:cNvSpPr>
          <p:nvPr>
            <p:ph type="body" idx="1"/>
          </p:nvPr>
        </p:nvSpPr>
        <p:spPr>
          <a:xfrm>
            <a:off x="1185756" y="3041151"/>
            <a:ext cx="8796444" cy="3257034"/>
          </a:xfrm>
          <a:prstGeom prst="rect">
            <a:avLst/>
          </a:prstGeom>
          <a:noFill/>
          <a:ln>
            <a:noFill/>
          </a:ln>
        </p:spPr>
        <p:txBody>
          <a:bodyPr spcFirstLastPara="1" wrap="square" lIns="91425" tIns="45700" rIns="91425" bIns="45700" anchor="t" anchorCtr="0">
            <a:normAutofit/>
          </a:bodyPr>
          <a:lstStyle/>
          <a:p>
            <a:pPr marL="0" lvl="0" indent="0" algn="ctr" rtl="0">
              <a:lnSpc>
                <a:spcPct val="110000"/>
              </a:lnSpc>
              <a:spcBef>
                <a:spcPts val="0"/>
              </a:spcBef>
              <a:spcAft>
                <a:spcPts val="0"/>
              </a:spcAft>
              <a:buSzPts val="2800"/>
              <a:buNone/>
            </a:pPr>
            <a:r>
              <a:rPr lang="en-US" b="0" i="0">
                <a:solidFill>
                  <a:schemeClr val="dk1"/>
                </a:solidFill>
                <a:latin typeface="Arial"/>
                <a:ea typeface="Arial"/>
                <a:cs typeface="Arial"/>
                <a:sym typeface="Arial"/>
              </a:rPr>
              <a:t>“</a:t>
            </a:r>
            <a:r>
              <a:rPr lang="en-US" b="0" i="0">
                <a:solidFill>
                  <a:srgbClr val="212529"/>
                </a:solidFill>
                <a:latin typeface="Arial"/>
                <a:ea typeface="Arial"/>
                <a:cs typeface="Arial"/>
                <a:sym typeface="Arial"/>
              </a:rPr>
              <a:t>Parallel computing is a type of computing architecture in which </a:t>
            </a:r>
            <a:r>
              <a:rPr lang="en-US" b="0" i="0">
                <a:solidFill>
                  <a:srgbClr val="C00000"/>
                </a:solidFill>
                <a:latin typeface="Arial"/>
                <a:ea typeface="Arial"/>
                <a:cs typeface="Arial"/>
                <a:sym typeface="Arial"/>
              </a:rPr>
              <a:t>several processors simultaneously </a:t>
            </a:r>
            <a:r>
              <a:rPr lang="en-US" b="0" i="0">
                <a:solidFill>
                  <a:srgbClr val="212529"/>
                </a:solidFill>
                <a:latin typeface="Arial"/>
                <a:ea typeface="Arial"/>
                <a:cs typeface="Arial"/>
                <a:sym typeface="Arial"/>
              </a:rPr>
              <a:t>execute multiple, smaller calculations broken down from an overall larger, </a:t>
            </a:r>
            <a:r>
              <a:rPr lang="en-US" b="0" i="0">
                <a:solidFill>
                  <a:srgbClr val="0A25F0"/>
                </a:solidFill>
                <a:latin typeface="Arial"/>
                <a:ea typeface="Arial"/>
                <a:cs typeface="Arial"/>
                <a:sym typeface="Arial"/>
              </a:rPr>
              <a:t>complex problem</a:t>
            </a:r>
            <a:r>
              <a:rPr lang="en-US" b="0" i="0">
                <a:solidFill>
                  <a:srgbClr val="212529"/>
                </a:solidFill>
                <a:latin typeface="Arial"/>
                <a:ea typeface="Arial"/>
                <a:cs typeface="Arial"/>
                <a:sym typeface="Arial"/>
              </a:rPr>
              <a:t>.</a:t>
            </a:r>
            <a:r>
              <a:rPr lang="en-US">
                <a:solidFill>
                  <a:schemeClr val="dk1"/>
                </a:solidFill>
                <a:latin typeface="Arial"/>
                <a:ea typeface="Arial"/>
                <a:cs typeface="Arial"/>
                <a:sym typeface="Arial"/>
              </a:rPr>
              <a:t>”</a:t>
            </a:r>
            <a:endParaRPr>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3"/>
        <p:cNvGrpSpPr/>
        <p:nvPr/>
      </p:nvGrpSpPr>
      <p:grpSpPr>
        <a:xfrm>
          <a:off x="0" y="0"/>
          <a:ext cx="0" cy="0"/>
          <a:chOff x="0" y="0"/>
          <a:chExt cx="0" cy="0"/>
        </a:xfrm>
      </p:grpSpPr>
      <p:sp>
        <p:nvSpPr>
          <p:cNvPr id="274" name="Google Shape;274;p12"/>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275" name="Google Shape;275;p12"/>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pic>
        <p:nvPicPr>
          <p:cNvPr id="276" name="Google Shape;276;p12"/>
          <p:cNvPicPr preferRelativeResize="0"/>
          <p:nvPr/>
        </p:nvPicPr>
        <p:blipFill rotWithShape="1">
          <a:blip r:embed="rId3">
            <a:alphaModFix/>
          </a:blip>
          <a:srcRect l="53001" t="54841"/>
          <a:stretch/>
        </p:blipFill>
        <p:spPr>
          <a:xfrm>
            <a:off x="0" y="0"/>
            <a:ext cx="872377" cy="838200"/>
          </a:xfrm>
          <a:prstGeom prst="rect">
            <a:avLst/>
          </a:prstGeom>
          <a:noFill/>
          <a:ln>
            <a:noFill/>
          </a:ln>
        </p:spPr>
      </p:pic>
      <p:sp>
        <p:nvSpPr>
          <p:cNvPr id="277" name="Google Shape;277;p12"/>
          <p:cNvSpPr txBox="1">
            <a:spLocks noGrp="1"/>
          </p:cNvSpPr>
          <p:nvPr>
            <p:ph type="title"/>
          </p:nvPr>
        </p:nvSpPr>
        <p:spPr>
          <a:xfrm>
            <a:off x="666749" y="552590"/>
            <a:ext cx="9401175" cy="157378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000"/>
              <a:buFont typeface="Arial"/>
              <a:buNone/>
            </a:pPr>
            <a:r>
              <a:rPr lang="en-US" sz="4000" b="1">
                <a:solidFill>
                  <a:schemeClr val="dk2"/>
                </a:solidFill>
                <a:latin typeface="Arial"/>
                <a:ea typeface="Arial"/>
                <a:cs typeface="Arial"/>
                <a:sym typeface="Arial"/>
              </a:rPr>
              <a:t>Serial vs parallel Computing Cont..</a:t>
            </a:r>
            <a:endParaRPr sz="3700">
              <a:solidFill>
                <a:schemeClr val="dk2"/>
              </a:solidFill>
            </a:endParaRPr>
          </a:p>
        </p:txBody>
      </p:sp>
      <p:pic>
        <p:nvPicPr>
          <p:cNvPr id="278" name="Google Shape;278;p12" descr="Diagram&#10;&#10;Description automatically generated"/>
          <p:cNvPicPr preferRelativeResize="0"/>
          <p:nvPr/>
        </p:nvPicPr>
        <p:blipFill rotWithShape="1">
          <a:blip r:embed="rId4">
            <a:alphaModFix/>
          </a:blip>
          <a:srcRect/>
          <a:stretch/>
        </p:blipFill>
        <p:spPr>
          <a:xfrm>
            <a:off x="2234505" y="2126376"/>
            <a:ext cx="6370439" cy="3919694"/>
          </a:xfrm>
          <a:prstGeom prst="roundRect">
            <a:avLst>
              <a:gd name="adj" fmla="val 4167"/>
            </a:avLst>
          </a:prstGeom>
          <a:solidFill>
            <a:srgbClr val="FFFFFF"/>
          </a:solidFill>
          <a:ln w="76200" cap="sq" cmpd="sng">
            <a:solidFill>
              <a:srgbClr val="EAEAEA"/>
            </a:solidFill>
            <a:prstDash val="solid"/>
            <a:miter lim="800000"/>
            <a:headEnd type="none" w="sm" len="sm"/>
            <a:tailEnd type="none" w="sm" len="sm"/>
          </a:ln>
          <a:effectLst>
            <a:reflection stA="33000" endPos="28000" dist="5000" dir="5400000" sy="-100000" algn="bl" rotWithShape="0"/>
          </a:effectLst>
        </p:spPr>
      </p:pic>
      <p:pic>
        <p:nvPicPr>
          <p:cNvPr id="279" name="Google Shape;279;p12"/>
          <p:cNvPicPr preferRelativeResize="0"/>
          <p:nvPr/>
        </p:nvPicPr>
        <p:blipFill rotWithShape="1">
          <a:blip r:embed="rId5">
            <a:alphaModFix/>
          </a:blip>
          <a:srcRect r="73964"/>
          <a:stretch/>
        </p:blipFill>
        <p:spPr>
          <a:xfrm>
            <a:off x="11527047" y="3144779"/>
            <a:ext cx="661905" cy="25483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4"/>
        <p:cNvGrpSpPr/>
        <p:nvPr/>
      </p:nvGrpSpPr>
      <p:grpSpPr>
        <a:xfrm>
          <a:off x="0" y="0"/>
          <a:ext cx="0" cy="0"/>
          <a:chOff x="0" y="0"/>
          <a:chExt cx="0" cy="0"/>
        </a:xfrm>
      </p:grpSpPr>
      <p:sp>
        <p:nvSpPr>
          <p:cNvPr id="285" name="Google Shape;285;p13"/>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286" name="Google Shape;286;p13"/>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pic>
        <p:nvPicPr>
          <p:cNvPr id="287" name="Google Shape;287;p13"/>
          <p:cNvPicPr preferRelativeResize="0"/>
          <p:nvPr/>
        </p:nvPicPr>
        <p:blipFill rotWithShape="1">
          <a:blip r:embed="rId3">
            <a:alphaModFix/>
          </a:blip>
          <a:srcRect l="53001" t="54841"/>
          <a:stretch/>
        </p:blipFill>
        <p:spPr>
          <a:xfrm>
            <a:off x="0" y="0"/>
            <a:ext cx="872377" cy="838200"/>
          </a:xfrm>
          <a:prstGeom prst="rect">
            <a:avLst/>
          </a:prstGeom>
          <a:noFill/>
          <a:ln>
            <a:noFill/>
          </a:ln>
        </p:spPr>
      </p:pic>
      <p:sp>
        <p:nvSpPr>
          <p:cNvPr id="288" name="Google Shape;288;p13"/>
          <p:cNvSpPr txBox="1">
            <a:spLocks noGrp="1"/>
          </p:cNvSpPr>
          <p:nvPr>
            <p:ph type="title"/>
          </p:nvPr>
        </p:nvSpPr>
        <p:spPr>
          <a:xfrm>
            <a:off x="666749" y="552590"/>
            <a:ext cx="9401175" cy="136987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000"/>
              <a:buFont typeface="Arial"/>
              <a:buNone/>
            </a:pPr>
            <a:r>
              <a:rPr lang="en-US" sz="4000" b="1" dirty="0">
                <a:solidFill>
                  <a:schemeClr val="dk2"/>
                </a:solidFill>
                <a:latin typeface="Arial"/>
                <a:ea typeface="Arial"/>
                <a:cs typeface="Arial"/>
                <a:sym typeface="Arial"/>
              </a:rPr>
              <a:t>Difference between Serial and parallel Computing</a:t>
            </a:r>
            <a:endParaRPr sz="3700" dirty="0">
              <a:solidFill>
                <a:schemeClr val="dk2"/>
              </a:solidFill>
            </a:endParaRPr>
          </a:p>
        </p:txBody>
      </p:sp>
      <p:pic>
        <p:nvPicPr>
          <p:cNvPr id="289" name="Google Shape;289;p13"/>
          <p:cNvPicPr preferRelativeResize="0"/>
          <p:nvPr/>
        </p:nvPicPr>
        <p:blipFill rotWithShape="1">
          <a:blip r:embed="rId4">
            <a:alphaModFix/>
          </a:blip>
          <a:srcRect r="73964"/>
          <a:stretch/>
        </p:blipFill>
        <p:spPr>
          <a:xfrm>
            <a:off x="11527047" y="3144779"/>
            <a:ext cx="661905" cy="2548349"/>
          </a:xfrm>
          <a:prstGeom prst="rect">
            <a:avLst/>
          </a:prstGeom>
          <a:noFill/>
          <a:ln>
            <a:noFill/>
          </a:ln>
        </p:spPr>
      </p:pic>
      <p:sp>
        <p:nvSpPr>
          <p:cNvPr id="290" name="Google Shape;290;p13"/>
          <p:cNvSpPr/>
          <p:nvPr/>
        </p:nvSpPr>
        <p:spPr>
          <a:xfrm>
            <a:off x="1982788" y="2017713"/>
            <a:ext cx="8226425" cy="28225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291" name="Google Shape;291;p13"/>
          <p:cNvSpPr/>
          <p:nvPr/>
        </p:nvSpPr>
        <p:spPr>
          <a:xfrm>
            <a:off x="1989138" y="2049463"/>
            <a:ext cx="4129088" cy="396875"/>
          </a:xfrm>
          <a:prstGeom prst="rect">
            <a:avLst/>
          </a:prstGeom>
          <a:solidFill>
            <a:srgbClr val="45B0A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292" name="Google Shape;292;p13"/>
          <p:cNvSpPr/>
          <p:nvPr/>
        </p:nvSpPr>
        <p:spPr>
          <a:xfrm>
            <a:off x="6129114" y="2067719"/>
            <a:ext cx="4065588" cy="396875"/>
          </a:xfrm>
          <a:prstGeom prst="rect">
            <a:avLst/>
          </a:prstGeom>
          <a:solidFill>
            <a:srgbClr val="45B0A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293" name="Google Shape;293;p13"/>
          <p:cNvSpPr/>
          <p:nvPr/>
        </p:nvSpPr>
        <p:spPr>
          <a:xfrm>
            <a:off x="1989138" y="2446338"/>
            <a:ext cx="4129088" cy="396875"/>
          </a:xfrm>
          <a:prstGeom prst="rect">
            <a:avLst/>
          </a:prstGeom>
          <a:solidFill>
            <a:srgbClr val="CFE4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294" name="Google Shape;294;p13"/>
          <p:cNvSpPr/>
          <p:nvPr/>
        </p:nvSpPr>
        <p:spPr>
          <a:xfrm>
            <a:off x="6118226" y="2446338"/>
            <a:ext cx="4065588" cy="396875"/>
          </a:xfrm>
          <a:prstGeom prst="rect">
            <a:avLst/>
          </a:prstGeom>
          <a:solidFill>
            <a:srgbClr val="CFE4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295" name="Google Shape;295;p13"/>
          <p:cNvSpPr/>
          <p:nvPr/>
        </p:nvSpPr>
        <p:spPr>
          <a:xfrm>
            <a:off x="1989138" y="2843213"/>
            <a:ext cx="4129088" cy="700088"/>
          </a:xfrm>
          <a:prstGeom prst="rect">
            <a:avLst/>
          </a:prstGeom>
          <a:solidFill>
            <a:srgbClr val="E9F2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296" name="Google Shape;296;p13"/>
          <p:cNvSpPr/>
          <p:nvPr/>
        </p:nvSpPr>
        <p:spPr>
          <a:xfrm>
            <a:off x="6118226" y="2843213"/>
            <a:ext cx="4065588" cy="700088"/>
          </a:xfrm>
          <a:prstGeom prst="rect">
            <a:avLst/>
          </a:prstGeom>
          <a:solidFill>
            <a:srgbClr val="E9F2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297" name="Google Shape;297;p13"/>
          <p:cNvSpPr/>
          <p:nvPr/>
        </p:nvSpPr>
        <p:spPr>
          <a:xfrm>
            <a:off x="1989138" y="3543301"/>
            <a:ext cx="4129088" cy="396875"/>
          </a:xfrm>
          <a:prstGeom prst="rect">
            <a:avLst/>
          </a:prstGeom>
          <a:solidFill>
            <a:srgbClr val="CFE4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298" name="Google Shape;298;p13"/>
          <p:cNvSpPr/>
          <p:nvPr/>
        </p:nvSpPr>
        <p:spPr>
          <a:xfrm>
            <a:off x="6118226" y="3543301"/>
            <a:ext cx="4065588" cy="396875"/>
          </a:xfrm>
          <a:prstGeom prst="rect">
            <a:avLst/>
          </a:prstGeom>
          <a:solidFill>
            <a:srgbClr val="CFE4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299" name="Google Shape;299;p13"/>
          <p:cNvSpPr/>
          <p:nvPr/>
        </p:nvSpPr>
        <p:spPr>
          <a:xfrm>
            <a:off x="1989138" y="3940176"/>
            <a:ext cx="4129088" cy="396875"/>
          </a:xfrm>
          <a:prstGeom prst="rect">
            <a:avLst/>
          </a:prstGeom>
          <a:solidFill>
            <a:srgbClr val="E9F2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300" name="Google Shape;300;p13"/>
          <p:cNvSpPr/>
          <p:nvPr/>
        </p:nvSpPr>
        <p:spPr>
          <a:xfrm>
            <a:off x="6118226" y="3940176"/>
            <a:ext cx="4065588" cy="396875"/>
          </a:xfrm>
          <a:prstGeom prst="rect">
            <a:avLst/>
          </a:prstGeom>
          <a:solidFill>
            <a:srgbClr val="E9F2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301" name="Google Shape;301;p13"/>
          <p:cNvSpPr/>
          <p:nvPr/>
        </p:nvSpPr>
        <p:spPr>
          <a:xfrm>
            <a:off x="1989138" y="4337051"/>
            <a:ext cx="4129088" cy="396875"/>
          </a:xfrm>
          <a:prstGeom prst="rect">
            <a:avLst/>
          </a:prstGeom>
          <a:solidFill>
            <a:srgbClr val="CFE4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302" name="Google Shape;302;p13"/>
          <p:cNvSpPr/>
          <p:nvPr/>
        </p:nvSpPr>
        <p:spPr>
          <a:xfrm>
            <a:off x="6118226" y="4337051"/>
            <a:ext cx="4065588" cy="396875"/>
          </a:xfrm>
          <a:prstGeom prst="rect">
            <a:avLst/>
          </a:prstGeom>
          <a:solidFill>
            <a:srgbClr val="CFE4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cxnSp>
        <p:nvCxnSpPr>
          <p:cNvPr id="303" name="Google Shape;303;p13"/>
          <p:cNvCxnSpPr/>
          <p:nvPr/>
        </p:nvCxnSpPr>
        <p:spPr>
          <a:xfrm>
            <a:off x="6118226" y="2043113"/>
            <a:ext cx="0" cy="2697163"/>
          </a:xfrm>
          <a:prstGeom prst="straightConnector1">
            <a:avLst/>
          </a:prstGeom>
          <a:noFill/>
          <a:ln w="12700" cap="flat" cmpd="sng">
            <a:solidFill>
              <a:srgbClr val="FFFFFF"/>
            </a:solidFill>
            <a:prstDash val="solid"/>
            <a:round/>
            <a:headEnd type="none" w="med" len="med"/>
            <a:tailEnd type="none" w="med" len="med"/>
          </a:ln>
        </p:spPr>
      </p:cxnSp>
      <p:cxnSp>
        <p:nvCxnSpPr>
          <p:cNvPr id="304" name="Google Shape;304;p13"/>
          <p:cNvCxnSpPr/>
          <p:nvPr/>
        </p:nvCxnSpPr>
        <p:spPr>
          <a:xfrm>
            <a:off x="1982788" y="2446338"/>
            <a:ext cx="8207375" cy="0"/>
          </a:xfrm>
          <a:prstGeom prst="straightConnector1">
            <a:avLst/>
          </a:prstGeom>
          <a:noFill/>
          <a:ln w="38100" cap="flat" cmpd="sng">
            <a:solidFill>
              <a:srgbClr val="FFFFFF"/>
            </a:solidFill>
            <a:prstDash val="solid"/>
            <a:round/>
            <a:headEnd type="none" w="med" len="med"/>
            <a:tailEnd type="none" w="med" len="med"/>
          </a:ln>
        </p:spPr>
      </p:cxnSp>
      <p:cxnSp>
        <p:nvCxnSpPr>
          <p:cNvPr id="305" name="Google Shape;305;p13"/>
          <p:cNvCxnSpPr/>
          <p:nvPr/>
        </p:nvCxnSpPr>
        <p:spPr>
          <a:xfrm>
            <a:off x="1982788" y="2843213"/>
            <a:ext cx="8207375" cy="0"/>
          </a:xfrm>
          <a:prstGeom prst="straightConnector1">
            <a:avLst/>
          </a:prstGeom>
          <a:noFill/>
          <a:ln w="12700" cap="flat" cmpd="sng">
            <a:solidFill>
              <a:srgbClr val="FFFFFF"/>
            </a:solidFill>
            <a:prstDash val="solid"/>
            <a:round/>
            <a:headEnd type="none" w="med" len="med"/>
            <a:tailEnd type="none" w="med" len="med"/>
          </a:ln>
        </p:spPr>
      </p:cxnSp>
      <p:cxnSp>
        <p:nvCxnSpPr>
          <p:cNvPr id="306" name="Google Shape;306;p13"/>
          <p:cNvCxnSpPr/>
          <p:nvPr/>
        </p:nvCxnSpPr>
        <p:spPr>
          <a:xfrm>
            <a:off x="1982788" y="3543301"/>
            <a:ext cx="8207375" cy="0"/>
          </a:xfrm>
          <a:prstGeom prst="straightConnector1">
            <a:avLst/>
          </a:prstGeom>
          <a:noFill/>
          <a:ln w="12700" cap="flat" cmpd="sng">
            <a:solidFill>
              <a:srgbClr val="FFFFFF"/>
            </a:solidFill>
            <a:prstDash val="solid"/>
            <a:round/>
            <a:headEnd type="none" w="med" len="med"/>
            <a:tailEnd type="none" w="med" len="med"/>
          </a:ln>
        </p:spPr>
      </p:cxnSp>
      <p:cxnSp>
        <p:nvCxnSpPr>
          <p:cNvPr id="307" name="Google Shape;307;p13"/>
          <p:cNvCxnSpPr/>
          <p:nvPr/>
        </p:nvCxnSpPr>
        <p:spPr>
          <a:xfrm>
            <a:off x="1982788" y="3940176"/>
            <a:ext cx="8207375" cy="0"/>
          </a:xfrm>
          <a:prstGeom prst="straightConnector1">
            <a:avLst/>
          </a:prstGeom>
          <a:noFill/>
          <a:ln w="12700" cap="flat" cmpd="sng">
            <a:solidFill>
              <a:srgbClr val="FFFFFF"/>
            </a:solidFill>
            <a:prstDash val="solid"/>
            <a:round/>
            <a:headEnd type="none" w="med" len="med"/>
            <a:tailEnd type="none" w="med" len="med"/>
          </a:ln>
        </p:spPr>
      </p:cxnSp>
      <p:cxnSp>
        <p:nvCxnSpPr>
          <p:cNvPr id="308" name="Google Shape;308;p13"/>
          <p:cNvCxnSpPr/>
          <p:nvPr/>
        </p:nvCxnSpPr>
        <p:spPr>
          <a:xfrm>
            <a:off x="1982788" y="4337051"/>
            <a:ext cx="8207375" cy="0"/>
          </a:xfrm>
          <a:prstGeom prst="straightConnector1">
            <a:avLst/>
          </a:prstGeom>
          <a:noFill/>
          <a:ln w="12700" cap="flat" cmpd="sng">
            <a:solidFill>
              <a:srgbClr val="FFFFFF"/>
            </a:solidFill>
            <a:prstDash val="solid"/>
            <a:round/>
            <a:headEnd type="none" w="med" len="med"/>
            <a:tailEnd type="none" w="med" len="med"/>
          </a:ln>
        </p:spPr>
      </p:cxnSp>
      <p:cxnSp>
        <p:nvCxnSpPr>
          <p:cNvPr id="309" name="Google Shape;309;p13"/>
          <p:cNvCxnSpPr/>
          <p:nvPr/>
        </p:nvCxnSpPr>
        <p:spPr>
          <a:xfrm>
            <a:off x="1989138" y="2043113"/>
            <a:ext cx="0" cy="2697163"/>
          </a:xfrm>
          <a:prstGeom prst="straightConnector1">
            <a:avLst/>
          </a:prstGeom>
          <a:noFill/>
          <a:ln w="12700" cap="flat" cmpd="sng">
            <a:solidFill>
              <a:srgbClr val="FFFFFF"/>
            </a:solidFill>
            <a:prstDash val="solid"/>
            <a:round/>
            <a:headEnd type="none" w="med" len="med"/>
            <a:tailEnd type="none" w="med" len="med"/>
          </a:ln>
        </p:spPr>
      </p:cxnSp>
      <p:cxnSp>
        <p:nvCxnSpPr>
          <p:cNvPr id="310" name="Google Shape;310;p13"/>
          <p:cNvCxnSpPr/>
          <p:nvPr/>
        </p:nvCxnSpPr>
        <p:spPr>
          <a:xfrm>
            <a:off x="10183813" y="2043113"/>
            <a:ext cx="0" cy="2697163"/>
          </a:xfrm>
          <a:prstGeom prst="straightConnector1">
            <a:avLst/>
          </a:prstGeom>
          <a:noFill/>
          <a:ln w="12700" cap="flat" cmpd="sng">
            <a:solidFill>
              <a:srgbClr val="FFFFFF"/>
            </a:solidFill>
            <a:prstDash val="solid"/>
            <a:round/>
            <a:headEnd type="none" w="med" len="med"/>
            <a:tailEnd type="none" w="med" len="med"/>
          </a:ln>
        </p:spPr>
      </p:cxnSp>
      <p:cxnSp>
        <p:nvCxnSpPr>
          <p:cNvPr id="311" name="Google Shape;311;p13"/>
          <p:cNvCxnSpPr/>
          <p:nvPr/>
        </p:nvCxnSpPr>
        <p:spPr>
          <a:xfrm>
            <a:off x="1982788" y="2049463"/>
            <a:ext cx="8207375" cy="0"/>
          </a:xfrm>
          <a:prstGeom prst="straightConnector1">
            <a:avLst/>
          </a:prstGeom>
          <a:noFill/>
          <a:ln w="12700" cap="flat" cmpd="sng">
            <a:solidFill>
              <a:srgbClr val="FFFFFF"/>
            </a:solidFill>
            <a:prstDash val="solid"/>
            <a:round/>
            <a:headEnd type="none" w="med" len="med"/>
            <a:tailEnd type="none" w="med" len="med"/>
          </a:ln>
        </p:spPr>
      </p:cxnSp>
      <p:cxnSp>
        <p:nvCxnSpPr>
          <p:cNvPr id="312" name="Google Shape;312;p13"/>
          <p:cNvCxnSpPr/>
          <p:nvPr/>
        </p:nvCxnSpPr>
        <p:spPr>
          <a:xfrm>
            <a:off x="1982788" y="4733926"/>
            <a:ext cx="8207375" cy="0"/>
          </a:xfrm>
          <a:prstGeom prst="straightConnector1">
            <a:avLst/>
          </a:prstGeom>
          <a:noFill/>
          <a:ln w="12700" cap="flat" cmpd="sng">
            <a:solidFill>
              <a:srgbClr val="FFFFFF"/>
            </a:solidFill>
            <a:prstDash val="solid"/>
            <a:round/>
            <a:headEnd type="none" w="med" len="med"/>
            <a:tailEnd type="none" w="med" len="med"/>
          </a:ln>
        </p:spPr>
      </p:cxnSp>
      <p:sp>
        <p:nvSpPr>
          <p:cNvPr id="313" name="Google Shape;313;p13"/>
          <p:cNvSpPr/>
          <p:nvPr/>
        </p:nvSpPr>
        <p:spPr>
          <a:xfrm>
            <a:off x="2981326" y="2093913"/>
            <a:ext cx="2409825" cy="3889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FFFF"/>
              </a:buClr>
              <a:buSzPts val="2000"/>
              <a:buFont typeface="Avenir"/>
              <a:buNone/>
            </a:pPr>
            <a:r>
              <a:rPr lang="en-US" sz="2000" b="1" i="0" u="none" strike="noStrike" cap="none" dirty="0">
                <a:solidFill>
                  <a:srgbClr val="FFFFFF"/>
                </a:solidFill>
                <a:latin typeface="Avenir"/>
                <a:ea typeface="Avenir"/>
                <a:cs typeface="Avenir"/>
                <a:sym typeface="Avenir"/>
              </a:rPr>
              <a:t>Serial Computing</a:t>
            </a:r>
            <a:endParaRPr sz="1800" b="0" i="0" u="none" strike="noStrike" cap="none" dirty="0">
              <a:solidFill>
                <a:schemeClr val="dk1"/>
              </a:solidFill>
              <a:latin typeface="Arial"/>
              <a:ea typeface="Arial"/>
              <a:cs typeface="Arial"/>
              <a:sym typeface="Arial"/>
            </a:endParaRPr>
          </a:p>
        </p:txBody>
      </p:sp>
      <p:sp>
        <p:nvSpPr>
          <p:cNvPr id="314" name="Google Shape;314;p13"/>
          <p:cNvSpPr/>
          <p:nvPr/>
        </p:nvSpPr>
        <p:spPr>
          <a:xfrm>
            <a:off x="6969126" y="2093913"/>
            <a:ext cx="2654300" cy="3889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FFFF"/>
              </a:buClr>
              <a:buSzPts val="2000"/>
              <a:buFont typeface="Avenir"/>
              <a:buNone/>
            </a:pPr>
            <a:r>
              <a:rPr lang="en-US" sz="2000" b="1" i="0" u="none" strike="noStrike" cap="none">
                <a:solidFill>
                  <a:srgbClr val="FFFFFF"/>
                </a:solidFill>
                <a:latin typeface="Avenir"/>
                <a:ea typeface="Avenir"/>
                <a:cs typeface="Avenir"/>
                <a:sym typeface="Avenir"/>
              </a:rPr>
              <a:t>Parallel Computing</a:t>
            </a:r>
            <a:endParaRPr sz="1800" b="0" i="0" u="none" strike="noStrike" cap="none">
              <a:solidFill>
                <a:schemeClr val="dk1"/>
              </a:solidFill>
              <a:latin typeface="Arial"/>
              <a:ea typeface="Arial"/>
              <a:cs typeface="Arial"/>
              <a:sym typeface="Arial"/>
            </a:endParaRPr>
          </a:p>
        </p:txBody>
      </p:sp>
      <p:sp>
        <p:nvSpPr>
          <p:cNvPr id="315" name="Google Shape;315;p13"/>
          <p:cNvSpPr/>
          <p:nvPr/>
        </p:nvSpPr>
        <p:spPr>
          <a:xfrm>
            <a:off x="2544763" y="2490788"/>
            <a:ext cx="3165475" cy="3714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venir"/>
              <a:buNone/>
            </a:pPr>
            <a:r>
              <a:rPr lang="en-US" sz="2000" b="0" i="0" u="none" strike="noStrike" cap="none">
                <a:solidFill>
                  <a:srgbClr val="000000"/>
                </a:solidFill>
                <a:latin typeface="Avenir"/>
                <a:ea typeface="Avenir"/>
                <a:cs typeface="Avenir"/>
                <a:sym typeface="Avenir"/>
              </a:rPr>
              <a:t>Are uniprocessor systems.</a:t>
            </a:r>
            <a:endParaRPr sz="1800" b="0" i="0" u="none" strike="noStrike" cap="none">
              <a:solidFill>
                <a:schemeClr val="dk1"/>
              </a:solidFill>
              <a:latin typeface="Arial"/>
              <a:ea typeface="Arial"/>
              <a:cs typeface="Arial"/>
              <a:sym typeface="Arial"/>
            </a:endParaRPr>
          </a:p>
        </p:txBody>
      </p:sp>
      <p:sp>
        <p:nvSpPr>
          <p:cNvPr id="316" name="Google Shape;316;p13"/>
          <p:cNvSpPr/>
          <p:nvPr/>
        </p:nvSpPr>
        <p:spPr>
          <a:xfrm>
            <a:off x="6529388" y="2490788"/>
            <a:ext cx="3387725" cy="3714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venir"/>
              <a:buNone/>
            </a:pPr>
            <a:r>
              <a:rPr lang="en-US" sz="2000" b="0" i="0" u="none" strike="noStrike" cap="none">
                <a:solidFill>
                  <a:srgbClr val="000000"/>
                </a:solidFill>
                <a:latin typeface="Avenir"/>
                <a:ea typeface="Avenir"/>
                <a:cs typeface="Avenir"/>
                <a:sym typeface="Avenir"/>
              </a:rPr>
              <a:t>Are multiprocessor systems.</a:t>
            </a:r>
            <a:endParaRPr sz="1800" b="0" i="0" u="none" strike="noStrike" cap="none">
              <a:solidFill>
                <a:schemeClr val="dk1"/>
              </a:solidFill>
              <a:latin typeface="Arial"/>
              <a:ea typeface="Arial"/>
              <a:cs typeface="Arial"/>
              <a:sym typeface="Arial"/>
            </a:endParaRPr>
          </a:p>
        </p:txBody>
      </p:sp>
      <p:sp>
        <p:nvSpPr>
          <p:cNvPr id="317" name="Google Shape;317;p13"/>
          <p:cNvSpPr/>
          <p:nvPr/>
        </p:nvSpPr>
        <p:spPr>
          <a:xfrm>
            <a:off x="2203451" y="2889251"/>
            <a:ext cx="3910013" cy="3714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venir"/>
              <a:buNone/>
            </a:pPr>
            <a:r>
              <a:rPr lang="en-US" sz="2000" b="0" i="0" u="none" strike="noStrike" cap="none">
                <a:solidFill>
                  <a:srgbClr val="000000"/>
                </a:solidFill>
                <a:latin typeface="Avenir"/>
                <a:ea typeface="Avenir"/>
                <a:cs typeface="Avenir"/>
                <a:sym typeface="Avenir"/>
              </a:rPr>
              <a:t>Can execute one instruction at a </a:t>
            </a:r>
            <a:endParaRPr sz="1800" b="0" i="0" u="none" strike="noStrike" cap="none">
              <a:solidFill>
                <a:schemeClr val="dk1"/>
              </a:solidFill>
              <a:latin typeface="Arial"/>
              <a:ea typeface="Arial"/>
              <a:cs typeface="Arial"/>
              <a:sym typeface="Arial"/>
            </a:endParaRPr>
          </a:p>
        </p:txBody>
      </p:sp>
      <p:sp>
        <p:nvSpPr>
          <p:cNvPr id="318" name="Google Shape;318;p13"/>
          <p:cNvSpPr/>
          <p:nvPr/>
        </p:nvSpPr>
        <p:spPr>
          <a:xfrm>
            <a:off x="3765551" y="3194051"/>
            <a:ext cx="712788" cy="3714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venir"/>
              <a:buNone/>
            </a:pPr>
            <a:r>
              <a:rPr lang="en-US" sz="2000" b="0" i="0" u="none" strike="noStrike" cap="none">
                <a:solidFill>
                  <a:srgbClr val="000000"/>
                </a:solidFill>
                <a:latin typeface="Avenir"/>
                <a:ea typeface="Avenir"/>
                <a:cs typeface="Avenir"/>
                <a:sym typeface="Avenir"/>
              </a:rPr>
              <a:t>time.</a:t>
            </a:r>
            <a:endParaRPr sz="1800" b="0" i="0" u="none" strike="noStrike" cap="none">
              <a:solidFill>
                <a:schemeClr val="dk1"/>
              </a:solidFill>
              <a:latin typeface="Arial"/>
              <a:ea typeface="Arial"/>
              <a:cs typeface="Arial"/>
              <a:sym typeface="Arial"/>
            </a:endParaRPr>
          </a:p>
        </p:txBody>
      </p:sp>
      <p:sp>
        <p:nvSpPr>
          <p:cNvPr id="319" name="Google Shape;319;p13"/>
          <p:cNvSpPr/>
          <p:nvPr/>
        </p:nvSpPr>
        <p:spPr>
          <a:xfrm>
            <a:off x="6229351" y="2889251"/>
            <a:ext cx="4046538" cy="3714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venir"/>
              <a:buNone/>
            </a:pPr>
            <a:r>
              <a:rPr lang="en-US" sz="2000" b="0" i="0" u="none" strike="noStrike" cap="none">
                <a:solidFill>
                  <a:srgbClr val="000000"/>
                </a:solidFill>
                <a:latin typeface="Avenir"/>
                <a:ea typeface="Avenir"/>
                <a:cs typeface="Avenir"/>
                <a:sym typeface="Avenir"/>
              </a:rPr>
              <a:t>Can execute multiple instructions </a:t>
            </a:r>
            <a:endParaRPr sz="1800" b="0" i="0" u="none" strike="noStrike" cap="none">
              <a:solidFill>
                <a:schemeClr val="dk1"/>
              </a:solidFill>
              <a:latin typeface="Arial"/>
              <a:ea typeface="Arial"/>
              <a:cs typeface="Arial"/>
              <a:sym typeface="Arial"/>
            </a:endParaRPr>
          </a:p>
        </p:txBody>
      </p:sp>
      <p:sp>
        <p:nvSpPr>
          <p:cNvPr id="320" name="Google Shape;320;p13"/>
          <p:cNvSpPr/>
          <p:nvPr/>
        </p:nvSpPr>
        <p:spPr>
          <a:xfrm>
            <a:off x="7627938" y="3194051"/>
            <a:ext cx="1254125" cy="3714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venir"/>
              <a:buNone/>
            </a:pPr>
            <a:r>
              <a:rPr lang="en-US" sz="2000" b="0" i="0" u="none" strike="noStrike" cap="none">
                <a:solidFill>
                  <a:srgbClr val="000000"/>
                </a:solidFill>
                <a:latin typeface="Avenir"/>
                <a:ea typeface="Avenir"/>
                <a:cs typeface="Avenir"/>
                <a:sym typeface="Avenir"/>
              </a:rPr>
              <a:t>at a time. </a:t>
            </a:r>
            <a:endParaRPr sz="1800" b="0" i="0" u="none" strike="noStrike" cap="none">
              <a:solidFill>
                <a:schemeClr val="dk1"/>
              </a:solidFill>
              <a:latin typeface="Arial"/>
              <a:ea typeface="Arial"/>
              <a:cs typeface="Arial"/>
              <a:sym typeface="Arial"/>
            </a:endParaRPr>
          </a:p>
        </p:txBody>
      </p:sp>
      <p:sp>
        <p:nvSpPr>
          <p:cNvPr id="321" name="Google Shape;321;p13"/>
          <p:cNvSpPr/>
          <p:nvPr/>
        </p:nvSpPr>
        <p:spPr>
          <a:xfrm>
            <a:off x="3090863" y="3587751"/>
            <a:ext cx="2166938" cy="3889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venir"/>
              <a:buNone/>
            </a:pPr>
            <a:r>
              <a:rPr lang="en-US" sz="2000" b="0" i="0" u="none" strike="noStrike" cap="none">
                <a:solidFill>
                  <a:srgbClr val="000000"/>
                </a:solidFill>
                <a:latin typeface="Avenir"/>
                <a:ea typeface="Avenir"/>
                <a:cs typeface="Avenir"/>
                <a:sym typeface="Avenir"/>
              </a:rPr>
              <a:t>Speed is limited.</a:t>
            </a:r>
            <a:endParaRPr sz="1800" b="0" i="0" u="none" strike="noStrike" cap="none">
              <a:solidFill>
                <a:schemeClr val="dk1"/>
              </a:solidFill>
              <a:latin typeface="Arial"/>
              <a:ea typeface="Arial"/>
              <a:cs typeface="Arial"/>
              <a:sym typeface="Arial"/>
            </a:endParaRPr>
          </a:p>
        </p:txBody>
      </p:sp>
      <p:sp>
        <p:nvSpPr>
          <p:cNvPr id="322" name="Google Shape;322;p13"/>
          <p:cNvSpPr/>
          <p:nvPr/>
        </p:nvSpPr>
        <p:spPr>
          <a:xfrm>
            <a:off x="6796088" y="3587751"/>
            <a:ext cx="2992438" cy="3889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venir"/>
              <a:buNone/>
            </a:pPr>
            <a:r>
              <a:rPr lang="en-US" sz="2000" b="0" i="0" u="none" strike="noStrike" cap="none">
                <a:solidFill>
                  <a:srgbClr val="000000"/>
                </a:solidFill>
                <a:latin typeface="Avenir"/>
                <a:ea typeface="Avenir"/>
                <a:cs typeface="Avenir"/>
                <a:sym typeface="Avenir"/>
              </a:rPr>
              <a:t>No limitation on speed.</a:t>
            </a:r>
            <a:endParaRPr sz="1800" b="0" i="0" u="none" strike="noStrike" cap="none">
              <a:solidFill>
                <a:schemeClr val="dk1"/>
              </a:solidFill>
              <a:latin typeface="Arial"/>
              <a:ea typeface="Arial"/>
              <a:cs typeface="Arial"/>
              <a:sym typeface="Arial"/>
            </a:endParaRPr>
          </a:p>
        </p:txBody>
      </p:sp>
      <p:sp>
        <p:nvSpPr>
          <p:cNvPr id="323" name="Google Shape;323;p13"/>
          <p:cNvSpPr/>
          <p:nvPr/>
        </p:nvSpPr>
        <p:spPr>
          <a:xfrm>
            <a:off x="2887663" y="3984626"/>
            <a:ext cx="2597150" cy="3889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venir"/>
              <a:buNone/>
            </a:pPr>
            <a:r>
              <a:rPr lang="en-US" sz="2000" b="0" i="0" u="none" strike="noStrike" cap="none">
                <a:solidFill>
                  <a:srgbClr val="000000"/>
                </a:solidFill>
                <a:latin typeface="Avenir"/>
                <a:ea typeface="Avenir"/>
                <a:cs typeface="Avenir"/>
                <a:sym typeface="Avenir"/>
              </a:rPr>
              <a:t>Lower performance.</a:t>
            </a:r>
            <a:endParaRPr sz="1800" b="0" i="0" u="none" strike="noStrike" cap="none">
              <a:solidFill>
                <a:schemeClr val="dk1"/>
              </a:solidFill>
              <a:latin typeface="Arial"/>
              <a:ea typeface="Arial"/>
              <a:cs typeface="Arial"/>
              <a:sym typeface="Arial"/>
            </a:endParaRPr>
          </a:p>
        </p:txBody>
      </p:sp>
      <p:sp>
        <p:nvSpPr>
          <p:cNvPr id="324" name="Google Shape;324;p13"/>
          <p:cNvSpPr/>
          <p:nvPr/>
        </p:nvSpPr>
        <p:spPr>
          <a:xfrm>
            <a:off x="6942138" y="3984626"/>
            <a:ext cx="2681288" cy="3889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venir"/>
              <a:buNone/>
            </a:pPr>
            <a:r>
              <a:rPr lang="en-US" sz="2000" b="0" i="0" u="none" strike="noStrike" cap="none">
                <a:solidFill>
                  <a:srgbClr val="000000"/>
                </a:solidFill>
                <a:latin typeface="Avenir"/>
                <a:ea typeface="Avenir"/>
                <a:cs typeface="Avenir"/>
                <a:sym typeface="Avenir"/>
              </a:rPr>
              <a:t>Higher performance.</a:t>
            </a:r>
            <a:endParaRPr sz="1800" b="0" i="0" u="none" strike="noStrike" cap="none">
              <a:solidFill>
                <a:schemeClr val="dk1"/>
              </a:solidFill>
              <a:latin typeface="Arial"/>
              <a:ea typeface="Arial"/>
              <a:cs typeface="Arial"/>
              <a:sym typeface="Arial"/>
            </a:endParaRPr>
          </a:p>
        </p:txBody>
      </p:sp>
      <p:sp>
        <p:nvSpPr>
          <p:cNvPr id="325" name="Google Shape;325;p13"/>
          <p:cNvSpPr/>
          <p:nvPr/>
        </p:nvSpPr>
        <p:spPr>
          <a:xfrm>
            <a:off x="2460625" y="4381501"/>
            <a:ext cx="3529013" cy="307777"/>
          </a:xfrm>
          <a:prstGeom prst="rect">
            <a:avLst/>
          </a:prstGeom>
          <a:noFill/>
          <a:ln>
            <a:noFill/>
          </a:ln>
        </p:spPr>
        <p:txBody>
          <a:bodyPr spcFirstLastPara="1" wrap="square" lIns="0" tIns="0" rIns="0" bIns="0" anchor="t" anchorCtr="0">
            <a:spAutoFit/>
          </a:bodyPr>
          <a:lstStyle/>
          <a:p>
            <a:pPr lvl="0">
              <a:buSzPts val="2000"/>
            </a:pPr>
            <a:r>
              <a:rPr lang="en-US" sz="2000" b="0" i="0" u="none" strike="noStrike" cap="none" dirty="0">
                <a:solidFill>
                  <a:srgbClr val="000000"/>
                </a:solidFill>
                <a:latin typeface="Avenir"/>
                <a:ea typeface="Avenir"/>
                <a:cs typeface="Avenir"/>
                <a:sym typeface="Avenir"/>
              </a:rPr>
              <a:t>Examples: </a:t>
            </a:r>
            <a:r>
              <a:rPr lang="en-US" dirty="0"/>
              <a:t>EDVAC, BINAC, and LGP-30</a:t>
            </a:r>
            <a:r>
              <a:rPr lang="en-US" sz="2000" b="0" i="0" u="none" strike="noStrike" cap="none" dirty="0">
                <a:solidFill>
                  <a:srgbClr val="000000"/>
                </a:solidFill>
                <a:latin typeface="Avenir"/>
                <a:ea typeface="Avenir"/>
                <a:cs typeface="Avenir"/>
                <a:sym typeface="Avenir"/>
              </a:rPr>
              <a:t>.</a:t>
            </a:r>
            <a:endParaRPr sz="1800" b="0" i="0" u="none" strike="noStrike" cap="none" dirty="0">
              <a:solidFill>
                <a:schemeClr val="dk1"/>
              </a:solidFill>
              <a:latin typeface="Arial"/>
              <a:ea typeface="Arial"/>
              <a:cs typeface="Arial"/>
              <a:sym typeface="Arial"/>
            </a:endParaRPr>
          </a:p>
        </p:txBody>
      </p:sp>
      <p:sp>
        <p:nvSpPr>
          <p:cNvPr id="326" name="Google Shape;326;p13"/>
          <p:cNvSpPr/>
          <p:nvPr/>
        </p:nvSpPr>
        <p:spPr>
          <a:xfrm>
            <a:off x="6392863" y="4381501"/>
            <a:ext cx="3662363" cy="3714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venir"/>
              <a:buNone/>
            </a:pPr>
            <a:r>
              <a:rPr lang="en-US" sz="2000" b="0" i="0" u="none" strike="noStrike" cap="none">
                <a:solidFill>
                  <a:srgbClr val="000000"/>
                </a:solidFill>
                <a:latin typeface="Avenir"/>
                <a:ea typeface="Avenir"/>
                <a:cs typeface="Avenir"/>
                <a:sym typeface="Avenir"/>
              </a:rPr>
              <a:t>Example: Window 7, 8 and 10.</a:t>
            </a:r>
            <a:endParaRPr sz="18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3"/>
                                        </p:tgtEl>
                                        <p:attrNameLst>
                                          <p:attrName>style.visibility</p:attrName>
                                        </p:attrNameLst>
                                      </p:cBhvr>
                                      <p:to>
                                        <p:strVal val="visible"/>
                                      </p:to>
                                    </p:set>
                                    <p:anim calcmode="lin" valueType="num">
                                      <p:cBhvr additive="base">
                                        <p:cTn id="7" dur="500" fill="hold"/>
                                        <p:tgtEl>
                                          <p:spTgt spid="313"/>
                                        </p:tgtEl>
                                        <p:attrNameLst>
                                          <p:attrName>ppt_x</p:attrName>
                                        </p:attrNameLst>
                                      </p:cBhvr>
                                      <p:tavLst>
                                        <p:tav tm="0">
                                          <p:val>
                                            <p:strVal val="#ppt_x"/>
                                          </p:val>
                                        </p:tav>
                                        <p:tav tm="100000">
                                          <p:val>
                                            <p:strVal val="#ppt_x"/>
                                          </p:val>
                                        </p:tav>
                                      </p:tavLst>
                                    </p:anim>
                                    <p:anim calcmode="lin" valueType="num">
                                      <p:cBhvr additive="base">
                                        <p:cTn id="8" dur="500" fill="hold"/>
                                        <p:tgtEl>
                                          <p:spTgt spid="3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4"/>
                                        </p:tgtEl>
                                        <p:attrNameLst>
                                          <p:attrName>style.visibility</p:attrName>
                                        </p:attrNameLst>
                                      </p:cBhvr>
                                      <p:to>
                                        <p:strVal val="visible"/>
                                      </p:to>
                                    </p:set>
                                    <p:anim calcmode="lin" valueType="num">
                                      <p:cBhvr additive="base">
                                        <p:cTn id="13" dur="500"/>
                                        <p:tgtEl>
                                          <p:spTgt spid="314"/>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500"/>
                                  </p:stCondLst>
                                  <p:childTnLst>
                                    <p:set>
                                      <p:cBhvr>
                                        <p:cTn id="17" dur="1" fill="hold">
                                          <p:stCondLst>
                                            <p:cond delay="0"/>
                                          </p:stCondLst>
                                        </p:cTn>
                                        <p:tgtEl>
                                          <p:spTgt spid="316"/>
                                        </p:tgtEl>
                                        <p:attrNameLst>
                                          <p:attrName>style.visibility</p:attrName>
                                        </p:attrNameLst>
                                      </p:cBhvr>
                                      <p:to>
                                        <p:strVal val="visible"/>
                                      </p:to>
                                    </p:set>
                                    <p:anim calcmode="lin" valueType="num">
                                      <p:cBhvr additive="base">
                                        <p:cTn id="18" dur="500"/>
                                        <p:tgtEl>
                                          <p:spTgt spid="316"/>
                                        </p:tgtEl>
                                        <p:attrNameLst>
                                          <p:attrName>ppt_y</p:attrName>
                                        </p:attrNameLst>
                                      </p:cBhvr>
                                      <p:tavLst>
                                        <p:tav tm="0">
                                          <p:val>
                                            <p:strVal val="#ppt_y+1"/>
                                          </p:val>
                                        </p:tav>
                                        <p:tav tm="100000">
                                          <p:val>
                                            <p:strVal val="#ppt_y"/>
                                          </p:val>
                                        </p:tav>
                                      </p:tavLst>
                                    </p:anim>
                                  </p:childTnLst>
                                </p:cTn>
                              </p:par>
                              <p:par>
                                <p:cTn id="19" presetID="2" presetClass="entr" presetSubtype="4" fill="hold" nodeType="withEffect">
                                  <p:stCondLst>
                                    <p:cond delay="500"/>
                                  </p:stCondLst>
                                  <p:childTnLst>
                                    <p:set>
                                      <p:cBhvr>
                                        <p:cTn id="20" dur="1" fill="hold">
                                          <p:stCondLst>
                                            <p:cond delay="0"/>
                                          </p:stCondLst>
                                        </p:cTn>
                                        <p:tgtEl>
                                          <p:spTgt spid="315"/>
                                        </p:tgtEl>
                                        <p:attrNameLst>
                                          <p:attrName>style.visibility</p:attrName>
                                        </p:attrNameLst>
                                      </p:cBhvr>
                                      <p:to>
                                        <p:strVal val="visible"/>
                                      </p:to>
                                    </p:set>
                                    <p:anim calcmode="lin" valueType="num">
                                      <p:cBhvr additive="base">
                                        <p:cTn id="21" dur="500"/>
                                        <p:tgtEl>
                                          <p:spTgt spid="31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19"/>
                                        </p:tgtEl>
                                        <p:attrNameLst>
                                          <p:attrName>style.visibility</p:attrName>
                                        </p:attrNameLst>
                                      </p:cBhvr>
                                      <p:to>
                                        <p:strVal val="visible"/>
                                      </p:to>
                                    </p:set>
                                    <p:anim calcmode="lin" valueType="num">
                                      <p:cBhvr additive="base">
                                        <p:cTn id="26" dur="500"/>
                                        <p:tgtEl>
                                          <p:spTgt spid="319"/>
                                        </p:tgtEl>
                                        <p:attrNameLst>
                                          <p:attrName>ppt_y</p:attrName>
                                        </p:attrNameLst>
                                      </p:cBhvr>
                                      <p:tavLst>
                                        <p:tav tm="0">
                                          <p:val>
                                            <p:strVal val="#ppt_y+1"/>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20"/>
                                        </p:tgtEl>
                                        <p:attrNameLst>
                                          <p:attrName>style.visibility</p:attrName>
                                        </p:attrNameLst>
                                      </p:cBhvr>
                                      <p:to>
                                        <p:strVal val="visible"/>
                                      </p:to>
                                    </p:set>
                                    <p:anim calcmode="lin" valueType="num">
                                      <p:cBhvr additive="base">
                                        <p:cTn id="29" dur="500"/>
                                        <p:tgtEl>
                                          <p:spTgt spid="320"/>
                                        </p:tgtEl>
                                        <p:attrNameLst>
                                          <p:attrName>ppt_y</p:attrName>
                                        </p:attrNameLst>
                                      </p:cBhvr>
                                      <p:tavLst>
                                        <p:tav tm="0">
                                          <p:val>
                                            <p:strVal val="#ppt_y+1"/>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317"/>
                                        </p:tgtEl>
                                        <p:attrNameLst>
                                          <p:attrName>style.visibility</p:attrName>
                                        </p:attrNameLst>
                                      </p:cBhvr>
                                      <p:to>
                                        <p:strVal val="visible"/>
                                      </p:to>
                                    </p:set>
                                    <p:anim calcmode="lin" valueType="num">
                                      <p:cBhvr additive="base">
                                        <p:cTn id="32" dur="500"/>
                                        <p:tgtEl>
                                          <p:spTgt spid="317"/>
                                        </p:tgtEl>
                                        <p:attrNameLst>
                                          <p:attrName>ppt_y</p:attrName>
                                        </p:attrNameLst>
                                      </p:cBhvr>
                                      <p:tavLst>
                                        <p:tav tm="0">
                                          <p:val>
                                            <p:strVal val="#ppt_y+1"/>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18"/>
                                        </p:tgtEl>
                                        <p:attrNameLst>
                                          <p:attrName>style.visibility</p:attrName>
                                        </p:attrNameLst>
                                      </p:cBhvr>
                                      <p:to>
                                        <p:strVal val="visible"/>
                                      </p:to>
                                    </p:set>
                                    <p:anim calcmode="lin" valueType="num">
                                      <p:cBhvr additive="base">
                                        <p:cTn id="35" dur="500"/>
                                        <p:tgtEl>
                                          <p:spTgt spid="31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321"/>
                                        </p:tgtEl>
                                        <p:attrNameLst>
                                          <p:attrName>style.visibility</p:attrName>
                                        </p:attrNameLst>
                                      </p:cBhvr>
                                      <p:to>
                                        <p:strVal val="visible"/>
                                      </p:to>
                                    </p:set>
                                    <p:anim calcmode="lin" valueType="num">
                                      <p:cBhvr additive="base">
                                        <p:cTn id="40" dur="500"/>
                                        <p:tgtEl>
                                          <p:spTgt spid="321"/>
                                        </p:tgtEl>
                                        <p:attrNameLst>
                                          <p:attrName>ppt_y</p:attrName>
                                        </p:attrNameLst>
                                      </p:cBhvr>
                                      <p:tavLst>
                                        <p:tav tm="0">
                                          <p:val>
                                            <p:strVal val="#ppt_y+1"/>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22"/>
                                        </p:tgtEl>
                                        <p:attrNameLst>
                                          <p:attrName>style.visibility</p:attrName>
                                        </p:attrNameLst>
                                      </p:cBhvr>
                                      <p:to>
                                        <p:strVal val="visible"/>
                                      </p:to>
                                    </p:set>
                                    <p:anim calcmode="lin" valueType="num">
                                      <p:cBhvr additive="base">
                                        <p:cTn id="43" dur="500"/>
                                        <p:tgtEl>
                                          <p:spTgt spid="322"/>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324"/>
                                        </p:tgtEl>
                                        <p:attrNameLst>
                                          <p:attrName>style.visibility</p:attrName>
                                        </p:attrNameLst>
                                      </p:cBhvr>
                                      <p:to>
                                        <p:strVal val="visible"/>
                                      </p:to>
                                    </p:set>
                                    <p:anim calcmode="lin" valueType="num">
                                      <p:cBhvr additive="base">
                                        <p:cTn id="48" dur="500"/>
                                        <p:tgtEl>
                                          <p:spTgt spid="324"/>
                                        </p:tgtEl>
                                        <p:attrNameLst>
                                          <p:attrName>ppt_y</p:attrName>
                                        </p:attrNameLst>
                                      </p:cBhvr>
                                      <p:tavLst>
                                        <p:tav tm="0">
                                          <p:val>
                                            <p:strVal val="#ppt_y+1"/>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23"/>
                                        </p:tgtEl>
                                        <p:attrNameLst>
                                          <p:attrName>style.visibility</p:attrName>
                                        </p:attrNameLst>
                                      </p:cBhvr>
                                      <p:to>
                                        <p:strVal val="visible"/>
                                      </p:to>
                                    </p:set>
                                    <p:anim calcmode="lin" valueType="num">
                                      <p:cBhvr additive="base">
                                        <p:cTn id="51" dur="500"/>
                                        <p:tgtEl>
                                          <p:spTgt spid="323"/>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326"/>
                                        </p:tgtEl>
                                        <p:attrNameLst>
                                          <p:attrName>style.visibility</p:attrName>
                                        </p:attrNameLst>
                                      </p:cBhvr>
                                      <p:to>
                                        <p:strVal val="visible"/>
                                      </p:to>
                                    </p:set>
                                    <p:anim calcmode="lin" valueType="num">
                                      <p:cBhvr additive="base">
                                        <p:cTn id="56" dur="500"/>
                                        <p:tgtEl>
                                          <p:spTgt spid="326"/>
                                        </p:tgtEl>
                                        <p:attrNameLst>
                                          <p:attrName>ppt_y</p:attrName>
                                        </p:attrNameLst>
                                      </p:cBhvr>
                                      <p:tavLst>
                                        <p:tav tm="0">
                                          <p:val>
                                            <p:strVal val="#ppt_y+1"/>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25"/>
                                        </p:tgtEl>
                                        <p:attrNameLst>
                                          <p:attrName>style.visibility</p:attrName>
                                        </p:attrNameLst>
                                      </p:cBhvr>
                                      <p:to>
                                        <p:strVal val="visible"/>
                                      </p:to>
                                    </p:set>
                                    <p:anim calcmode="lin" valueType="num">
                                      <p:cBhvr additive="base">
                                        <p:cTn id="59" dur="500"/>
                                        <p:tgtEl>
                                          <p:spTgt spid="3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0"/>
        <p:cNvGrpSpPr/>
        <p:nvPr/>
      </p:nvGrpSpPr>
      <p:grpSpPr>
        <a:xfrm>
          <a:off x="0" y="0"/>
          <a:ext cx="0" cy="0"/>
          <a:chOff x="0" y="0"/>
          <a:chExt cx="0" cy="0"/>
        </a:xfrm>
      </p:grpSpPr>
      <p:sp>
        <p:nvSpPr>
          <p:cNvPr id="331" name="Google Shape;331;p14"/>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332" name="Google Shape;332;p14"/>
          <p:cNvPicPr preferRelativeResize="0"/>
          <p:nvPr/>
        </p:nvPicPr>
        <p:blipFill rotWithShape="1">
          <a:blip r:embed="rId3">
            <a:alphaModFix amt="35000"/>
          </a:blip>
          <a:srcRect/>
          <a:stretch/>
        </p:blipFill>
        <p:spPr>
          <a:xfrm>
            <a:off x="0" y="1"/>
            <a:ext cx="12192000" cy="1392401"/>
          </a:xfrm>
          <a:prstGeom prst="rect">
            <a:avLst/>
          </a:prstGeom>
          <a:noFill/>
          <a:ln>
            <a:noFill/>
          </a:ln>
        </p:spPr>
      </p:pic>
      <p:sp>
        <p:nvSpPr>
          <p:cNvPr id="333" name="Google Shape;333;p14"/>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334" name="Google Shape;334;p14"/>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335" name="Google Shape;335;p14"/>
          <p:cNvPicPr preferRelativeResize="0"/>
          <p:nvPr/>
        </p:nvPicPr>
        <p:blipFill rotWithShape="1">
          <a:blip r:embed="rId4">
            <a:alphaModFix/>
          </a:blip>
          <a:srcRect l="9052" r="15486" b="-2"/>
          <a:stretch/>
        </p:blipFill>
        <p:spPr>
          <a:xfrm>
            <a:off x="3048" y="10"/>
            <a:ext cx="6195372" cy="4618233"/>
          </a:xfrm>
          <a:prstGeom prst="rect">
            <a:avLst/>
          </a:prstGeom>
          <a:noFill/>
          <a:ln>
            <a:noFill/>
          </a:ln>
        </p:spPr>
      </p:pic>
      <p:sp>
        <p:nvSpPr>
          <p:cNvPr id="336" name="Google Shape;336;p14"/>
          <p:cNvSpPr/>
          <p:nvPr/>
        </p:nvSpPr>
        <p:spPr>
          <a:xfrm>
            <a:off x="0" y="4602877"/>
            <a:ext cx="12192000" cy="2267339"/>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337" name="Google Shape;337;p14"/>
          <p:cNvSpPr/>
          <p:nvPr/>
        </p:nvSpPr>
        <p:spPr>
          <a:xfrm rot="10800000">
            <a:off x="-3055" y="4596020"/>
            <a:ext cx="12191999" cy="2274195"/>
          </a:xfrm>
          <a:prstGeom prst="rect">
            <a:avLst/>
          </a:prstGeom>
          <a:blipFill rotWithShape="1">
            <a:blip r:embed="rId5">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338" name="Google Shape;338;p14"/>
          <p:cNvSpPr txBox="1">
            <a:spLocks noGrp="1"/>
          </p:cNvSpPr>
          <p:nvPr>
            <p:ph type="ctrTitle"/>
          </p:nvPr>
        </p:nvSpPr>
        <p:spPr>
          <a:xfrm>
            <a:off x="838200" y="4876800"/>
            <a:ext cx="10003218" cy="121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100"/>
              <a:buFont typeface="Avenir"/>
              <a:buNone/>
            </a:pPr>
            <a:r>
              <a:rPr lang="en-US" sz="4100"/>
              <a:t>CS621 Parallel and Distributed Computing</a:t>
            </a:r>
            <a:endParaRPr sz="4100"/>
          </a:p>
        </p:txBody>
      </p:sp>
      <p:sp>
        <p:nvSpPr>
          <p:cNvPr id="339" name="Google Shape;339;p14"/>
          <p:cNvSpPr txBox="1">
            <a:spLocks noGrp="1"/>
          </p:cNvSpPr>
          <p:nvPr>
            <p:ph type="subTitle" idx="1"/>
          </p:nvPr>
        </p:nvSpPr>
        <p:spPr>
          <a:xfrm>
            <a:off x="6553200" y="369204"/>
            <a:ext cx="4800600" cy="3935986"/>
          </a:xfrm>
          <a:prstGeom prst="rect">
            <a:avLst/>
          </a:prstGeom>
          <a:noFill/>
          <a:ln>
            <a:noFill/>
          </a:ln>
        </p:spPr>
        <p:txBody>
          <a:bodyPr spcFirstLastPara="1" wrap="square" lIns="91425" tIns="45700" rIns="91425" bIns="45700" anchor="ctr" anchorCtr="0">
            <a:normAutofit/>
          </a:bodyPr>
          <a:lstStyle/>
          <a:p>
            <a:pPr marL="0" lvl="0" indent="0" algn="ctr" rtl="0">
              <a:lnSpc>
                <a:spcPct val="110000"/>
              </a:lnSpc>
              <a:spcBef>
                <a:spcPts val="0"/>
              </a:spcBef>
              <a:spcAft>
                <a:spcPts val="0"/>
              </a:spcAft>
              <a:buSzPts val="2800"/>
              <a:buNone/>
            </a:pPr>
            <a:r>
              <a:rPr lang="en-US" sz="2800" b="1">
                <a:solidFill>
                  <a:schemeClr val="dk2"/>
                </a:solidFill>
                <a:latin typeface="Arial"/>
                <a:ea typeface="Arial"/>
                <a:cs typeface="Arial"/>
                <a:sym typeface="Arial"/>
              </a:rPr>
              <a:t>Introduction to Parallel Computing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3"/>
        <p:cNvGrpSpPr/>
        <p:nvPr/>
      </p:nvGrpSpPr>
      <p:grpSpPr>
        <a:xfrm>
          <a:off x="0" y="0"/>
          <a:ext cx="0" cy="0"/>
          <a:chOff x="0" y="0"/>
          <a:chExt cx="0" cy="0"/>
        </a:xfrm>
      </p:grpSpPr>
      <p:sp>
        <p:nvSpPr>
          <p:cNvPr id="344" name="Google Shape;344;p15"/>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345" name="Google Shape;345;p15"/>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346" name="Google Shape;346;p15"/>
          <p:cNvSpPr/>
          <p:nvPr/>
        </p:nvSpPr>
        <p:spPr>
          <a:xfrm>
            <a:off x="0" y="0"/>
            <a:ext cx="4572000" cy="6858000"/>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347" name="Google Shape;347;p15"/>
          <p:cNvSpPr/>
          <p:nvPr/>
        </p:nvSpPr>
        <p:spPr>
          <a:xfrm>
            <a:off x="0" y="0"/>
            <a:ext cx="4572000" cy="6858000"/>
          </a:xfrm>
          <a:prstGeom prst="rect">
            <a:avLst/>
          </a:prstGeom>
          <a:blipFill rotWithShape="1">
            <a:blip r:embed="rId3">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348" name="Google Shape;348;p15"/>
          <p:cNvSpPr txBox="1">
            <a:spLocks noGrp="1"/>
          </p:cNvSpPr>
          <p:nvPr>
            <p:ph type="title"/>
          </p:nvPr>
        </p:nvSpPr>
        <p:spPr>
          <a:xfrm>
            <a:off x="838201" y="559813"/>
            <a:ext cx="2819399" cy="557793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700"/>
              <a:buFont typeface="Avenir"/>
              <a:buNone/>
            </a:pPr>
            <a:r>
              <a:rPr lang="en-US" sz="3700"/>
              <a:t>Objectives</a:t>
            </a:r>
            <a:endParaRPr sz="3700"/>
          </a:p>
        </p:txBody>
      </p:sp>
      <p:grpSp>
        <p:nvGrpSpPr>
          <p:cNvPr id="349" name="Google Shape;349;p15"/>
          <p:cNvGrpSpPr/>
          <p:nvPr/>
        </p:nvGrpSpPr>
        <p:grpSpPr>
          <a:xfrm>
            <a:off x="4807223" y="457913"/>
            <a:ext cx="7003777" cy="5842177"/>
            <a:chOff x="0" y="713"/>
            <a:chExt cx="7003777" cy="5842177"/>
          </a:xfrm>
        </p:grpSpPr>
        <p:sp>
          <p:nvSpPr>
            <p:cNvPr id="350" name="Google Shape;350;p15"/>
            <p:cNvSpPr/>
            <p:nvPr/>
          </p:nvSpPr>
          <p:spPr>
            <a:xfrm>
              <a:off x="0" y="713"/>
              <a:ext cx="7003777" cy="166919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5"/>
            <p:cNvSpPr/>
            <p:nvPr/>
          </p:nvSpPr>
          <p:spPr>
            <a:xfrm>
              <a:off x="504931" y="376281"/>
              <a:ext cx="918056" cy="918056"/>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5"/>
            <p:cNvSpPr/>
            <p:nvPr/>
          </p:nvSpPr>
          <p:spPr>
            <a:xfrm>
              <a:off x="1927918" y="713"/>
              <a:ext cx="5075858" cy="166919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5"/>
            <p:cNvSpPr txBox="1"/>
            <p:nvPr/>
          </p:nvSpPr>
          <p:spPr>
            <a:xfrm>
              <a:off x="1927918" y="713"/>
              <a:ext cx="5075858" cy="1669193"/>
            </a:xfrm>
            <a:prstGeom prst="rect">
              <a:avLst/>
            </a:prstGeom>
            <a:noFill/>
            <a:ln>
              <a:noFill/>
            </a:ln>
          </p:spPr>
          <p:txBody>
            <a:bodyPr spcFirstLastPara="1" wrap="square" lIns="176650" tIns="176650" rIns="176650" bIns="176650" anchor="ctr" anchorCtr="0">
              <a:noAutofit/>
            </a:bodyPr>
            <a:lstStyle/>
            <a:p>
              <a:pPr marL="0" marR="0" lvl="0" indent="0" algn="l" rtl="0">
                <a:lnSpc>
                  <a:spcPct val="100000"/>
                </a:lnSpc>
                <a:spcBef>
                  <a:spcPts val="0"/>
                </a:spcBef>
                <a:spcAft>
                  <a:spcPts val="0"/>
                </a:spcAft>
                <a:buClr>
                  <a:schemeClr val="dk1"/>
                </a:buClr>
                <a:buSzPts val="2500"/>
                <a:buFont typeface="Arial"/>
                <a:buNone/>
              </a:pPr>
              <a:r>
                <a:rPr lang="en-US" sz="2500">
                  <a:solidFill>
                    <a:schemeClr val="dk1"/>
                  </a:solidFill>
                  <a:latin typeface="Arial"/>
                  <a:ea typeface="Arial"/>
                  <a:cs typeface="Arial"/>
                  <a:sym typeface="Arial"/>
                </a:rPr>
                <a:t>Parallel Computing</a:t>
              </a:r>
              <a:endParaRPr sz="2500">
                <a:solidFill>
                  <a:schemeClr val="dk1"/>
                </a:solidFill>
                <a:latin typeface="Avenir"/>
                <a:ea typeface="Avenir"/>
                <a:cs typeface="Avenir"/>
                <a:sym typeface="Avenir"/>
              </a:endParaRPr>
            </a:p>
          </p:txBody>
        </p:sp>
        <p:sp>
          <p:nvSpPr>
            <p:cNvPr id="354" name="Google Shape;354;p15"/>
            <p:cNvSpPr/>
            <p:nvPr/>
          </p:nvSpPr>
          <p:spPr>
            <a:xfrm>
              <a:off x="0" y="2087205"/>
              <a:ext cx="7003777" cy="166919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5"/>
            <p:cNvSpPr/>
            <p:nvPr/>
          </p:nvSpPr>
          <p:spPr>
            <a:xfrm>
              <a:off x="504931" y="2462774"/>
              <a:ext cx="918056" cy="918056"/>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5"/>
            <p:cNvSpPr/>
            <p:nvPr/>
          </p:nvSpPr>
          <p:spPr>
            <a:xfrm>
              <a:off x="1927918" y="2087205"/>
              <a:ext cx="5075858" cy="166919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5"/>
            <p:cNvSpPr txBox="1"/>
            <p:nvPr/>
          </p:nvSpPr>
          <p:spPr>
            <a:xfrm>
              <a:off x="1927918" y="2087205"/>
              <a:ext cx="5075858" cy="1669193"/>
            </a:xfrm>
            <a:prstGeom prst="rect">
              <a:avLst/>
            </a:prstGeom>
            <a:noFill/>
            <a:ln>
              <a:noFill/>
            </a:ln>
          </p:spPr>
          <p:txBody>
            <a:bodyPr spcFirstLastPara="1" wrap="square" lIns="176650" tIns="176650" rIns="176650" bIns="176650" anchor="ctr" anchorCtr="0">
              <a:noAutofit/>
            </a:bodyPr>
            <a:lstStyle/>
            <a:p>
              <a:pPr marL="0" marR="0" lvl="0" indent="0" algn="l" rtl="0">
                <a:lnSpc>
                  <a:spcPct val="100000"/>
                </a:lnSpc>
                <a:spcBef>
                  <a:spcPts val="0"/>
                </a:spcBef>
                <a:spcAft>
                  <a:spcPts val="0"/>
                </a:spcAft>
                <a:buClr>
                  <a:schemeClr val="dk1"/>
                </a:buClr>
                <a:buSzPts val="2500"/>
                <a:buFont typeface="Arial"/>
                <a:buNone/>
              </a:pPr>
              <a:r>
                <a:rPr lang="en-US" sz="2500">
                  <a:solidFill>
                    <a:schemeClr val="dk1"/>
                  </a:solidFill>
                  <a:latin typeface="Arial"/>
                  <a:ea typeface="Arial"/>
                  <a:cs typeface="Arial"/>
                  <a:sym typeface="Arial"/>
                </a:rPr>
                <a:t>Multi-Processer</a:t>
              </a:r>
              <a:endParaRPr sz="2500">
                <a:solidFill>
                  <a:schemeClr val="dk1"/>
                </a:solidFill>
                <a:latin typeface="Avenir"/>
                <a:ea typeface="Avenir"/>
                <a:cs typeface="Avenir"/>
                <a:sym typeface="Avenir"/>
              </a:endParaRPr>
            </a:p>
          </p:txBody>
        </p:sp>
        <p:sp>
          <p:nvSpPr>
            <p:cNvPr id="358" name="Google Shape;358;p15"/>
            <p:cNvSpPr/>
            <p:nvPr/>
          </p:nvSpPr>
          <p:spPr>
            <a:xfrm>
              <a:off x="0" y="4173697"/>
              <a:ext cx="7003777" cy="166919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5"/>
            <p:cNvSpPr/>
            <p:nvPr/>
          </p:nvSpPr>
          <p:spPr>
            <a:xfrm>
              <a:off x="504931" y="4525052"/>
              <a:ext cx="918056" cy="966484"/>
            </a:xfrm>
            <a:prstGeom prst="rect">
              <a:avLst/>
            </a:prstGeom>
            <a:blipFill rotWithShape="1">
              <a:blip r:embed="rId6">
                <a:alphaModFix/>
              </a:blip>
              <a:stretch>
                <a:fillRect t="-3999" b="-3999"/>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5"/>
            <p:cNvSpPr/>
            <p:nvPr/>
          </p:nvSpPr>
          <p:spPr>
            <a:xfrm>
              <a:off x="1927918" y="4173697"/>
              <a:ext cx="5075858" cy="166919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5"/>
            <p:cNvSpPr txBox="1"/>
            <p:nvPr/>
          </p:nvSpPr>
          <p:spPr>
            <a:xfrm>
              <a:off x="1927918" y="4173697"/>
              <a:ext cx="5075858" cy="1669193"/>
            </a:xfrm>
            <a:prstGeom prst="rect">
              <a:avLst/>
            </a:prstGeom>
            <a:noFill/>
            <a:ln>
              <a:noFill/>
            </a:ln>
          </p:spPr>
          <p:txBody>
            <a:bodyPr spcFirstLastPara="1" wrap="square" lIns="176650" tIns="176650" rIns="176650" bIns="176650" anchor="ctr" anchorCtr="0">
              <a:noAutofit/>
            </a:bodyPr>
            <a:lstStyle/>
            <a:p>
              <a:pPr marL="0" marR="0" lvl="0" indent="0" algn="l" rtl="0">
                <a:lnSpc>
                  <a:spcPct val="100000"/>
                </a:lnSpc>
                <a:spcBef>
                  <a:spcPts val="0"/>
                </a:spcBef>
                <a:spcAft>
                  <a:spcPts val="0"/>
                </a:spcAft>
                <a:buClr>
                  <a:schemeClr val="dk1"/>
                </a:buClr>
                <a:buSzPts val="2500"/>
                <a:buFont typeface="Arial"/>
                <a:buNone/>
              </a:pPr>
              <a:r>
                <a:rPr lang="en-US" sz="2500">
                  <a:solidFill>
                    <a:schemeClr val="dk1"/>
                  </a:solidFill>
                  <a:latin typeface="Arial"/>
                  <a:ea typeface="Arial"/>
                  <a:cs typeface="Arial"/>
                  <a:sym typeface="Arial"/>
                </a:rPr>
                <a:t>Multi-Core</a:t>
              </a:r>
              <a:endParaRPr sz="2500">
                <a:solidFill>
                  <a:schemeClr val="dk1"/>
                </a:solidFill>
                <a:latin typeface="Avenir"/>
                <a:ea typeface="Avenir"/>
                <a:cs typeface="Avenir"/>
                <a:sym typeface="Aveni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6"/>
        <p:cNvGrpSpPr/>
        <p:nvPr/>
      </p:nvGrpSpPr>
      <p:grpSpPr>
        <a:xfrm>
          <a:off x="0" y="0"/>
          <a:ext cx="0" cy="0"/>
          <a:chOff x="0" y="0"/>
          <a:chExt cx="0" cy="0"/>
        </a:xfrm>
      </p:grpSpPr>
      <p:sp>
        <p:nvSpPr>
          <p:cNvPr id="367" name="Google Shape;367;p16"/>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368" name="Google Shape;368;p16"/>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369" name="Google Shape;369;p16"/>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370" name="Google Shape;370;p16"/>
          <p:cNvSpPr/>
          <p:nvPr/>
        </p:nvSpPr>
        <p:spPr>
          <a:xfrm>
            <a:off x="1524" y="0"/>
            <a:ext cx="12188952" cy="2225674"/>
          </a:xfrm>
          <a:prstGeom prst="rect">
            <a:avLst/>
          </a:prstGeom>
          <a:blipFill rotWithShape="1">
            <a:blip r:embed="rId3">
              <a:alphaModFix amt="24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371" name="Google Shape;371;p16"/>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a:t>Introduction to Parallel Computing</a:t>
            </a:r>
            <a:endParaRPr/>
          </a:p>
        </p:txBody>
      </p:sp>
      <p:sp>
        <p:nvSpPr>
          <p:cNvPr id="372" name="Google Shape;372;p16"/>
          <p:cNvSpPr txBox="1">
            <a:spLocks noGrp="1"/>
          </p:cNvSpPr>
          <p:nvPr>
            <p:ph type="body" idx="1"/>
          </p:nvPr>
        </p:nvSpPr>
        <p:spPr>
          <a:xfrm>
            <a:off x="1198182" y="2664620"/>
            <a:ext cx="8796337" cy="3935413"/>
          </a:xfrm>
          <a:prstGeom prst="rect">
            <a:avLst/>
          </a:prstGeom>
          <a:noFill/>
          <a:ln>
            <a:noFill/>
          </a:ln>
        </p:spPr>
        <p:txBody>
          <a:bodyPr spcFirstLastPara="1" wrap="square" lIns="91425" tIns="45700" rIns="91425" bIns="45700" anchor="t" anchorCtr="0">
            <a:noAutofit/>
          </a:bodyPr>
          <a:lstStyle/>
          <a:p>
            <a:pPr marL="0" lvl="0" indent="0" algn="ctr" rtl="0">
              <a:lnSpc>
                <a:spcPct val="110000"/>
              </a:lnSpc>
              <a:spcBef>
                <a:spcPts val="0"/>
              </a:spcBef>
              <a:spcAft>
                <a:spcPts val="0"/>
              </a:spcAft>
              <a:buSzPts val="2800"/>
              <a:buNone/>
            </a:pPr>
            <a:r>
              <a:rPr lang="en-US">
                <a:solidFill>
                  <a:schemeClr val="dk1"/>
                </a:solidFill>
                <a:latin typeface="Arial"/>
                <a:ea typeface="Arial"/>
                <a:cs typeface="Arial"/>
                <a:sym typeface="Arial"/>
              </a:rPr>
              <a:t>“Parallel Computing is the </a:t>
            </a:r>
            <a:r>
              <a:rPr lang="en-US">
                <a:solidFill>
                  <a:srgbClr val="C00000"/>
                </a:solidFill>
                <a:latin typeface="Arial"/>
                <a:ea typeface="Arial"/>
                <a:cs typeface="Arial"/>
                <a:sym typeface="Arial"/>
              </a:rPr>
              <a:t>simultaneous</a:t>
            </a:r>
            <a:r>
              <a:rPr lang="en-US">
                <a:solidFill>
                  <a:schemeClr val="dk1"/>
                </a:solidFill>
                <a:latin typeface="Arial"/>
                <a:ea typeface="Arial"/>
                <a:cs typeface="Arial"/>
                <a:sym typeface="Arial"/>
              </a:rPr>
              <a:t> execution of the same task (split up and adapted) on </a:t>
            </a:r>
            <a:r>
              <a:rPr lang="en-US">
                <a:solidFill>
                  <a:srgbClr val="0000FF"/>
                </a:solidFill>
                <a:latin typeface="Arial"/>
                <a:ea typeface="Arial"/>
                <a:cs typeface="Arial"/>
                <a:sym typeface="Arial"/>
              </a:rPr>
              <a:t>multiple processors</a:t>
            </a:r>
            <a:r>
              <a:rPr lang="en-US">
                <a:solidFill>
                  <a:schemeClr val="dk1"/>
                </a:solidFill>
                <a:latin typeface="Arial"/>
                <a:ea typeface="Arial"/>
                <a:cs typeface="Arial"/>
                <a:sym typeface="Arial"/>
              </a:rPr>
              <a:t> in order to obtain faster results.”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7"/>
        <p:cNvGrpSpPr/>
        <p:nvPr/>
      </p:nvGrpSpPr>
      <p:grpSpPr>
        <a:xfrm>
          <a:off x="0" y="0"/>
          <a:ext cx="0" cy="0"/>
          <a:chOff x="0" y="0"/>
          <a:chExt cx="0" cy="0"/>
        </a:xfrm>
      </p:grpSpPr>
      <p:sp>
        <p:nvSpPr>
          <p:cNvPr id="378" name="Google Shape;378;p17"/>
          <p:cNvSpPr/>
          <p:nvPr/>
        </p:nvSpPr>
        <p:spPr>
          <a:xfrm>
            <a:off x="0" y="0"/>
            <a:ext cx="1219200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379" name="Google Shape;379;p17"/>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380" name="Google Shape;380;p17"/>
          <p:cNvPicPr preferRelativeResize="0"/>
          <p:nvPr/>
        </p:nvPicPr>
        <p:blipFill rotWithShape="1">
          <a:blip r:embed="rId3">
            <a:alphaModFix/>
          </a:blip>
          <a:srcRect t="37018" r="40625"/>
          <a:stretch/>
        </p:blipFill>
        <p:spPr>
          <a:xfrm>
            <a:off x="10744200" y="0"/>
            <a:ext cx="1447800" cy="1535750"/>
          </a:xfrm>
          <a:prstGeom prst="rect">
            <a:avLst/>
          </a:prstGeom>
          <a:noFill/>
          <a:ln>
            <a:noFill/>
          </a:ln>
        </p:spPr>
      </p:pic>
      <p:sp>
        <p:nvSpPr>
          <p:cNvPr id="381" name="Google Shape;381;p17"/>
          <p:cNvSpPr txBox="1">
            <a:spLocks noGrp="1"/>
          </p:cNvSpPr>
          <p:nvPr>
            <p:ph type="title"/>
          </p:nvPr>
        </p:nvSpPr>
        <p:spPr>
          <a:xfrm>
            <a:off x="838201" y="559813"/>
            <a:ext cx="10348146" cy="128347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4100"/>
              <a:buFont typeface="Avenir"/>
              <a:buNone/>
            </a:pPr>
            <a:r>
              <a:rPr lang="en-US" sz="4100">
                <a:solidFill>
                  <a:schemeClr val="dk2"/>
                </a:solidFill>
              </a:rPr>
              <a:t>Introduction to Parallel Computing Cont.…</a:t>
            </a:r>
            <a:endParaRPr sz="4100">
              <a:solidFill>
                <a:schemeClr val="dk2"/>
              </a:solidFill>
            </a:endParaRPr>
          </a:p>
        </p:txBody>
      </p:sp>
      <p:pic>
        <p:nvPicPr>
          <p:cNvPr id="382" name="Google Shape;382;p17"/>
          <p:cNvPicPr preferRelativeResize="0"/>
          <p:nvPr/>
        </p:nvPicPr>
        <p:blipFill rotWithShape="1">
          <a:blip r:embed="rId4">
            <a:alphaModFix/>
          </a:blip>
          <a:srcRect r="67342"/>
          <a:stretch/>
        </p:blipFill>
        <p:spPr>
          <a:xfrm rot="10800000">
            <a:off x="-1" y="2719661"/>
            <a:ext cx="830249" cy="2548349"/>
          </a:xfrm>
          <a:prstGeom prst="rect">
            <a:avLst/>
          </a:prstGeom>
          <a:noFill/>
          <a:ln>
            <a:noFill/>
          </a:ln>
        </p:spPr>
      </p:pic>
      <p:grpSp>
        <p:nvGrpSpPr>
          <p:cNvPr id="383" name="Google Shape;383;p17"/>
          <p:cNvGrpSpPr/>
          <p:nvPr/>
        </p:nvGrpSpPr>
        <p:grpSpPr>
          <a:xfrm>
            <a:off x="1190943" y="1843285"/>
            <a:ext cx="8638330" cy="4333679"/>
            <a:chOff x="3095" y="0"/>
            <a:chExt cx="8638329" cy="4333679"/>
          </a:xfrm>
        </p:grpSpPr>
        <p:sp>
          <p:nvSpPr>
            <p:cNvPr id="384" name="Google Shape;384;p17"/>
            <p:cNvSpPr/>
            <p:nvPr/>
          </p:nvSpPr>
          <p:spPr>
            <a:xfrm rot="-5400000">
              <a:off x="280189" y="-277094"/>
              <a:ext cx="4333679" cy="4887868"/>
            </a:xfrm>
            <a:prstGeom prst="flowChartManualOperation">
              <a:avLst/>
            </a:prstGeom>
            <a:solidFill>
              <a:schemeClr val="accent1"/>
            </a:solidFill>
            <a:ln w="12700" cap="flat" cmpd="sng">
              <a:solidFill>
                <a:schemeClr val="lt1">
                  <a:alpha val="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7"/>
            <p:cNvSpPr txBox="1"/>
            <p:nvPr/>
          </p:nvSpPr>
          <p:spPr>
            <a:xfrm>
              <a:off x="3095" y="866736"/>
              <a:ext cx="4887868" cy="2600207"/>
            </a:xfrm>
            <a:prstGeom prst="rect">
              <a:avLst/>
            </a:prstGeom>
            <a:noFill/>
            <a:ln>
              <a:noFill/>
            </a:ln>
          </p:spPr>
          <p:txBody>
            <a:bodyPr spcFirstLastPara="1" wrap="square" lIns="120650" tIns="0" rIns="121600" bIns="0" anchor="ctr" anchorCtr="0">
              <a:noAutofit/>
            </a:bodyPr>
            <a:lstStyle/>
            <a:p>
              <a:pPr marL="0" marR="0" lvl="0" indent="0" algn="l" rtl="0">
                <a:lnSpc>
                  <a:spcPct val="90000"/>
                </a:lnSpc>
                <a:spcBef>
                  <a:spcPts val="0"/>
                </a:spcBef>
                <a:spcAft>
                  <a:spcPts val="0"/>
                </a:spcAft>
                <a:buClr>
                  <a:schemeClr val="lt1"/>
                </a:buClr>
                <a:buSzPts val="1900"/>
                <a:buFont typeface="Arial"/>
                <a:buNone/>
              </a:pPr>
              <a:r>
                <a:rPr lang="en-US" sz="1900">
                  <a:solidFill>
                    <a:schemeClr val="lt1"/>
                  </a:solidFill>
                  <a:latin typeface="Arial"/>
                  <a:ea typeface="Arial"/>
                  <a:cs typeface="Arial"/>
                  <a:sym typeface="Arial"/>
                </a:rPr>
                <a:t>It is a kind of computing architecture where the large problems break into independent, smaller, usually similar parts that can be processed in one go. It is done by multiple CPUs communicating via shared memory, which combines results upon completion. It helps in performing large computations as it divides the large problem between more than one processor.</a:t>
              </a:r>
              <a:endParaRPr sz="1900">
                <a:solidFill>
                  <a:schemeClr val="lt1"/>
                </a:solidFill>
                <a:latin typeface="Avenir"/>
                <a:ea typeface="Avenir"/>
                <a:cs typeface="Avenir"/>
                <a:sym typeface="Avenir"/>
              </a:endParaRPr>
            </a:p>
          </p:txBody>
        </p:sp>
        <p:sp>
          <p:nvSpPr>
            <p:cNvPr id="386" name="Google Shape;386;p17"/>
            <p:cNvSpPr/>
            <p:nvPr/>
          </p:nvSpPr>
          <p:spPr>
            <a:xfrm rot="-5400000">
              <a:off x="5342452" y="474903"/>
              <a:ext cx="3214073" cy="3383871"/>
            </a:xfrm>
            <a:prstGeom prst="flowChartManualOperation">
              <a:avLst/>
            </a:prstGeom>
            <a:solidFill>
              <a:schemeClr val="accent1"/>
            </a:solidFill>
            <a:ln w="12700" cap="flat" cmpd="sng">
              <a:solidFill>
                <a:schemeClr val="lt1">
                  <a:alpha val="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7"/>
            <p:cNvSpPr txBox="1"/>
            <p:nvPr/>
          </p:nvSpPr>
          <p:spPr>
            <a:xfrm>
              <a:off x="5257553" y="1202617"/>
              <a:ext cx="3383871" cy="1928443"/>
            </a:xfrm>
            <a:prstGeom prst="rect">
              <a:avLst/>
            </a:prstGeom>
            <a:noFill/>
            <a:ln>
              <a:noFill/>
            </a:ln>
          </p:spPr>
          <p:txBody>
            <a:bodyPr spcFirstLastPara="1" wrap="square" lIns="120650" tIns="0" rIns="121600" bIns="0" anchor="ctr" anchorCtr="0">
              <a:noAutofit/>
            </a:bodyPr>
            <a:lstStyle/>
            <a:p>
              <a:pPr marL="0" marR="0" lvl="0" indent="0" algn="l" rtl="0">
                <a:lnSpc>
                  <a:spcPct val="90000"/>
                </a:lnSpc>
                <a:spcBef>
                  <a:spcPts val="0"/>
                </a:spcBef>
                <a:spcAft>
                  <a:spcPts val="0"/>
                </a:spcAft>
                <a:buClr>
                  <a:schemeClr val="lt1"/>
                </a:buClr>
                <a:buSzPts val="1900"/>
                <a:buFont typeface="Arial"/>
                <a:buNone/>
              </a:pPr>
              <a:r>
                <a:rPr lang="en-US" sz="1900">
                  <a:solidFill>
                    <a:schemeClr val="lt1"/>
                  </a:solidFill>
                  <a:latin typeface="Arial"/>
                  <a:ea typeface="Arial"/>
                  <a:cs typeface="Arial"/>
                  <a:sym typeface="Arial"/>
                </a:rPr>
                <a:t>HPC: High Performance/Productivity Computing</a:t>
              </a:r>
              <a:endParaRPr/>
            </a:p>
            <a:p>
              <a:pPr marL="0" marR="0" lvl="0" indent="0" algn="l" rtl="0">
                <a:lnSpc>
                  <a:spcPct val="90000"/>
                </a:lnSpc>
                <a:spcBef>
                  <a:spcPts val="665"/>
                </a:spcBef>
                <a:spcAft>
                  <a:spcPts val="0"/>
                </a:spcAft>
                <a:buClr>
                  <a:schemeClr val="lt1"/>
                </a:buClr>
                <a:buSzPts val="1900"/>
                <a:buFont typeface="Arial"/>
                <a:buNone/>
              </a:pPr>
              <a:r>
                <a:rPr lang="en-US" sz="1900">
                  <a:solidFill>
                    <a:schemeClr val="lt1"/>
                  </a:solidFill>
                  <a:latin typeface="Arial"/>
                  <a:ea typeface="Arial"/>
                  <a:cs typeface="Arial"/>
                  <a:sym typeface="Arial"/>
                </a:rPr>
                <a:t>Technical Computing</a:t>
              </a:r>
              <a:endParaRPr/>
            </a:p>
            <a:p>
              <a:pPr marL="0" marR="0" lvl="0" indent="0" algn="l" rtl="0">
                <a:lnSpc>
                  <a:spcPct val="90000"/>
                </a:lnSpc>
                <a:spcBef>
                  <a:spcPts val="665"/>
                </a:spcBef>
                <a:spcAft>
                  <a:spcPts val="0"/>
                </a:spcAft>
                <a:buClr>
                  <a:schemeClr val="lt1"/>
                </a:buClr>
                <a:buSzPts val="1900"/>
                <a:buFont typeface="Arial"/>
                <a:buNone/>
              </a:pPr>
              <a:r>
                <a:rPr lang="en-US" sz="1900">
                  <a:solidFill>
                    <a:schemeClr val="lt1"/>
                  </a:solidFill>
                  <a:latin typeface="Arial"/>
                  <a:ea typeface="Arial"/>
                  <a:cs typeface="Arial"/>
                  <a:sym typeface="Arial"/>
                </a:rPr>
                <a:t>Cluster computing</a:t>
              </a:r>
              <a:endParaRPr sz="1900">
                <a:solidFill>
                  <a:schemeClr val="lt1"/>
                </a:solidFill>
                <a:latin typeface="Avenir"/>
                <a:ea typeface="Avenir"/>
                <a:cs typeface="Avenir"/>
                <a:sym typeface="Avenir"/>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2"/>
        <p:cNvGrpSpPr/>
        <p:nvPr/>
      </p:nvGrpSpPr>
      <p:grpSpPr>
        <a:xfrm>
          <a:off x="0" y="0"/>
          <a:ext cx="0" cy="0"/>
          <a:chOff x="0" y="0"/>
          <a:chExt cx="0" cy="0"/>
        </a:xfrm>
      </p:grpSpPr>
      <p:sp>
        <p:nvSpPr>
          <p:cNvPr id="393" name="Google Shape;393;p18"/>
          <p:cNvSpPr/>
          <p:nvPr/>
        </p:nvSpPr>
        <p:spPr>
          <a:xfrm>
            <a:off x="0" y="0"/>
            <a:ext cx="1219200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394" name="Google Shape;394;p18"/>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395" name="Google Shape;395;p18"/>
          <p:cNvPicPr preferRelativeResize="0"/>
          <p:nvPr/>
        </p:nvPicPr>
        <p:blipFill rotWithShape="1">
          <a:blip r:embed="rId3">
            <a:alphaModFix/>
          </a:blip>
          <a:srcRect t="37018" r="40625"/>
          <a:stretch/>
        </p:blipFill>
        <p:spPr>
          <a:xfrm>
            <a:off x="10744200" y="0"/>
            <a:ext cx="1447800" cy="1535750"/>
          </a:xfrm>
          <a:prstGeom prst="rect">
            <a:avLst/>
          </a:prstGeom>
          <a:noFill/>
          <a:ln>
            <a:noFill/>
          </a:ln>
        </p:spPr>
      </p:pic>
      <p:sp>
        <p:nvSpPr>
          <p:cNvPr id="396" name="Google Shape;396;p18"/>
          <p:cNvSpPr txBox="1">
            <a:spLocks noGrp="1"/>
          </p:cNvSpPr>
          <p:nvPr>
            <p:ph type="title"/>
          </p:nvPr>
        </p:nvSpPr>
        <p:spPr>
          <a:xfrm>
            <a:off x="838201" y="559813"/>
            <a:ext cx="10348146" cy="128347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4100"/>
              <a:buFont typeface="Avenir"/>
              <a:buNone/>
            </a:pPr>
            <a:r>
              <a:rPr lang="en-US" sz="4100">
                <a:solidFill>
                  <a:schemeClr val="dk2"/>
                </a:solidFill>
              </a:rPr>
              <a:t>Introduction to Parallel Computing Cont.…</a:t>
            </a:r>
            <a:endParaRPr sz="4100">
              <a:solidFill>
                <a:schemeClr val="dk2"/>
              </a:solidFill>
            </a:endParaRPr>
          </a:p>
        </p:txBody>
      </p:sp>
      <p:pic>
        <p:nvPicPr>
          <p:cNvPr id="397" name="Google Shape;397;p18"/>
          <p:cNvPicPr preferRelativeResize="0"/>
          <p:nvPr/>
        </p:nvPicPr>
        <p:blipFill rotWithShape="1">
          <a:blip r:embed="rId4">
            <a:alphaModFix/>
          </a:blip>
          <a:srcRect r="67342"/>
          <a:stretch/>
        </p:blipFill>
        <p:spPr>
          <a:xfrm rot="10800000">
            <a:off x="-1" y="2719661"/>
            <a:ext cx="830249" cy="2548349"/>
          </a:xfrm>
          <a:prstGeom prst="rect">
            <a:avLst/>
          </a:prstGeom>
          <a:noFill/>
          <a:ln>
            <a:noFill/>
          </a:ln>
        </p:spPr>
      </p:pic>
      <p:grpSp>
        <p:nvGrpSpPr>
          <p:cNvPr id="398" name="Google Shape;398;p18"/>
          <p:cNvGrpSpPr/>
          <p:nvPr/>
        </p:nvGrpSpPr>
        <p:grpSpPr>
          <a:xfrm>
            <a:off x="1197268" y="2547506"/>
            <a:ext cx="10156531" cy="2925233"/>
            <a:chOff x="0" y="704222"/>
            <a:chExt cx="10156531" cy="2925233"/>
          </a:xfrm>
        </p:grpSpPr>
        <p:sp>
          <p:nvSpPr>
            <p:cNvPr id="399" name="Google Shape;399;p18"/>
            <p:cNvSpPr/>
            <p:nvPr/>
          </p:nvSpPr>
          <p:spPr>
            <a:xfrm>
              <a:off x="0" y="704222"/>
              <a:ext cx="10156531" cy="1300103"/>
            </a:xfrm>
            <a:prstGeom prst="roundRect">
              <a:avLst>
                <a:gd name="adj" fmla="val 10000"/>
              </a:avLst>
            </a:prstGeom>
            <a:gradFill>
              <a:gsLst>
                <a:gs pos="0">
                  <a:srgbClr val="57BA82"/>
                </a:gs>
                <a:gs pos="50000">
                  <a:srgbClr val="32B571"/>
                </a:gs>
                <a:gs pos="100000">
                  <a:srgbClr val="27A56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8"/>
            <p:cNvSpPr/>
            <p:nvPr/>
          </p:nvSpPr>
          <p:spPr>
            <a:xfrm>
              <a:off x="393281" y="996746"/>
              <a:ext cx="715057" cy="715057"/>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8"/>
            <p:cNvSpPr/>
            <p:nvPr/>
          </p:nvSpPr>
          <p:spPr>
            <a:xfrm>
              <a:off x="1501619" y="704222"/>
              <a:ext cx="8654911" cy="130010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8"/>
            <p:cNvSpPr txBox="1"/>
            <p:nvPr/>
          </p:nvSpPr>
          <p:spPr>
            <a:xfrm>
              <a:off x="1501619" y="704222"/>
              <a:ext cx="8654911" cy="1300103"/>
            </a:xfrm>
            <a:prstGeom prst="rect">
              <a:avLst/>
            </a:prstGeom>
            <a:noFill/>
            <a:ln>
              <a:noFill/>
            </a:ln>
          </p:spPr>
          <p:txBody>
            <a:bodyPr spcFirstLastPara="1" wrap="square" lIns="137575" tIns="137575" rIns="137575" bIns="137575" anchor="ctr" anchorCtr="0">
              <a:noAutofit/>
            </a:bodyPr>
            <a:lstStyle/>
            <a:p>
              <a:pPr marL="0" marR="0" lvl="0" indent="0" algn="l" rtl="0">
                <a:lnSpc>
                  <a:spcPct val="90000"/>
                </a:lnSpc>
                <a:spcBef>
                  <a:spcPts val="0"/>
                </a:spcBef>
                <a:spcAft>
                  <a:spcPts val="0"/>
                </a:spcAft>
                <a:buClr>
                  <a:schemeClr val="dk1"/>
                </a:buClr>
                <a:buSzPts val="2000"/>
                <a:buFont typeface="Avenir"/>
                <a:buNone/>
              </a:pPr>
              <a:r>
                <a:rPr lang="en-US" sz="2000">
                  <a:solidFill>
                    <a:schemeClr val="dk1"/>
                  </a:solidFill>
                  <a:latin typeface="Avenir"/>
                  <a:ea typeface="Avenir"/>
                  <a:cs typeface="Avenir"/>
                  <a:sym typeface="Avenir"/>
                </a:rPr>
                <a:t>The term parallel computing architecture sometimes used for a computer with more than one processor available for processing.</a:t>
              </a:r>
              <a:endParaRPr/>
            </a:p>
          </p:txBody>
        </p:sp>
        <p:sp>
          <p:nvSpPr>
            <p:cNvPr id="403" name="Google Shape;403;p18"/>
            <p:cNvSpPr/>
            <p:nvPr/>
          </p:nvSpPr>
          <p:spPr>
            <a:xfrm>
              <a:off x="0" y="2329352"/>
              <a:ext cx="10156531" cy="1300103"/>
            </a:xfrm>
            <a:prstGeom prst="roundRect">
              <a:avLst>
                <a:gd name="adj" fmla="val 10000"/>
              </a:avLst>
            </a:prstGeom>
            <a:gradFill>
              <a:gsLst>
                <a:gs pos="0">
                  <a:srgbClr val="5FBE65"/>
                </a:gs>
                <a:gs pos="50000">
                  <a:srgbClr val="40BA4A"/>
                </a:gs>
                <a:gs pos="100000">
                  <a:srgbClr val="34A83D"/>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8"/>
            <p:cNvSpPr/>
            <p:nvPr/>
          </p:nvSpPr>
          <p:spPr>
            <a:xfrm>
              <a:off x="393281" y="2621875"/>
              <a:ext cx="715057" cy="715057"/>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8"/>
            <p:cNvSpPr/>
            <p:nvPr/>
          </p:nvSpPr>
          <p:spPr>
            <a:xfrm>
              <a:off x="1501619" y="2329352"/>
              <a:ext cx="8654911" cy="130010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8"/>
            <p:cNvSpPr txBox="1"/>
            <p:nvPr/>
          </p:nvSpPr>
          <p:spPr>
            <a:xfrm>
              <a:off x="1501619" y="2329352"/>
              <a:ext cx="8654911" cy="1300103"/>
            </a:xfrm>
            <a:prstGeom prst="rect">
              <a:avLst/>
            </a:prstGeom>
            <a:noFill/>
            <a:ln>
              <a:noFill/>
            </a:ln>
          </p:spPr>
          <p:txBody>
            <a:bodyPr spcFirstLastPara="1" wrap="square" lIns="137575" tIns="137575" rIns="137575" bIns="137575" anchor="ctr" anchorCtr="0">
              <a:noAutofit/>
            </a:bodyPr>
            <a:lstStyle/>
            <a:p>
              <a:pPr marL="0" marR="0" lvl="0" indent="0" algn="l" rtl="0">
                <a:lnSpc>
                  <a:spcPct val="90000"/>
                </a:lnSpc>
                <a:spcBef>
                  <a:spcPts val="0"/>
                </a:spcBef>
                <a:spcAft>
                  <a:spcPts val="0"/>
                </a:spcAft>
                <a:buClr>
                  <a:schemeClr val="dk1"/>
                </a:buClr>
                <a:buSzPts val="2000"/>
                <a:buFont typeface="Avenir"/>
                <a:buNone/>
              </a:pPr>
              <a:r>
                <a:rPr lang="en-US" sz="2000">
                  <a:solidFill>
                    <a:schemeClr val="dk1"/>
                  </a:solidFill>
                  <a:latin typeface="Avenir"/>
                  <a:ea typeface="Avenir"/>
                  <a:cs typeface="Avenir"/>
                  <a:sym typeface="Avenir"/>
                </a:rPr>
                <a:t>The recent multicore processor (chips with more than one processor core) are some commercial examples which bring parallel computing to the desktop.</a:t>
              </a:r>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1"/>
        <p:cNvGrpSpPr/>
        <p:nvPr/>
      </p:nvGrpSpPr>
      <p:grpSpPr>
        <a:xfrm>
          <a:off x="0" y="0"/>
          <a:ext cx="0" cy="0"/>
          <a:chOff x="0" y="0"/>
          <a:chExt cx="0" cy="0"/>
        </a:xfrm>
      </p:grpSpPr>
      <p:sp>
        <p:nvSpPr>
          <p:cNvPr id="412" name="Google Shape;412;p19"/>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413" name="Google Shape;413;p19"/>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414" name="Google Shape;414;p19"/>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415" name="Google Shape;415;p19"/>
          <p:cNvSpPr/>
          <p:nvPr/>
        </p:nvSpPr>
        <p:spPr>
          <a:xfrm>
            <a:off x="1524" y="0"/>
            <a:ext cx="12188952" cy="2225674"/>
          </a:xfrm>
          <a:prstGeom prst="rect">
            <a:avLst/>
          </a:prstGeom>
          <a:blipFill rotWithShape="1">
            <a:blip r:embed="rId3">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416" name="Google Shape;416;p19"/>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a:t>Introduction to Parallel Computing Cont.…</a:t>
            </a:r>
            <a:endParaRPr/>
          </a:p>
        </p:txBody>
      </p:sp>
      <p:grpSp>
        <p:nvGrpSpPr>
          <p:cNvPr id="417" name="Google Shape;417;p19"/>
          <p:cNvGrpSpPr/>
          <p:nvPr/>
        </p:nvGrpSpPr>
        <p:grpSpPr>
          <a:xfrm>
            <a:off x="839483" y="2677463"/>
            <a:ext cx="10513032" cy="3336635"/>
            <a:chOff x="1283" y="162863"/>
            <a:chExt cx="10513032" cy="3336635"/>
          </a:xfrm>
        </p:grpSpPr>
        <p:sp>
          <p:nvSpPr>
            <p:cNvPr id="418" name="Google Shape;418;p19"/>
            <p:cNvSpPr/>
            <p:nvPr/>
          </p:nvSpPr>
          <p:spPr>
            <a:xfrm>
              <a:off x="1283" y="162863"/>
              <a:ext cx="4505585" cy="2861046"/>
            </a:xfrm>
            <a:prstGeom prst="roundRect">
              <a:avLst>
                <a:gd name="adj" fmla="val 10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9"/>
            <p:cNvSpPr/>
            <p:nvPr/>
          </p:nvSpPr>
          <p:spPr>
            <a:xfrm>
              <a:off x="501904" y="638452"/>
              <a:ext cx="4505585" cy="2861046"/>
            </a:xfrm>
            <a:prstGeom prst="roundRect">
              <a:avLst>
                <a:gd name="adj" fmla="val 10000"/>
              </a:avLst>
            </a:prstGeom>
            <a:solidFill>
              <a:schemeClr val="lt1">
                <a:alpha val="89803"/>
              </a:schemeClr>
            </a:solidFill>
            <a:ln w="9525" cap="flat" cmpd="sng">
              <a:solidFill>
                <a:srgbClr val="44B0A7"/>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9"/>
            <p:cNvSpPr txBox="1"/>
            <p:nvPr/>
          </p:nvSpPr>
          <p:spPr>
            <a:xfrm>
              <a:off x="585701" y="722249"/>
              <a:ext cx="4337991" cy="2693452"/>
            </a:xfrm>
            <a:prstGeom prst="rect">
              <a:avLst/>
            </a:prstGeom>
            <a:noFill/>
            <a:ln>
              <a:noFill/>
            </a:ln>
          </p:spPr>
          <p:txBody>
            <a:bodyPr spcFirstLastPara="1" wrap="square" lIns="87625" tIns="87625" rIns="87625" bIns="87625" anchor="t" anchorCtr="0">
              <a:noAutofit/>
            </a:bodyPr>
            <a:lstStyle/>
            <a:p>
              <a:pPr marL="0" marR="0" lvl="0" indent="0" algn="ctr" rtl="0">
                <a:lnSpc>
                  <a:spcPct val="90000"/>
                </a:lnSpc>
                <a:spcBef>
                  <a:spcPts val="0"/>
                </a:spcBef>
                <a:spcAft>
                  <a:spcPts val="0"/>
                </a:spcAft>
                <a:buClr>
                  <a:schemeClr val="dk1"/>
                </a:buClr>
                <a:buSzPts val="2300"/>
                <a:buFont typeface="Avenir"/>
                <a:buNone/>
              </a:pPr>
              <a:r>
                <a:rPr lang="en-US" sz="2300" b="1">
                  <a:solidFill>
                    <a:schemeClr val="dk1"/>
                  </a:solidFill>
                  <a:latin typeface="Avenir"/>
                  <a:ea typeface="Avenir"/>
                  <a:cs typeface="Avenir"/>
                  <a:sym typeface="Avenir"/>
                </a:rPr>
                <a:t>Multi-processor</a:t>
              </a:r>
              <a:endParaRPr/>
            </a:p>
            <a:p>
              <a:pPr marL="0" marR="0" lvl="0" indent="0" algn="ctr" rtl="0">
                <a:lnSpc>
                  <a:spcPct val="90000"/>
                </a:lnSpc>
                <a:spcBef>
                  <a:spcPts val="805"/>
                </a:spcBef>
                <a:spcAft>
                  <a:spcPts val="0"/>
                </a:spcAft>
                <a:buClr>
                  <a:schemeClr val="dk1"/>
                </a:buClr>
                <a:buSzPts val="2300"/>
                <a:buFont typeface="Avenir"/>
                <a:buNone/>
              </a:pPr>
              <a:r>
                <a:rPr lang="en-US" sz="2300" b="1">
                  <a:solidFill>
                    <a:schemeClr val="dk1"/>
                  </a:solidFill>
                  <a:latin typeface="Avenir"/>
                  <a:ea typeface="Avenir"/>
                  <a:cs typeface="Avenir"/>
                  <a:sym typeface="Avenir"/>
                </a:rPr>
                <a:t> </a:t>
              </a:r>
              <a:r>
                <a:rPr lang="en-US" sz="2300" b="0" i="0">
                  <a:solidFill>
                    <a:schemeClr val="dk1"/>
                  </a:solidFill>
                  <a:latin typeface="Avenir"/>
                  <a:ea typeface="Avenir"/>
                  <a:cs typeface="Avenir"/>
                  <a:sym typeface="Avenir"/>
                </a:rPr>
                <a:t>More than one CPU works together to carry out computer instructions or programs</a:t>
              </a:r>
              <a:r>
                <a:rPr lang="en-US" sz="2300" b="1" i="0">
                  <a:solidFill>
                    <a:schemeClr val="dk1"/>
                  </a:solidFill>
                  <a:latin typeface="Avenir"/>
                  <a:ea typeface="Avenir"/>
                  <a:cs typeface="Avenir"/>
                  <a:sym typeface="Avenir"/>
                </a:rPr>
                <a:t>.</a:t>
              </a:r>
              <a:endParaRPr sz="2300">
                <a:solidFill>
                  <a:schemeClr val="dk1"/>
                </a:solidFill>
                <a:latin typeface="Avenir"/>
                <a:ea typeface="Avenir"/>
                <a:cs typeface="Avenir"/>
                <a:sym typeface="Avenir"/>
              </a:endParaRPr>
            </a:p>
          </p:txBody>
        </p:sp>
        <p:sp>
          <p:nvSpPr>
            <p:cNvPr id="421" name="Google Shape;421;p19"/>
            <p:cNvSpPr/>
            <p:nvPr/>
          </p:nvSpPr>
          <p:spPr>
            <a:xfrm>
              <a:off x="5508110" y="162863"/>
              <a:ext cx="4505585" cy="2861046"/>
            </a:xfrm>
            <a:prstGeom prst="roundRect">
              <a:avLst>
                <a:gd name="adj" fmla="val 10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9"/>
            <p:cNvSpPr/>
            <p:nvPr/>
          </p:nvSpPr>
          <p:spPr>
            <a:xfrm>
              <a:off x="6008730" y="638452"/>
              <a:ext cx="4505585" cy="2861046"/>
            </a:xfrm>
            <a:prstGeom prst="roundRect">
              <a:avLst>
                <a:gd name="adj" fmla="val 10000"/>
              </a:avLst>
            </a:prstGeom>
            <a:solidFill>
              <a:schemeClr val="lt1">
                <a:alpha val="89803"/>
              </a:schemeClr>
            </a:solidFill>
            <a:ln w="9525" cap="flat" cmpd="sng">
              <a:solidFill>
                <a:srgbClr val="44B0A7"/>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9"/>
            <p:cNvSpPr txBox="1"/>
            <p:nvPr/>
          </p:nvSpPr>
          <p:spPr>
            <a:xfrm>
              <a:off x="6092527" y="722249"/>
              <a:ext cx="4337991" cy="2693452"/>
            </a:xfrm>
            <a:prstGeom prst="rect">
              <a:avLst/>
            </a:prstGeom>
            <a:noFill/>
            <a:ln>
              <a:noFill/>
            </a:ln>
          </p:spPr>
          <p:txBody>
            <a:bodyPr spcFirstLastPara="1" wrap="square" lIns="87625" tIns="87625" rIns="87625" bIns="87625" anchor="ctr" anchorCtr="0">
              <a:noAutofit/>
            </a:bodyPr>
            <a:lstStyle/>
            <a:p>
              <a:pPr marL="0" marR="0" lvl="0" indent="0" algn="ctr" rtl="0">
                <a:lnSpc>
                  <a:spcPct val="90000"/>
                </a:lnSpc>
                <a:spcBef>
                  <a:spcPts val="0"/>
                </a:spcBef>
                <a:spcAft>
                  <a:spcPts val="0"/>
                </a:spcAft>
                <a:buClr>
                  <a:schemeClr val="dk1"/>
                </a:buClr>
                <a:buSzPts val="2300"/>
                <a:buFont typeface="Avenir"/>
                <a:buNone/>
              </a:pPr>
              <a:r>
                <a:rPr lang="en-US" sz="2300" b="1">
                  <a:solidFill>
                    <a:schemeClr val="dk1"/>
                  </a:solidFill>
                  <a:latin typeface="Avenir"/>
                  <a:ea typeface="Avenir"/>
                  <a:cs typeface="Avenir"/>
                  <a:sym typeface="Avenir"/>
                </a:rPr>
                <a:t>Multi-core </a:t>
              </a:r>
              <a:endParaRPr/>
            </a:p>
            <a:p>
              <a:pPr marL="0" marR="0" lvl="0" indent="0" algn="ctr" rtl="0">
                <a:lnSpc>
                  <a:spcPct val="90000"/>
                </a:lnSpc>
                <a:spcBef>
                  <a:spcPts val="805"/>
                </a:spcBef>
                <a:spcAft>
                  <a:spcPts val="0"/>
                </a:spcAft>
                <a:buClr>
                  <a:schemeClr val="dk1"/>
                </a:buClr>
                <a:buSzPts val="2300"/>
                <a:buFont typeface="Avenir"/>
                <a:buNone/>
              </a:pPr>
              <a:r>
                <a:rPr lang="en-US" sz="2300" b="0" i="0">
                  <a:solidFill>
                    <a:schemeClr val="dk1"/>
                  </a:solidFill>
                  <a:latin typeface="Avenir"/>
                  <a:ea typeface="Avenir"/>
                  <a:cs typeface="Avenir"/>
                  <a:sym typeface="Avenir"/>
                </a:rPr>
                <a:t>Is a microprocessor on a single integrated circuit with two or more separate processing units, called cores, each of which reads and executes program instructions.</a:t>
              </a:r>
              <a:endParaRPr sz="2300">
                <a:solidFill>
                  <a:schemeClr val="dk1"/>
                </a:solidFill>
                <a:latin typeface="Avenir"/>
                <a:ea typeface="Avenir"/>
                <a:cs typeface="Avenir"/>
                <a:sym typeface="Aveni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8"/>
        <p:cNvGrpSpPr/>
        <p:nvPr/>
      </p:nvGrpSpPr>
      <p:grpSpPr>
        <a:xfrm>
          <a:off x="0" y="0"/>
          <a:ext cx="0" cy="0"/>
          <a:chOff x="0" y="0"/>
          <a:chExt cx="0" cy="0"/>
        </a:xfrm>
      </p:grpSpPr>
      <p:sp>
        <p:nvSpPr>
          <p:cNvPr id="429" name="Google Shape;429;p20"/>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430" name="Google Shape;430;p20"/>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431" name="Google Shape;431;p20"/>
          <p:cNvPicPr preferRelativeResize="0"/>
          <p:nvPr/>
        </p:nvPicPr>
        <p:blipFill rotWithShape="1">
          <a:blip r:embed="rId3">
            <a:alphaModFix/>
          </a:blip>
          <a:srcRect l="53001" t="54841"/>
          <a:stretch/>
        </p:blipFill>
        <p:spPr>
          <a:xfrm>
            <a:off x="0" y="0"/>
            <a:ext cx="872377" cy="838200"/>
          </a:xfrm>
          <a:prstGeom prst="rect">
            <a:avLst/>
          </a:prstGeom>
          <a:noFill/>
          <a:ln>
            <a:noFill/>
          </a:ln>
        </p:spPr>
      </p:pic>
      <p:sp>
        <p:nvSpPr>
          <p:cNvPr id="432" name="Google Shape;432;p20"/>
          <p:cNvSpPr txBox="1">
            <a:spLocks noGrp="1"/>
          </p:cNvSpPr>
          <p:nvPr>
            <p:ph type="title"/>
          </p:nvPr>
        </p:nvSpPr>
        <p:spPr>
          <a:xfrm>
            <a:off x="838200" y="559813"/>
            <a:ext cx="5638800" cy="157378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3700"/>
              <a:buFont typeface="Avenir"/>
              <a:buNone/>
            </a:pPr>
            <a:r>
              <a:rPr lang="en-US" sz="3700">
                <a:solidFill>
                  <a:schemeClr val="dk2"/>
                </a:solidFill>
              </a:rPr>
              <a:t>Introduction to Parallel Computing Cont…</a:t>
            </a:r>
            <a:endParaRPr sz="3700">
              <a:solidFill>
                <a:schemeClr val="dk2"/>
              </a:solidFill>
            </a:endParaRPr>
          </a:p>
        </p:txBody>
      </p:sp>
      <p:pic>
        <p:nvPicPr>
          <p:cNvPr id="433" name="Google Shape;433;p20" descr="Diagram&#10;&#10;Description automatically generated"/>
          <p:cNvPicPr preferRelativeResize="0"/>
          <p:nvPr/>
        </p:nvPicPr>
        <p:blipFill rotWithShape="1">
          <a:blip r:embed="rId4">
            <a:alphaModFix/>
          </a:blip>
          <a:srcRect/>
          <a:stretch/>
        </p:blipFill>
        <p:spPr>
          <a:xfrm>
            <a:off x="2473020" y="2133598"/>
            <a:ext cx="7242912" cy="4020621"/>
          </a:xfrm>
          <a:prstGeom prst="roundRect">
            <a:avLst>
              <a:gd name="adj" fmla="val 4167"/>
            </a:avLst>
          </a:prstGeom>
          <a:solidFill>
            <a:srgbClr val="FFFFFF"/>
          </a:solidFill>
          <a:ln w="76200" cap="sq" cmpd="sng">
            <a:solidFill>
              <a:srgbClr val="EAEAEA"/>
            </a:solidFill>
            <a:prstDash val="solid"/>
            <a:miter lim="800000"/>
            <a:headEnd type="none" w="sm" len="sm"/>
            <a:tailEnd type="none" w="sm" len="sm"/>
          </a:ln>
          <a:effectLst>
            <a:reflection stA="33000" endPos="28000" dist="5000" dir="5400000" sy="-100000" algn="bl" rotWithShape="0"/>
          </a:effectLst>
        </p:spPr>
      </p:pic>
      <p:pic>
        <p:nvPicPr>
          <p:cNvPr id="434" name="Google Shape;434;p20"/>
          <p:cNvPicPr preferRelativeResize="0"/>
          <p:nvPr/>
        </p:nvPicPr>
        <p:blipFill rotWithShape="1">
          <a:blip r:embed="rId5">
            <a:alphaModFix/>
          </a:blip>
          <a:srcRect r="73964"/>
          <a:stretch/>
        </p:blipFill>
        <p:spPr>
          <a:xfrm>
            <a:off x="11527047" y="3144779"/>
            <a:ext cx="661905" cy="25483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8"/>
        <p:cNvGrpSpPr/>
        <p:nvPr/>
      </p:nvGrpSpPr>
      <p:grpSpPr>
        <a:xfrm>
          <a:off x="0" y="0"/>
          <a:ext cx="0" cy="0"/>
          <a:chOff x="0" y="0"/>
          <a:chExt cx="0" cy="0"/>
        </a:xfrm>
      </p:grpSpPr>
      <p:sp>
        <p:nvSpPr>
          <p:cNvPr id="439" name="Google Shape;439;p21"/>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440" name="Google Shape;440;p21"/>
          <p:cNvPicPr preferRelativeResize="0"/>
          <p:nvPr/>
        </p:nvPicPr>
        <p:blipFill rotWithShape="1">
          <a:blip r:embed="rId3">
            <a:alphaModFix amt="35000"/>
          </a:blip>
          <a:srcRect/>
          <a:stretch/>
        </p:blipFill>
        <p:spPr>
          <a:xfrm>
            <a:off x="0" y="1"/>
            <a:ext cx="12192000" cy="1392401"/>
          </a:xfrm>
          <a:prstGeom prst="rect">
            <a:avLst/>
          </a:prstGeom>
          <a:noFill/>
          <a:ln>
            <a:noFill/>
          </a:ln>
        </p:spPr>
      </p:pic>
      <p:sp>
        <p:nvSpPr>
          <p:cNvPr id="441" name="Google Shape;441;p21"/>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442" name="Google Shape;442;p21"/>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443" name="Google Shape;443;p21"/>
          <p:cNvPicPr preferRelativeResize="0"/>
          <p:nvPr/>
        </p:nvPicPr>
        <p:blipFill rotWithShape="1">
          <a:blip r:embed="rId4">
            <a:alphaModFix/>
          </a:blip>
          <a:srcRect l="9052" r="15486" b="-2"/>
          <a:stretch/>
        </p:blipFill>
        <p:spPr>
          <a:xfrm>
            <a:off x="3048" y="10"/>
            <a:ext cx="6195372" cy="4618233"/>
          </a:xfrm>
          <a:prstGeom prst="rect">
            <a:avLst/>
          </a:prstGeom>
          <a:noFill/>
          <a:ln>
            <a:noFill/>
          </a:ln>
        </p:spPr>
      </p:pic>
      <p:sp>
        <p:nvSpPr>
          <p:cNvPr id="444" name="Google Shape;444;p21"/>
          <p:cNvSpPr/>
          <p:nvPr/>
        </p:nvSpPr>
        <p:spPr>
          <a:xfrm>
            <a:off x="0" y="4602877"/>
            <a:ext cx="12192000" cy="2267339"/>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445" name="Google Shape;445;p21"/>
          <p:cNvSpPr/>
          <p:nvPr/>
        </p:nvSpPr>
        <p:spPr>
          <a:xfrm rot="10800000">
            <a:off x="-3055" y="4596020"/>
            <a:ext cx="12191999" cy="2274195"/>
          </a:xfrm>
          <a:prstGeom prst="rect">
            <a:avLst/>
          </a:prstGeom>
          <a:blipFill rotWithShape="1">
            <a:blip r:embed="rId5">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446" name="Google Shape;446;p21"/>
          <p:cNvSpPr txBox="1">
            <a:spLocks noGrp="1"/>
          </p:cNvSpPr>
          <p:nvPr>
            <p:ph type="ctrTitle"/>
          </p:nvPr>
        </p:nvSpPr>
        <p:spPr>
          <a:xfrm>
            <a:off x="838200" y="4876800"/>
            <a:ext cx="10003218" cy="121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100"/>
              <a:buFont typeface="Avenir"/>
              <a:buNone/>
            </a:pPr>
            <a:r>
              <a:rPr lang="en-US" sz="4100"/>
              <a:t>CS621 Parallel and Distributed Computing</a:t>
            </a:r>
            <a:endParaRPr sz="4100"/>
          </a:p>
        </p:txBody>
      </p:sp>
      <p:sp>
        <p:nvSpPr>
          <p:cNvPr id="447" name="Google Shape;447;p21"/>
          <p:cNvSpPr txBox="1">
            <a:spLocks noGrp="1"/>
          </p:cNvSpPr>
          <p:nvPr>
            <p:ph type="subTitle" idx="1"/>
          </p:nvPr>
        </p:nvSpPr>
        <p:spPr>
          <a:xfrm>
            <a:off x="6553200" y="369204"/>
            <a:ext cx="4800600" cy="3935986"/>
          </a:xfrm>
          <a:prstGeom prst="rect">
            <a:avLst/>
          </a:prstGeom>
          <a:noFill/>
          <a:ln>
            <a:noFill/>
          </a:ln>
        </p:spPr>
        <p:txBody>
          <a:bodyPr spcFirstLastPara="1" wrap="square" lIns="91425" tIns="45700" rIns="91425" bIns="45700" anchor="ctr" anchorCtr="0">
            <a:normAutofit/>
          </a:bodyPr>
          <a:lstStyle/>
          <a:p>
            <a:pPr marL="0" lvl="0" indent="0" algn="ctr" rtl="0">
              <a:lnSpc>
                <a:spcPct val="110000"/>
              </a:lnSpc>
              <a:spcBef>
                <a:spcPts val="0"/>
              </a:spcBef>
              <a:spcAft>
                <a:spcPts val="0"/>
              </a:spcAft>
              <a:buSzPts val="2800"/>
              <a:buNone/>
            </a:pPr>
            <a:r>
              <a:rPr lang="en-US" sz="2800" b="1">
                <a:solidFill>
                  <a:schemeClr val="dk2"/>
                </a:solidFill>
                <a:latin typeface="Arial"/>
                <a:ea typeface="Arial"/>
                <a:cs typeface="Arial"/>
                <a:sym typeface="Arial"/>
              </a:rPr>
              <a:t>Principles of Parallel Computing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1"/>
        <p:cNvGrpSpPr/>
        <p:nvPr/>
      </p:nvGrpSpPr>
      <p:grpSpPr>
        <a:xfrm>
          <a:off x="0" y="0"/>
          <a:ext cx="0" cy="0"/>
          <a:chOff x="0" y="0"/>
          <a:chExt cx="0" cy="0"/>
        </a:xfrm>
      </p:grpSpPr>
      <p:sp>
        <p:nvSpPr>
          <p:cNvPr id="452" name="Google Shape;452;p22"/>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453" name="Google Shape;453;p22"/>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454" name="Google Shape;454;p22"/>
          <p:cNvSpPr/>
          <p:nvPr/>
        </p:nvSpPr>
        <p:spPr>
          <a:xfrm>
            <a:off x="0" y="0"/>
            <a:ext cx="4572000" cy="6858000"/>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455" name="Google Shape;455;p22"/>
          <p:cNvSpPr/>
          <p:nvPr/>
        </p:nvSpPr>
        <p:spPr>
          <a:xfrm>
            <a:off x="0" y="0"/>
            <a:ext cx="4572000" cy="6858000"/>
          </a:xfrm>
          <a:prstGeom prst="rect">
            <a:avLst/>
          </a:prstGeom>
          <a:blipFill rotWithShape="1">
            <a:blip r:embed="rId3">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456" name="Google Shape;456;p22"/>
          <p:cNvSpPr txBox="1">
            <a:spLocks noGrp="1"/>
          </p:cNvSpPr>
          <p:nvPr>
            <p:ph type="title"/>
          </p:nvPr>
        </p:nvSpPr>
        <p:spPr>
          <a:xfrm>
            <a:off x="838201" y="559813"/>
            <a:ext cx="2819399" cy="557793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700"/>
              <a:buFont typeface="Avenir"/>
              <a:buNone/>
            </a:pPr>
            <a:r>
              <a:rPr lang="en-US" sz="3700"/>
              <a:t>Objectives</a:t>
            </a:r>
            <a:endParaRPr sz="3700"/>
          </a:p>
        </p:txBody>
      </p:sp>
      <p:sp>
        <p:nvSpPr>
          <p:cNvPr id="457" name="Google Shape;457;p22"/>
          <p:cNvSpPr txBox="1">
            <a:spLocks noGrp="1"/>
          </p:cNvSpPr>
          <p:nvPr>
            <p:ph type="body" idx="1"/>
          </p:nvPr>
        </p:nvSpPr>
        <p:spPr>
          <a:xfrm>
            <a:off x="838200" y="1949450"/>
            <a:ext cx="10515600" cy="4195763"/>
          </a:xfrm>
          <a:prstGeom prst="rect">
            <a:avLst/>
          </a:prstGeom>
          <a:noFill/>
          <a:ln>
            <a:noFill/>
          </a:ln>
        </p:spPr>
        <p:txBody>
          <a:bodyPr spcFirstLastPara="1" wrap="square" lIns="91425" tIns="45700" rIns="91425" bIns="45700" anchor="t" anchorCtr="0">
            <a:normAutofit/>
          </a:bodyPr>
          <a:lstStyle/>
          <a:p>
            <a:pPr marL="228600" lvl="0" indent="-50800" algn="l" rtl="0">
              <a:lnSpc>
                <a:spcPct val="100000"/>
              </a:lnSpc>
              <a:spcBef>
                <a:spcPts val="0"/>
              </a:spcBef>
              <a:spcAft>
                <a:spcPts val="0"/>
              </a:spcAft>
              <a:buSzPts val="2800"/>
              <a:buNone/>
            </a:pPr>
            <a:endParaRPr/>
          </a:p>
          <a:p>
            <a:pPr marL="228600" lvl="0" indent="-50800" algn="l" rtl="0">
              <a:lnSpc>
                <a:spcPct val="100000"/>
              </a:lnSpc>
              <a:spcBef>
                <a:spcPts val="1000"/>
              </a:spcBef>
              <a:spcAft>
                <a:spcPts val="0"/>
              </a:spcAft>
              <a:buSzPts val="2800"/>
              <a:buNone/>
            </a:pPr>
            <a:endParaRPr/>
          </a:p>
          <a:p>
            <a:pPr marL="228600" lvl="0" indent="-50800" algn="l" rtl="0">
              <a:lnSpc>
                <a:spcPct val="100000"/>
              </a:lnSpc>
              <a:spcBef>
                <a:spcPts val="1000"/>
              </a:spcBef>
              <a:spcAft>
                <a:spcPts val="0"/>
              </a:spcAft>
              <a:buSzPts val="2800"/>
              <a:buNone/>
            </a:pPr>
            <a:endParaRPr/>
          </a:p>
        </p:txBody>
      </p:sp>
      <p:grpSp>
        <p:nvGrpSpPr>
          <p:cNvPr id="458" name="Google Shape;458;p22"/>
          <p:cNvGrpSpPr/>
          <p:nvPr/>
        </p:nvGrpSpPr>
        <p:grpSpPr>
          <a:xfrm>
            <a:off x="5256089" y="2722919"/>
            <a:ext cx="6097710" cy="883309"/>
            <a:chOff x="0" y="0"/>
            <a:chExt cx="6097710" cy="883309"/>
          </a:xfrm>
        </p:grpSpPr>
        <p:sp>
          <p:nvSpPr>
            <p:cNvPr id="459" name="Google Shape;459;p22"/>
            <p:cNvSpPr/>
            <p:nvPr/>
          </p:nvSpPr>
          <p:spPr>
            <a:xfrm>
              <a:off x="0" y="0"/>
              <a:ext cx="6097710" cy="883309"/>
            </a:xfrm>
            <a:prstGeom prst="roundRect">
              <a:avLst>
                <a:gd name="adj" fmla="val 10000"/>
              </a:avLst>
            </a:prstGeom>
            <a:solidFill>
              <a:srgbClr val="44B0A7"/>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2"/>
            <p:cNvSpPr txBox="1"/>
            <p:nvPr/>
          </p:nvSpPr>
          <p:spPr>
            <a:xfrm>
              <a:off x="1307872" y="0"/>
              <a:ext cx="4789837" cy="883309"/>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chemeClr val="lt1"/>
                </a:buClr>
                <a:buSzPts val="2400"/>
                <a:buFont typeface="Avenir"/>
                <a:buNone/>
              </a:pPr>
              <a:r>
                <a:rPr lang="en-US" sz="2400">
                  <a:solidFill>
                    <a:schemeClr val="lt1"/>
                  </a:solidFill>
                  <a:latin typeface="Avenir"/>
                  <a:ea typeface="Avenir"/>
                  <a:cs typeface="Avenir"/>
                  <a:sym typeface="Avenir"/>
                </a:rPr>
                <a:t>Principles of Parallel Computing.</a:t>
              </a:r>
              <a:endParaRPr sz="2400">
                <a:solidFill>
                  <a:schemeClr val="lt1"/>
                </a:solidFill>
                <a:latin typeface="Avenir"/>
                <a:ea typeface="Avenir"/>
                <a:cs typeface="Avenir"/>
                <a:sym typeface="Avenir"/>
              </a:endParaRPr>
            </a:p>
          </p:txBody>
        </p:sp>
        <p:sp>
          <p:nvSpPr>
            <p:cNvPr id="461" name="Google Shape;461;p22"/>
            <p:cNvSpPr/>
            <p:nvPr/>
          </p:nvSpPr>
          <p:spPr>
            <a:xfrm>
              <a:off x="230944" y="88330"/>
              <a:ext cx="934315" cy="706647"/>
            </a:xfrm>
            <a:prstGeom prst="roundRect">
              <a:avLst>
                <a:gd name="adj" fmla="val 10000"/>
              </a:avLst>
            </a:prstGeom>
            <a:blipFill rotWithShape="1">
              <a:blip r:embed="rId4">
                <a:alphaModFix/>
              </a:blip>
              <a:stretch>
                <a:fillRect l="-7998" r="-7999"/>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6"/>
        <p:cNvGrpSpPr/>
        <p:nvPr/>
      </p:nvGrpSpPr>
      <p:grpSpPr>
        <a:xfrm>
          <a:off x="0" y="0"/>
          <a:ext cx="0" cy="0"/>
          <a:chOff x="0" y="0"/>
          <a:chExt cx="0" cy="0"/>
        </a:xfrm>
      </p:grpSpPr>
      <p:sp>
        <p:nvSpPr>
          <p:cNvPr id="467" name="Google Shape;467;p23"/>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468" name="Google Shape;468;p23"/>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469" name="Google Shape;469;p23"/>
          <p:cNvSpPr/>
          <p:nvPr/>
        </p:nvSpPr>
        <p:spPr>
          <a:xfrm>
            <a:off x="0" y="0"/>
            <a:ext cx="5998281" cy="6858000"/>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470" name="Google Shape;470;p23"/>
          <p:cNvSpPr/>
          <p:nvPr/>
        </p:nvSpPr>
        <p:spPr>
          <a:xfrm>
            <a:off x="0" y="0"/>
            <a:ext cx="5998281" cy="6858000"/>
          </a:xfrm>
          <a:prstGeom prst="rect">
            <a:avLst/>
          </a:prstGeom>
          <a:blipFill rotWithShape="1">
            <a:blip r:embed="rId3">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471" name="Google Shape;471;p23"/>
          <p:cNvSpPr txBox="1">
            <a:spLocks noGrp="1"/>
          </p:cNvSpPr>
          <p:nvPr>
            <p:ph type="title"/>
          </p:nvPr>
        </p:nvSpPr>
        <p:spPr>
          <a:xfrm>
            <a:off x="838201" y="559813"/>
            <a:ext cx="4876800" cy="557793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a:t>Principles of Parallel Computing</a:t>
            </a:r>
            <a:endParaRPr/>
          </a:p>
        </p:txBody>
      </p:sp>
      <p:grpSp>
        <p:nvGrpSpPr>
          <p:cNvPr id="472" name="Google Shape;472;p23"/>
          <p:cNvGrpSpPr/>
          <p:nvPr/>
        </p:nvGrpSpPr>
        <p:grpSpPr>
          <a:xfrm>
            <a:off x="6029431" y="344893"/>
            <a:ext cx="5936595" cy="5782736"/>
            <a:chOff x="-155027" y="1460"/>
            <a:chExt cx="5936595" cy="5782736"/>
          </a:xfrm>
        </p:grpSpPr>
        <p:sp>
          <p:nvSpPr>
            <p:cNvPr id="473" name="Google Shape;473;p23"/>
            <p:cNvSpPr/>
            <p:nvPr/>
          </p:nvSpPr>
          <p:spPr>
            <a:xfrm>
              <a:off x="1884671" y="1460"/>
              <a:ext cx="1857198" cy="1857198"/>
            </a:xfrm>
            <a:prstGeom prst="downArrow">
              <a:avLst>
                <a:gd name="adj1" fmla="val 50000"/>
                <a:gd name="adj2" fmla="val 35000"/>
              </a:avLst>
            </a:prstGeom>
            <a:solidFill>
              <a:srgbClr val="44B0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3"/>
            <p:cNvSpPr txBox="1"/>
            <p:nvPr/>
          </p:nvSpPr>
          <p:spPr>
            <a:xfrm>
              <a:off x="2348971" y="1460"/>
              <a:ext cx="928599" cy="1532188"/>
            </a:xfrm>
            <a:prstGeom prst="rect">
              <a:avLst/>
            </a:prstGeom>
            <a:noFill/>
            <a:ln>
              <a:noFill/>
            </a:ln>
          </p:spPr>
          <p:txBody>
            <a:bodyPr spcFirstLastPara="1" wrap="square" lIns="85325" tIns="85325" rIns="85325" bIns="85325" anchor="ctr" anchorCtr="0">
              <a:noAutofit/>
            </a:bodyPr>
            <a:lstStyle/>
            <a:p>
              <a:pPr marL="0" marR="0" lvl="0" indent="0" algn="ctr" rtl="0">
                <a:lnSpc>
                  <a:spcPct val="90000"/>
                </a:lnSpc>
                <a:spcBef>
                  <a:spcPts val="0"/>
                </a:spcBef>
                <a:spcAft>
                  <a:spcPts val="0"/>
                </a:spcAft>
                <a:buClr>
                  <a:schemeClr val="lt1"/>
                </a:buClr>
                <a:buSzPts val="1200"/>
                <a:buFont typeface="Avenir"/>
                <a:buNone/>
              </a:pPr>
              <a:r>
                <a:rPr lang="en-US" sz="1200">
                  <a:solidFill>
                    <a:schemeClr val="lt1"/>
                  </a:solidFill>
                  <a:latin typeface="Avenir"/>
                  <a:ea typeface="Avenir"/>
                  <a:cs typeface="Avenir"/>
                  <a:sym typeface="Avenir"/>
                </a:rPr>
                <a:t>Finding enough parallelism  </a:t>
              </a:r>
              <a:endParaRPr/>
            </a:p>
          </p:txBody>
        </p:sp>
        <p:sp>
          <p:nvSpPr>
            <p:cNvPr id="475" name="Google Shape;475;p23"/>
            <p:cNvSpPr/>
            <p:nvPr/>
          </p:nvSpPr>
          <p:spPr>
            <a:xfrm rot="3600000">
              <a:off x="3584479" y="982845"/>
              <a:ext cx="1857198" cy="1857198"/>
            </a:xfrm>
            <a:prstGeom prst="downArrow">
              <a:avLst>
                <a:gd name="adj1" fmla="val 50000"/>
                <a:gd name="adj2" fmla="val 35000"/>
              </a:avLst>
            </a:prstGeom>
            <a:solidFill>
              <a:srgbClr val="44B0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3"/>
            <p:cNvSpPr txBox="1"/>
            <p:nvPr/>
          </p:nvSpPr>
          <p:spPr>
            <a:xfrm rot="-1800000">
              <a:off x="3887718" y="1365892"/>
              <a:ext cx="1532188" cy="928599"/>
            </a:xfrm>
            <a:prstGeom prst="rect">
              <a:avLst/>
            </a:prstGeom>
            <a:noFill/>
            <a:ln>
              <a:noFill/>
            </a:ln>
          </p:spPr>
          <p:txBody>
            <a:bodyPr spcFirstLastPara="1" wrap="square" lIns="85325" tIns="85325" rIns="85325" bIns="85325" anchor="ctr" anchorCtr="0">
              <a:noAutofit/>
            </a:bodyPr>
            <a:lstStyle/>
            <a:p>
              <a:pPr marL="0" marR="0" lvl="0" indent="0" algn="ctr" rtl="0">
                <a:lnSpc>
                  <a:spcPct val="90000"/>
                </a:lnSpc>
                <a:spcBef>
                  <a:spcPts val="0"/>
                </a:spcBef>
                <a:spcAft>
                  <a:spcPts val="0"/>
                </a:spcAft>
                <a:buClr>
                  <a:schemeClr val="lt1"/>
                </a:buClr>
                <a:buSzPts val="1200"/>
                <a:buFont typeface="Avenir"/>
                <a:buNone/>
              </a:pPr>
              <a:r>
                <a:rPr lang="en-US" sz="1200">
                  <a:solidFill>
                    <a:schemeClr val="lt1"/>
                  </a:solidFill>
                  <a:latin typeface="Avenir"/>
                  <a:ea typeface="Avenir"/>
                  <a:cs typeface="Avenir"/>
                  <a:sym typeface="Avenir"/>
                </a:rPr>
                <a:t>Scale</a:t>
              </a:r>
              <a:endParaRPr/>
            </a:p>
          </p:txBody>
        </p:sp>
        <p:sp>
          <p:nvSpPr>
            <p:cNvPr id="477" name="Google Shape;477;p23"/>
            <p:cNvSpPr/>
            <p:nvPr/>
          </p:nvSpPr>
          <p:spPr>
            <a:xfrm rot="7200000">
              <a:off x="3584479" y="2945614"/>
              <a:ext cx="1857198" cy="1857198"/>
            </a:xfrm>
            <a:prstGeom prst="downArrow">
              <a:avLst>
                <a:gd name="adj1" fmla="val 50000"/>
                <a:gd name="adj2" fmla="val 35000"/>
              </a:avLst>
            </a:prstGeom>
            <a:solidFill>
              <a:srgbClr val="44B0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3"/>
            <p:cNvSpPr txBox="1"/>
            <p:nvPr/>
          </p:nvSpPr>
          <p:spPr>
            <a:xfrm rot="1800000">
              <a:off x="3887718" y="3491166"/>
              <a:ext cx="1532188" cy="928599"/>
            </a:xfrm>
            <a:prstGeom prst="rect">
              <a:avLst/>
            </a:prstGeom>
            <a:noFill/>
            <a:ln>
              <a:noFill/>
            </a:ln>
          </p:spPr>
          <p:txBody>
            <a:bodyPr spcFirstLastPara="1" wrap="square" lIns="85325" tIns="85325" rIns="85325" bIns="85325" anchor="ctr" anchorCtr="0">
              <a:noAutofit/>
            </a:bodyPr>
            <a:lstStyle/>
            <a:p>
              <a:pPr marL="0" marR="0" lvl="0" indent="0" algn="ctr" rtl="0">
                <a:lnSpc>
                  <a:spcPct val="90000"/>
                </a:lnSpc>
                <a:spcBef>
                  <a:spcPts val="0"/>
                </a:spcBef>
                <a:spcAft>
                  <a:spcPts val="0"/>
                </a:spcAft>
                <a:buClr>
                  <a:schemeClr val="lt1"/>
                </a:buClr>
                <a:buSzPts val="1200"/>
                <a:buFont typeface="Avenir"/>
                <a:buNone/>
              </a:pPr>
              <a:r>
                <a:rPr lang="en-US" sz="1200">
                  <a:solidFill>
                    <a:schemeClr val="lt1"/>
                  </a:solidFill>
                  <a:latin typeface="Avenir"/>
                  <a:ea typeface="Avenir"/>
                  <a:cs typeface="Avenir"/>
                  <a:sym typeface="Avenir"/>
                </a:rPr>
                <a:t>Locality</a:t>
              </a:r>
              <a:endParaRPr/>
            </a:p>
          </p:txBody>
        </p:sp>
        <p:sp>
          <p:nvSpPr>
            <p:cNvPr id="479" name="Google Shape;479;p23"/>
            <p:cNvSpPr/>
            <p:nvPr/>
          </p:nvSpPr>
          <p:spPr>
            <a:xfrm rot="10800000">
              <a:off x="1884671" y="3926998"/>
              <a:ext cx="1857198" cy="1857198"/>
            </a:xfrm>
            <a:prstGeom prst="downArrow">
              <a:avLst>
                <a:gd name="adj1" fmla="val 50000"/>
                <a:gd name="adj2" fmla="val 35000"/>
              </a:avLst>
            </a:prstGeom>
            <a:solidFill>
              <a:srgbClr val="44B0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3"/>
            <p:cNvSpPr txBox="1"/>
            <p:nvPr/>
          </p:nvSpPr>
          <p:spPr>
            <a:xfrm>
              <a:off x="2348970" y="4252008"/>
              <a:ext cx="928599" cy="1532188"/>
            </a:xfrm>
            <a:prstGeom prst="rect">
              <a:avLst/>
            </a:prstGeom>
            <a:noFill/>
            <a:ln>
              <a:noFill/>
            </a:ln>
          </p:spPr>
          <p:txBody>
            <a:bodyPr spcFirstLastPara="1" wrap="square" lIns="85325" tIns="85325" rIns="85325" bIns="85325" anchor="ctr" anchorCtr="0">
              <a:noAutofit/>
            </a:bodyPr>
            <a:lstStyle/>
            <a:p>
              <a:pPr marL="0" marR="0" lvl="0" indent="0" algn="ctr" rtl="0">
                <a:lnSpc>
                  <a:spcPct val="90000"/>
                </a:lnSpc>
                <a:spcBef>
                  <a:spcPts val="0"/>
                </a:spcBef>
                <a:spcAft>
                  <a:spcPts val="0"/>
                </a:spcAft>
                <a:buClr>
                  <a:schemeClr val="lt1"/>
                </a:buClr>
                <a:buSzPts val="1200"/>
                <a:buFont typeface="Avenir"/>
                <a:buNone/>
              </a:pPr>
              <a:r>
                <a:rPr lang="en-US" sz="1200">
                  <a:solidFill>
                    <a:schemeClr val="lt1"/>
                  </a:solidFill>
                  <a:latin typeface="Avenir"/>
                  <a:ea typeface="Avenir"/>
                  <a:cs typeface="Avenir"/>
                  <a:sym typeface="Avenir"/>
                </a:rPr>
                <a:t>Load balance</a:t>
              </a:r>
              <a:endParaRPr/>
            </a:p>
          </p:txBody>
        </p:sp>
        <p:sp>
          <p:nvSpPr>
            <p:cNvPr id="481" name="Google Shape;481;p23"/>
            <p:cNvSpPr/>
            <p:nvPr/>
          </p:nvSpPr>
          <p:spPr>
            <a:xfrm rot="-7200000">
              <a:off x="184864" y="2945614"/>
              <a:ext cx="1857198" cy="1857198"/>
            </a:xfrm>
            <a:prstGeom prst="downArrow">
              <a:avLst>
                <a:gd name="adj1" fmla="val 50000"/>
                <a:gd name="adj2" fmla="val 35000"/>
              </a:avLst>
            </a:prstGeom>
            <a:solidFill>
              <a:srgbClr val="44B0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3"/>
            <p:cNvSpPr txBox="1"/>
            <p:nvPr/>
          </p:nvSpPr>
          <p:spPr>
            <a:xfrm rot="-1800000">
              <a:off x="206636" y="3491165"/>
              <a:ext cx="1532188" cy="928599"/>
            </a:xfrm>
            <a:prstGeom prst="rect">
              <a:avLst/>
            </a:prstGeom>
            <a:noFill/>
            <a:ln>
              <a:noFill/>
            </a:ln>
          </p:spPr>
          <p:txBody>
            <a:bodyPr spcFirstLastPara="1" wrap="square" lIns="85325" tIns="85325" rIns="85325" bIns="85325" anchor="ctr" anchorCtr="0">
              <a:noAutofit/>
            </a:bodyPr>
            <a:lstStyle/>
            <a:p>
              <a:pPr marL="0" marR="0" lvl="0" indent="0" algn="ctr" rtl="0">
                <a:lnSpc>
                  <a:spcPct val="90000"/>
                </a:lnSpc>
                <a:spcBef>
                  <a:spcPts val="0"/>
                </a:spcBef>
                <a:spcAft>
                  <a:spcPts val="0"/>
                </a:spcAft>
                <a:buClr>
                  <a:schemeClr val="lt1"/>
                </a:buClr>
                <a:buSzPts val="1200"/>
                <a:buFont typeface="Avenir"/>
                <a:buNone/>
              </a:pPr>
              <a:r>
                <a:rPr lang="en-US" sz="1200">
                  <a:solidFill>
                    <a:schemeClr val="lt1"/>
                  </a:solidFill>
                  <a:latin typeface="Avenir"/>
                  <a:ea typeface="Avenir"/>
                  <a:cs typeface="Avenir"/>
                  <a:sym typeface="Avenir"/>
                </a:rPr>
                <a:t>Coordination and Synchronization</a:t>
              </a:r>
              <a:endParaRPr/>
            </a:p>
          </p:txBody>
        </p:sp>
        <p:sp>
          <p:nvSpPr>
            <p:cNvPr id="483" name="Google Shape;483;p23"/>
            <p:cNvSpPr/>
            <p:nvPr/>
          </p:nvSpPr>
          <p:spPr>
            <a:xfrm rot="-3600000">
              <a:off x="184864" y="982845"/>
              <a:ext cx="1857198" cy="1857198"/>
            </a:xfrm>
            <a:prstGeom prst="downArrow">
              <a:avLst>
                <a:gd name="adj1" fmla="val 50000"/>
                <a:gd name="adj2" fmla="val 35000"/>
              </a:avLst>
            </a:prstGeom>
            <a:solidFill>
              <a:srgbClr val="44B0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3"/>
            <p:cNvSpPr txBox="1"/>
            <p:nvPr/>
          </p:nvSpPr>
          <p:spPr>
            <a:xfrm rot="1800000">
              <a:off x="206636" y="1365891"/>
              <a:ext cx="1532188" cy="928599"/>
            </a:xfrm>
            <a:prstGeom prst="rect">
              <a:avLst/>
            </a:prstGeom>
            <a:noFill/>
            <a:ln>
              <a:noFill/>
            </a:ln>
          </p:spPr>
          <p:txBody>
            <a:bodyPr spcFirstLastPara="1" wrap="square" lIns="85325" tIns="85325" rIns="85325" bIns="85325" anchor="ctr" anchorCtr="0">
              <a:noAutofit/>
            </a:bodyPr>
            <a:lstStyle/>
            <a:p>
              <a:pPr marL="0" marR="0" lvl="0" indent="0" algn="ctr" rtl="0">
                <a:lnSpc>
                  <a:spcPct val="90000"/>
                </a:lnSpc>
                <a:spcBef>
                  <a:spcPts val="0"/>
                </a:spcBef>
                <a:spcAft>
                  <a:spcPts val="0"/>
                </a:spcAft>
                <a:buClr>
                  <a:schemeClr val="lt1"/>
                </a:buClr>
                <a:buSzPts val="1200"/>
                <a:buFont typeface="Avenir"/>
                <a:buNone/>
              </a:pPr>
              <a:r>
                <a:rPr lang="en-US" sz="1200">
                  <a:solidFill>
                    <a:schemeClr val="lt1"/>
                  </a:solidFill>
                  <a:latin typeface="Avenir"/>
                  <a:ea typeface="Avenir"/>
                  <a:cs typeface="Avenir"/>
                  <a:sym typeface="Avenir"/>
                </a:rPr>
                <a:t>Performance modeling</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9"/>
        <p:cNvGrpSpPr/>
        <p:nvPr/>
      </p:nvGrpSpPr>
      <p:grpSpPr>
        <a:xfrm>
          <a:off x="0" y="0"/>
          <a:ext cx="0" cy="0"/>
          <a:chOff x="0" y="0"/>
          <a:chExt cx="0" cy="0"/>
        </a:xfrm>
      </p:grpSpPr>
      <p:sp>
        <p:nvSpPr>
          <p:cNvPr id="490" name="Google Shape;490;p24"/>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491" name="Google Shape;491;p24"/>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492" name="Google Shape;492;p24"/>
          <p:cNvPicPr preferRelativeResize="0"/>
          <p:nvPr/>
        </p:nvPicPr>
        <p:blipFill rotWithShape="1">
          <a:blip r:embed="rId3">
            <a:alphaModFix/>
          </a:blip>
          <a:srcRect l="53001" t="54841"/>
          <a:stretch/>
        </p:blipFill>
        <p:spPr>
          <a:xfrm>
            <a:off x="0" y="0"/>
            <a:ext cx="872377" cy="838200"/>
          </a:xfrm>
          <a:prstGeom prst="rect">
            <a:avLst/>
          </a:prstGeom>
          <a:noFill/>
          <a:ln>
            <a:noFill/>
          </a:ln>
        </p:spPr>
      </p:pic>
      <p:sp>
        <p:nvSpPr>
          <p:cNvPr id="493" name="Google Shape;493;p24"/>
          <p:cNvSpPr txBox="1">
            <a:spLocks noGrp="1"/>
          </p:cNvSpPr>
          <p:nvPr>
            <p:ph type="title"/>
          </p:nvPr>
        </p:nvSpPr>
        <p:spPr>
          <a:xfrm>
            <a:off x="1003442" y="559813"/>
            <a:ext cx="9219344" cy="11148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3700"/>
              <a:buFont typeface="Avenir"/>
              <a:buNone/>
            </a:pPr>
            <a:r>
              <a:rPr lang="en-US" sz="3700">
                <a:solidFill>
                  <a:schemeClr val="dk2"/>
                </a:solidFill>
              </a:rPr>
              <a:t>Principles of Parallel Computing Cont…</a:t>
            </a:r>
            <a:endParaRPr sz="3700">
              <a:solidFill>
                <a:schemeClr val="dk2"/>
              </a:solidFill>
            </a:endParaRPr>
          </a:p>
        </p:txBody>
      </p:sp>
      <p:pic>
        <p:nvPicPr>
          <p:cNvPr id="494" name="Google Shape;494;p24"/>
          <p:cNvPicPr preferRelativeResize="0"/>
          <p:nvPr/>
        </p:nvPicPr>
        <p:blipFill rotWithShape="1">
          <a:blip r:embed="rId4">
            <a:alphaModFix/>
          </a:blip>
          <a:srcRect r="73964"/>
          <a:stretch/>
        </p:blipFill>
        <p:spPr>
          <a:xfrm>
            <a:off x="11527047" y="3144779"/>
            <a:ext cx="661905" cy="2548349"/>
          </a:xfrm>
          <a:prstGeom prst="rect">
            <a:avLst/>
          </a:prstGeom>
          <a:noFill/>
          <a:ln>
            <a:noFill/>
          </a:ln>
        </p:spPr>
      </p:pic>
      <p:grpSp>
        <p:nvGrpSpPr>
          <p:cNvPr id="495" name="Google Shape;495;p24"/>
          <p:cNvGrpSpPr/>
          <p:nvPr/>
        </p:nvGrpSpPr>
        <p:grpSpPr>
          <a:xfrm>
            <a:off x="1949842" y="1554808"/>
            <a:ext cx="8292315" cy="4960621"/>
            <a:chOff x="946400" y="328"/>
            <a:chExt cx="8292315" cy="4960621"/>
          </a:xfrm>
        </p:grpSpPr>
        <p:sp>
          <p:nvSpPr>
            <p:cNvPr id="496" name="Google Shape;496;p24"/>
            <p:cNvSpPr/>
            <p:nvPr/>
          </p:nvSpPr>
          <p:spPr>
            <a:xfrm>
              <a:off x="946400" y="328"/>
              <a:ext cx="3948721" cy="2369233"/>
            </a:xfrm>
            <a:prstGeom prst="flowChartAlternateProcess">
              <a:avLst/>
            </a:prstGeom>
            <a:solidFill>
              <a:srgbClr val="44B0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4"/>
            <p:cNvSpPr txBox="1"/>
            <p:nvPr/>
          </p:nvSpPr>
          <p:spPr>
            <a:xfrm>
              <a:off x="1062054" y="115982"/>
              <a:ext cx="3717413" cy="2137925"/>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lt1"/>
                </a:buClr>
                <a:buSzPts val="1400"/>
                <a:buFont typeface="Arial"/>
                <a:buNone/>
              </a:pPr>
              <a:r>
                <a:rPr lang="en-US" sz="1400" b="1">
                  <a:solidFill>
                    <a:schemeClr val="lt1"/>
                  </a:solidFill>
                  <a:latin typeface="Arial"/>
                  <a:ea typeface="Arial"/>
                  <a:cs typeface="Arial"/>
                  <a:sym typeface="Arial"/>
                </a:rPr>
                <a:t>Finding Enough Parallelism</a:t>
              </a:r>
              <a:endParaRPr/>
            </a:p>
            <a:p>
              <a:pPr marL="0" marR="0" lvl="0" indent="0" algn="just" rtl="0">
                <a:lnSpc>
                  <a:spcPct val="90000"/>
                </a:lnSpc>
                <a:spcBef>
                  <a:spcPts val="490"/>
                </a:spcBef>
                <a:spcAft>
                  <a:spcPts val="0"/>
                </a:spcAft>
                <a:buClr>
                  <a:schemeClr val="lt1"/>
                </a:buClr>
                <a:buSzPts val="1400"/>
                <a:buFont typeface="Arial"/>
                <a:buNone/>
              </a:pPr>
              <a:r>
                <a:rPr lang="en-US" sz="1400">
                  <a:solidFill>
                    <a:schemeClr val="lt1"/>
                  </a:solidFill>
                  <a:latin typeface="Arial"/>
                  <a:ea typeface="Arial"/>
                  <a:cs typeface="Arial"/>
                  <a:sym typeface="Arial"/>
                </a:rPr>
                <a:t>Conventional architectures coarsely comprise of a processor, memory system, and the data-path. Each of these components' present significant performance bottlenecks. Parallelism addresses each of these components in significant ways.   </a:t>
              </a:r>
              <a:endParaRPr/>
            </a:p>
          </p:txBody>
        </p:sp>
        <p:sp>
          <p:nvSpPr>
            <p:cNvPr id="498" name="Google Shape;498;p24"/>
            <p:cNvSpPr/>
            <p:nvPr/>
          </p:nvSpPr>
          <p:spPr>
            <a:xfrm>
              <a:off x="5289994" y="328"/>
              <a:ext cx="3948721" cy="2369233"/>
            </a:xfrm>
            <a:prstGeom prst="flowChartAlternateProcess">
              <a:avLst/>
            </a:prstGeom>
            <a:solidFill>
              <a:srgbClr val="44B0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4"/>
            <p:cNvSpPr txBox="1"/>
            <p:nvPr/>
          </p:nvSpPr>
          <p:spPr>
            <a:xfrm>
              <a:off x="5405648" y="115982"/>
              <a:ext cx="3717413" cy="2137925"/>
            </a:xfrm>
            <a:prstGeom prst="rect">
              <a:avLst/>
            </a:prstGeom>
            <a:noFill/>
            <a:ln>
              <a:noFill/>
            </a:ln>
          </p:spPr>
          <p:txBody>
            <a:bodyPr spcFirstLastPara="1" wrap="square" lIns="53325" tIns="53325" rIns="53325" bIns="53325" anchor="t" anchorCtr="0">
              <a:noAutofit/>
            </a:bodyPr>
            <a:lstStyle/>
            <a:p>
              <a:pPr marL="0" marR="0" lvl="0" indent="0" algn="ctr" rtl="0">
                <a:lnSpc>
                  <a:spcPct val="90000"/>
                </a:lnSpc>
                <a:spcBef>
                  <a:spcPts val="0"/>
                </a:spcBef>
                <a:spcAft>
                  <a:spcPts val="0"/>
                </a:spcAft>
                <a:buClr>
                  <a:schemeClr val="dk1"/>
                </a:buClr>
                <a:buSzPts val="1400"/>
                <a:buFont typeface="Avenir"/>
                <a:buNone/>
              </a:pPr>
              <a:endParaRPr sz="1400" b="1">
                <a:solidFill>
                  <a:schemeClr val="lt1"/>
                </a:solidFill>
                <a:latin typeface="Arial"/>
                <a:ea typeface="Arial"/>
                <a:cs typeface="Arial"/>
                <a:sym typeface="Arial"/>
              </a:endParaRPr>
            </a:p>
            <a:p>
              <a:pPr marL="0" marR="0" lvl="0" indent="0" algn="ctr" rtl="0">
                <a:lnSpc>
                  <a:spcPct val="90000"/>
                </a:lnSpc>
                <a:spcBef>
                  <a:spcPts val="490"/>
                </a:spcBef>
                <a:spcAft>
                  <a:spcPts val="0"/>
                </a:spcAft>
                <a:buClr>
                  <a:schemeClr val="lt1"/>
                </a:buClr>
                <a:buSzPts val="1400"/>
                <a:buFont typeface="Arial"/>
                <a:buNone/>
              </a:pPr>
              <a:r>
                <a:rPr lang="en-US" sz="1400" b="1">
                  <a:solidFill>
                    <a:schemeClr val="lt1"/>
                  </a:solidFill>
                  <a:latin typeface="Arial"/>
                  <a:ea typeface="Arial"/>
                  <a:cs typeface="Arial"/>
                  <a:sym typeface="Arial"/>
                </a:rPr>
                <a:t>Scale</a:t>
              </a:r>
              <a:endParaRPr/>
            </a:p>
            <a:p>
              <a:pPr marL="0" marR="0" lvl="0" indent="0" algn="just" rtl="0">
                <a:lnSpc>
                  <a:spcPct val="90000"/>
                </a:lnSpc>
                <a:spcBef>
                  <a:spcPts val="490"/>
                </a:spcBef>
                <a:spcAft>
                  <a:spcPts val="0"/>
                </a:spcAft>
                <a:buClr>
                  <a:schemeClr val="lt1"/>
                </a:buClr>
                <a:buSzPts val="1400"/>
                <a:buFont typeface="Arial"/>
                <a:buNone/>
              </a:pPr>
              <a:r>
                <a:rPr lang="en-US" sz="1400">
                  <a:solidFill>
                    <a:schemeClr val="lt1"/>
                  </a:solidFill>
                  <a:latin typeface="Arial"/>
                  <a:ea typeface="Arial"/>
                  <a:cs typeface="Arial"/>
                  <a:sym typeface="Arial"/>
                </a:rPr>
                <a:t>Parallelism overhead includes cost of starting a head, accessing data, communicating shared data, synchronization and extra computation. Algorithms needs sufficiently large units of work to run fast in parallel. </a:t>
              </a:r>
              <a:endParaRPr/>
            </a:p>
          </p:txBody>
        </p:sp>
        <p:sp>
          <p:nvSpPr>
            <p:cNvPr id="500" name="Google Shape;500;p24"/>
            <p:cNvSpPr/>
            <p:nvPr/>
          </p:nvSpPr>
          <p:spPr>
            <a:xfrm>
              <a:off x="3116657" y="2591716"/>
              <a:ext cx="3948721" cy="2369233"/>
            </a:xfrm>
            <a:prstGeom prst="flowChartAlternateProcess">
              <a:avLst/>
            </a:prstGeom>
            <a:solidFill>
              <a:srgbClr val="44B0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4"/>
            <p:cNvSpPr txBox="1"/>
            <p:nvPr/>
          </p:nvSpPr>
          <p:spPr>
            <a:xfrm>
              <a:off x="3232311" y="2707370"/>
              <a:ext cx="3717413" cy="2137925"/>
            </a:xfrm>
            <a:prstGeom prst="rect">
              <a:avLst/>
            </a:prstGeom>
            <a:noFill/>
            <a:ln>
              <a:noFill/>
            </a:ln>
          </p:spPr>
          <p:txBody>
            <a:bodyPr spcFirstLastPara="1" wrap="square" lIns="53325" tIns="53325" rIns="53325" bIns="53325" anchor="t" anchorCtr="0">
              <a:noAutofit/>
            </a:bodyPr>
            <a:lstStyle/>
            <a:p>
              <a:pPr marL="0" marR="0" lvl="0" indent="0" algn="ctr" rtl="0">
                <a:lnSpc>
                  <a:spcPct val="90000"/>
                </a:lnSpc>
                <a:spcBef>
                  <a:spcPts val="0"/>
                </a:spcBef>
                <a:spcAft>
                  <a:spcPts val="0"/>
                </a:spcAft>
                <a:buClr>
                  <a:schemeClr val="dk1"/>
                </a:buClr>
                <a:buSzPts val="1400"/>
                <a:buFont typeface="Avenir"/>
                <a:buNone/>
              </a:pPr>
              <a:endParaRPr sz="1400" b="1">
                <a:solidFill>
                  <a:schemeClr val="lt1"/>
                </a:solidFill>
                <a:latin typeface="Arial"/>
                <a:ea typeface="Arial"/>
                <a:cs typeface="Arial"/>
                <a:sym typeface="Arial"/>
              </a:endParaRPr>
            </a:p>
            <a:p>
              <a:pPr marL="0" marR="0" lvl="0" indent="0" algn="ctr" rtl="0">
                <a:lnSpc>
                  <a:spcPct val="90000"/>
                </a:lnSpc>
                <a:spcBef>
                  <a:spcPts val="490"/>
                </a:spcBef>
                <a:spcAft>
                  <a:spcPts val="0"/>
                </a:spcAft>
                <a:buClr>
                  <a:schemeClr val="lt1"/>
                </a:buClr>
                <a:buSzPts val="1400"/>
                <a:buFont typeface="Arial"/>
                <a:buNone/>
              </a:pPr>
              <a:r>
                <a:rPr lang="en-US" sz="1400" b="1">
                  <a:solidFill>
                    <a:schemeClr val="lt1"/>
                  </a:solidFill>
                  <a:latin typeface="Arial"/>
                  <a:ea typeface="Arial"/>
                  <a:cs typeface="Arial"/>
                  <a:sym typeface="Arial"/>
                </a:rPr>
                <a:t>Locality</a:t>
              </a:r>
              <a:endParaRPr/>
            </a:p>
            <a:p>
              <a:pPr marL="0" marR="0" lvl="0" indent="0" algn="just" rtl="0">
                <a:lnSpc>
                  <a:spcPct val="90000"/>
                </a:lnSpc>
                <a:spcBef>
                  <a:spcPts val="490"/>
                </a:spcBef>
                <a:spcAft>
                  <a:spcPts val="0"/>
                </a:spcAft>
                <a:buClr>
                  <a:schemeClr val="lt1"/>
                </a:buClr>
                <a:buSzPts val="1400"/>
                <a:buFont typeface="Arial"/>
                <a:buNone/>
              </a:pPr>
              <a:r>
                <a:rPr lang="en-US" sz="1400" b="0">
                  <a:solidFill>
                    <a:schemeClr val="lt1"/>
                  </a:solidFill>
                  <a:latin typeface="Arial"/>
                  <a:ea typeface="Arial"/>
                  <a:cs typeface="Arial"/>
                  <a:sym typeface="Arial"/>
                </a:rPr>
                <a:t>Parallel processors collectively have large and fast cache. The </a:t>
              </a:r>
              <a:r>
                <a:rPr lang="en-US" sz="1400" b="0" i="0">
                  <a:solidFill>
                    <a:schemeClr val="lt1"/>
                  </a:solidFill>
                  <a:latin typeface="Arial"/>
                  <a:ea typeface="Arial"/>
                  <a:cs typeface="Arial"/>
                  <a:sym typeface="Arial"/>
                </a:rPr>
                <a:t>memory addresses are distributed across the processors, a processor may have faster access to memory locations mapped locally than to memory locations mapped to other processors.</a:t>
              </a:r>
              <a:endParaRPr sz="1400" b="0">
                <a:solidFill>
                  <a:schemeClr val="lt1"/>
                </a:solidFill>
                <a:latin typeface="Arial"/>
                <a:ea typeface="Arial"/>
                <a:cs typeface="Arial"/>
                <a:sym typeface="Aria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6"/>
        <p:cNvGrpSpPr/>
        <p:nvPr/>
      </p:nvGrpSpPr>
      <p:grpSpPr>
        <a:xfrm>
          <a:off x="0" y="0"/>
          <a:ext cx="0" cy="0"/>
          <a:chOff x="0" y="0"/>
          <a:chExt cx="0" cy="0"/>
        </a:xfrm>
      </p:grpSpPr>
      <p:sp>
        <p:nvSpPr>
          <p:cNvPr id="507" name="Google Shape;507;p25"/>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508" name="Google Shape;508;p25"/>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509" name="Google Shape;509;p25"/>
          <p:cNvPicPr preferRelativeResize="0"/>
          <p:nvPr/>
        </p:nvPicPr>
        <p:blipFill rotWithShape="1">
          <a:blip r:embed="rId3">
            <a:alphaModFix/>
          </a:blip>
          <a:srcRect l="53001" t="54841"/>
          <a:stretch/>
        </p:blipFill>
        <p:spPr>
          <a:xfrm>
            <a:off x="0" y="0"/>
            <a:ext cx="872377" cy="838200"/>
          </a:xfrm>
          <a:prstGeom prst="rect">
            <a:avLst/>
          </a:prstGeom>
          <a:noFill/>
          <a:ln>
            <a:noFill/>
          </a:ln>
        </p:spPr>
      </p:pic>
      <p:sp>
        <p:nvSpPr>
          <p:cNvPr id="510" name="Google Shape;510;p25"/>
          <p:cNvSpPr txBox="1">
            <a:spLocks noGrp="1"/>
          </p:cNvSpPr>
          <p:nvPr>
            <p:ph type="title"/>
          </p:nvPr>
        </p:nvSpPr>
        <p:spPr>
          <a:xfrm>
            <a:off x="1003442" y="559813"/>
            <a:ext cx="9219344" cy="11148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3700"/>
              <a:buFont typeface="Avenir"/>
              <a:buNone/>
            </a:pPr>
            <a:r>
              <a:rPr lang="en-US" sz="3700">
                <a:solidFill>
                  <a:schemeClr val="dk2"/>
                </a:solidFill>
              </a:rPr>
              <a:t>Principles of Parallel Computing Cont.…</a:t>
            </a:r>
            <a:endParaRPr sz="3700">
              <a:solidFill>
                <a:schemeClr val="dk2"/>
              </a:solidFill>
            </a:endParaRPr>
          </a:p>
        </p:txBody>
      </p:sp>
      <p:pic>
        <p:nvPicPr>
          <p:cNvPr id="511" name="Google Shape;511;p25"/>
          <p:cNvPicPr preferRelativeResize="0"/>
          <p:nvPr/>
        </p:nvPicPr>
        <p:blipFill rotWithShape="1">
          <a:blip r:embed="rId4">
            <a:alphaModFix/>
          </a:blip>
          <a:srcRect r="73964"/>
          <a:stretch/>
        </p:blipFill>
        <p:spPr>
          <a:xfrm>
            <a:off x="11527047" y="3144779"/>
            <a:ext cx="661905" cy="2548349"/>
          </a:xfrm>
          <a:prstGeom prst="rect">
            <a:avLst/>
          </a:prstGeom>
          <a:noFill/>
          <a:ln>
            <a:noFill/>
          </a:ln>
        </p:spPr>
      </p:pic>
      <p:grpSp>
        <p:nvGrpSpPr>
          <p:cNvPr id="512" name="Google Shape;512;p25"/>
          <p:cNvGrpSpPr/>
          <p:nvPr/>
        </p:nvGrpSpPr>
        <p:grpSpPr>
          <a:xfrm>
            <a:off x="1918511" y="1515093"/>
            <a:ext cx="8354977" cy="4952727"/>
            <a:chOff x="915069" y="1253"/>
            <a:chExt cx="8354977" cy="4952727"/>
          </a:xfrm>
        </p:grpSpPr>
        <p:sp>
          <p:nvSpPr>
            <p:cNvPr id="513" name="Google Shape;513;p25"/>
            <p:cNvSpPr/>
            <p:nvPr/>
          </p:nvSpPr>
          <p:spPr>
            <a:xfrm>
              <a:off x="915069" y="1253"/>
              <a:ext cx="3978560" cy="2387136"/>
            </a:xfrm>
            <a:prstGeom prst="flowChartAlternateProcess">
              <a:avLst/>
            </a:prstGeom>
            <a:solidFill>
              <a:srgbClr val="44B0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5"/>
            <p:cNvSpPr txBox="1"/>
            <p:nvPr/>
          </p:nvSpPr>
          <p:spPr>
            <a:xfrm>
              <a:off x="1031597" y="117781"/>
              <a:ext cx="3745504" cy="2154080"/>
            </a:xfrm>
            <a:prstGeom prst="rect">
              <a:avLst/>
            </a:prstGeom>
            <a:noFill/>
            <a:ln>
              <a:noFill/>
            </a:ln>
          </p:spPr>
          <p:txBody>
            <a:bodyPr spcFirstLastPara="1" wrap="square" lIns="53325" tIns="53325" rIns="53325" bIns="53325" anchor="t" anchorCtr="0">
              <a:noAutofit/>
            </a:bodyPr>
            <a:lstStyle/>
            <a:p>
              <a:pPr marL="0" marR="0" lvl="0" indent="0" algn="ctr" rtl="0">
                <a:lnSpc>
                  <a:spcPct val="90000"/>
                </a:lnSpc>
                <a:spcBef>
                  <a:spcPts val="0"/>
                </a:spcBef>
                <a:spcAft>
                  <a:spcPts val="0"/>
                </a:spcAft>
                <a:buClr>
                  <a:schemeClr val="dk1"/>
                </a:buClr>
                <a:buSzPts val="1400"/>
                <a:buFont typeface="Avenir"/>
                <a:buNone/>
              </a:pPr>
              <a:endParaRPr sz="1400" b="1">
                <a:solidFill>
                  <a:schemeClr val="lt1"/>
                </a:solidFill>
                <a:latin typeface="Arial"/>
                <a:ea typeface="Arial"/>
                <a:cs typeface="Arial"/>
                <a:sym typeface="Arial"/>
              </a:endParaRPr>
            </a:p>
            <a:p>
              <a:pPr marL="0" marR="0" lvl="0" indent="0" algn="ctr" rtl="0">
                <a:lnSpc>
                  <a:spcPct val="90000"/>
                </a:lnSpc>
                <a:spcBef>
                  <a:spcPts val="490"/>
                </a:spcBef>
                <a:spcAft>
                  <a:spcPts val="0"/>
                </a:spcAft>
                <a:buClr>
                  <a:schemeClr val="lt1"/>
                </a:buClr>
                <a:buSzPts val="1400"/>
                <a:buFont typeface="Arial"/>
                <a:buNone/>
              </a:pPr>
              <a:r>
                <a:rPr lang="en-US" sz="1400" b="1">
                  <a:solidFill>
                    <a:schemeClr val="lt1"/>
                  </a:solidFill>
                  <a:latin typeface="Arial"/>
                  <a:ea typeface="Arial"/>
                  <a:cs typeface="Arial"/>
                  <a:sym typeface="Arial"/>
                </a:rPr>
                <a:t>Load Balance</a:t>
              </a:r>
              <a:endParaRPr/>
            </a:p>
            <a:p>
              <a:pPr marL="0" marR="0" lvl="0" indent="0" algn="just" rtl="0">
                <a:lnSpc>
                  <a:spcPct val="90000"/>
                </a:lnSpc>
                <a:spcBef>
                  <a:spcPts val="490"/>
                </a:spcBef>
                <a:spcAft>
                  <a:spcPts val="0"/>
                </a:spcAft>
                <a:buClr>
                  <a:schemeClr val="lt1"/>
                </a:buClr>
                <a:buSzPts val="1400"/>
                <a:buFont typeface="Arial"/>
                <a:buNone/>
              </a:pPr>
              <a:r>
                <a:rPr lang="en-US" sz="1400">
                  <a:solidFill>
                    <a:schemeClr val="lt1"/>
                  </a:solidFill>
                  <a:latin typeface="Arial"/>
                  <a:ea typeface="Arial"/>
                  <a:cs typeface="Arial"/>
                  <a:sym typeface="Arial"/>
                </a:rPr>
                <a:t>Determines the workload, divide up evenly before staring in case of static load balancing but in dynamic load balance workload changes dynamically, need to rebalance dynamically. </a:t>
              </a:r>
              <a:endParaRPr/>
            </a:p>
          </p:txBody>
        </p:sp>
        <p:sp>
          <p:nvSpPr>
            <p:cNvPr id="515" name="Google Shape;515;p25"/>
            <p:cNvSpPr/>
            <p:nvPr/>
          </p:nvSpPr>
          <p:spPr>
            <a:xfrm>
              <a:off x="5291486" y="1253"/>
              <a:ext cx="3978560" cy="2387136"/>
            </a:xfrm>
            <a:prstGeom prst="flowChartAlternateProcess">
              <a:avLst/>
            </a:prstGeom>
            <a:solidFill>
              <a:srgbClr val="44B0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5"/>
            <p:cNvSpPr txBox="1"/>
            <p:nvPr/>
          </p:nvSpPr>
          <p:spPr>
            <a:xfrm>
              <a:off x="5408014" y="117781"/>
              <a:ext cx="3745504" cy="2154080"/>
            </a:xfrm>
            <a:prstGeom prst="rect">
              <a:avLst/>
            </a:prstGeom>
            <a:noFill/>
            <a:ln>
              <a:noFill/>
            </a:ln>
          </p:spPr>
          <p:txBody>
            <a:bodyPr spcFirstLastPara="1" wrap="square" lIns="53325" tIns="53325" rIns="53325" bIns="53325" anchor="t" anchorCtr="0">
              <a:noAutofit/>
            </a:bodyPr>
            <a:lstStyle/>
            <a:p>
              <a:pPr marL="0" marR="0" lvl="0" indent="0" algn="ctr" rtl="0">
                <a:lnSpc>
                  <a:spcPct val="90000"/>
                </a:lnSpc>
                <a:spcBef>
                  <a:spcPts val="0"/>
                </a:spcBef>
                <a:spcAft>
                  <a:spcPts val="0"/>
                </a:spcAft>
                <a:buClr>
                  <a:schemeClr val="dk1"/>
                </a:buClr>
                <a:buSzPts val="1400"/>
                <a:buFont typeface="Avenir"/>
                <a:buNone/>
              </a:pPr>
              <a:endParaRPr sz="1400" b="1">
                <a:solidFill>
                  <a:schemeClr val="lt1"/>
                </a:solidFill>
                <a:latin typeface="Arial"/>
                <a:ea typeface="Arial"/>
                <a:cs typeface="Arial"/>
                <a:sym typeface="Arial"/>
              </a:endParaRPr>
            </a:p>
            <a:p>
              <a:pPr marL="0" marR="0" lvl="0" indent="0" algn="ctr" rtl="0">
                <a:lnSpc>
                  <a:spcPct val="90000"/>
                </a:lnSpc>
                <a:spcBef>
                  <a:spcPts val="490"/>
                </a:spcBef>
                <a:spcAft>
                  <a:spcPts val="0"/>
                </a:spcAft>
                <a:buClr>
                  <a:schemeClr val="lt1"/>
                </a:buClr>
                <a:buSzPts val="1400"/>
                <a:buFont typeface="Arial"/>
                <a:buNone/>
              </a:pPr>
              <a:r>
                <a:rPr lang="en-US" sz="1400" b="1">
                  <a:solidFill>
                    <a:schemeClr val="lt1"/>
                  </a:solidFill>
                  <a:latin typeface="Arial"/>
                  <a:ea typeface="Arial"/>
                  <a:cs typeface="Arial"/>
                  <a:sym typeface="Arial"/>
                </a:rPr>
                <a:t>Coordination and Synchronization</a:t>
              </a:r>
              <a:endParaRPr/>
            </a:p>
            <a:p>
              <a:pPr marL="0" marR="0" lvl="0" indent="0" algn="just" rtl="0">
                <a:lnSpc>
                  <a:spcPct val="90000"/>
                </a:lnSpc>
                <a:spcBef>
                  <a:spcPts val="490"/>
                </a:spcBef>
                <a:spcAft>
                  <a:spcPts val="0"/>
                </a:spcAft>
                <a:buClr>
                  <a:schemeClr val="lt1"/>
                </a:buClr>
                <a:buSzPts val="1400"/>
                <a:buFont typeface="Arial"/>
                <a:buNone/>
              </a:pPr>
              <a:r>
                <a:rPr lang="en-US" sz="1400">
                  <a:solidFill>
                    <a:schemeClr val="lt1"/>
                  </a:solidFill>
                  <a:latin typeface="Arial"/>
                  <a:ea typeface="Arial"/>
                  <a:cs typeface="Arial"/>
                  <a:sym typeface="Arial"/>
                </a:rPr>
                <a:t>Several kind of synchronization is needed by processes cooperating to perform computation.</a:t>
              </a:r>
              <a:endParaRPr/>
            </a:p>
            <a:p>
              <a:pPr marL="0" marR="0" lvl="0" indent="0" algn="just" rtl="0">
                <a:lnSpc>
                  <a:spcPct val="90000"/>
                </a:lnSpc>
                <a:spcBef>
                  <a:spcPts val="490"/>
                </a:spcBef>
                <a:spcAft>
                  <a:spcPts val="0"/>
                </a:spcAft>
                <a:buClr>
                  <a:schemeClr val="dk1"/>
                </a:buClr>
                <a:buSzPts val="1400"/>
                <a:buFont typeface="Avenir"/>
                <a:buNone/>
              </a:pPr>
              <a:endParaRPr sz="1400">
                <a:solidFill>
                  <a:schemeClr val="lt1"/>
                </a:solidFill>
                <a:latin typeface="Arial"/>
                <a:ea typeface="Arial"/>
                <a:cs typeface="Arial"/>
                <a:sym typeface="Arial"/>
              </a:endParaRPr>
            </a:p>
          </p:txBody>
        </p:sp>
        <p:sp>
          <p:nvSpPr>
            <p:cNvPr id="517" name="Google Shape;517;p25"/>
            <p:cNvSpPr/>
            <p:nvPr/>
          </p:nvSpPr>
          <p:spPr>
            <a:xfrm>
              <a:off x="3101765" y="2566844"/>
              <a:ext cx="3978560" cy="2387136"/>
            </a:xfrm>
            <a:prstGeom prst="flowChartAlternateProcess">
              <a:avLst/>
            </a:prstGeom>
            <a:solidFill>
              <a:srgbClr val="44B0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5"/>
            <p:cNvSpPr txBox="1"/>
            <p:nvPr/>
          </p:nvSpPr>
          <p:spPr>
            <a:xfrm>
              <a:off x="3218293" y="2683372"/>
              <a:ext cx="3745504" cy="2154080"/>
            </a:xfrm>
            <a:prstGeom prst="rect">
              <a:avLst/>
            </a:prstGeom>
            <a:noFill/>
            <a:ln>
              <a:noFill/>
            </a:ln>
          </p:spPr>
          <p:txBody>
            <a:bodyPr spcFirstLastPara="1" wrap="square" lIns="53325" tIns="53325" rIns="53325" bIns="53325" anchor="t" anchorCtr="0">
              <a:noAutofit/>
            </a:bodyPr>
            <a:lstStyle/>
            <a:p>
              <a:pPr marL="0" marR="0" lvl="0" indent="0" algn="ctr" rtl="0">
                <a:lnSpc>
                  <a:spcPct val="90000"/>
                </a:lnSpc>
                <a:spcBef>
                  <a:spcPts val="0"/>
                </a:spcBef>
                <a:spcAft>
                  <a:spcPts val="0"/>
                </a:spcAft>
                <a:buClr>
                  <a:schemeClr val="dk1"/>
                </a:buClr>
                <a:buSzPts val="1400"/>
                <a:buFont typeface="Avenir"/>
                <a:buNone/>
              </a:pPr>
              <a:endParaRPr sz="1400" b="1">
                <a:solidFill>
                  <a:schemeClr val="lt1"/>
                </a:solidFill>
                <a:latin typeface="Arial"/>
                <a:ea typeface="Arial"/>
                <a:cs typeface="Arial"/>
                <a:sym typeface="Arial"/>
              </a:endParaRPr>
            </a:p>
            <a:p>
              <a:pPr marL="0" marR="0" lvl="0" indent="0" algn="ctr" rtl="0">
                <a:lnSpc>
                  <a:spcPct val="90000"/>
                </a:lnSpc>
                <a:spcBef>
                  <a:spcPts val="490"/>
                </a:spcBef>
                <a:spcAft>
                  <a:spcPts val="0"/>
                </a:spcAft>
                <a:buClr>
                  <a:schemeClr val="lt1"/>
                </a:buClr>
                <a:buSzPts val="1400"/>
                <a:buFont typeface="Arial"/>
                <a:buNone/>
              </a:pPr>
              <a:r>
                <a:rPr lang="en-US" sz="1400" b="1">
                  <a:solidFill>
                    <a:schemeClr val="lt1"/>
                  </a:solidFill>
                  <a:latin typeface="Arial"/>
                  <a:ea typeface="Arial"/>
                  <a:cs typeface="Arial"/>
                  <a:sym typeface="Arial"/>
                </a:rPr>
                <a:t>Performance Modeling</a:t>
              </a:r>
              <a:endParaRPr/>
            </a:p>
            <a:p>
              <a:pPr marL="0" marR="0" lvl="0" indent="0" algn="just" rtl="0">
                <a:lnSpc>
                  <a:spcPct val="90000"/>
                </a:lnSpc>
                <a:spcBef>
                  <a:spcPts val="490"/>
                </a:spcBef>
                <a:spcAft>
                  <a:spcPts val="0"/>
                </a:spcAft>
                <a:buClr>
                  <a:schemeClr val="lt1"/>
                </a:buClr>
                <a:buSzPts val="1400"/>
                <a:buFont typeface="Arial"/>
                <a:buNone/>
              </a:pPr>
              <a:r>
                <a:rPr lang="en-US" sz="1400">
                  <a:solidFill>
                    <a:schemeClr val="lt1"/>
                  </a:solidFill>
                  <a:latin typeface="Arial"/>
                  <a:ea typeface="Arial"/>
                  <a:cs typeface="Arial"/>
                  <a:sym typeface="Arial"/>
                </a:rPr>
                <a:t>More efficient programming models and tools formulated for massively parallel supercomputers. </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2"/>
        <p:cNvGrpSpPr/>
        <p:nvPr/>
      </p:nvGrpSpPr>
      <p:grpSpPr>
        <a:xfrm>
          <a:off x="0" y="0"/>
          <a:ext cx="0" cy="0"/>
          <a:chOff x="0" y="0"/>
          <a:chExt cx="0" cy="0"/>
        </a:xfrm>
      </p:grpSpPr>
      <p:sp>
        <p:nvSpPr>
          <p:cNvPr id="523" name="Google Shape;523;p26"/>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524" name="Google Shape;524;p26"/>
          <p:cNvPicPr preferRelativeResize="0"/>
          <p:nvPr/>
        </p:nvPicPr>
        <p:blipFill rotWithShape="1">
          <a:blip r:embed="rId3">
            <a:alphaModFix amt="35000"/>
          </a:blip>
          <a:srcRect/>
          <a:stretch/>
        </p:blipFill>
        <p:spPr>
          <a:xfrm>
            <a:off x="0" y="1"/>
            <a:ext cx="12192000" cy="1392401"/>
          </a:xfrm>
          <a:prstGeom prst="rect">
            <a:avLst/>
          </a:prstGeom>
          <a:noFill/>
          <a:ln>
            <a:noFill/>
          </a:ln>
        </p:spPr>
      </p:pic>
      <p:sp>
        <p:nvSpPr>
          <p:cNvPr id="525" name="Google Shape;525;p26"/>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526" name="Google Shape;526;p26"/>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527" name="Google Shape;527;p26"/>
          <p:cNvPicPr preferRelativeResize="0"/>
          <p:nvPr/>
        </p:nvPicPr>
        <p:blipFill rotWithShape="1">
          <a:blip r:embed="rId4">
            <a:alphaModFix/>
          </a:blip>
          <a:srcRect l="9052" r="15486" b="-2"/>
          <a:stretch/>
        </p:blipFill>
        <p:spPr>
          <a:xfrm>
            <a:off x="3048" y="10"/>
            <a:ext cx="6195372" cy="4618233"/>
          </a:xfrm>
          <a:prstGeom prst="rect">
            <a:avLst/>
          </a:prstGeom>
          <a:noFill/>
          <a:ln>
            <a:noFill/>
          </a:ln>
        </p:spPr>
      </p:pic>
      <p:sp>
        <p:nvSpPr>
          <p:cNvPr id="528" name="Google Shape;528;p26"/>
          <p:cNvSpPr/>
          <p:nvPr/>
        </p:nvSpPr>
        <p:spPr>
          <a:xfrm>
            <a:off x="0" y="4602877"/>
            <a:ext cx="12192000" cy="2267339"/>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529" name="Google Shape;529;p26"/>
          <p:cNvSpPr/>
          <p:nvPr/>
        </p:nvSpPr>
        <p:spPr>
          <a:xfrm rot="10800000">
            <a:off x="-3055" y="4596020"/>
            <a:ext cx="12191999" cy="2274195"/>
          </a:xfrm>
          <a:prstGeom prst="rect">
            <a:avLst/>
          </a:prstGeom>
          <a:blipFill rotWithShape="1">
            <a:blip r:embed="rId5">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530" name="Google Shape;530;p26"/>
          <p:cNvSpPr txBox="1">
            <a:spLocks noGrp="1"/>
          </p:cNvSpPr>
          <p:nvPr>
            <p:ph type="ctrTitle"/>
          </p:nvPr>
        </p:nvSpPr>
        <p:spPr>
          <a:xfrm>
            <a:off x="838200" y="4876800"/>
            <a:ext cx="10003218" cy="121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100"/>
              <a:buFont typeface="Avenir"/>
              <a:buNone/>
            </a:pPr>
            <a:r>
              <a:rPr lang="en-US" sz="4100"/>
              <a:t>CS621 Parallel and Distributed Computing</a:t>
            </a:r>
            <a:endParaRPr sz="4100"/>
          </a:p>
        </p:txBody>
      </p:sp>
      <p:sp>
        <p:nvSpPr>
          <p:cNvPr id="531" name="Google Shape;531;p26"/>
          <p:cNvSpPr txBox="1">
            <a:spLocks noGrp="1"/>
          </p:cNvSpPr>
          <p:nvPr>
            <p:ph type="subTitle" idx="1"/>
          </p:nvPr>
        </p:nvSpPr>
        <p:spPr>
          <a:xfrm>
            <a:off x="6553200" y="369204"/>
            <a:ext cx="4800600" cy="3935986"/>
          </a:xfrm>
          <a:prstGeom prst="rect">
            <a:avLst/>
          </a:prstGeom>
          <a:noFill/>
          <a:ln>
            <a:noFill/>
          </a:ln>
        </p:spPr>
        <p:txBody>
          <a:bodyPr spcFirstLastPara="1" wrap="square" lIns="91425" tIns="45700" rIns="91425" bIns="45700" anchor="ctr" anchorCtr="0">
            <a:normAutofit/>
          </a:bodyPr>
          <a:lstStyle/>
          <a:p>
            <a:pPr marL="0" lvl="0" indent="0" algn="ctr" rtl="0">
              <a:lnSpc>
                <a:spcPct val="110000"/>
              </a:lnSpc>
              <a:spcBef>
                <a:spcPts val="0"/>
              </a:spcBef>
              <a:spcAft>
                <a:spcPts val="0"/>
              </a:spcAft>
              <a:buSzPts val="2800"/>
              <a:buNone/>
            </a:pPr>
            <a:r>
              <a:rPr lang="en-US" sz="2800" b="1">
                <a:solidFill>
                  <a:schemeClr val="dk2"/>
                </a:solidFill>
                <a:latin typeface="Arial"/>
                <a:ea typeface="Arial"/>
                <a:cs typeface="Arial"/>
                <a:sym typeface="Arial"/>
              </a:rPr>
              <a:t>Why Use Parallel Computing?</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5"/>
        <p:cNvGrpSpPr/>
        <p:nvPr/>
      </p:nvGrpSpPr>
      <p:grpSpPr>
        <a:xfrm>
          <a:off x="0" y="0"/>
          <a:ext cx="0" cy="0"/>
          <a:chOff x="0" y="0"/>
          <a:chExt cx="0" cy="0"/>
        </a:xfrm>
      </p:grpSpPr>
      <p:sp>
        <p:nvSpPr>
          <p:cNvPr id="536" name="Google Shape;536;p27"/>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537" name="Google Shape;537;p27"/>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538" name="Google Shape;538;p27"/>
          <p:cNvSpPr/>
          <p:nvPr/>
        </p:nvSpPr>
        <p:spPr>
          <a:xfrm>
            <a:off x="0" y="0"/>
            <a:ext cx="4572000" cy="6858000"/>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539" name="Google Shape;539;p27"/>
          <p:cNvSpPr/>
          <p:nvPr/>
        </p:nvSpPr>
        <p:spPr>
          <a:xfrm>
            <a:off x="0" y="0"/>
            <a:ext cx="4572000" cy="6858000"/>
          </a:xfrm>
          <a:prstGeom prst="rect">
            <a:avLst/>
          </a:prstGeom>
          <a:blipFill rotWithShape="1">
            <a:blip r:embed="rId3">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540" name="Google Shape;540;p27"/>
          <p:cNvSpPr txBox="1">
            <a:spLocks noGrp="1"/>
          </p:cNvSpPr>
          <p:nvPr>
            <p:ph type="title"/>
          </p:nvPr>
        </p:nvSpPr>
        <p:spPr>
          <a:xfrm>
            <a:off x="838201" y="559813"/>
            <a:ext cx="2819399" cy="557793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700"/>
              <a:buFont typeface="Avenir"/>
              <a:buNone/>
            </a:pPr>
            <a:r>
              <a:rPr lang="en-US" sz="3700"/>
              <a:t>Objectives</a:t>
            </a:r>
            <a:endParaRPr sz="3700"/>
          </a:p>
        </p:txBody>
      </p:sp>
      <p:sp>
        <p:nvSpPr>
          <p:cNvPr id="541" name="Google Shape;541;p27"/>
          <p:cNvSpPr txBox="1">
            <a:spLocks noGrp="1"/>
          </p:cNvSpPr>
          <p:nvPr>
            <p:ph type="body" idx="1"/>
          </p:nvPr>
        </p:nvSpPr>
        <p:spPr>
          <a:xfrm>
            <a:off x="838200" y="1949450"/>
            <a:ext cx="10515600" cy="4195763"/>
          </a:xfrm>
          <a:prstGeom prst="rect">
            <a:avLst/>
          </a:prstGeom>
          <a:noFill/>
          <a:ln>
            <a:noFill/>
          </a:ln>
        </p:spPr>
        <p:txBody>
          <a:bodyPr spcFirstLastPara="1" wrap="square" lIns="91425" tIns="45700" rIns="91425" bIns="45700" anchor="t" anchorCtr="0">
            <a:normAutofit/>
          </a:bodyPr>
          <a:lstStyle/>
          <a:p>
            <a:pPr marL="228600" lvl="0" indent="-50800" algn="l" rtl="0">
              <a:lnSpc>
                <a:spcPct val="100000"/>
              </a:lnSpc>
              <a:spcBef>
                <a:spcPts val="0"/>
              </a:spcBef>
              <a:spcAft>
                <a:spcPts val="0"/>
              </a:spcAft>
              <a:buSzPts val="2800"/>
              <a:buNone/>
            </a:pPr>
            <a:endParaRPr/>
          </a:p>
          <a:p>
            <a:pPr marL="228600" lvl="0" indent="-50800" algn="l" rtl="0">
              <a:lnSpc>
                <a:spcPct val="100000"/>
              </a:lnSpc>
              <a:spcBef>
                <a:spcPts val="1000"/>
              </a:spcBef>
              <a:spcAft>
                <a:spcPts val="0"/>
              </a:spcAft>
              <a:buSzPts val="2800"/>
              <a:buNone/>
            </a:pPr>
            <a:endParaRPr/>
          </a:p>
          <a:p>
            <a:pPr marL="228600" lvl="0" indent="-50800" algn="l" rtl="0">
              <a:lnSpc>
                <a:spcPct val="100000"/>
              </a:lnSpc>
              <a:spcBef>
                <a:spcPts val="1000"/>
              </a:spcBef>
              <a:spcAft>
                <a:spcPts val="0"/>
              </a:spcAft>
              <a:buSzPts val="2800"/>
              <a:buNone/>
            </a:pPr>
            <a:endParaRPr/>
          </a:p>
        </p:txBody>
      </p:sp>
      <p:grpSp>
        <p:nvGrpSpPr>
          <p:cNvPr id="542" name="Google Shape;542;p27"/>
          <p:cNvGrpSpPr/>
          <p:nvPr/>
        </p:nvGrpSpPr>
        <p:grpSpPr>
          <a:xfrm>
            <a:off x="5256089" y="2722919"/>
            <a:ext cx="6292064" cy="883309"/>
            <a:chOff x="0" y="0"/>
            <a:chExt cx="6292064" cy="883309"/>
          </a:xfrm>
        </p:grpSpPr>
        <p:sp>
          <p:nvSpPr>
            <p:cNvPr id="543" name="Google Shape;543;p27"/>
            <p:cNvSpPr/>
            <p:nvPr/>
          </p:nvSpPr>
          <p:spPr>
            <a:xfrm>
              <a:off x="0" y="0"/>
              <a:ext cx="6292064" cy="883309"/>
            </a:xfrm>
            <a:prstGeom prst="roundRect">
              <a:avLst>
                <a:gd name="adj" fmla="val 10000"/>
              </a:avLst>
            </a:prstGeom>
            <a:solidFill>
              <a:srgbClr val="44B0A7"/>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7"/>
            <p:cNvSpPr txBox="1"/>
            <p:nvPr/>
          </p:nvSpPr>
          <p:spPr>
            <a:xfrm>
              <a:off x="1346743" y="0"/>
              <a:ext cx="4945320" cy="883309"/>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Identifying the aspects that make parallel computing more useful. </a:t>
              </a:r>
              <a:endParaRPr sz="2400">
                <a:solidFill>
                  <a:schemeClr val="lt1"/>
                </a:solidFill>
                <a:latin typeface="Arial"/>
                <a:ea typeface="Arial"/>
                <a:cs typeface="Arial"/>
                <a:sym typeface="Arial"/>
              </a:endParaRPr>
            </a:p>
          </p:txBody>
        </p:sp>
        <p:sp>
          <p:nvSpPr>
            <p:cNvPr id="545" name="Google Shape;545;p27"/>
            <p:cNvSpPr/>
            <p:nvPr/>
          </p:nvSpPr>
          <p:spPr>
            <a:xfrm>
              <a:off x="249263" y="88330"/>
              <a:ext cx="936548" cy="706647"/>
            </a:xfrm>
            <a:prstGeom prst="roundRect">
              <a:avLst>
                <a:gd name="adj" fmla="val 10000"/>
              </a:avLst>
            </a:prstGeom>
            <a:blipFill rotWithShape="1">
              <a:blip r:embed="rId4">
                <a:alphaModFix/>
              </a:blip>
              <a:stretch>
                <a:fillRect l="-6998" r="-6999"/>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50"/>
        <p:cNvGrpSpPr/>
        <p:nvPr/>
      </p:nvGrpSpPr>
      <p:grpSpPr>
        <a:xfrm>
          <a:off x="0" y="0"/>
          <a:ext cx="0" cy="0"/>
          <a:chOff x="0" y="0"/>
          <a:chExt cx="0" cy="0"/>
        </a:xfrm>
      </p:grpSpPr>
      <p:sp>
        <p:nvSpPr>
          <p:cNvPr id="551" name="Google Shape;551;p28"/>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552" name="Google Shape;552;p28"/>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553" name="Google Shape;553;p28"/>
          <p:cNvSpPr/>
          <p:nvPr/>
        </p:nvSpPr>
        <p:spPr>
          <a:xfrm>
            <a:off x="0" y="0"/>
            <a:ext cx="5998281" cy="6858000"/>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554" name="Google Shape;554;p28"/>
          <p:cNvSpPr/>
          <p:nvPr/>
        </p:nvSpPr>
        <p:spPr>
          <a:xfrm>
            <a:off x="0" y="0"/>
            <a:ext cx="5998281" cy="6858000"/>
          </a:xfrm>
          <a:prstGeom prst="rect">
            <a:avLst/>
          </a:prstGeom>
          <a:blipFill rotWithShape="1">
            <a:blip r:embed="rId3">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555" name="Google Shape;555;p28"/>
          <p:cNvSpPr txBox="1">
            <a:spLocks noGrp="1"/>
          </p:cNvSpPr>
          <p:nvPr>
            <p:ph type="title"/>
          </p:nvPr>
        </p:nvSpPr>
        <p:spPr>
          <a:xfrm>
            <a:off x="838201" y="559813"/>
            <a:ext cx="4876800" cy="557793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a:t>Why Use Parallel Computing?</a:t>
            </a:r>
            <a:endParaRPr/>
          </a:p>
        </p:txBody>
      </p:sp>
      <p:grpSp>
        <p:nvGrpSpPr>
          <p:cNvPr id="556" name="Google Shape;556;p28"/>
          <p:cNvGrpSpPr/>
          <p:nvPr/>
        </p:nvGrpSpPr>
        <p:grpSpPr>
          <a:xfrm>
            <a:off x="5912206" y="509973"/>
            <a:ext cx="6171045" cy="5869013"/>
            <a:chOff x="-272252" y="166540"/>
            <a:chExt cx="6171045" cy="5869013"/>
          </a:xfrm>
        </p:grpSpPr>
        <p:sp>
          <p:nvSpPr>
            <p:cNvPr id="557" name="Google Shape;557;p28"/>
            <p:cNvSpPr/>
            <p:nvPr/>
          </p:nvSpPr>
          <p:spPr>
            <a:xfrm>
              <a:off x="1763789" y="166540"/>
              <a:ext cx="2098963" cy="2098963"/>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8"/>
            <p:cNvSpPr txBox="1"/>
            <p:nvPr/>
          </p:nvSpPr>
          <p:spPr>
            <a:xfrm>
              <a:off x="2288530" y="166540"/>
              <a:ext cx="1049481" cy="1731644"/>
            </a:xfrm>
            <a:prstGeom prst="rect">
              <a:avLst/>
            </a:prstGeom>
            <a:noFill/>
            <a:ln>
              <a:noFill/>
            </a:ln>
          </p:spPr>
          <p:txBody>
            <a:bodyPr spcFirstLastPara="1" wrap="square" lIns="85325" tIns="85325" rIns="85325" bIns="85325" anchor="ctr" anchorCtr="0">
              <a:noAutofit/>
            </a:bodyPr>
            <a:lstStyle/>
            <a:p>
              <a:pPr marL="0" marR="0" lvl="0" indent="0" algn="ctr" rtl="0">
                <a:lnSpc>
                  <a:spcPct val="90000"/>
                </a:lnSpc>
                <a:spcBef>
                  <a:spcPts val="0"/>
                </a:spcBef>
                <a:spcAft>
                  <a:spcPts val="0"/>
                </a:spcAft>
                <a:buClr>
                  <a:schemeClr val="lt1"/>
                </a:buClr>
                <a:buSzPts val="1200"/>
                <a:buFont typeface="Arial"/>
                <a:buNone/>
              </a:pPr>
              <a:r>
                <a:rPr lang="en-US" sz="1200" b="1">
                  <a:solidFill>
                    <a:schemeClr val="lt1"/>
                  </a:solidFill>
                  <a:latin typeface="Arial"/>
                  <a:ea typeface="Arial"/>
                  <a:cs typeface="Arial"/>
                  <a:sym typeface="Arial"/>
                </a:rPr>
                <a:t>Computing power</a:t>
              </a:r>
              <a:endParaRPr sz="1200">
                <a:solidFill>
                  <a:schemeClr val="lt1"/>
                </a:solidFill>
                <a:latin typeface="Avenir"/>
                <a:ea typeface="Avenir"/>
                <a:cs typeface="Avenir"/>
                <a:sym typeface="Avenir"/>
              </a:endParaRPr>
            </a:p>
          </p:txBody>
        </p:sp>
        <p:sp>
          <p:nvSpPr>
            <p:cNvPr id="559" name="Google Shape;559;p28"/>
            <p:cNvSpPr/>
            <p:nvPr/>
          </p:nvSpPr>
          <p:spPr>
            <a:xfrm rot="4320000">
              <a:off x="3526887" y="1447506"/>
              <a:ext cx="2098963" cy="2098963"/>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8"/>
            <p:cNvSpPr txBox="1"/>
            <p:nvPr/>
          </p:nvSpPr>
          <p:spPr>
            <a:xfrm rot="-1080000">
              <a:off x="3885218" y="1915493"/>
              <a:ext cx="1731644" cy="1049481"/>
            </a:xfrm>
            <a:prstGeom prst="rect">
              <a:avLst/>
            </a:prstGeom>
            <a:noFill/>
            <a:ln>
              <a:noFill/>
            </a:ln>
          </p:spPr>
          <p:txBody>
            <a:bodyPr spcFirstLastPara="1" wrap="square" lIns="85325" tIns="85325" rIns="85325" bIns="85325" anchor="ctr" anchorCtr="0">
              <a:noAutofit/>
            </a:bodyPr>
            <a:lstStyle/>
            <a:p>
              <a:pPr marL="0" marR="0" lvl="0" indent="0" algn="ctr" rtl="0">
                <a:lnSpc>
                  <a:spcPct val="90000"/>
                </a:lnSpc>
                <a:spcBef>
                  <a:spcPts val="0"/>
                </a:spcBef>
                <a:spcAft>
                  <a:spcPts val="0"/>
                </a:spcAft>
                <a:buClr>
                  <a:schemeClr val="lt1"/>
                </a:buClr>
                <a:buSzPts val="1200"/>
                <a:buFont typeface="Arial"/>
                <a:buNone/>
              </a:pPr>
              <a:r>
                <a:rPr lang="en-US" sz="1200" b="1">
                  <a:solidFill>
                    <a:schemeClr val="lt1"/>
                  </a:solidFill>
                  <a:latin typeface="Arial"/>
                  <a:ea typeface="Arial"/>
                  <a:cs typeface="Arial"/>
                  <a:sym typeface="Arial"/>
                </a:rPr>
                <a:t>Performance</a:t>
              </a:r>
              <a:endParaRPr sz="1200">
                <a:solidFill>
                  <a:schemeClr val="lt1"/>
                </a:solidFill>
                <a:latin typeface="Avenir"/>
                <a:ea typeface="Avenir"/>
                <a:cs typeface="Avenir"/>
                <a:sym typeface="Avenir"/>
              </a:endParaRPr>
            </a:p>
          </p:txBody>
        </p:sp>
        <p:sp>
          <p:nvSpPr>
            <p:cNvPr id="561" name="Google Shape;561;p28"/>
            <p:cNvSpPr/>
            <p:nvPr/>
          </p:nvSpPr>
          <p:spPr>
            <a:xfrm rot="8640000">
              <a:off x="2853443" y="3520153"/>
              <a:ext cx="2098963" cy="2098963"/>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8"/>
            <p:cNvSpPr txBox="1"/>
            <p:nvPr/>
          </p:nvSpPr>
          <p:spPr>
            <a:xfrm rot="-2160000">
              <a:off x="3486136" y="3852396"/>
              <a:ext cx="1049481" cy="1731644"/>
            </a:xfrm>
            <a:prstGeom prst="rect">
              <a:avLst/>
            </a:prstGeom>
            <a:noFill/>
            <a:ln>
              <a:noFill/>
            </a:ln>
          </p:spPr>
          <p:txBody>
            <a:bodyPr spcFirstLastPara="1" wrap="square" lIns="85325" tIns="85325" rIns="85325" bIns="85325" anchor="ctr" anchorCtr="0">
              <a:noAutofit/>
            </a:bodyPr>
            <a:lstStyle/>
            <a:p>
              <a:pPr marL="0" marR="0" lvl="0" indent="0" algn="ctr" rtl="0">
                <a:lnSpc>
                  <a:spcPct val="90000"/>
                </a:lnSpc>
                <a:spcBef>
                  <a:spcPts val="0"/>
                </a:spcBef>
                <a:spcAft>
                  <a:spcPts val="0"/>
                </a:spcAft>
                <a:buClr>
                  <a:schemeClr val="lt1"/>
                </a:buClr>
                <a:buSzPts val="1200"/>
                <a:buFont typeface="Arial"/>
                <a:buNone/>
              </a:pPr>
              <a:r>
                <a:rPr lang="en-US" sz="1200" b="1">
                  <a:solidFill>
                    <a:schemeClr val="lt1"/>
                  </a:solidFill>
                  <a:latin typeface="Arial"/>
                  <a:ea typeface="Arial"/>
                  <a:cs typeface="Arial"/>
                  <a:sym typeface="Arial"/>
                </a:rPr>
                <a:t>Scalability</a:t>
              </a:r>
              <a:endParaRPr sz="1200">
                <a:solidFill>
                  <a:schemeClr val="lt1"/>
                </a:solidFill>
                <a:latin typeface="Avenir"/>
                <a:ea typeface="Avenir"/>
                <a:cs typeface="Avenir"/>
                <a:sym typeface="Avenir"/>
              </a:endParaRPr>
            </a:p>
          </p:txBody>
        </p:sp>
        <p:sp>
          <p:nvSpPr>
            <p:cNvPr id="563" name="Google Shape;563;p28"/>
            <p:cNvSpPr/>
            <p:nvPr/>
          </p:nvSpPr>
          <p:spPr>
            <a:xfrm rot="-8640000">
              <a:off x="674134" y="3520153"/>
              <a:ext cx="2098963" cy="2098963"/>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8"/>
            <p:cNvSpPr txBox="1"/>
            <p:nvPr/>
          </p:nvSpPr>
          <p:spPr>
            <a:xfrm rot="2160000">
              <a:off x="1090923" y="3852396"/>
              <a:ext cx="1049481" cy="1731644"/>
            </a:xfrm>
            <a:prstGeom prst="rect">
              <a:avLst/>
            </a:prstGeom>
            <a:noFill/>
            <a:ln>
              <a:noFill/>
            </a:ln>
          </p:spPr>
          <p:txBody>
            <a:bodyPr spcFirstLastPara="1" wrap="square" lIns="85325" tIns="85325" rIns="85325" bIns="85325" anchor="ctr" anchorCtr="0">
              <a:noAutofit/>
            </a:bodyPr>
            <a:lstStyle/>
            <a:p>
              <a:pPr marL="0" marR="0" lvl="0" indent="0" algn="ctr" rtl="0">
                <a:lnSpc>
                  <a:spcPct val="90000"/>
                </a:lnSpc>
                <a:spcBef>
                  <a:spcPts val="0"/>
                </a:spcBef>
                <a:spcAft>
                  <a:spcPts val="0"/>
                </a:spcAft>
                <a:buClr>
                  <a:schemeClr val="lt1"/>
                </a:buClr>
                <a:buSzPts val="1200"/>
                <a:buFont typeface="Arial"/>
                <a:buNone/>
              </a:pPr>
              <a:r>
                <a:rPr lang="en-US" sz="1200" b="1">
                  <a:solidFill>
                    <a:schemeClr val="lt1"/>
                  </a:solidFill>
                  <a:latin typeface="Arial"/>
                  <a:ea typeface="Arial"/>
                  <a:cs typeface="Arial"/>
                  <a:sym typeface="Arial"/>
                </a:rPr>
                <a:t>Solve large problems</a:t>
              </a:r>
              <a:endParaRPr sz="1200" b="1">
                <a:solidFill>
                  <a:schemeClr val="lt1"/>
                </a:solidFill>
                <a:latin typeface="Arial"/>
                <a:ea typeface="Arial"/>
                <a:cs typeface="Arial"/>
                <a:sym typeface="Arial"/>
              </a:endParaRPr>
            </a:p>
          </p:txBody>
        </p:sp>
        <p:sp>
          <p:nvSpPr>
            <p:cNvPr id="565" name="Google Shape;565;p28"/>
            <p:cNvSpPr/>
            <p:nvPr/>
          </p:nvSpPr>
          <p:spPr>
            <a:xfrm rot="-4320000">
              <a:off x="690" y="1447506"/>
              <a:ext cx="2098963" cy="2098963"/>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8"/>
            <p:cNvSpPr txBox="1"/>
            <p:nvPr/>
          </p:nvSpPr>
          <p:spPr>
            <a:xfrm rot="1080000">
              <a:off x="9679" y="1915493"/>
              <a:ext cx="1731644" cy="1049481"/>
            </a:xfrm>
            <a:prstGeom prst="rect">
              <a:avLst/>
            </a:prstGeom>
            <a:noFill/>
            <a:ln>
              <a:noFill/>
            </a:ln>
          </p:spPr>
          <p:txBody>
            <a:bodyPr spcFirstLastPara="1" wrap="square" lIns="85325" tIns="85325" rIns="85325" bIns="85325" anchor="ctr" anchorCtr="0">
              <a:noAutofit/>
            </a:bodyPr>
            <a:lstStyle/>
            <a:p>
              <a:pPr marL="0" marR="0" lvl="0" indent="0" algn="ctr" rtl="0">
                <a:lnSpc>
                  <a:spcPct val="90000"/>
                </a:lnSpc>
                <a:spcBef>
                  <a:spcPts val="0"/>
                </a:spcBef>
                <a:spcAft>
                  <a:spcPts val="0"/>
                </a:spcAft>
                <a:buClr>
                  <a:schemeClr val="lt1"/>
                </a:buClr>
                <a:buSzPts val="1200"/>
                <a:buFont typeface="Arial"/>
                <a:buNone/>
              </a:pPr>
              <a:r>
                <a:rPr lang="en-US" sz="1200" b="1">
                  <a:solidFill>
                    <a:schemeClr val="lt1"/>
                  </a:solidFill>
                  <a:latin typeface="Arial"/>
                  <a:ea typeface="Arial"/>
                  <a:cs typeface="Arial"/>
                  <a:sym typeface="Arial"/>
                </a:rPr>
                <a:t>Provide concurrency</a:t>
              </a:r>
              <a:endParaRPr sz="1200">
                <a:solidFill>
                  <a:schemeClr val="lt1"/>
                </a:solidFill>
                <a:latin typeface="Avenir"/>
                <a:ea typeface="Avenir"/>
                <a:cs typeface="Avenir"/>
                <a:sym typeface="Aveni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1"/>
        <p:cNvGrpSpPr/>
        <p:nvPr/>
      </p:nvGrpSpPr>
      <p:grpSpPr>
        <a:xfrm>
          <a:off x="0" y="0"/>
          <a:ext cx="0" cy="0"/>
          <a:chOff x="0" y="0"/>
          <a:chExt cx="0" cy="0"/>
        </a:xfrm>
      </p:grpSpPr>
      <p:sp>
        <p:nvSpPr>
          <p:cNvPr id="572" name="Google Shape;572;p29"/>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573" name="Google Shape;573;p29"/>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574" name="Google Shape;574;p29"/>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575" name="Google Shape;575;p29"/>
          <p:cNvSpPr/>
          <p:nvPr/>
        </p:nvSpPr>
        <p:spPr>
          <a:xfrm>
            <a:off x="1524" y="0"/>
            <a:ext cx="12188952" cy="2225674"/>
          </a:xfrm>
          <a:prstGeom prst="rect">
            <a:avLst/>
          </a:prstGeom>
          <a:blipFill rotWithShape="1">
            <a:blip r:embed="rId3">
              <a:alphaModFix amt="24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576" name="Google Shape;576;p29"/>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a:t>Why Use Parallel Computing?</a:t>
            </a:r>
            <a:endParaRPr/>
          </a:p>
        </p:txBody>
      </p:sp>
      <p:grpSp>
        <p:nvGrpSpPr>
          <p:cNvPr id="577" name="Google Shape;577;p29"/>
          <p:cNvGrpSpPr/>
          <p:nvPr/>
        </p:nvGrpSpPr>
        <p:grpSpPr>
          <a:xfrm>
            <a:off x="2293521" y="2362414"/>
            <a:ext cx="7261630" cy="4344668"/>
            <a:chOff x="1646248" y="290"/>
            <a:chExt cx="7261630" cy="4344668"/>
          </a:xfrm>
        </p:grpSpPr>
        <p:sp>
          <p:nvSpPr>
            <p:cNvPr id="578" name="Google Shape;578;p29"/>
            <p:cNvSpPr/>
            <p:nvPr/>
          </p:nvSpPr>
          <p:spPr>
            <a:xfrm>
              <a:off x="1646248" y="290"/>
              <a:ext cx="3457919" cy="2074751"/>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9"/>
            <p:cNvSpPr txBox="1"/>
            <p:nvPr/>
          </p:nvSpPr>
          <p:spPr>
            <a:xfrm>
              <a:off x="1747527" y="101569"/>
              <a:ext cx="3255361" cy="18721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lt1"/>
                </a:buClr>
                <a:buSzPts val="1400"/>
                <a:buFont typeface="Arial"/>
                <a:buNone/>
              </a:pPr>
              <a:r>
                <a:rPr lang="en-US" sz="1400" b="1">
                  <a:solidFill>
                    <a:schemeClr val="lt1"/>
                  </a:solidFill>
                  <a:latin typeface="Arial"/>
                  <a:ea typeface="Arial"/>
                  <a:cs typeface="Arial"/>
                  <a:sym typeface="Arial"/>
                </a:rPr>
                <a:t>Computing power</a:t>
              </a:r>
              <a:endParaRPr/>
            </a:p>
            <a:p>
              <a:pPr marL="0" marR="0" lvl="0" indent="0" algn="just" rtl="0">
                <a:lnSpc>
                  <a:spcPct val="90000"/>
                </a:lnSpc>
                <a:spcBef>
                  <a:spcPts val="490"/>
                </a:spcBef>
                <a:spcAft>
                  <a:spcPts val="0"/>
                </a:spcAft>
                <a:buClr>
                  <a:schemeClr val="lt1"/>
                </a:buClr>
                <a:buSzPts val="1400"/>
                <a:buFont typeface="Arial"/>
                <a:buNone/>
              </a:pPr>
              <a:r>
                <a:rPr lang="en-US" sz="1400" b="0" i="0">
                  <a:solidFill>
                    <a:schemeClr val="lt1"/>
                  </a:solidFill>
                  <a:latin typeface="Arial"/>
                  <a:ea typeface="Arial"/>
                  <a:cs typeface="Arial"/>
                  <a:sym typeface="Arial"/>
                </a:rPr>
                <a:t>Modern consumer grade computing hardware comes equipped with multiple central processing units (CPUs) and/or graphics processing units (GPUs) that can process many sets of instructions simultaneously.</a:t>
              </a:r>
              <a:endParaRPr sz="1400">
                <a:solidFill>
                  <a:schemeClr val="lt1"/>
                </a:solidFill>
                <a:latin typeface="Arial"/>
                <a:ea typeface="Arial"/>
                <a:cs typeface="Arial"/>
                <a:sym typeface="Arial"/>
              </a:endParaRPr>
            </a:p>
          </p:txBody>
        </p:sp>
        <p:sp>
          <p:nvSpPr>
            <p:cNvPr id="580" name="Google Shape;580;p29"/>
            <p:cNvSpPr/>
            <p:nvPr/>
          </p:nvSpPr>
          <p:spPr>
            <a:xfrm>
              <a:off x="5449959" y="290"/>
              <a:ext cx="3457919" cy="2074751"/>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9"/>
            <p:cNvSpPr txBox="1"/>
            <p:nvPr/>
          </p:nvSpPr>
          <p:spPr>
            <a:xfrm>
              <a:off x="5551238" y="101569"/>
              <a:ext cx="3255361" cy="1872193"/>
            </a:xfrm>
            <a:prstGeom prst="rect">
              <a:avLst/>
            </a:prstGeom>
            <a:noFill/>
            <a:ln>
              <a:noFill/>
            </a:ln>
          </p:spPr>
          <p:txBody>
            <a:bodyPr spcFirstLastPara="1" wrap="square" lIns="53325" tIns="53325" rIns="53325" bIns="53325" anchor="t" anchorCtr="0">
              <a:noAutofit/>
            </a:bodyPr>
            <a:lstStyle/>
            <a:p>
              <a:pPr marL="0" marR="0" lvl="0" indent="0" algn="ctr" rtl="0">
                <a:lnSpc>
                  <a:spcPct val="90000"/>
                </a:lnSpc>
                <a:spcBef>
                  <a:spcPts val="0"/>
                </a:spcBef>
                <a:spcAft>
                  <a:spcPts val="0"/>
                </a:spcAft>
                <a:buClr>
                  <a:schemeClr val="dk1"/>
                </a:buClr>
                <a:buSzPts val="1400"/>
                <a:buFont typeface="Avenir"/>
                <a:buNone/>
              </a:pPr>
              <a:endParaRPr sz="1400" b="1">
                <a:solidFill>
                  <a:schemeClr val="lt1"/>
                </a:solidFill>
                <a:latin typeface="Arial"/>
                <a:ea typeface="Arial"/>
                <a:cs typeface="Arial"/>
                <a:sym typeface="Arial"/>
              </a:endParaRPr>
            </a:p>
            <a:p>
              <a:pPr marL="0" marR="0" lvl="0" indent="0" algn="ctr" rtl="0">
                <a:lnSpc>
                  <a:spcPct val="90000"/>
                </a:lnSpc>
                <a:spcBef>
                  <a:spcPts val="490"/>
                </a:spcBef>
                <a:spcAft>
                  <a:spcPts val="0"/>
                </a:spcAft>
                <a:buClr>
                  <a:schemeClr val="lt1"/>
                </a:buClr>
                <a:buSzPts val="1400"/>
                <a:buFont typeface="Arial"/>
                <a:buNone/>
              </a:pPr>
              <a:r>
                <a:rPr lang="en-US" sz="1400" b="1">
                  <a:solidFill>
                    <a:schemeClr val="lt1"/>
                  </a:solidFill>
                  <a:latin typeface="Arial"/>
                  <a:ea typeface="Arial"/>
                  <a:cs typeface="Arial"/>
                  <a:sym typeface="Arial"/>
                </a:rPr>
                <a:t>Performance</a:t>
              </a:r>
              <a:endParaRPr/>
            </a:p>
            <a:p>
              <a:pPr marL="0" marR="0" lvl="0" indent="0" algn="just" rtl="0">
                <a:lnSpc>
                  <a:spcPct val="90000"/>
                </a:lnSpc>
                <a:spcBef>
                  <a:spcPts val="490"/>
                </a:spcBef>
                <a:spcAft>
                  <a:spcPts val="0"/>
                </a:spcAft>
                <a:buClr>
                  <a:schemeClr val="lt1"/>
                </a:buClr>
                <a:buSzPts val="1400"/>
                <a:buFont typeface="Arial"/>
                <a:buNone/>
              </a:pPr>
              <a:r>
                <a:rPr lang="en-US" sz="1400" b="0" i="0">
                  <a:solidFill>
                    <a:schemeClr val="lt1"/>
                  </a:solidFill>
                  <a:latin typeface="Arial"/>
                  <a:ea typeface="Arial"/>
                  <a:cs typeface="Arial"/>
                  <a:sym typeface="Arial"/>
                </a:rPr>
                <a:t>Theoretical performance steadily increased, due to the fact that performance is proportional to the product of the clock frequency and the number of cores.</a:t>
              </a:r>
              <a:endParaRPr sz="1400">
                <a:solidFill>
                  <a:schemeClr val="lt1"/>
                </a:solidFill>
                <a:latin typeface="Arial"/>
                <a:ea typeface="Arial"/>
                <a:cs typeface="Arial"/>
                <a:sym typeface="Arial"/>
              </a:endParaRPr>
            </a:p>
          </p:txBody>
        </p:sp>
        <p:sp>
          <p:nvSpPr>
            <p:cNvPr id="582" name="Google Shape;582;p29"/>
            <p:cNvSpPr/>
            <p:nvPr/>
          </p:nvSpPr>
          <p:spPr>
            <a:xfrm>
              <a:off x="3548104" y="2270207"/>
              <a:ext cx="3457919" cy="2074751"/>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9"/>
            <p:cNvSpPr txBox="1"/>
            <p:nvPr/>
          </p:nvSpPr>
          <p:spPr>
            <a:xfrm>
              <a:off x="3649383" y="2371486"/>
              <a:ext cx="3255361" cy="187219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lt1"/>
                </a:buClr>
                <a:buSzPts val="1400"/>
                <a:buFont typeface="Arial"/>
                <a:buNone/>
              </a:pPr>
              <a:r>
                <a:rPr lang="en-US" sz="1400" b="1">
                  <a:solidFill>
                    <a:schemeClr val="lt1"/>
                  </a:solidFill>
                  <a:latin typeface="Arial"/>
                  <a:ea typeface="Arial"/>
                  <a:cs typeface="Arial"/>
                  <a:sym typeface="Arial"/>
                </a:rPr>
                <a:t>Scalability</a:t>
              </a:r>
              <a:endParaRPr/>
            </a:p>
            <a:p>
              <a:pPr marL="0" marR="0" lvl="0" indent="0" algn="just" rtl="0">
                <a:lnSpc>
                  <a:spcPct val="90000"/>
                </a:lnSpc>
                <a:spcBef>
                  <a:spcPts val="490"/>
                </a:spcBef>
                <a:spcAft>
                  <a:spcPts val="0"/>
                </a:spcAft>
                <a:buClr>
                  <a:schemeClr val="lt1"/>
                </a:buClr>
                <a:buSzPts val="1400"/>
                <a:buFont typeface="Arial"/>
                <a:buNone/>
              </a:pPr>
              <a:r>
                <a:rPr lang="en-US" sz="1400" b="0" i="0">
                  <a:solidFill>
                    <a:schemeClr val="lt1"/>
                  </a:solidFill>
                  <a:latin typeface="Arial"/>
                  <a:ea typeface="Arial"/>
                  <a:cs typeface="Arial"/>
                  <a:sym typeface="Arial"/>
                </a:rPr>
                <a:t>Problem can be scaled up from size to sizes that were out of reach with a serial application. The larger problem sizes are enabled by the larger amounts of main memory, disk storage, bandwidth over networks and to disk, and CPUs.</a:t>
              </a:r>
              <a:endParaRPr sz="1400">
                <a:solidFill>
                  <a:schemeClr val="lt1"/>
                </a:solidFill>
                <a:latin typeface="Arial"/>
                <a:ea typeface="Arial"/>
                <a:cs typeface="Arial"/>
                <a:sym typeface="Aria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8"/>
        <p:cNvGrpSpPr/>
        <p:nvPr/>
      </p:nvGrpSpPr>
      <p:grpSpPr>
        <a:xfrm>
          <a:off x="0" y="0"/>
          <a:ext cx="0" cy="0"/>
          <a:chOff x="0" y="0"/>
          <a:chExt cx="0" cy="0"/>
        </a:xfrm>
      </p:grpSpPr>
      <p:sp>
        <p:nvSpPr>
          <p:cNvPr id="589" name="Google Shape;589;p30"/>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590" name="Google Shape;590;p30"/>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591" name="Google Shape;591;p30"/>
          <p:cNvPicPr preferRelativeResize="0"/>
          <p:nvPr/>
        </p:nvPicPr>
        <p:blipFill rotWithShape="1">
          <a:blip r:embed="rId3">
            <a:alphaModFix/>
          </a:blip>
          <a:srcRect l="53001" t="54841"/>
          <a:stretch/>
        </p:blipFill>
        <p:spPr>
          <a:xfrm>
            <a:off x="0" y="0"/>
            <a:ext cx="872377" cy="838200"/>
          </a:xfrm>
          <a:prstGeom prst="rect">
            <a:avLst/>
          </a:prstGeom>
          <a:noFill/>
          <a:ln>
            <a:noFill/>
          </a:ln>
        </p:spPr>
      </p:pic>
      <p:sp>
        <p:nvSpPr>
          <p:cNvPr id="592" name="Google Shape;592;p30"/>
          <p:cNvSpPr txBox="1">
            <a:spLocks noGrp="1"/>
          </p:cNvSpPr>
          <p:nvPr>
            <p:ph type="title"/>
          </p:nvPr>
        </p:nvSpPr>
        <p:spPr>
          <a:xfrm>
            <a:off x="838199" y="559813"/>
            <a:ext cx="9518151" cy="157378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3700"/>
              <a:buFont typeface="Avenir"/>
              <a:buNone/>
            </a:pPr>
            <a:r>
              <a:rPr lang="en-US" sz="3700">
                <a:solidFill>
                  <a:schemeClr val="dk2"/>
                </a:solidFill>
              </a:rPr>
              <a:t>Why Use Parallel Computing Cont.…</a:t>
            </a:r>
            <a:endParaRPr sz="3700">
              <a:solidFill>
                <a:schemeClr val="dk2"/>
              </a:solidFill>
            </a:endParaRPr>
          </a:p>
        </p:txBody>
      </p:sp>
      <p:pic>
        <p:nvPicPr>
          <p:cNvPr id="593" name="Google Shape;593;p30"/>
          <p:cNvPicPr preferRelativeResize="0"/>
          <p:nvPr/>
        </p:nvPicPr>
        <p:blipFill rotWithShape="1">
          <a:blip r:embed="rId4">
            <a:alphaModFix/>
          </a:blip>
          <a:srcRect r="73964"/>
          <a:stretch/>
        </p:blipFill>
        <p:spPr>
          <a:xfrm>
            <a:off x="11527047" y="3144779"/>
            <a:ext cx="661905" cy="2548349"/>
          </a:xfrm>
          <a:prstGeom prst="rect">
            <a:avLst/>
          </a:prstGeom>
          <a:noFill/>
          <a:ln>
            <a:noFill/>
          </a:ln>
        </p:spPr>
      </p:pic>
      <p:grpSp>
        <p:nvGrpSpPr>
          <p:cNvPr id="594" name="Google Shape;594;p30"/>
          <p:cNvGrpSpPr/>
          <p:nvPr/>
        </p:nvGrpSpPr>
        <p:grpSpPr>
          <a:xfrm>
            <a:off x="2544475" y="1877084"/>
            <a:ext cx="7307424" cy="4494480"/>
            <a:chOff x="1672098" y="659"/>
            <a:chExt cx="7307424" cy="4494480"/>
          </a:xfrm>
        </p:grpSpPr>
        <p:sp>
          <p:nvSpPr>
            <p:cNvPr id="595" name="Google Shape;595;p30"/>
            <p:cNvSpPr/>
            <p:nvPr/>
          </p:nvSpPr>
          <p:spPr>
            <a:xfrm>
              <a:off x="1672098" y="659"/>
              <a:ext cx="3594439" cy="2131671"/>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0"/>
            <p:cNvSpPr txBox="1"/>
            <p:nvPr/>
          </p:nvSpPr>
          <p:spPr>
            <a:xfrm>
              <a:off x="1776156" y="104717"/>
              <a:ext cx="3386323" cy="1923555"/>
            </a:xfrm>
            <a:prstGeom prst="rect">
              <a:avLst/>
            </a:prstGeom>
            <a:noFill/>
            <a:ln>
              <a:noFill/>
            </a:ln>
          </p:spPr>
          <p:txBody>
            <a:bodyPr spcFirstLastPara="1" wrap="square" lIns="53325" tIns="53325" rIns="53325" bIns="53325" anchor="t" anchorCtr="0">
              <a:noAutofit/>
            </a:bodyPr>
            <a:lstStyle/>
            <a:p>
              <a:pPr marL="0" marR="0" lvl="0" indent="0" algn="ctr" rtl="0">
                <a:lnSpc>
                  <a:spcPct val="90000"/>
                </a:lnSpc>
                <a:spcBef>
                  <a:spcPts val="0"/>
                </a:spcBef>
                <a:spcAft>
                  <a:spcPts val="0"/>
                </a:spcAft>
                <a:buClr>
                  <a:schemeClr val="lt1"/>
                </a:buClr>
                <a:buSzPts val="1400"/>
                <a:buFont typeface="Arial"/>
                <a:buNone/>
              </a:pPr>
              <a:r>
                <a:rPr lang="en-US" sz="1400" b="1">
                  <a:solidFill>
                    <a:schemeClr val="lt1"/>
                  </a:solidFill>
                  <a:latin typeface="Arial"/>
                  <a:ea typeface="Arial"/>
                  <a:cs typeface="Arial"/>
                  <a:sym typeface="Arial"/>
                </a:rPr>
                <a:t>Solve large problems</a:t>
              </a:r>
              <a:endParaRPr/>
            </a:p>
            <a:p>
              <a:pPr marL="0" marR="0" lvl="0" indent="0" algn="just" rtl="0">
                <a:lnSpc>
                  <a:spcPct val="90000"/>
                </a:lnSpc>
                <a:spcBef>
                  <a:spcPts val="490"/>
                </a:spcBef>
                <a:spcAft>
                  <a:spcPts val="0"/>
                </a:spcAft>
                <a:buClr>
                  <a:schemeClr val="lt1"/>
                </a:buClr>
                <a:buSzPts val="1400"/>
                <a:buFont typeface="Arial"/>
                <a:buNone/>
              </a:pPr>
              <a:r>
                <a:rPr lang="en-US" sz="1400" b="0" i="0">
                  <a:solidFill>
                    <a:schemeClr val="lt1"/>
                  </a:solidFill>
                  <a:latin typeface="Arial"/>
                  <a:ea typeface="Arial"/>
                  <a:cs typeface="Arial"/>
                  <a:sym typeface="Arial"/>
                </a:rPr>
                <a:t>Solve large problems by breaking down larger problems into smaller, independent, often similar parts that can be executed simultaneously by multiple processors communicating via shared memory. Can solve large problems like</a:t>
              </a:r>
              <a:r>
                <a:rPr lang="en-US" sz="1400" b="0">
                  <a:solidFill>
                    <a:schemeClr val="lt1"/>
                  </a:solidFill>
                  <a:latin typeface="Arial"/>
                  <a:ea typeface="Arial"/>
                  <a:cs typeface="Arial"/>
                  <a:sym typeface="Arial"/>
                </a:rPr>
                <a:t> Web search engines, processing millions of transaction per second, etc. </a:t>
              </a:r>
              <a:endParaRPr sz="1400" b="0">
                <a:solidFill>
                  <a:schemeClr val="lt1"/>
                </a:solidFill>
                <a:latin typeface="Arial"/>
                <a:ea typeface="Arial"/>
                <a:cs typeface="Arial"/>
                <a:sym typeface="Arial"/>
              </a:endParaRPr>
            </a:p>
          </p:txBody>
        </p:sp>
        <p:sp>
          <p:nvSpPr>
            <p:cNvPr id="597" name="Google Shape;597;p30"/>
            <p:cNvSpPr/>
            <p:nvPr/>
          </p:nvSpPr>
          <p:spPr>
            <a:xfrm>
              <a:off x="5604082" y="53863"/>
              <a:ext cx="3375440" cy="2025264"/>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0"/>
            <p:cNvSpPr txBox="1"/>
            <p:nvPr/>
          </p:nvSpPr>
          <p:spPr>
            <a:xfrm>
              <a:off x="5702945" y="152726"/>
              <a:ext cx="3177714" cy="1827538"/>
            </a:xfrm>
            <a:prstGeom prst="rect">
              <a:avLst/>
            </a:prstGeom>
            <a:noFill/>
            <a:ln>
              <a:noFill/>
            </a:ln>
          </p:spPr>
          <p:txBody>
            <a:bodyPr spcFirstLastPara="1" wrap="square" lIns="53325" tIns="53325" rIns="53325" bIns="53325" anchor="t" anchorCtr="0">
              <a:noAutofit/>
            </a:bodyPr>
            <a:lstStyle/>
            <a:p>
              <a:pPr marL="0" marR="0" lvl="0" indent="0" algn="ctr" rtl="0">
                <a:lnSpc>
                  <a:spcPct val="90000"/>
                </a:lnSpc>
                <a:spcBef>
                  <a:spcPts val="0"/>
                </a:spcBef>
                <a:spcAft>
                  <a:spcPts val="0"/>
                </a:spcAft>
                <a:buClr>
                  <a:schemeClr val="lt1"/>
                </a:buClr>
                <a:buSzPts val="1400"/>
                <a:buFont typeface="Arial"/>
                <a:buNone/>
              </a:pPr>
              <a:r>
                <a:rPr lang="en-US" sz="1400" b="1">
                  <a:solidFill>
                    <a:schemeClr val="lt1"/>
                  </a:solidFill>
                  <a:latin typeface="Arial"/>
                  <a:ea typeface="Arial"/>
                  <a:cs typeface="Arial"/>
                  <a:sym typeface="Arial"/>
                </a:rPr>
                <a:t>Cost</a:t>
              </a:r>
              <a:endParaRPr/>
            </a:p>
            <a:p>
              <a:pPr marL="0" marR="0" lvl="0" indent="0" algn="just" rtl="0">
                <a:lnSpc>
                  <a:spcPct val="90000"/>
                </a:lnSpc>
                <a:spcBef>
                  <a:spcPts val="490"/>
                </a:spcBef>
                <a:spcAft>
                  <a:spcPts val="0"/>
                </a:spcAft>
                <a:buClr>
                  <a:schemeClr val="lt1"/>
                </a:buClr>
                <a:buSzPts val="1400"/>
                <a:buFont typeface="Arial"/>
                <a:buNone/>
              </a:pPr>
              <a:r>
                <a:rPr lang="en-US" sz="1400" b="0" i="0">
                  <a:solidFill>
                    <a:schemeClr val="lt1"/>
                  </a:solidFill>
                  <a:latin typeface="Arial"/>
                  <a:ea typeface="Arial"/>
                  <a:cs typeface="Arial"/>
                  <a:sym typeface="Arial"/>
                </a:rPr>
                <a:t>the cost of computation would reduce if we are to deploy parallel computation than sequential computation. </a:t>
              </a:r>
              <a:endParaRPr sz="1400" b="0">
                <a:solidFill>
                  <a:schemeClr val="lt1"/>
                </a:solidFill>
                <a:latin typeface="Arial"/>
                <a:ea typeface="Arial"/>
                <a:cs typeface="Arial"/>
                <a:sym typeface="Arial"/>
              </a:endParaRPr>
            </a:p>
          </p:txBody>
        </p:sp>
        <p:sp>
          <p:nvSpPr>
            <p:cNvPr id="599" name="Google Shape;599;p30"/>
            <p:cNvSpPr/>
            <p:nvPr/>
          </p:nvSpPr>
          <p:spPr>
            <a:xfrm>
              <a:off x="3638090" y="2469875"/>
              <a:ext cx="3375440" cy="2025264"/>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0"/>
            <p:cNvSpPr txBox="1"/>
            <p:nvPr/>
          </p:nvSpPr>
          <p:spPr>
            <a:xfrm>
              <a:off x="3736953" y="2568738"/>
              <a:ext cx="3177714" cy="1827538"/>
            </a:xfrm>
            <a:prstGeom prst="rect">
              <a:avLst/>
            </a:prstGeom>
            <a:noFill/>
            <a:ln>
              <a:noFill/>
            </a:ln>
          </p:spPr>
          <p:txBody>
            <a:bodyPr spcFirstLastPara="1" wrap="square" lIns="68575" tIns="68575" rIns="68575" bIns="68575" anchor="t" anchorCtr="0">
              <a:noAutofit/>
            </a:bodyPr>
            <a:lstStyle/>
            <a:p>
              <a:pPr marL="0" marR="0" lvl="0" indent="0" algn="ctr" rtl="0">
                <a:lnSpc>
                  <a:spcPct val="90000"/>
                </a:lnSpc>
                <a:spcBef>
                  <a:spcPts val="0"/>
                </a:spcBef>
                <a:spcAft>
                  <a:spcPts val="0"/>
                </a:spcAft>
                <a:buClr>
                  <a:schemeClr val="dk1"/>
                </a:buClr>
                <a:buSzPts val="1800"/>
                <a:buFont typeface="Avenir"/>
                <a:buNone/>
              </a:pPr>
              <a:endParaRPr sz="1800" b="1">
                <a:solidFill>
                  <a:schemeClr val="lt1"/>
                </a:solidFill>
                <a:latin typeface="Arial"/>
                <a:ea typeface="Arial"/>
                <a:cs typeface="Arial"/>
                <a:sym typeface="Arial"/>
              </a:endParaRPr>
            </a:p>
            <a:p>
              <a:pPr marL="0" marR="0" lvl="0" indent="0" algn="ctr" rtl="0">
                <a:lnSpc>
                  <a:spcPct val="90000"/>
                </a:lnSpc>
                <a:spcBef>
                  <a:spcPts val="630"/>
                </a:spcBef>
                <a:spcAft>
                  <a:spcPts val="0"/>
                </a:spcAft>
                <a:buClr>
                  <a:schemeClr val="lt1"/>
                </a:buClr>
                <a:buSzPts val="1800"/>
                <a:buFont typeface="Arial"/>
                <a:buNone/>
              </a:pPr>
              <a:r>
                <a:rPr lang="en-US" sz="1800" b="1">
                  <a:solidFill>
                    <a:schemeClr val="lt1"/>
                  </a:solidFill>
                  <a:latin typeface="Arial"/>
                  <a:ea typeface="Arial"/>
                  <a:cs typeface="Arial"/>
                  <a:sym typeface="Arial"/>
                </a:rPr>
                <a:t>Provide concurrency</a:t>
              </a:r>
              <a:endParaRPr/>
            </a:p>
            <a:p>
              <a:pPr marL="0" marR="0" lvl="0" indent="0" algn="ctr" rtl="0">
                <a:lnSpc>
                  <a:spcPct val="90000"/>
                </a:lnSpc>
                <a:spcBef>
                  <a:spcPts val="630"/>
                </a:spcBef>
                <a:spcAft>
                  <a:spcPts val="0"/>
                </a:spcAft>
                <a:buClr>
                  <a:schemeClr val="lt1"/>
                </a:buClr>
                <a:buSzPts val="1800"/>
                <a:buFont typeface="Arial"/>
                <a:buNone/>
              </a:pPr>
              <a:r>
                <a:rPr lang="en-US" sz="1800" b="0" i="0">
                  <a:solidFill>
                    <a:schemeClr val="lt1"/>
                  </a:solidFill>
                  <a:latin typeface="Arial"/>
                  <a:ea typeface="Arial"/>
                  <a:cs typeface="Arial"/>
                  <a:sym typeface="Arial"/>
                </a:rPr>
                <a:t>Parallelism leads naturally to Concurrency. For example, Several processes trying to print a file on a single printer.</a:t>
              </a:r>
              <a:endParaRPr sz="1800" b="0">
                <a:solidFill>
                  <a:schemeClr val="lt1"/>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name="BlockprintVTI">
  <a:themeElements>
    <a:clrScheme name="AnalogousFromDarkSeedLeftStep">
      <a:dk1>
        <a:srgbClr val="000000"/>
      </a:dk1>
      <a:lt1>
        <a:srgbClr val="FFFFFF"/>
      </a:lt1>
      <a:dk2>
        <a:srgbClr val="213B31"/>
      </a:dk2>
      <a:lt2>
        <a:srgbClr val="E8E2E3"/>
      </a:lt2>
      <a:accent1>
        <a:srgbClr val="45B0A7"/>
      </a:accent1>
      <a:accent2>
        <a:srgbClr val="3BB176"/>
      </a:accent2>
      <a:accent3>
        <a:srgbClr val="47B550"/>
      </a:accent3>
      <a:accent4>
        <a:srgbClr val="63B13B"/>
      </a:accent4>
      <a:accent5>
        <a:srgbClr val="91AB43"/>
      </a:accent5>
      <a:accent6>
        <a:srgbClr val="B19D3B"/>
      </a:accent6>
      <a:hlink>
        <a:srgbClr val="658B2E"/>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1050</Words>
  <Application>Microsoft Office PowerPoint</Application>
  <PresentationFormat>Widescreen</PresentationFormat>
  <Paragraphs>150</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Avenir</vt:lpstr>
      <vt:lpstr>Calibri</vt:lpstr>
      <vt:lpstr>BlockprintVTI</vt:lpstr>
      <vt:lpstr>CS621 Parallel and Distributed Computing</vt:lpstr>
      <vt:lpstr>CS621 Parallel and Distributed Computing</vt:lpstr>
      <vt:lpstr>Objectives</vt:lpstr>
      <vt:lpstr>What is Computing</vt:lpstr>
      <vt:lpstr>What is Computing Cont.…</vt:lpstr>
      <vt:lpstr>History of Computing</vt:lpstr>
      <vt:lpstr>History of Computing Cont..</vt:lpstr>
      <vt:lpstr>CS621 Parallel and Distributed Computing</vt:lpstr>
      <vt:lpstr>Objectives</vt:lpstr>
      <vt:lpstr>Serial Computing  </vt:lpstr>
      <vt:lpstr>Parallel Computing  </vt:lpstr>
      <vt:lpstr>Serial vs parallel Computing Cont..</vt:lpstr>
      <vt:lpstr>Difference between Serial and parallel Computing</vt:lpstr>
      <vt:lpstr>CS621 Parallel and Distributed Computing</vt:lpstr>
      <vt:lpstr>Objectives</vt:lpstr>
      <vt:lpstr>Introduction to Parallel Computing</vt:lpstr>
      <vt:lpstr>Introduction to Parallel Computing Cont.…</vt:lpstr>
      <vt:lpstr>Introduction to Parallel Computing Cont.…</vt:lpstr>
      <vt:lpstr>Introduction to Parallel Computing Cont.…</vt:lpstr>
      <vt:lpstr>Introduction to Parallel Computing Cont…</vt:lpstr>
      <vt:lpstr>CS621 Parallel and Distributed Computing</vt:lpstr>
      <vt:lpstr>Objectives</vt:lpstr>
      <vt:lpstr>Principles of Parallel Computing</vt:lpstr>
      <vt:lpstr>Principles of Parallel Computing Cont…</vt:lpstr>
      <vt:lpstr>Principles of Parallel Computing Cont.…</vt:lpstr>
      <vt:lpstr>CS621 Parallel and Distributed Computing</vt:lpstr>
      <vt:lpstr>Objectives</vt:lpstr>
      <vt:lpstr>Why Use Parallel Computing?</vt:lpstr>
      <vt:lpstr>Why Use Parallel Computing?</vt:lpstr>
      <vt:lpstr>Why Use Parallel Computing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CS621 Parallel and Distributed Computing</dc:title>
  <dc:creator>Academics 1</dc:creator>
  <cp:lastModifiedBy>Said Nabi</cp:lastModifiedBy>
  <cp:revision>5</cp:revision>
  <dcterms:created xsi:type="dcterms:W3CDTF">2022-12-26T05:14:17Z</dcterms:created>
  <dcterms:modified xsi:type="dcterms:W3CDTF">2023-04-19T06:01:28Z</dcterms:modified>
</cp:coreProperties>
</file>